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55d2e7bac1e494c" /><Relationship Type="http://schemas.openxmlformats.org/officeDocument/2006/relationships/extended-properties" Target="/docProps/app.xml" Id="R519304b064a64783" /><Relationship Type="http://schemas.openxmlformats.org/officeDocument/2006/relationships/officeDocument" Target="/ppt/presentation.xml" Id="R51884b72eca1440e" /></Relationships>
</file>

<file path=ppt/presentation.xml><?xml version="1.0" encoding="utf-8"?>
<p:presentation xmlns:p="http://schemas.openxmlformats.org/presentationml/2006/main">
  <p:sldMasterIdLst>
    <p:sldMasterId xmlns:r="http://schemas.openxmlformats.org/officeDocument/2006/relationships" id="2147483648" r:id="Rb0357823ec3d47ee"/>
  </p:sldMasterIdLst>
  <p:notesMasterIdLst>
    <p:notesMasterId xmlns:r="http://schemas.openxmlformats.org/officeDocument/2006/relationships" r:id="R17d94722a2d84339"/>
  </p:notesMasterIdLst>
  <p:sldIdLst>
    <p:sldId xmlns:r="http://schemas.openxmlformats.org/officeDocument/2006/relationships" id="256" r:id="R369aae2d383e470a"/>
    <p:sldId xmlns:r="http://schemas.openxmlformats.org/officeDocument/2006/relationships" id="257" r:id="R6750492e1a804977"/>
    <p:sldId xmlns:r="http://schemas.openxmlformats.org/officeDocument/2006/relationships" id="258" r:id="R4a1a6e29ac3f4afb"/>
    <p:sldId xmlns:r="http://schemas.openxmlformats.org/officeDocument/2006/relationships" id="259" r:id="R26453c99aaa9466e"/>
    <p:sldId xmlns:r="http://schemas.openxmlformats.org/officeDocument/2006/relationships" id="260" r:id="Rb63af14388324b33"/>
    <p:sldId xmlns:r="http://schemas.openxmlformats.org/officeDocument/2006/relationships" id="261" r:id="Rbc2f842a794a432b"/>
    <p:sldId xmlns:r="http://schemas.openxmlformats.org/officeDocument/2006/relationships" id="262" r:id="Rd7ea3d5db67345a1"/>
    <p:sldId xmlns:r="http://schemas.openxmlformats.org/officeDocument/2006/relationships" id="263" r:id="R4d1a53a97b7845b1"/>
    <p:sldId xmlns:r="http://schemas.openxmlformats.org/officeDocument/2006/relationships" id="264" r:id="Rdd65e4e5503a41f0"/>
    <p:sldId xmlns:r="http://schemas.openxmlformats.org/officeDocument/2006/relationships" id="265" r:id="R077b99ad999f4fe0"/>
    <p:sldId xmlns:r="http://schemas.openxmlformats.org/officeDocument/2006/relationships" id="266" r:id="R5e0ce0cb23cc45c8"/>
    <p:sldId xmlns:r="http://schemas.openxmlformats.org/officeDocument/2006/relationships" id="267" r:id="R05bea93c8438486b"/>
    <p:sldId xmlns:r="http://schemas.openxmlformats.org/officeDocument/2006/relationships" id="268" r:id="R9b0dc635632546ea"/>
    <p:sldId xmlns:r="http://schemas.openxmlformats.org/officeDocument/2006/relationships" id="269" r:id="Rabe32ddd8c134115"/>
    <p:sldId xmlns:r="http://schemas.openxmlformats.org/officeDocument/2006/relationships" id="270" r:id="Ra6bc0ad3e0c747f8"/>
    <p:sldId xmlns:r="http://schemas.openxmlformats.org/officeDocument/2006/relationships" id="271" r:id="R5fabe57193da4be4"/>
    <p:sldId xmlns:r="http://schemas.openxmlformats.org/officeDocument/2006/relationships" id="272" r:id="Rd35f5b607cac4edd"/>
    <p:sldId xmlns:r="http://schemas.openxmlformats.org/officeDocument/2006/relationships" id="273" r:id="Rac92f5d8776b40f1"/>
    <p:sldId xmlns:r="http://schemas.openxmlformats.org/officeDocument/2006/relationships" id="274" r:id="R4bf0eafa03a043ce"/>
    <p:sldId xmlns:r="http://schemas.openxmlformats.org/officeDocument/2006/relationships" id="275" r:id="R803095821b1a4832"/>
    <p:sldId xmlns:r="http://schemas.openxmlformats.org/officeDocument/2006/relationships" id="276" r:id="R9f1271d1e05b4341"/>
    <p:sldId xmlns:r="http://schemas.openxmlformats.org/officeDocument/2006/relationships" id="277" r:id="R954ca17d3c7044b0"/>
    <p:sldId xmlns:r="http://schemas.openxmlformats.org/officeDocument/2006/relationships" id="278" r:id="R2f90e32995ad4f44"/>
    <p:sldId xmlns:r="http://schemas.openxmlformats.org/officeDocument/2006/relationships" id="279" r:id="R1f1d4d6d8eb74695"/>
    <p:sldId xmlns:r="http://schemas.openxmlformats.org/officeDocument/2006/relationships" id="280" r:id="Rcf74dcabb78f41fb"/>
    <p:sldId xmlns:r="http://schemas.openxmlformats.org/officeDocument/2006/relationships" id="281" r:id="R259b4e0178954ffc"/>
    <p:sldId xmlns:r="http://schemas.openxmlformats.org/officeDocument/2006/relationships" id="282" r:id="R62cfecc73e794293"/>
    <p:sldId xmlns:r="http://schemas.openxmlformats.org/officeDocument/2006/relationships" id="283" r:id="R417fccfa81454fdc"/>
    <p:sldId xmlns:r="http://schemas.openxmlformats.org/officeDocument/2006/relationships" id="284" r:id="R7043e2a6daa34dff"/>
    <p:sldId xmlns:r="http://schemas.openxmlformats.org/officeDocument/2006/relationships" id="285" r:id="Re3038e1894d445a8"/>
    <p:sldId xmlns:r="http://schemas.openxmlformats.org/officeDocument/2006/relationships" id="286" r:id="R1aa3a450beaa40a3"/>
    <p:sldId xmlns:r="http://schemas.openxmlformats.org/officeDocument/2006/relationships" id="287" r:id="R844f2e5bc09f40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e03679f061430d" /><Relationship Type="http://schemas.openxmlformats.org/officeDocument/2006/relationships/slideMaster" Target="/ppt/slideMasters/slideMaster1.xml" Id="Rb0357823ec3d47ee" /><Relationship Type="http://schemas.openxmlformats.org/officeDocument/2006/relationships/notesMaster" Target="/ppt/notesMasters/notesMaster1.xml" Id="R17d94722a2d84339" /><Relationship Type="http://schemas.openxmlformats.org/officeDocument/2006/relationships/presProps" Target="/ppt/presProps.xml" Id="Rd1a11dfebe564f78" /><Relationship Type="http://schemas.openxmlformats.org/officeDocument/2006/relationships/tableStyles" Target="/ppt/tableStyles.xml" Id="Ra1e248a6afaf4853" /><Relationship Type="http://schemas.openxmlformats.org/officeDocument/2006/relationships/slide" Target="/ppt/slides/slide1.xml" Id="R369aae2d383e470a" /><Relationship Type="http://schemas.openxmlformats.org/officeDocument/2006/relationships/slide" Target="/ppt/slides/slide2.xml" Id="R6750492e1a804977" /><Relationship Type="http://schemas.openxmlformats.org/officeDocument/2006/relationships/slide" Target="/ppt/slides/slide3.xml" Id="R4a1a6e29ac3f4afb" /><Relationship Type="http://schemas.openxmlformats.org/officeDocument/2006/relationships/slide" Target="/ppt/slides/slide4.xml" Id="R26453c99aaa9466e" /><Relationship Type="http://schemas.openxmlformats.org/officeDocument/2006/relationships/slide" Target="/ppt/slides/slide5.xml" Id="Rb63af14388324b33" /><Relationship Type="http://schemas.openxmlformats.org/officeDocument/2006/relationships/slide" Target="/ppt/slides/slide6.xml" Id="Rbc2f842a794a432b" /><Relationship Type="http://schemas.openxmlformats.org/officeDocument/2006/relationships/slide" Target="/ppt/slides/slide7.xml" Id="Rd7ea3d5db67345a1" /><Relationship Type="http://schemas.openxmlformats.org/officeDocument/2006/relationships/slide" Target="/ppt/slides/slide8.xml" Id="R4d1a53a97b7845b1" /><Relationship Type="http://schemas.openxmlformats.org/officeDocument/2006/relationships/slide" Target="/ppt/slides/slide9.xml" Id="Rdd65e4e5503a41f0" /><Relationship Type="http://schemas.openxmlformats.org/officeDocument/2006/relationships/slide" Target="/ppt/slides/slide10.xml" Id="R077b99ad999f4fe0" /><Relationship Type="http://schemas.openxmlformats.org/officeDocument/2006/relationships/slide" Target="/ppt/slides/slide11.xml" Id="R5e0ce0cb23cc45c8" /><Relationship Type="http://schemas.openxmlformats.org/officeDocument/2006/relationships/slide" Target="/ppt/slides/slide12.xml" Id="R05bea93c8438486b" /><Relationship Type="http://schemas.openxmlformats.org/officeDocument/2006/relationships/slide" Target="/ppt/slides/slide13.xml" Id="R9b0dc635632546ea" /><Relationship Type="http://schemas.openxmlformats.org/officeDocument/2006/relationships/slide" Target="/ppt/slides/slide14.xml" Id="Rabe32ddd8c134115" /><Relationship Type="http://schemas.openxmlformats.org/officeDocument/2006/relationships/slide" Target="/ppt/slides/slide15.xml" Id="Ra6bc0ad3e0c747f8" /><Relationship Type="http://schemas.openxmlformats.org/officeDocument/2006/relationships/slide" Target="/ppt/slides/slide16.xml" Id="R5fabe57193da4be4" /><Relationship Type="http://schemas.openxmlformats.org/officeDocument/2006/relationships/slide" Target="/ppt/slides/slide17.xml" Id="Rd35f5b607cac4edd" /><Relationship Type="http://schemas.openxmlformats.org/officeDocument/2006/relationships/slide" Target="/ppt/slides/slide18.xml" Id="Rac92f5d8776b40f1" /><Relationship Type="http://schemas.openxmlformats.org/officeDocument/2006/relationships/slide" Target="/ppt/slides/slide19.xml" Id="R4bf0eafa03a043ce" /><Relationship Type="http://schemas.openxmlformats.org/officeDocument/2006/relationships/slide" Target="/ppt/slides/slide20.xml" Id="R803095821b1a4832" /><Relationship Type="http://schemas.openxmlformats.org/officeDocument/2006/relationships/slide" Target="/ppt/slides/slide21.xml" Id="R9f1271d1e05b4341" /><Relationship Type="http://schemas.openxmlformats.org/officeDocument/2006/relationships/slide" Target="/ppt/slides/slide22.xml" Id="R954ca17d3c7044b0" /><Relationship Type="http://schemas.openxmlformats.org/officeDocument/2006/relationships/slide" Target="/ppt/slides/slide23.xml" Id="R2f90e32995ad4f44" /><Relationship Type="http://schemas.openxmlformats.org/officeDocument/2006/relationships/slide" Target="/ppt/slides/slide24.xml" Id="R1f1d4d6d8eb74695" /><Relationship Type="http://schemas.openxmlformats.org/officeDocument/2006/relationships/slide" Target="/ppt/slides/slide25.xml" Id="Rcf74dcabb78f41fb" /><Relationship Type="http://schemas.openxmlformats.org/officeDocument/2006/relationships/slide" Target="/ppt/slides/slide26.xml" Id="R259b4e0178954ffc" /><Relationship Type="http://schemas.openxmlformats.org/officeDocument/2006/relationships/slide" Target="/ppt/slides/slide27.xml" Id="R62cfecc73e794293" /><Relationship Type="http://schemas.openxmlformats.org/officeDocument/2006/relationships/slide" Target="/ppt/slides/slide28.xml" Id="R417fccfa81454fdc" /><Relationship Type="http://schemas.openxmlformats.org/officeDocument/2006/relationships/slide" Target="/ppt/slides/slide29.xml" Id="R7043e2a6daa34dff" /><Relationship Type="http://schemas.openxmlformats.org/officeDocument/2006/relationships/slide" Target="/ppt/slides/slide30.xml" Id="Re3038e1894d445a8" /><Relationship Type="http://schemas.openxmlformats.org/officeDocument/2006/relationships/slide" Target="/ppt/slides/slide31.xml" Id="R1aa3a450beaa40a3" /><Relationship Type="http://schemas.openxmlformats.org/officeDocument/2006/relationships/slide" Target="/ppt/slides/slide32.xml" Id="R844f2e5bc09f40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eb45f84ee540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25646d30aa4425" /><Relationship Type="http://schemas.openxmlformats.org/officeDocument/2006/relationships/notesMaster" Target="/ppt/notesMasters/notesMaster1.xml" Id="Rc79e249d62a446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cca379dd2848bb" /><Relationship Type="http://schemas.openxmlformats.org/officeDocument/2006/relationships/notesMaster" Target="/ppt/notesMasters/notesMaster1.xml" Id="R69cc5bd576e64c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a14643514f43eb" /><Relationship Type="http://schemas.openxmlformats.org/officeDocument/2006/relationships/notesMaster" Target="/ppt/notesMasters/notesMaster1.xml" Id="R25ca7beec2eb479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7bf388bfe74b46" /><Relationship Type="http://schemas.openxmlformats.org/officeDocument/2006/relationships/notesMaster" Target="/ppt/notesMasters/notesMaster1.xml" Id="R7d27d91fedf645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81a1b63c924c62" /><Relationship Type="http://schemas.openxmlformats.org/officeDocument/2006/relationships/notesMaster" Target="/ppt/notesMasters/notesMaster1.xml" Id="R924f09fa41844e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3ae7f0e8314de2" /><Relationship Type="http://schemas.openxmlformats.org/officeDocument/2006/relationships/notesMaster" Target="/ppt/notesMasters/notesMaster1.xml" Id="R9dcae437b78d40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0321ba4b1e4f46" /><Relationship Type="http://schemas.openxmlformats.org/officeDocument/2006/relationships/notesMaster" Target="/ppt/notesMasters/notesMaster1.xml" Id="R61eb51650e434f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544717ab25d4fa6" /><Relationship Type="http://schemas.openxmlformats.org/officeDocument/2006/relationships/notesMaster" Target="/ppt/notesMasters/notesMaster1.xml" Id="Rdc54f41b82b24077"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155886434c4286" /><Relationship Type="http://schemas.openxmlformats.org/officeDocument/2006/relationships/notesMaster" Target="/ppt/notesMasters/notesMaster1.xml" Id="R0090eb25076240a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d378cf78624182" /><Relationship Type="http://schemas.openxmlformats.org/officeDocument/2006/relationships/notesMaster" Target="/ppt/notesMasters/notesMaster1.xml" Id="Re9c67e1eeb9b466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d4256ba7dae4fb1" /><Relationship Type="http://schemas.openxmlformats.org/officeDocument/2006/relationships/notesMaster" Target="/ppt/notesMasters/notesMaster1.xml" Id="R712a1fd05efc462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3b805d01c6c4058" /><Relationship Type="http://schemas.openxmlformats.org/officeDocument/2006/relationships/notesMaster" Target="/ppt/notesMasters/notesMaster1.xml" Id="R1c9cf0d0017749e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1d73fe887bc46c6" /><Relationship Type="http://schemas.openxmlformats.org/officeDocument/2006/relationships/notesMaster" Target="/ppt/notesMasters/notesMaster1.xml" Id="Rb4463234d1f442b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332da1ee90748ef" /><Relationship Type="http://schemas.openxmlformats.org/officeDocument/2006/relationships/notesMaster" Target="/ppt/notesMasters/notesMaster1.xml" Id="R547ef31670e44b7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ee02ff572ff4e75" /><Relationship Type="http://schemas.openxmlformats.org/officeDocument/2006/relationships/notesMaster" Target="/ppt/notesMasters/notesMaster1.xml" Id="R85d5cf0f746348f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495ac6a2cee4902" /><Relationship Type="http://schemas.openxmlformats.org/officeDocument/2006/relationships/notesMaster" Target="/ppt/notesMasters/notesMaster1.xml" Id="R63db97b52d6e4b7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158f78b144e4065" /><Relationship Type="http://schemas.openxmlformats.org/officeDocument/2006/relationships/notesMaster" Target="/ppt/notesMasters/notesMaster1.xml" Id="R8172eb8d22b1426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acd0cba63bc4ed0" /><Relationship Type="http://schemas.openxmlformats.org/officeDocument/2006/relationships/notesMaster" Target="/ppt/notesMasters/notesMaster1.xml" Id="Re1852c97978048e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ccf10174ae047eb" /><Relationship Type="http://schemas.openxmlformats.org/officeDocument/2006/relationships/notesMaster" Target="/ppt/notesMasters/notesMaster1.xml" Id="Rc6e7ecbf57af4c8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04322314dac4dfa" /><Relationship Type="http://schemas.openxmlformats.org/officeDocument/2006/relationships/notesMaster" Target="/ppt/notesMasters/notesMaster1.xml" Id="Rd69cc87c634147a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e955875cea24bdf" /><Relationship Type="http://schemas.openxmlformats.org/officeDocument/2006/relationships/notesMaster" Target="/ppt/notesMasters/notesMaster1.xml" Id="R578e40b85ef842a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f7cb2f460404007" /><Relationship Type="http://schemas.openxmlformats.org/officeDocument/2006/relationships/notesMaster" Target="/ppt/notesMasters/notesMaster1.xml" Id="R86726f15d86c4e4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daa1aefae3a4a09" /><Relationship Type="http://schemas.openxmlformats.org/officeDocument/2006/relationships/notesMaster" Target="/ppt/notesMasters/notesMaster1.xml" Id="R5cd8e2f2f7844b8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94227b08f1b476f" /><Relationship Type="http://schemas.openxmlformats.org/officeDocument/2006/relationships/notesMaster" Target="/ppt/notesMasters/notesMaster1.xml" Id="R6c907e5ef2dc4c4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89da8660c4843c2" /><Relationship Type="http://schemas.openxmlformats.org/officeDocument/2006/relationships/notesMaster" Target="/ppt/notesMasters/notesMaster1.xml" Id="R5eb2aea7d58a43c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53b34706dab486d" /><Relationship Type="http://schemas.openxmlformats.org/officeDocument/2006/relationships/notesMaster" Target="/ppt/notesMasters/notesMaster1.xml" Id="R5e04f0d2d9f9437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4a3e2eee97d4974" /><Relationship Type="http://schemas.openxmlformats.org/officeDocument/2006/relationships/notesMaster" Target="/ppt/notesMasters/notesMaster1.xml" Id="R8d4d709c77d847f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99d4fbade2a4727" /><Relationship Type="http://schemas.openxmlformats.org/officeDocument/2006/relationships/notesMaster" Target="/ppt/notesMasters/notesMaster1.xml" Id="Rd47a2691e3db497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e7941750bc5408f" /><Relationship Type="http://schemas.openxmlformats.org/officeDocument/2006/relationships/notesMaster" Target="/ppt/notesMasters/notesMaster1.xml" Id="Ra125837516de4a0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66e884e06334f1e" /><Relationship Type="http://schemas.openxmlformats.org/officeDocument/2006/relationships/notesMaster" Target="/ppt/notesMasters/notesMaster1.xml" Id="Rae12467030e8414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a33b4c2593849c7" /><Relationship Type="http://schemas.openxmlformats.org/officeDocument/2006/relationships/notesMaster" Target="/ppt/notesMasters/notesMaster1.xml" Id="Rf9d504609bfd479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e6d52250a2c4ff0" /><Relationship Type="http://schemas.openxmlformats.org/officeDocument/2006/relationships/notesMaster" Target="/ppt/notesMasters/notesMaster1.xml" Id="R7eec6b03ee5649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explains Paulo’s local interpretation component and the interfaces that will connect the clinical, mIF and fusion models to Junhao’s demo. The copilot uses NVIDIA Nemotron-Mini-4B-Instruct through local vLLM. NVIDIA describes it as a general instruction model, rather than a clinically tuned model. Upstream model integration, UI implementation and actual A30 generation remain pending. The cover is a conceptual AI illustration, not a pathology image. Visual provenance: built-in ImageGen, presentations/assets/cover.png. Prompts are recorded in presentations/assets/image_prompts.md.</a:t>
            </a:r>
          </a:p>
          <a:p xmlns:a="http://schemas.openxmlformats.org/drawingml/2006/main">
            <a:r>
              <a:t/>
            </a:r>
          </a:p>
          <a:p xmlns:a="http://schemas.openxmlformats.org/drawingml/2006/main">
            <a:r>
              <a:t>Sources:</a:t>
            </a:r>
          </a:p>
          <a:p xmlns:a="http://schemas.openxmlformats.org/drawingml/2006/main">
            <a:r>
              <a:t>User-provided hackathon scope</a:t>
            </a:r>
          </a:p>
          <a:p xmlns:a="http://schemas.openxmlformats.org/drawingml/2006/main">
            <a:r>
              <a:t>https://github.com/paulocilasjr/MyStudies_AppliedScripts/blob/103f5af/NVIDIA_Nemotron/README.md</a:t>
            </a:r>
          </a:p>
          <a:p xmlns:a="http://schemas.openxmlformats.org/drawingml/2006/main">
            <a:r>
              <a:t>https://huggingface.co/nvidia/Nemotron-Mini-4B-Instruct</a:t>
            </a:r>
          </a:p>
          <a:p xmlns:a="http://schemas.openxmlformats.org/drawingml/2006/main">
            <a:br/>
            <a:r>
              <a:t>This expanded edition details runtime prerequisites, model harnesses, contracts, failure behavior and acceptance gates. Implemented checks and proposed hardening are identified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reports 48 patients with clinical data and 29 of those with mIF. The 29 paired patients form the target comparison cohort, but the actual evaluable count depends on complete predictions, labels, an agreed endpoint and declared test/out-of-fold status. The extra mIF cases have substantial batch effects. H&amp;E remains pending. Counts describe available data, not completed model experiments.</a:t>
            </a:r>
          </a:p>
          <a:p xmlns:a="http://schemas.openxmlformats.org/drawingml/2006/main">
            <a:r>
              <a:t/>
            </a:r>
          </a:p>
          <a:p xmlns:a="http://schemas.openxmlformats.org/drawingml/2006/main">
            <a:r>
              <a:t>Sources:</a:t>
            </a:r>
          </a:p>
          <a:p xmlns:a="http://schemas.openxmlformats.org/drawingml/2006/main">
            <a:r>
              <a:t>User-provided hackathon scope</a:t>
            </a:r>
          </a:p>
          <a:p xmlns:a="http://schemas.openxmlformats.org/drawingml/2006/main">
            <a:r>
              <a:t>https://github.com/paulocilasjr/MyStudies_AppliedScripts/blob/103f5af/NVIDIA_Nemotron/docs/research_review.md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Upstream clinical and mIF models provide scores to a future late-fusion model. Clinical, mIF and fused outputs each independently enter the shared patient contract, which preserves missing modalities and permits clinical-only records. Raw clinical data and image data remain in upstream model workflows. The copilot consumes exported predictions, feature measurements, optional signed model attributions and supplied context. All upstream models and the demo UI are separate workstreams. This repository implements the copilot and its Python, CLI and local HTTP integration interfaces. The image is a conceptual architecture diagram generated with built-in ImageGen; exact prompt is in presentations/assets/image_prompts.md. Diagram labels and seven edges were inspected against the implementation.</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https://github.com/paulocilasjr/MyStudies_AppliedScripts/blob/103f5af/NVIDIA_Nemotron/docs/integration.md</a:t>
            </a:r>
          </a:p>
          <a:p xmlns:a="http://schemas.openxmlformats.org/drawingml/2006/main">
            <a:r>
              <a:t>https://github.com/paulocilasjr/MyStudies_AppliedScripts/blob/103f5af/NVIDIA_Nemotron/src/icb_copilot/io.py</a:t>
            </a:r>
          </a:p>
          <a:p xmlns:a="http://schemas.openxmlformats.org/drawingml/2006/main">
            <a:r>
              <a:t>https://github.com/paulocilasjr/MyStudies_AppliedScripts/blob/103f5af/NVIDIA_Nemotron/src/icb_copilot/copilot.py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Harness means the application code around the language model: validate the producer contract, preserve authoritative facts, construct bounded prompts, run a local backend with fixed settings, screen generated text and assemble the structured result. The code implements each shown stage. Result fields exist, but a separate machine-readable response-schema validator is a proposed hardening task. The model consumes exported scores/features/context and generates interpretation prose. It does not train the prediction models, create fusion scores or establish clinical validity. Ground-truth labels stay out of the LLM prompt.</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https://github.com/paulocilasjr/MyStudies_AppliedScripts/blob/103f5af/NVIDIA_Nemotron/src/icb_copilot/copilot.py</a:t>
            </a:r>
          </a:p>
          <a:p xmlns:a="http://schemas.openxmlformats.org/drawingml/2006/main">
            <a:r>
              <a:t>https://github.com/paulocilasjr/MyStudies_AppliedScripts/blob/103f5af/NVIDIA_Nemotron/src/icb_copilot/backends.py</a:t>
            </a:r>
          </a:p>
          <a:p xmlns:a="http://schemas.openxmlformats.org/drawingml/2006/main">
            <a:r>
              <a:t>https://github.com/paulocilasjr/MyStudies_AppliedScripts/blob/103f5af/NVIDIA_Nemotron/src/icb_copilot/schema.py</a:t>
            </a:r>
          </a:p>
          <a:p xmlns:a="http://schemas.openxmlformats.org/drawingml/2006/main">
            <a:br/>
            <a:r>
              <a:t>Diagram provenance: built-in ImageGen. Exact prompt and asset provenance are in presentations/assets/execution/image_prompts.md. Labels and edge topology were inspected against the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root launcher submits asynchronously to SLURM, prints the job ID and log paths, and exits before the scheduled job completes. The GPU job creates/reuses the isolated environment, runs doctor before fetching model weights, prepares the public snapshot, enables offline library settings and executes experiment or serve. Patient input is processed by the Python command after preparation. The GPU engine loads lazily in VLLMBackend.generate after inputs are validated. The diagram shows the scheduled conceptual phases; it does not imply network firewall isolation. On network-limited compute nodes, prepare public artifacts on an approved connected node with --prepare-only and then submit --offline. Real inputs/results remain in approved Moffitt storage.</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https://github.com/paulocilasjr/MyStudies_AppliedScripts/blob/103f5af/NVIDIA_Nemotron/scripts/run_hpc.sh</a:t>
            </a:r>
          </a:p>
          <a:p xmlns:a="http://schemas.openxmlformats.org/drawingml/2006/main">
            <a:r>
              <a:t>https://github.com/paulocilasjr/MyStudies_AppliedScripts/blob/103f5af/NVIDIA_Nemotron/scripts/hpc_job.sh</a:t>
            </a:r>
          </a:p>
          <a:p xmlns:a="http://schemas.openxmlformats.org/drawingml/2006/main">
            <a:r>
              <a:t>https://github.com/paulocilasjr/MyStudies_AppliedScripts/blob/103f5af/NVIDIA_Nemotron/src/icb_copilot/backends.py</a:t>
            </a:r>
          </a:p>
          <a:p xmlns:a="http://schemas.openxmlformats.org/drawingml/2006/main">
            <a:r>
              <a:t>https://github.com/paulocilasjr/MyStudies_AppliedScripts/blob/103f5af/NVIDIA_Nemotron/docs/hpc.md</a:t>
            </a:r>
          </a:p>
          <a:p xmlns:a="http://schemas.openxmlformats.org/drawingml/2006/main">
            <a:br/>
            <a:r>
              <a:t>Diagram provenance: built-in ImageGen. Exact prompt and asset provenance are in presentations/assets/execution/image_prompts.md. Labels and edge topology were inspected against the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requirements of this repository’s chosen pinned deployment, not a general statement about every Nemotron/vLLM deployment. The bootstrap targets Linux x86_64 with glibc &gt;=2.28. Doctor conservatively requires driver &gt;=570.26 and native CUDA12.8, exact pinned packages, visible GPU, BF16 capability, at least20GiB VRAM and a small allocation/synchronization. The user supplies A30 24GB, red partition and Anaconda3/2024.02-1. The selected pinned vLLM runtime uses its own PyTorch/CUDA wheel dependencies. Existing CUDA13/PyTorch2.1.2 modules are purged by default. Model preparation verifies config/tokenizer_config and expected nonempty weight files but does not calculate full weight hashes. A standalone weight file or a HuggingFace snapshot without backing blobs is insufficient.</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https://github.com/paulocilasjr/MyStudies_AppliedScripts/blob/103f5af/NVIDIA_Nemotron/requirements-vllm.txt</a:t>
            </a:r>
          </a:p>
          <a:p xmlns:a="http://schemas.openxmlformats.org/drawingml/2006/main">
            <a:r>
              <a:t>https://github.com/paulocilasjr/MyStudies_AppliedScripts/blob/103f5af/NVIDIA_Nemotron/src/icb_copilot/models.py</a:t>
            </a:r>
          </a:p>
          <a:p xmlns:a="http://schemas.openxmlformats.org/drawingml/2006/main">
            <a:r>
              <a:t>https://github.com/paulocilasjr/MyStudies_AppliedScripts/blob/103f5af/NVIDIA_Nemotron/config/hpc.env.example</a:t>
            </a:r>
          </a:p>
          <a:p xmlns:a="http://schemas.openxmlformats.org/drawingml/2006/main">
            <a:r>
              <a:t>https://github.com/paulocilasjr/MyStudies_AppliedScripts/blob/103f5af/NVIDIA_Nemotron/docs/hpc.md</a:t>
            </a:r>
          </a:p>
          <a:p xmlns:a="http://schemas.openxmlformats.org/drawingml/2006/main">
            <a:r>
              <a:t>https://docs.vllm.ai/en/v0.10.2/getting_started/installation/gpu.html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tokenizes the complete applied chat template with add_special_tokens=False, so the token budget includes system/user instructions, serialized evidence and role/template markers. The check occurs after lazy engine loading and tokenization, before generation. It rejects any prompt whose token length plus max_tokens exceeds max_model_len. At defaults, prompt &lt;=3796, output reservation=300 and total&lt;=4096. This is capacity accounting, not a measured patient token count. The wrapper does not silently truncate or summarize inputs. Reduce approved evidence/context or explicitly revise settings if budget checks fail. Generation defaults are BF16, tensor parallel 1, eager execution, GPU memory utilization 0.80, max_num_seqs 4, temperature 0 and seed 42. CLI batch_size 8 is application chunking, not GPU concurrency. Seed and temperature do not guarantee byte-identical behavior across hardware/runtime changes.</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https://github.com/paulocilasjr/MyStudies_AppliedScripts/blob/103f5af/NVIDIA_Nemotron/src/icb_copilot/backends.py</a:t>
            </a:r>
          </a:p>
          <a:p xmlns:a="http://schemas.openxmlformats.org/drawingml/2006/main">
            <a:r>
              <a:t>https://github.com/paulocilasjr/MyStudies_AppliedScripts/blob/103f5af/NVIDIA_Nemotron/src/icb_copilot/cli.py</a:t>
            </a:r>
          </a:p>
          <a:p xmlns:a="http://schemas.openxmlformats.org/drawingml/2006/main">
            <a:r>
              <a:t>https://github.com/paulocilasjr/MyStudies_AppliedScripts/blob/103f5af/NVIDIA_Nemotron/src/icb_copilot/experiment.py</a:t>
            </a:r>
          </a:p>
          <a:p xmlns:a="http://schemas.openxmlformats.org/drawingml/2006/main">
            <a:r>
              <a:t>https://huggingface.co/nvidia/Nemotron-Mini-4B-Instruct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assemble_predictions joins by canonical patient_id, preserves the union of patients and stable input order, and never joins by row number. CSV patient_id and probability headers are required; documented optional headers are model_id,calibration,decision_threshold. Duplicate headers, invalid column counts, duplicate patient IDs, invalid scores and context IDs with no prediction match fail. Context JSONL cannot override predictions. Slide-to-patient mapping and repeated slide aggregation belong upstream. The canonical schema supports any nonempty subset of clinical/mif/fused, so a clinical-only patient remains clinical-only. A missing modality is omitted, not filled with zero, a mean or an invented fused score. The target29paired cohort is not imposed by the adapter.</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https://github.com/paulocilasjr/MyStudies_AppliedScripts/blob/103f5af/NVIDIA_Nemotron/src/icb_copilot/io.py</a:t>
            </a:r>
          </a:p>
          <a:p xmlns:a="http://schemas.openxmlformats.org/drawingml/2006/main">
            <a:r>
              <a:t>https://github.com/paulocilasjr/MyStudies_AppliedScripts/blob/103f5af/NVIDIA_Nemotron/src/icb_copilot/schema.py</a:t>
            </a:r>
          </a:p>
          <a:p xmlns:a="http://schemas.openxmlformats.org/drawingml/2006/main">
            <a:r>
              <a:t>https://github.com/paulocilasjr/MyStudies_AppliedScripts/blob/103f5af/NVIDIA_Nemotron/docs/integration.md</a:t>
            </a:r>
          </a:p>
          <a:p xmlns:a="http://schemas.openxmlformats.org/drawingml/2006/main">
            <a:br/>
            <a:r>
              <a:t>Diagram provenance: built-in ImageGen. Exact prompt and asset provenance are in presentations/assets/execution/image_prompts.md. Labels and edge topology were inspected against the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compact example intentionally leaves the responder endpoint unspecified. The canonical schema supports clinical, mif and fused keys, each with probability and optional model_id, calibration and decision_threshold. Probability must be numeric, finite and in [0,1]. Missing scores remain absent. Top features carry value, unit, measurement direction and an optional signed attribution with method and scale. All scores and attribution signs must refer to the responder class. Unsupported keys, including a future H&amp;E modality, require an explicit versioned extension. This example omits feature/context metadata only for readability.</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https://github.com/paulocilasjr/MyStudies_AppliedScripts/blob/103f5af/NVIDIA_Nemotron/docs/integration.md</a:t>
            </a:r>
          </a:p>
          <a:p xmlns:a="http://schemas.openxmlformats.org/drawingml/2006/main">
            <a:r>
              <a:t>https://github.com/paulocilasjr/MyStudies_AppliedScripts/blob/103f5af/NVIDIA_Nemotron/src/icb_copilot/schema.py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synthetic P12 fixture supplies LDH510U/L with direction elevated and a SHAP attribution -0.18 log_odds for the responder class. This is demonstration data, not an actual patient. The measurement and attribution use separate fields. The schema checks field types/finite attribution values and records method/scale, but cannot establish correct biomarker units, reference interval, attribution target class or causal interpretation. These semantic conditions belong to upstream owners and reviewers. Feature names max160characters, value strings max256, direction max160, units max80, max10features per modality, clinical_context max2000characters. Full features remain in the structured output, while the factual narrative sentence uses at most two features per modality. Restrict data to the agreed prediction timepoint as a proposed upstream study contract.</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https://github.com/paulocilasjr/MyStudies_AppliedScripts/blob/103f5af/NVIDIA_Nemotron/examples/mock_predictions.jsonl</a:t>
            </a:r>
          </a:p>
          <a:p xmlns:a="http://schemas.openxmlformats.org/drawingml/2006/main">
            <a:r>
              <a:t>https://github.com/paulocilasjr/MyStudies_AppliedScripts/blob/103f5af/NVIDIA_Nemotron/src/icb_copilot/schema.py</a:t>
            </a:r>
          </a:p>
          <a:p xmlns:a="http://schemas.openxmlformats.org/drawingml/2006/main">
            <a:r>
              <a:t>https://github.com/paulocilasjr/MyStudies_AppliedScripts/blob/103f5af/NVIDIA_Nemotron/src/icb_copilot/copilot.py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build_messages includes predictions,top_features,clinical_context,response_definition, and intentionally excludes patient_id,ground_truth,evaluation_partition. It JSON-serializes with allow_nan=False and escapes angle brackets so role delimiter text does not become chat boundaries. System rules instruct the model to treat evidence as untrusted data, return one interpretation field with two concise sentences, avoid numbers/patient facts/feature names with digits, avoid treatment/prognosis/causality/performance claims and acknowledge research review. The local tokenizer provided by vLLM applies the chat template before token counting. These controls mitigate failures but do not prove prompt injection resistance or factual accuracy. Ground-truth omission does not prove clinical_context itself is free of label leakage. A semantic context review is proposed.</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https://github.com/paulocilasjr/MyStudies_AppliedScripts/blob/103f5af/NVIDIA_Nemotron/src/icb_copilot/backends.py</a:t>
            </a:r>
          </a:p>
          <a:p xmlns:a="http://schemas.openxmlformats.org/drawingml/2006/main">
            <a:r>
              <a:t>https://huggingface.co/nvidia/Nemotron-Mini-4B-Instruct</a:t>
            </a:r>
          </a:p>
          <a:p xmlns:a="http://schemas.openxmlformats.org/drawingml/2006/main">
            <a:br/>
            <a:r>
              <a:t>Diagram provenance: built-in ImageGen. Exact prompt and asset provenance are in presentations/assets/contracts/image_prompts.md. Labels and edge topology were inspected against the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GuidedDecodingParams constrains the model output to an object with required interpretation:string and no extra properties. The wrapper reparses with duplicate-key/nonfinite rejection and screens interpretation length40..1200characters, generated digits/percentages, role/markup/URL patterns, selected treatment/performance/causality language, measurement-as-effect patterns and invented patient/biology assertions. This is heuristic: a pass is not verified clinical truth, and negated harmless terms can also fall back. The application independently creates numeric facts from the canonical record and appends the review sentence. A rejected textual result uses deterministic fallback with source=fallback and issues listed. An input, token-budget, backend cardinality or GPU/runtime failure propagates and does not become mock or a narrative fallback.</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https://github.com/paulocilasjr/MyStudies_AppliedScripts/blob/103f5af/NVIDIA_Nemotron/src/icb_copilot/backends.py</a:t>
            </a:r>
          </a:p>
          <a:p xmlns:a="http://schemas.openxmlformats.org/drawingml/2006/main">
            <a:r>
              <a:t>https://github.com/paulocilasjr/MyStudies_AppliedScripts/blob/103f5af/NVIDIA_Nemotron/src/icb_copilot/copilot.py</a:t>
            </a:r>
          </a:p>
          <a:p xmlns:a="http://schemas.openxmlformats.org/drawingml/2006/main">
            <a:r>
              <a:t>https://docs.vllm.ai/en/v0.10.2/features/structured_outputs.html</a:t>
            </a:r>
          </a:p>
          <a:p xmlns:a="http://schemas.openxmlformats.org/drawingml/2006/main">
            <a:br/>
            <a:r>
              <a:t>Diagram provenance: built-in ImageGen. Exact prompt and asset provenance are in presentations/assets/contracts/image_prompts.md. Labels and edge topology were inspected against the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Copilot.interpret returns one structured result; interpret_many preserves input order and rejects duplicate IDs. Predictions are validated/canonicalized and retained at original numeric precision. The narrative combines authoritative score/feature facts, generated-or-fallback prose and a fixed research review sentence; score prose rounds to three decimals. Output contains schema_version,patient_id,predictions,top_features,clinical_context,response_definition,narrative,narrative_source,review_required,limitations,comparison,quality,provenance. narrative_source values are mock,vllm,fallback. quality.status values are mock,passed,fallback. comparison includes missing_modalities,clinical_mif_gap,disagreement_threshold,score_disagreement,threshold_disagreement,predicted_classes. Provenance includes prompt_version and backend metadata. A dedicated versioned response-schema validator and cross-field invariants are proposed additions, not implemented capabilities.</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https://github.com/paulocilasjr/MyStudies_AppliedScripts/blob/103f5af/NVIDIA_Nemotron/src/icb_copilot/copilot.py</a:t>
            </a:r>
          </a:p>
          <a:p xmlns:a="http://schemas.openxmlformats.org/drawingml/2006/main">
            <a:r>
              <a:t>https://github.com/paulocilasjr/MyStudies_AppliedScripts/blob/103f5af/NVIDIA_Nemotron/docs/integration.md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P12 is entirely synthetic. The scores are clinical 0.21, mIF 0.78 and fused 0.57, with unknown calibration. The absolute clinical/mIF score gap is 0.57, exceeding the configurable presentation cutoff of 0.20. This cutoff is heuristic and is not a clinical uncertainty threshold. The supplied 0.5 classification thresholds also yield disagreement. The quoted text is an exact sentence from the deterministic mock interpretation. The fused score comes from the fixture and does not demonstrate an improvement in accuracy, clinical decisions or outcomes.</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https://github.com/paulocilasjr/MyStudies_AppliedScripts/blob/103f5af/NVIDIA_Nemotron/examples/mock_predictions.jsonl</a:t>
            </a:r>
          </a:p>
          <a:p xmlns:a="http://schemas.openxmlformats.org/drawingml/2006/main">
            <a:r>
              <a:t>https://github.com/paulocilasjr/MyStudies_AppliedScripts/blob/103f5af/NVIDIA_Nemotron/src/icb_copilot/copilot.py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paths: invalid JSON/types/duplicates reject before generation; over-budget prompts raise ValueError after local engine load and tokenization but before generate; doctor/cache/env failures stop the runner; malformed/rejected model text uses a deterministic fallback; engine failures propagate and batch experiment publishes no new completed result directory. HTTP ValueError maps422, other failures503; wrong content-type415 and oversizedbody413. A model runtime error does not get converted into mock output. The operator should preserve logs/configuration, correct root causes and retry using a new output directory. Automatic retries, resumable patient checkpoints and failed-run audit manifests are proposed, not implemented. Avoid repeating invalid data or blindly retrying OOM without reviewing budget/allocation.</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https://github.com/paulocilasjr/MyStudies_AppliedScripts/blob/103f5af/NVIDIA_Nemotron/src/icb_copilot/server.py</a:t>
            </a:r>
          </a:p>
          <a:p xmlns:a="http://schemas.openxmlformats.org/drawingml/2006/main">
            <a:r>
              <a:t>https://github.com/paulocilasjr/MyStudies_AppliedScripts/blob/103f5af/NVIDIA_Nemotron/src/icb_copilot/experiment.py</a:t>
            </a:r>
          </a:p>
          <a:p xmlns:a="http://schemas.openxmlformats.org/drawingml/2006/main">
            <a:r>
              <a:t>https://github.com/paulocilasjr/MyStudies_AppliedScripts/blob/103f5af/NVIDIA_Nemotron/src/icb_copilot/backends.py</a:t>
            </a:r>
          </a:p>
          <a:p xmlns:a="http://schemas.openxmlformats.org/drawingml/2006/main">
            <a:r>
              <a:t>https://github.com/paulocilasjr/MyStudies_AppliedScripts/blob/103f5af/NVIDIA_Nemotron/scripts/run_hpc.sh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run_experiment reads the input bytes once, parses that immutable snapshot and computes its SHA256. A producer rewriting the handoff during generation does not change the consumed input identity. The manifest records input path/hash,count,timestamp,elapsed time,backend/settings,batch_size,disagreement threshold,runtime package versions,response definitions and source/quality counts. The model manifest records exact requested revision,weight filenames and byte sizes, but not full weight hashes. The manifest records four core package versions. The resolved pip freeze is stored separately in shared .state/requirements-resolved.txt; it is not embedded in each run manifest. The pins and freeze do not form a fully hashed environment lock. On success, the component writes narratives.jsonl,narratives.csv,report.md,manifest.json,metrics.json in a sibling staging directory and renames it atomically. Files receive0600 and run directory0700. Nonempty existing result directories are protected. Request IDs, per-stage latency and failed-run manifests are proposed additions.</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https://github.com/paulocilasjr/MyStudies_AppliedScripts/blob/103f5af/NVIDIA_Nemotron/src/icb_copilot/experiment.py</a:t>
            </a:r>
          </a:p>
          <a:p xmlns:a="http://schemas.openxmlformats.org/drawingml/2006/main">
            <a:r>
              <a:t>https://github.com/paulocilasjr/MyStudies_AppliedScripts/blob/103f5af/NVIDIA_Nemotron/src/icb_copilot/models.py</a:t>
            </a:r>
          </a:p>
          <a:p xmlns:a="http://schemas.openxmlformats.org/drawingml/2006/main">
            <a:r>
              <a:t>https://github.com/paulocilasjr/MyStudies_AppliedScripts/blob/103f5af/NVIDIA_Nemotron/scripts/run_hpc.sh</a:t>
            </a:r>
          </a:p>
          <a:p xmlns:a="http://schemas.openxmlformats.org/drawingml/2006/main">
            <a:br/>
            <a:r>
              <a:t>Diagram provenance: built-in ImageGen. Exact prompt and asset provenance are in presentations/assets/contracts/image_prompts.md. Labels and edge topology were inspected against the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service has GET/health,POST/v1/interpret and POST/v1/interpret-batch. It binds to IPv4 loopback/localhost, requires application/json and a single Content-Length, rejects chunked bodies, limits body size2,000,000bytes and batch size1..128 uniquepatients. ThreadingHTTPServer receives requests while Copilot._lock serializes each vLLM generate call, including first lazy loading. max_num_seqs4 refers to internal engine sequencing, not parallel API requests. /health reports service status/backend/schema/model_loaded and does not perform a generation probe. The30s connection socket timeout is not an end-to-end model deadline. The code does not implement authentication,CORS,bounded worker queue,rate limits,request IDs or inference deadlines. Keep actual patient data in approved Moffitt hosts/storage. Broader service exposure would require explicit access/operational hardening.</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https://github.com/paulocilasjr/MyStudies_AppliedScripts/blob/103f5af/NVIDIA_Nemotron/src/icb_copilot/server.py</a:t>
            </a:r>
          </a:p>
          <a:p xmlns:a="http://schemas.openxmlformats.org/drawingml/2006/main">
            <a:r>
              <a:t>https://github.com/paulocilasjr/MyStudies_AppliedScripts/blob/103f5af/NVIDIA_Nemotron/src/icb_copilot/copilot.py</a:t>
            </a:r>
          </a:p>
          <a:p xmlns:a="http://schemas.openxmlformats.org/drawingml/2006/main">
            <a:r>
              <a:t>https://docs.vllm.ai/en/v0.10.2/usage/security.html</a:t>
            </a:r>
          </a:p>
          <a:p xmlns:a="http://schemas.openxmlformats.org/drawingml/2006/main">
            <a:br/>
            <a:r>
              <a:t>Diagram provenance: built-in ImageGen. Exact prompt and asset provenance are in presentations/assets/contracts/image_prompts.md. Labels and edge topology were inspected against the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CPU/mock suite has 67 tests covering strict inputs, upstream joins, label withholding, role delimiter escaping, guided schema/chat-template/budget behavior with fake backends, local HTTP constraints, immutable input hashes, protected/atomic artifacts, held-out evaluation and mocked SLURM prep/offline paths. These do not prove actual GPU model loading, runtime performance or clinical narrative validity. The four synthetic fixtures represent concordant, discordant, clinical-only and near-threshold cases. The next A30 smoke test must run real vLLM locally and check output count/identity, unchanged structured scores, source counts, screen/fallback behavior and human review. Acceptance tolerances require team agreement.</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https://github.com/paulocilasjr/MyStudies_AppliedScripts/blob/103f5af/NVIDIA_Nemotron/tests/</a:t>
            </a:r>
          </a:p>
          <a:p xmlns:a="http://schemas.openxmlformats.org/drawingml/2006/main">
            <a:r>
              <a:t>https://github.com/paulocilasjr/MyStudies_AppliedScripts/blob/103f5af/NVIDIA_Nemotron/examples/mock_predictions.jsonl</a:t>
            </a:r>
          </a:p>
          <a:p xmlns:a="http://schemas.openxmlformats.org/drawingml/2006/main">
            <a:r>
              <a:t>https://github.com/paulocilasjr/MyStudies_AppliedScripts/blob/103f5af/NVIDIA_Nemotron/docs/research_review.md</a:t>
            </a:r>
          </a:p>
          <a:p xmlns:a="http://schemas.openxmlformats.org/drawingml/2006/main">
            <a:br/>
            <a:r>
              <a:t>Diagram provenance: built-in ImageGen. Exact prompt and asset provenance are in presentations/assets/execution/image_prompts.md. Labels and edge topology were inspected against the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team acceptance conditions, not new implemented validators. Verify each expected patient ID appears once, input/output counts align, modality availability matches source exports and probabilities remain unchanged. Confirm the responder class, endpoint and assessment window with producers. Check feature units, attribution target/scale and the context prediction timepoint; keep labels out of generation. The A30 smoke test must produce actual source=vllm outputs and disclose any fallbacks. A coherent fallback alone does not prove GPU inference. Compare eligible paired test/OOF predictions using the same folds and endpoint; the evaluator currently groups metadata strings and trusts producers. Review every narrative, including screen-passed and fallback outputs. Agree fallback and latency tolerances using observed smoke-test and review evidence. This component does not establish clinical benefit.</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https://github.com/paulocilasjr/MyStudies_AppliedScripts/blob/103f5af/NVIDIA_Nemotron/docs/research_review.md</a:t>
            </a:r>
          </a:p>
          <a:p xmlns:a="http://schemas.openxmlformats.org/drawingml/2006/main">
            <a:r>
              <a:t>https://github.com/paulocilasjr/MyStudies_AppliedScripts/blob/103f5af/NVIDIA_Nemotron/src/icb_copilot/copilot.py</a:t>
            </a:r>
          </a:p>
          <a:p xmlns:a="http://schemas.openxmlformats.org/drawingml/2006/main">
            <a:r>
              <a:t>https://github.com/paulocilasjr/MyStudies_AppliedScripts/blob/103f5af/NVIDIA_Nemotron/src/icb_copilot/evaluate.py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planned team workstreams and the interfaces they will provide once their models are ready. Isis owns clinical preprocessing/modeling, Alyssa owns mIF preprocessing/modeling, Paulo owns this copilot and Junhao owns the UI. A fusion owner has not been assigned in the supplied plan. Clinical, mIF and fused CSVs each include patient_id and probability, with optional metadata. A context JSONL sidecar carries features, clinical context, response definition, labels and evaluation partition. Slide mapping and aggregation belong upstream. assemble joins the patient union and preserves missing modalities. H&amp;E requires a new model plus explicit schema, adapter and evaluation changes because the current schema accepts only clinical/mif/fused.</a:t>
            </a:r>
          </a:p>
          <a:p xmlns:a="http://schemas.openxmlformats.org/drawingml/2006/main">
            <a:r>
              <a:t/>
            </a:r>
          </a:p>
          <a:p xmlns:a="http://schemas.openxmlformats.org/drawingml/2006/main">
            <a:r>
              <a:t>Sources:</a:t>
            </a:r>
          </a:p>
          <a:p xmlns:a="http://schemas.openxmlformats.org/drawingml/2006/main">
            <a:r>
              <a:t>User-provided team responsibilities</a:t>
            </a:r>
          </a:p>
          <a:p xmlns:a="http://schemas.openxmlformats.org/drawingml/2006/main">
            <a:r>
              <a:t>https://github.com/paulocilasjr/MyStudies_AppliedScripts/blob/103f5af/NVIDIA_Nemotron/docs/integration.md</a:t>
            </a:r>
          </a:p>
          <a:p xmlns:a="http://schemas.openxmlformats.org/drawingml/2006/main">
            <a:r>
              <a:t>https://github.com/paulocilasjr/MyStudies_AppliedScripts/blob/103f5af/NVIDIA_Nemotron/src/icb_copilot/io.py</a:t>
            </a:r>
          </a:p>
          <a:p xmlns:a="http://schemas.openxmlformats.org/drawingml/2006/main">
            <a:r>
              <a:t>https://github.com/paulocilasjr/MyStudies_AppliedScripts/blob/103f5af/NVIDIA_Nemotron/src/icb_copilot/schema.py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evaluator computes exploratory AUROC and Brier score for explicitly labeled test/out_of_fold records with a specified response definition. It separates partition/endpoint strings but does not prove true held-out status or fold construction. available_cohorts can have different patient sets. paired_all_modalities includes only records with all three outputs and is the relevant paired comparison. Accuracy uses only supplied thresholds and may have a different denominator. Multiple model IDs are listed and require producer review. Synthetic/unlabeled records do not establish performance. The current four synthetic cases yield no eligible performance cohort. The implementation does not compute confidence intervals or significance. Independent narrative review must examine exact facts, evidence, source and limitations. Guided JSON controls format, not medical correctness.</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https://github.com/paulocilasjr/MyStudies_AppliedScripts/blob/103f5af/NVIDIA_Nemotron/src/icb_copilot/evaluate.py</a:t>
            </a:r>
          </a:p>
          <a:p xmlns:a="http://schemas.openxmlformats.org/drawingml/2006/main">
            <a:r>
              <a:t>https://github.com/paulocilasjr/MyStudies_AppliedScripts/blob/103f5af/NVIDIA_Nemotron/docs/research_review.md</a:t>
            </a:r>
          </a:p>
          <a:p xmlns:a="http://schemas.openxmlformats.org/drawingml/2006/main">
            <a:r>
              <a:t>https://github.com/paulocilasjr/MyStudies_AppliedScripts/blob/103f5af/NVIDIA_Nemotron/src/icb_copilot/copilot.py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 reports 48 clinical patients and 29 with mIF. Outcome counts are not supplied. The responder definition remains undecided and the assessment window needs agreement. The eligible three-model comparison can be smaller than 29 because it requires all three scores, labels, a specified endpoint and declared test/out_of_fold status. This small exploratory cohort does not establish performance precision, subgroup fairness, external generalization, clinical utility or outcome benefit. The evaluator reports point estimates and does not implement confidence intervals or significance tests. Confirm outcome definition, assessment window and eligibility before evaluation. Keep patient slides in the same fold and fit preprocessing, feature selection, calibration and fusion only within appropriate training folds. The code trusts declared test/out_of_fold status and response_definition. Fold construction remains upstream. Missing mIF can create selection bias if availability relates to patient characteristics. Extra batches have user-reported batch effects. These are risks to assess, not observed measured biases. The study plan and reporting should document sample size, missingness and validation limitations.</a:t>
            </a:r>
          </a:p>
          <a:p xmlns:a="http://schemas.openxmlformats.org/drawingml/2006/main">
            <a:r>
              <a:t/>
            </a:r>
          </a:p>
          <a:p xmlns:a="http://schemas.openxmlformats.org/drawingml/2006/main">
            <a:r>
              <a:t>Sources:</a:t>
            </a:r>
          </a:p>
          <a:p xmlns:a="http://schemas.openxmlformats.org/drawingml/2006/main">
            <a:r>
              <a:t>User-provided cohort/status and undecided responder definition</a:t>
            </a:r>
          </a:p>
          <a:p xmlns:a="http://schemas.openxmlformats.org/drawingml/2006/main">
            <a:r>
              <a:t>https://github.com/paulocilasjr/MyStudies_AppliedScripts/blob/103f5af/NVIDIA_Nemotron/src/icb_copilot/evaluate.py</a:t>
            </a:r>
          </a:p>
          <a:p xmlns:a="http://schemas.openxmlformats.org/drawingml/2006/main">
            <a:r>
              <a:t>https://pmc.ncbi.nlm.nih.gov/articles/PMC11019967/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synthetic cases were checked with Copilot(backend=mock). The clinical decision threshold is supplied as 0.5 solely for this example. The structured probability is preserved at full precision, and predicted_classes uses probability &gt;= decision_threshold. The narrative formats probabilities to three decimals, so 0.4996 and 0.5004 both print as 0.500 while their classes differ. The UI should display the supplied threshold and computed class, using adequate score precision near the threshold. No default threshold is inferred when absent. Calibration metadata is a declaration from the producer; the code does not verify calibration. A high score, agreement between modalities, or the configurable 0.20 gap heuristic does not quantify uncertainty or prove correctness. Inconsistent feature units compromise evidence comparisons. Reversed class semantics invalidate score comparisons. The narrative has no uncertainty estimate or external evidence lookup.</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https://github.com/paulocilasjr/MyStudies_AppliedScripts/blob/103f5af/NVIDIA_Nemotron/src/icb_copilot/copilot.py</a:t>
            </a:r>
          </a:p>
          <a:p xmlns:a="http://schemas.openxmlformats.org/drawingml/2006/main">
            <a:r>
              <a:t>https://github.com/paulocilasjr/MyStudies_AppliedScripts/blob/103f5af/NVIDIA_Nemotron/src/icb_copilot/schema.py</a:t>
            </a:r>
          </a:p>
          <a:p xmlns:a="http://schemas.openxmlformats.org/drawingml/2006/main">
            <a:r>
              <a:t>https://github.com/paulocilasjr/MyStudies_AppliedScripts/blob/103f5af/NVIDIA_Nemotron/src/icb_copilot/evaluate.py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Strict validators reject unsupported fields, nonfinite or out-of-range probabilities, duplicate keys/IDs, unmatched context IDs and features for absent modalities. CSV assembly uses patient-ID union and omits missing modalities. These checks cannot detect semantically reversed model class order, a plausible but incorrect unit, an attribution for the wrong class or a misleading endpoint declaration. The producer must verify the responder class and prediction timepoint. A context note containing future outcome information is accepted as text even though explicit ground_truth/evaluation_partition fields are withheld from the prompt. Record shape validation therefore leaves semantic study checks upstream. Slide-to-patient mapping and aggregation also happen upstream. New raw H&amp;E images are outside this text-only contract and require a separately designed model/export path.</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https://github.com/paulocilasjr/MyStudies_AppliedScripts/blob/103f5af/NVIDIA_Nemotron/src/icb_copilot/schema.py</a:t>
            </a:r>
          </a:p>
          <a:p xmlns:a="http://schemas.openxmlformats.org/drawingml/2006/main">
            <a:r>
              <a:t>https://github.com/paulocilasjr/MyStudies_AppliedScripts/blob/103f5af/NVIDIA_Nemotron/src/icb_copilot/io.py</a:t>
            </a:r>
          </a:p>
          <a:p xmlns:a="http://schemas.openxmlformats.org/drawingml/2006/main">
            <a:r>
              <a:t>https://github.com/paulocilasjr/MyStudies_AppliedScripts/blob/103f5af/NVIDIA_Nemotron/src/icb_copilot/backends.py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NVIDIA describes Nemotron-Mini-4B-Instruct as a general instruction model and documents potentially inaccurate, incomplete, irrelevant or biased output. The project does not establish its clinical suitability. Guided decoding constrains JSON shape, and the screen uses regular expressions rather than a semantic evidence verifier. Unsupported paraphrases can pass and harmless negated terms can trigger fallback. The factual prefix preserves upstream supplied values and selected features, including errors in those inputs. The model receives up to ten supplied features per modality within the token budget. The factual prefix uses only the first two, while the full structured result retains them all. The requested two-sentence interpretation is not enforced by the JSON schema. The deterministic fallback improves predictable publication behavior but is not independent validation of prediction or evidence quality. All successful summaries require human review. Assess readability, unsupported claims, omissions and whether generated prose improves the demo compared with a template-only baseline.</a:t>
            </a:r>
          </a:p>
          <a:p xmlns:a="http://schemas.openxmlformats.org/drawingml/2006/main">
            <a:r>
              <a:t/>
            </a:r>
          </a:p>
          <a:p xmlns:a="http://schemas.openxmlformats.org/drawingml/2006/main">
            <a:r>
              <a:t>Sources:</a:t>
            </a:r>
          </a:p>
          <a:p xmlns:a="http://schemas.openxmlformats.org/drawingml/2006/main">
            <a:r>
              <a:t>https://huggingface.co/nvidia/Nemotron-Mini-4B-Instruct</a:t>
            </a:r>
          </a:p>
          <a:p xmlns:a="http://schemas.openxmlformats.org/drawingml/2006/main">
            <a:r>
              <a:t>https://github.com/paulocilasjr/MyStudies_AppliedScripts/blob/103f5af/NVIDIA_Nemotron/src/icb_copilot/copilot.py</a:t>
            </a:r>
          </a:p>
          <a:p xmlns:a="http://schemas.openxmlformats.org/drawingml/2006/main">
            <a:r>
              <a:t>https://github.com/paulocilasjr/MyStudies_AppliedScripts/blob/103f5af/NVIDIA_Nemotron/src/icb_copilot/backends.py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Doctor checks total GPU memory and a small tensor allocation, not available VRAM, model loading, guided decoding or production inference throughput. A healthy loopback service can precede lazy model loading. Token checking happens after that lazy load and before generation. Character-valid evidence can exceed the fully templated 4096-token context, causing ValueError and HTTP422 without a fallback narrative. GPU load/generation errors propagate, ordinarily HTTP503. Concurrency uses a per-Copilot lock and unbounded waiting request threads. The connection socket timeout is not a model inference deadline. The service has no request deduplication or cancellation, so a caller retry after disconnect can repeat work. The batch experiment publishes only after all outputs complete. A killed job can leave a hidden staging directory, and there is no patient checkpoint/resume or fsync-based crash durability guarantee. Real A30 memory, cold/warm latency and failure behavior require site tests. Context persists in structured artifacts. Offline library flags do not configure network isolation or an authenticated API.</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https://github.com/paulocilasjr/MyStudies_AppliedScripts/blob/103f5af/NVIDIA_Nemotron/src/icb_copilot/models.py</a:t>
            </a:r>
          </a:p>
          <a:p xmlns:a="http://schemas.openxmlformats.org/drawingml/2006/main">
            <a:r>
              <a:t>https://github.com/paulocilasjr/MyStudies_AppliedScripts/blob/103f5af/NVIDIA_Nemotron/src/icb_copilot/backends.py</a:t>
            </a:r>
          </a:p>
          <a:p xmlns:a="http://schemas.openxmlformats.org/drawingml/2006/main">
            <a:r>
              <a:t>https://github.com/paulocilasjr/MyStudies_AppliedScripts/blob/103f5af/NVIDIA_Nemotron/src/icb_copilot/server.py</a:t>
            </a:r>
          </a:p>
          <a:p xmlns:a="http://schemas.openxmlformats.org/drawingml/2006/main">
            <a:r>
              <a:t>https://github.com/paulocilasjr/MyStudies_AppliedScripts/blob/103f5af/NVIDIA_Nemotron/src/icb_copilot/experiment.py</a:t>
            </a:r>
          </a:p>
          <a:p xmlns:a="http://schemas.openxmlformats.org/drawingml/2006/main">
            <a:r>
              <a:t>https://docs.vllm.ai/en/v0.10.2/usage/security.html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decision comparison, not an assertion that alternative runtimes improve quality or speed. The current local 4B checkpoint provides a bounded one-A30 deployment but has no verified narrative quality for this task. A larger model must be compared using agreed review criteria. BF16 avoids adding a quantization path but consumes memory for weights, KV cache and runtime buffers; any quantized variant requires compatibility and quality requalification. Bounded evidence reduces prompt size but leaves feature selection upstream. The prompt accepts up to ten features per modality, does not silently truncate and checks tokens after model load. Strict contracts make export errors visible but require explicit adapters/versioning for new modalities or fields. Pinning aids reproducibility, while the transitive freeze/weight filenames do not create a complete hash lock. No alternative model, quantization or hosted fallback is configured automatically.</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https://github.com/paulocilasjr/MyStudies_AppliedScripts/blob/103f5af/NVIDIA_Nemotron/src/icb_copilot/backends.py</a:t>
            </a:r>
          </a:p>
          <a:p xmlns:a="http://schemas.openxmlformats.org/drawingml/2006/main">
            <a:r>
              <a:t>https://github.com/paulocilasjr/MyStudies_AppliedScripts/blob/103f5af/NVIDIA_Nemotron/src/icb_copilot/schema.py</a:t>
            </a:r>
          </a:p>
          <a:p xmlns:a="http://schemas.openxmlformats.org/drawingml/2006/main">
            <a:r>
              <a:t>https://github.com/paulocilasjr/MyStudies_AppliedScripts/blob/103f5af/NVIDIA_Nemotron/requirements-vllm.txt</a:t>
            </a:r>
          </a:p>
          <a:p xmlns:a="http://schemas.openxmlformats.org/drawingml/2006/main">
            <a:r>
              <a:t>https://huggingface.co/nvidia/Nemotron-Mini-4B-Instruct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hackathon, completed reviewed artifacts offer a stable demo path, while the live loopback API adds interactivity and cold-load/queue/deadline qualification work. Both interfaces are implemented. Generated prose may improve readability, but its value versus a deterministic template remains to be measured independently. The matched three-model comparison is fairer for attributing a difference to modality/model choice because it uses the same eligible patients; its smaller selected cohort does not represent all 48 clinical cases. Available-cohort metrics remain useful descriptively but do not support a direct modality improvement claim across different patients. The fusion method and owner remain upstream/TBD. More complex fitting and tuning with the small paired cohort can overfit, so a simple prespecified baseline is a proposed research choice, not an existing implementation or guaranteed best model. Train/fold leakage must be ruled out in either approach.</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https://github.com/paulocilasjr/MyStudies_AppliedScripts/blob/103f5af/NVIDIA_Nemotron/src/icb_copilot/evaluate.py</a:t>
            </a:r>
          </a:p>
          <a:p xmlns:a="http://schemas.openxmlformats.org/drawingml/2006/main">
            <a:r>
              <a:t>https://github.com/paulocilasjr/MyStudies_AppliedScripts/blob/103f5af/NVIDIA_Nemotron/src/icb_copilot/server.py</a:t>
            </a:r>
          </a:p>
          <a:p xmlns:a="http://schemas.openxmlformats.org/drawingml/2006/main">
            <a:r>
              <a:t>https://github.com/paulocilasjr/MyStudies_AppliedScripts/blob/103f5af/NVIDIA_Nemotron/src/icb_copilot/experiment.py</a:t>
            </a:r>
          </a:p>
          <a:p xmlns:a="http://schemas.openxmlformats.org/drawingml/2006/main">
            <a:r>
              <a:t>https://pmc.ncbi.nlm.nih.gov/articles/PMC11019967/</a:t>
            </a:r>
          </a:p>
          <a:p xmlns:a="http://schemas.openxmlformats.org/drawingml/2006/main">
            <a:r>
              <a:t>User-provided team ownership and cohort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project-level acceptance checks, not new validators or claims of executed GPU/UI tests. Existing software tests cover structural input rejection and several mocked execution paths. Add semantic handoff review for wrong class, units, timepoint and outcome text, and require the producer to correct the export before use. Test missing-modality and near-threshold displays in the actual UI rather than assuming structured fields guarantee correct rendering. Test one-outcome-class/zero-eligible cohorts: AUROC must remain null or no eligible group, never manufactured. Review passed/fallback narratives against authoritative evidence and compare with templates. A real A30 run should exercise cold model load, long prompts, runtime failure and busy requests with agreed latency/fallback thresholds. Fallback counts should be disclosed, and a coherent fallback should not be accepted as proof of model inference. Agree reviewer ownership and demo acceptance before using real outputs.</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https://github.com/paulocilasjr/MyStudies_AppliedScripts/blob/103f5af/NVIDIA_Nemotron/tests/</a:t>
            </a:r>
          </a:p>
          <a:p xmlns:a="http://schemas.openxmlformats.org/drawingml/2006/main">
            <a:r>
              <a:t>https://github.com/paulocilasjr/MyStudies_AppliedScripts/blob/103f5af/NVIDIA_Nemotron/src/icb_copilot/evaluate.py</a:t>
            </a:r>
          </a:p>
          <a:p xmlns:a="http://schemas.openxmlformats.org/drawingml/2006/main">
            <a:r>
              <a:t>https://github.com/paulocilasjr/MyStudies_AppliedScripts/blob/103f5af/NVIDIA_Nemotron/src/icb_copilot/copilot.py</a:t>
            </a:r>
          </a:p>
          <a:p xmlns:a="http://schemas.openxmlformats.org/drawingml/2006/main">
            <a:r>
              <a:t>https://github.com/paulocilasjr/MyStudies_AppliedScripts/blob/103f5af/NVIDIA_Nemotron/src/icb_copilot/server.py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engineering recommendations based on current code, not completed features. Publish machine-readable input/output JSON Schemas and validate cross-field, count and probability invariants. Enhance semantic checks for units, timepoint, class mapping and fold provenance; obtain independent clinical review. For live API use, add model warmup/generation readiness probes and bounded queue/deadline policies. Add safe request/run IDs, per-stage latency, live/per-request fallback counters and failed-run records without logging raw clinical content by default. Existing successful experiment manifests already aggregate source and quality counts. Preserve hash-locked environments and weight digests when required. Add GPU regression and narrative review after deployment. Screen-passed text can still be incorrect.</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https://github.com/paulocilasjr/MyStudies_AppliedScripts/blob/103f5af/NVIDIA_Nemotron/src/icb_copilot/server.py</a:t>
            </a:r>
          </a:p>
          <a:p xmlns:a="http://schemas.openxmlformats.org/drawingml/2006/main">
            <a:r>
              <a:t>https://github.com/paulocilasjr/MyStudies_AppliedScripts/blob/103f5af/NVIDIA_Nemotron/src/icb_copilot/backends.py</a:t>
            </a:r>
          </a:p>
          <a:p xmlns:a="http://schemas.openxmlformats.org/drawingml/2006/main">
            <a:r>
              <a:t>https://github.com/paulocilasjr/MyStudies_AppliedScripts/blob/103f5af/NVIDIA_Nemotron/src/icb_copilot/experiment.py</a:t>
            </a:r>
          </a:p>
          <a:p xmlns:a="http://schemas.openxmlformats.org/drawingml/2006/main">
            <a:r>
              <a:t>https://huggingface.co/nvidia/Nemotron-Mini-4B-Instruct</a:t>
            </a:r>
          </a:p>
          <a:p xmlns:a="http://schemas.openxmlformats.org/drawingml/2006/main">
            <a:r>
              <a:t>https://docs.vllm.ai/en/v0.10.2/usage/security.html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owner assignments and defaults below are proposals to confirm with the team. The responder definition is explicitly undecided in the user’s reply. There is no supplied fusion owner or clinical reviewer, so those remain TBD. A prespecified simple late-fusion baseline is a proposed starting point rather than implemented fusion. Avoid training or tuning fusion on evaluation predictions; use appropriately constructed training/OOF data and a shared independent evaluation design. Unknown calibration and null thresholds should remain until the modeling team provides supported metadata. The artifact-first recommendation reflects demo reliability, not an adopted team choice. Extra batches and H&amp;E remain pending extensions.</a:t>
            </a:r>
          </a:p>
          <a:p xmlns:a="http://schemas.openxmlformats.org/drawingml/2006/main">
            <a:r>
              <a:t/>
            </a:r>
          </a:p>
          <a:p xmlns:a="http://schemas.openxmlformats.org/drawingml/2006/main">
            <a:r>
              <a:t>Sources:</a:t>
            </a:r>
          </a:p>
          <a:p xmlns:a="http://schemas.openxmlformats.org/drawingml/2006/main">
            <a:r>
              <a:t>User reply: responder definition still undecided</a:t>
            </a:r>
          </a:p>
          <a:p xmlns:a="http://schemas.openxmlformats.org/drawingml/2006/main">
            <a:r>
              <a:t>User-provided team responsibilities</a:t>
            </a:r>
          </a:p>
          <a:p xmlns:a="http://schemas.openxmlformats.org/drawingml/2006/main">
            <a:r>
              <a:t>https://github.com/paulocilasjr/MyStudies_AppliedScripts/blob/103f5af/NVIDIA_Nemotron/docs/integration.md</a:t>
            </a:r>
          </a:p>
          <a:p xmlns:a="http://schemas.openxmlformats.org/drawingml/2006/main">
            <a:r>
              <a:t>https://github.com/paulocilasjr/MyStudies_AppliedScripts/blob/103f5af/NVIDIA_Nemotron/docs/research_review.md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checkpoints with no invented dates. Current implementation and synthetic interface tests are complete, but no real A30 model generation has occurred in this local task. The team must agree endpoint and exports, verify model generation on HPC, provide correctly held-out model predictions and fusion, run the copilot on the resulting records, review representative narratives and integrate the UI. Acceptance must distinguish real vLLM output from deterministic fallback and show limitations/source/review flags. H&amp;E and batch expansion can remain later work until schema and evaluation plans are agreed. The one-command path provides the runnable setup/experiment mechanism once transferred to the approved site filesystem.</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https://github.com/paulocilasjr/MyStudies_AppliedScripts/blob/103f5af/NVIDIA_Nemotron/README.md</a:t>
            </a:r>
          </a:p>
          <a:p xmlns:a="http://schemas.openxmlformats.org/drawingml/2006/main">
            <a:r>
              <a:t>https://github.com/paulocilasjr/MyStudies_AppliedScripts/blob/103f5af/NVIDIA_Nemotron/docs/hpc.md</a:t>
            </a:r>
          </a:p>
          <a:p xmlns:a="http://schemas.openxmlformats.org/drawingml/2006/main">
            <a:r>
              <a:t>https://github.com/paulocilasjr/MyStudies_AppliedScripts/blob/103f5af/NVIDIA_Nemotron/docs/research_review.md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1407d84c534bb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441d8602c034ad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eaf70c7801744d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b933e855de04ab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4af55e83af5432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4940f7106494df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79F627-113E-4074-859F-82267C3A84C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B7E9CFC-5E85-4F71-8F04-3DA98EFEDF1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A027976-780C-483E-BE80-AF95790755C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18B022-DFD4-409A-908E-A007D30B61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B08C168-DF08-4B2B-8331-BB3CE1BBDB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E4C2764-CBF2-4D52-ADBE-C2B2C7F5FE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E4FFF4-17D6-4673-824C-9F3908D29AC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5925540-373D-48E0-91E6-7DB26429A3F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FC947A-F50E-4E24-8582-E63264EB49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0BE2A6-A4B7-490A-882F-781AECB062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adb30fe2f74fa8" /><Relationship Type="http://schemas.openxmlformats.org/officeDocument/2006/relationships/slideLayout" Target="/ppt/slideLayouts/slideLayout1.xml" Id="Rabfe2f985b9a4322" /><Relationship Type="http://schemas.openxmlformats.org/officeDocument/2006/relationships/slideLayout" Target="/ppt/slideLayouts/slideLayout2.xml" Id="R09a6387aac3e4046" /><Relationship Type="http://schemas.openxmlformats.org/officeDocument/2006/relationships/slideLayout" Target="/ppt/slideLayouts/slideLayout3.xml" Id="Ra8170999de3648f6" /><Relationship Type="http://schemas.openxmlformats.org/officeDocument/2006/relationships/slideLayout" Target="/ppt/slideLayouts/slideLayout4.xml" Id="R3f29788d8df24cca" /><Relationship Type="http://schemas.openxmlformats.org/officeDocument/2006/relationships/slideLayout" Target="/ppt/slideLayouts/slideLayout5.xml" Id="R28480e2e4bff4a0b" /><Relationship Type="http://schemas.openxmlformats.org/officeDocument/2006/relationships/slideLayout" Target="/ppt/slideLayouts/slideLayout6.xml" Id="R30cc8e212e9e4e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fe2f985b9a4322"/>
    <p:sldLayoutId xmlns:r="http://schemas.openxmlformats.org/officeDocument/2006/relationships" id="2147483650" r:id="R09a6387aac3e4046"/>
    <p:sldLayoutId xmlns:r="http://schemas.openxmlformats.org/officeDocument/2006/relationships" id="2147483651" r:id="Ra8170999de3648f6"/>
    <p:sldLayoutId xmlns:r="http://schemas.openxmlformats.org/officeDocument/2006/relationships" id="2147483652" r:id="R3f29788d8df24cca"/>
    <p:sldLayoutId xmlns:r="http://schemas.openxmlformats.org/officeDocument/2006/relationships" id="2147483653" r:id="R28480e2e4bff4a0b"/>
    <p:sldLayoutId xmlns:r="http://schemas.openxmlformats.org/officeDocument/2006/relationships" id="2147483654" r:id="R30cc8e212e9e4e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a169e9454d547e1" /><Relationship Type="http://schemas.openxmlformats.org/officeDocument/2006/relationships/image" Target="/ppt/media/image.png" Id="R8714af73222b4d8f" /><Relationship Type="http://schemas.openxmlformats.org/officeDocument/2006/relationships/notesSlide" Target="/ppt/notesSlides/notesSlide1.xml" Id="R69abdba24dce49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c3363a63cd44dcc" /><Relationship Type="http://schemas.openxmlformats.org/officeDocument/2006/relationships/chart" Target="/ppt/slides/charts/chart1.xml" Id="R35d9a1a8bcda4336" /><Relationship Type="http://schemas.openxmlformats.org/officeDocument/2006/relationships/notesSlide" Target="/ppt/notesSlides/notesSlide2.xml" Id="R20013c9e39df4e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14eb3ef3a2e4b54" /><Relationship Type="http://schemas.openxmlformats.org/officeDocument/2006/relationships/image" Target="/ppt/media/image2.png" Id="Rc2960fe907664318" /><Relationship Type="http://schemas.openxmlformats.org/officeDocument/2006/relationships/notesSlide" Target="/ppt/notesSlides/notesSlide3.xml" Id="R03982b19235840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dd6f214443048b2" /><Relationship Type="http://schemas.openxmlformats.org/officeDocument/2006/relationships/image" Target="/ppt/media/image3.png" Id="Racac483294e94d6c" /><Relationship Type="http://schemas.openxmlformats.org/officeDocument/2006/relationships/notesSlide" Target="/ppt/notesSlides/notesSlide4.xml" Id="Ra4bfc8b79b1f49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36cf5b7ee454183" /><Relationship Type="http://schemas.openxmlformats.org/officeDocument/2006/relationships/image" Target="/ppt/media/image4.png" Id="R041e3a20b6764672" /><Relationship Type="http://schemas.openxmlformats.org/officeDocument/2006/relationships/notesSlide" Target="/ppt/notesSlides/notesSlide5.xml" Id="R9e2d7ca8a9af4b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89ba045c0aa46e0" /><Relationship Type="http://schemas.openxmlformats.org/officeDocument/2006/relationships/notesSlide" Target="/ppt/notesSlides/notesSlide6.xml" Id="R4518b6472c3a44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d504c35bd094471" /><Relationship Type="http://schemas.openxmlformats.org/officeDocument/2006/relationships/chart" Target="/ppt/slides/charts/chart2.xml" Id="R9eba6c8832e64c9b" /><Relationship Type="http://schemas.openxmlformats.org/officeDocument/2006/relationships/notesSlide" Target="/ppt/notesSlides/notesSlide7.xml" Id="R4daa66d0701d458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1d24dd74f2f41b1" /><Relationship Type="http://schemas.openxmlformats.org/officeDocument/2006/relationships/image" Target="/ppt/media/image5.png" Id="Ra704e024f4f24fbe" /><Relationship Type="http://schemas.openxmlformats.org/officeDocument/2006/relationships/notesSlide" Target="/ppt/notesSlides/notesSlide8.xml" Id="R8dccb79145de42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92b7d6d90064b25" /><Relationship Type="http://schemas.openxmlformats.org/officeDocument/2006/relationships/notesSlide" Target="/ppt/notesSlides/notesSlide9.xml" Id="R7d6f460299934d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2cdeda714174541" /><Relationship Type="http://schemas.openxmlformats.org/officeDocument/2006/relationships/notesSlide" Target="/ppt/notesSlides/notesSlide10.xml" Id="R964e0f21bffb4e5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c20bf6cb2154b89" /><Relationship Type="http://schemas.openxmlformats.org/officeDocument/2006/relationships/image" Target="/ppt/media/image6.png" Id="R6468d0b8709f4e04" /><Relationship Type="http://schemas.openxmlformats.org/officeDocument/2006/relationships/notesSlide" Target="/ppt/notesSlides/notesSlide11.xml" Id="R60eda6e729ab41f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169c7e7fcf34dea" /><Relationship Type="http://schemas.openxmlformats.org/officeDocument/2006/relationships/image" Target="/ppt/media/image7.png" Id="R9295182235544fca" /><Relationship Type="http://schemas.openxmlformats.org/officeDocument/2006/relationships/notesSlide" Target="/ppt/notesSlides/notesSlide12.xml" Id="Rf21ce94feaa1454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50ff636c9a24a19" /><Relationship Type="http://schemas.openxmlformats.org/officeDocument/2006/relationships/notesSlide" Target="/ppt/notesSlides/notesSlide13.xml" Id="Rf9c5f9b25ac3494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c23a9d989f545f2" /><Relationship Type="http://schemas.openxmlformats.org/officeDocument/2006/relationships/chart" Target="/ppt/slides/charts/chart3.xml" Id="R65090397ee884777" /><Relationship Type="http://schemas.openxmlformats.org/officeDocument/2006/relationships/notesSlide" Target="/ppt/notesSlides/notesSlide14.xml" Id="R2627fc93e40a434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a5aed9ae25043a9" /><Relationship Type="http://schemas.openxmlformats.org/officeDocument/2006/relationships/notesSlide" Target="/ppt/notesSlides/notesSlide15.xml" Id="Rcc4695e54813452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2389e8685b24307" /><Relationship Type="http://schemas.openxmlformats.org/officeDocument/2006/relationships/image" Target="/ppt/media/image8.png" Id="R55ae4a94a0a64840" /><Relationship Type="http://schemas.openxmlformats.org/officeDocument/2006/relationships/notesSlide" Target="/ppt/notesSlides/notesSlide16.xml" Id="R7589e420e553420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2fe321d07ff4069" /><Relationship Type="http://schemas.openxmlformats.org/officeDocument/2006/relationships/image" Target="/ppt/media/image9.png" Id="R62b6e85e813849c2" /><Relationship Type="http://schemas.openxmlformats.org/officeDocument/2006/relationships/notesSlide" Target="/ppt/notesSlides/notesSlide17.xml" Id="Rdfacd85fde5f4c3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e87f0256efe4262" /><Relationship Type="http://schemas.openxmlformats.org/officeDocument/2006/relationships/image" Target="/ppt/media/image10.png" Id="R91c724ae90ff4303" /><Relationship Type="http://schemas.openxmlformats.org/officeDocument/2006/relationships/notesSlide" Target="/ppt/notesSlides/notesSlide18.xml" Id="R4cbf8689fae34db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c1196a3fd8d4630" /><Relationship Type="http://schemas.openxmlformats.org/officeDocument/2006/relationships/notesSlide" Target="/ppt/notesSlides/notesSlide19.xml" Id="R5adea97e013d4aa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c06facaa0414e8e" /><Relationship Type="http://schemas.openxmlformats.org/officeDocument/2006/relationships/notesSlide" Target="/ppt/notesSlides/notesSlide20.xml" Id="R19267c27cdfd487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fa8067467354ac7" /><Relationship Type="http://schemas.openxmlformats.org/officeDocument/2006/relationships/notesSlide" Target="/ppt/notesSlides/notesSlide21.xml" Id="R5fc55f35cbdf404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26d2d5d2862443a" /><Relationship Type="http://schemas.openxmlformats.org/officeDocument/2006/relationships/notesSlide" Target="/ppt/notesSlides/notesSlide22.xml" Id="Rf31f948d40ec460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ca4e3c0f5e249b5" /><Relationship Type="http://schemas.openxmlformats.org/officeDocument/2006/relationships/notesSlide" Target="/ppt/notesSlides/notesSlide23.xml" Id="R2e80d7d3356e49b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407f36de32d475b" /><Relationship Type="http://schemas.openxmlformats.org/officeDocument/2006/relationships/notesSlide" Target="/ppt/notesSlides/notesSlide24.xml" Id="Ra54229853e8b437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2b33f091fc844ad" /><Relationship Type="http://schemas.openxmlformats.org/officeDocument/2006/relationships/notesSlide" Target="/ppt/notesSlides/notesSlide25.xml" Id="R63f46f83d0cd475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0884847df374647" /><Relationship Type="http://schemas.openxmlformats.org/officeDocument/2006/relationships/notesSlide" Target="/ppt/notesSlides/notesSlide26.xml" Id="Rf13697d5af4d4f6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49614fde31447fb" /><Relationship Type="http://schemas.openxmlformats.org/officeDocument/2006/relationships/notesSlide" Target="/ppt/notesSlides/notesSlide27.xml" Id="Reb07a8e7c71d4c3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04e84bad87c422e" /><Relationship Type="http://schemas.openxmlformats.org/officeDocument/2006/relationships/notesSlide" Target="/ppt/notesSlides/notesSlide28.xml" Id="R192b8576ba7542b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4f43826d89b47a4" /><Relationship Type="http://schemas.openxmlformats.org/officeDocument/2006/relationships/notesSlide" Target="/ppt/notesSlides/notesSlide29.xml" Id="R144d57d67ffd430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f51caccdcda2407b" /><Relationship Type="http://schemas.openxmlformats.org/officeDocument/2006/relationships/notesSlide" Target="/ppt/notesSlides/notesSlide30.xml" Id="Rf540e0a03e814c8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ce7e55fb3954f2d" /><Relationship Type="http://schemas.openxmlformats.org/officeDocument/2006/relationships/notesSlide" Target="/ppt/notesSlides/notesSlide31.xml" Id="R69243246243c4bf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3c070fca8324be8" /><Relationship Type="http://schemas.openxmlformats.org/officeDocument/2006/relationships/notesSlide" Target="/ppt/notesSlides/notesSlide32.xml" Id="R150ef90fe37a4cd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3.xlsx"/></Relationships>
</file>

<file path=ppt/slides/charts/_rels/chart3.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c:lang val="en-US"/>
  <c:chart>
    <c:plotArea>
      <c:barChart>
        <c:barDir val="col"/>
        <c:grouping val="clustered"/>
        <c:varyColors val="0"/>
        <c:ser>
          <c:idx val="0"/>
          <c:order val="0"/>
          <c:tx>
            <c:v>Patients</c:v>
          </c:tx>
          <c:spPr>
            <a:solidFill xmlns:a="http://schemas.openxmlformats.org/drawingml/2006/main">
              <a:srgbClr val="76B900"/>
            </a:solidFill>
          </c:spPr>
          <c:invertIfNegative val="0"/>
          <c:dPt>
            <c:idx val="0"/>
            <c:invertIfNegative val="0"/>
            <c:spPr>
              <a:solidFill xmlns:a="http://schemas.openxmlformats.org/drawingml/2006/main">
                <a:srgbClr val="12211C"/>
              </a:solidFill>
            </c:spPr>
          </c:dPt>
          <c:dPt>
            <c:idx val="1"/>
            <c:invertIfNegative val="0"/>
            <c:spPr>
              <a:solidFill xmlns:a="http://schemas.openxmlformats.org/drawingml/2006/main">
                <a:srgbClr val="009688"/>
              </a:solidFill>
            </c:spPr>
          </c:dPt>
          <c:cat>
            <c:strRef>
              <c:f>'Chart Data'!$A$2:$A$3</c:f>
              <c:strCache>
                <c:ptCount val="2"/>
                <c:pt idx="0">
                  <c:v>Clinical data</c:v>
                </c:pt>
                <c:pt idx="1">
                  <c:v>Clinical + mIF</c:v>
                </c:pt>
              </c:strCache>
            </c:strRef>
          </c:cat>
          <c:val>
            <c:numRef>
              <c:f>'Chart Data'!$B$2:$B$3</c:f>
              <c:numCache>
                <c:formatCode>0</c:formatCode>
                <c:ptCount val="2"/>
                <c:pt idx="0">
                  <c:v>48</c:v>
                </c:pt>
                <c:pt idx="1">
                  <c:v>29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250" b="1">
                  <a:solidFill>
                    <a:srgbClr val="12211C"/>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FD7"/>
            </a:solidFill>
          </a:ln>
        </c:spPr>
        <c:txPr>
          <a:bodyPr xmlns:a="http://schemas.openxmlformats.org/drawingml/2006/main" anchorCtr="1"/>
          <a:lstStyle xmlns:a="http://schemas.openxmlformats.org/drawingml/2006/main"/>
          <a:p xmlns:a="http://schemas.openxmlformats.org/drawingml/2006/main">
            <a:pPr>
              <a:defRPr sz="1875">
                <a:solidFill>
                  <a:srgbClr val="12211C"/>
                </a:solidFill>
                <a:latin typeface="Arial"/>
                <a:ea typeface="Arial"/>
                <a:cs typeface="Arial"/>
              </a:defRPr>
            </a:pPr>
          </a:p>
        </c:txPr>
        <c:crossAx val="48672768"/>
      </c:catAx>
      <c:valAx>
        <c:axId val="48672768"/>
        <c:scaling>
          <c:orientation val="minMax"/>
          <c:max val="55"/>
          <c:min val="0"/>
        </c:scaling>
        <c:delete val="0"/>
        <c:axPos val="l"/>
        <c:majorGridlines>
          <c:spPr>
            <a:ln xmlns:a="http://schemas.openxmlformats.org/drawingml/2006/main" w="9525">
              <a:solidFill>
                <a:srgbClr val="D5DFD7"/>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1655B"/>
                </a:solidFill>
                <a:latin typeface="Arial"/>
                <a:ea typeface="Arial"/>
                <a:cs typeface="Arial"/>
              </a:defRPr>
            </a:pPr>
          </a:p>
        </c:txPr>
        <c:crossAx val="48650112"/>
        <c:crossBetween val="between"/>
        <c:majorUnit val="1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c:lang val="en-US"/>
  <c:chart>
    <c:plotArea>
      <c:barChart>
        <c:barDir val="col"/>
        <c:grouping val="stacked"/>
        <c:varyColors val="0"/>
        <c:ser>
          <c:idx val="0"/>
          <c:order val="0"/>
          <c:tx>
            <c:v>Prompt limit</c:v>
          </c:tx>
          <c:spPr>
            <a:solidFill xmlns:a="http://schemas.openxmlformats.org/drawingml/2006/main">
              <a:srgbClr val="009688"/>
            </a:solidFill>
          </c:spPr>
          <c:invertIfNegative val="0"/>
          <c:cat>
            <c:strRef>
              <c:f>'Chart Data'!$A$2:$A$2</c:f>
              <c:strCache>
                <c:ptCount val="1"/>
                <c:pt idx="0">
                  <c:v>One patient prompt</c:v>
                </c:pt>
              </c:strCache>
            </c:strRef>
          </c:cat>
          <c:val>
            <c:numRef>
              <c:f>'Chart Data'!$B$2:$B$2</c:f>
              <c:numCache>
                <c:formatCode>0</c:formatCode>
                <c:ptCount val="1"/>
                <c:pt idx="0">
                  <c:v>3796</c:v>
                </c:pt>
              </c:numCache>
            </c:numRef>
          </c:val>
        </c:ser>
        <c:ser>
          <c:idx val="1"/>
          <c:order val="1"/>
          <c:tx>
            <c:v>Output reserve</c:v>
          </c:tx>
          <c:spPr>
            <a:solidFill xmlns:a="http://schemas.openxmlformats.org/drawingml/2006/main">
              <a:srgbClr val="12211C"/>
            </a:solidFill>
          </c:spPr>
          <c:invertIfNegative val="0"/>
          <c:cat>
            <c:strRef>
              <c:f>'Chart Data'!$C$2:$C$2</c:f>
              <c:strCache>
                <c:ptCount val="1"/>
                <c:pt idx="0">
                  <c:v>One patient prompt</c:v>
                </c:pt>
              </c:strCache>
            </c:strRef>
          </c:cat>
          <c:val>
            <c:numRef>
              <c:f>'Chart Data'!$D$2:$D$2</c:f>
              <c:numCache>
                <c:formatCode>0</c:formatCode>
                <c:ptCount val="1"/>
                <c:pt idx="0">
                  <c:v>300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00" b="1">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110"/>
        <c:overlap val="100"/>
        <c:axId val="48650112"/>
        <c:axId val="48672768"/>
      </c:bar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max val="4096"/>
          <c:min val="0"/>
        </c:scaling>
        <c:delete val="0"/>
        <c:axPos val="l"/>
        <c:majorGridlines>
          <c:spPr>
            <a:ln xmlns:a="http://schemas.openxmlformats.org/drawingml/2006/main" w="9525">
              <a:solidFill>
                <a:srgbClr val="D5DFD7"/>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1655B"/>
                </a:solidFill>
                <a:latin typeface="Arial"/>
                <a:ea typeface="Arial"/>
                <a:cs typeface="Arial"/>
              </a:defRPr>
            </a:pPr>
          </a:p>
        </c:txPr>
        <c:crossAx val="48650112"/>
        <c:crossBetween val="between"/>
        <c:majorUnit val="1024"/>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2211C"/>
              </a:solidFill>
              <a:latin typeface="Arial"/>
              <a:ea typeface="Arial"/>
              <a:cs typeface="Arial"/>
            </a:defRPr>
          </a:pPr>
        </a:p>
      </c:txPr>
    </c:legend>
    <c:plotVisOnly val="1"/>
  </c:chart>
  <c:spPr>
    <a:noFill xmlns:a="http://schemas.openxmlformats.org/drawingml/2006/main"/>
    <a:ln xmlns:a="http://schemas.openxmlformats.org/drawingml/2006/main" w="0">
      <a:noFill/>
    </a:ln>
  </c:spPr>
  <c:externalData xmlns:r="http://schemas.openxmlformats.org/officeDocument/2006/relationships" r:id="rIdChartSnapshot1">
    <c:autoUpdate val="0"/>
  </c:externalData>
</c:chartSpace>
</file>

<file path=ppt/slides/charts/chart3.xml><?xml version="1.0" encoding="utf-8"?>
<c:chartSpace xmlns:c="http://schemas.openxmlformats.org/drawingml/2006/chart">
  <c:lang val="en-US"/>
  <c:chart>
    <c:plotArea>
      <c:barChart>
        <c:barDir val="col"/>
        <c:grouping val="clustered"/>
        <c:varyColors val="0"/>
        <c:ser>
          <c:idx val="0"/>
          <c:order val="0"/>
          <c:tx>
            <c:v>Responder score</c:v>
          </c:tx>
          <c:spPr>
            <a:solidFill xmlns:a="http://schemas.openxmlformats.org/drawingml/2006/main">
              <a:srgbClr val="76B900"/>
            </a:solidFill>
          </c:spPr>
          <c:invertIfNegative val="0"/>
          <c:dPt>
            <c:idx val="0"/>
            <c:invertIfNegative val="0"/>
            <c:spPr>
              <a:solidFill xmlns:a="http://schemas.openxmlformats.org/drawingml/2006/main">
                <a:srgbClr val="76B900"/>
              </a:solidFill>
            </c:spPr>
          </c:dPt>
          <c:dPt>
            <c:idx val="1"/>
            <c:invertIfNegative val="0"/>
            <c:spPr>
              <a:solidFill xmlns:a="http://schemas.openxmlformats.org/drawingml/2006/main">
                <a:srgbClr val="009688"/>
              </a:solidFill>
            </c:spPr>
          </c:dPt>
          <c:dPt>
            <c:idx val="2"/>
            <c:invertIfNegative val="0"/>
            <c:spPr>
              <a:solidFill xmlns:a="http://schemas.openxmlformats.org/drawingml/2006/main">
                <a:srgbClr val="12211C"/>
              </a:solidFill>
            </c:spPr>
          </c:dPt>
          <c:cat>
            <c:strRef>
              <c:f>'Chart Data'!$A$2:$A$4</c:f>
              <c:strCache>
                <c:ptCount val="3"/>
                <c:pt idx="0">
                  <c:v>Clinical</c:v>
                </c:pt>
                <c:pt idx="1">
                  <c:v>mIF</c:v>
                </c:pt>
                <c:pt idx="2">
                  <c:v>Fused</c:v>
                </c:pt>
              </c:strCache>
            </c:strRef>
          </c:cat>
          <c:val>
            <c:numRef>
              <c:f>'Chart Data'!$B$2:$B$4</c:f>
              <c:numCache>
                <c:formatCode>0.00</c:formatCode>
                <c:ptCount val="3"/>
                <c:pt idx="0">
                  <c:v>0.21</c:v>
                </c:pt>
                <c:pt idx="1">
                  <c:v>0.78</c:v>
                </c:pt>
                <c:pt idx="2">
                  <c:v>0.57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250" b="1">
                  <a:solidFill>
                    <a:srgbClr val="12211C"/>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FD7"/>
            </a:solidFill>
          </a:ln>
        </c:spPr>
        <c:txPr>
          <a:bodyPr xmlns:a="http://schemas.openxmlformats.org/drawingml/2006/main" anchorCtr="1"/>
          <a:lstStyle xmlns:a="http://schemas.openxmlformats.org/drawingml/2006/main"/>
          <a:p xmlns:a="http://schemas.openxmlformats.org/drawingml/2006/main">
            <a:pPr>
              <a:defRPr sz="1875">
                <a:solidFill>
                  <a:srgbClr val="12211C"/>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5DFD7"/>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1655B"/>
                </a:solidFill>
                <a:latin typeface="Arial"/>
                <a:ea typeface="Arial"/>
                <a:cs typeface="Arial"/>
              </a:defRPr>
            </a:pPr>
          </a:p>
        </c:txPr>
        <c:crossAx val="48650112"/>
        <c:crossBetween val="between"/>
        <c:majorUnit val="0.2"/>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p:cSld>
    <p:bg>
      <p:bgPr>
        <a:solidFill xmlns:a="http://schemas.openxmlformats.org/drawingml/2006/main">
          <a:srgbClr val="12211C"/>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EEE74AB8-0429-4A9A-A2C8-0A66D407B063}"/>
              </a:ext>
            </a:extLst>
          </p:cNvPr>
          <p:cNvPicPr>
            <a:picLocks xmlns:a="http://schemas.openxmlformats.org/drawingml/2006/main" noChangeAspect="1"/>
          </p:cNvPicPr>
          <p:nvPr/>
        </p:nvPicPr>
        <p:blipFill>
          <a:blip xmlns:r="http://schemas.openxmlformats.org/officeDocument/2006/relationships" xmlns:a="http://schemas.openxmlformats.org/drawingml/2006/main" r:embed="R8714af73222b4d8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title">
            <a:extLst xmlns:a="http://schemas.openxmlformats.org/drawingml/2006/main">
              <a:ext uri="{FF2B5EF4-FFF2-40B4-BE49-F238E27FC236}">
                <a16:creationId xmlns:a16="http://schemas.microsoft.com/office/drawing/2014/main" id="{FBA0B6EC-7D5A-42D0-81C1-70F74ABC02C6}"/>
              </a:ext>
            </a:extLst>
          </p:cNvPr>
          <p:cNvSpPr>
            <a:spLocks xmlns:a="http://schemas.openxmlformats.org/drawingml/2006/main" noGrp="1"/>
          </p:cNvSpPr>
          <p:nvPr/>
        </p:nvSpPr>
        <p:spPr>
          <a:xfrm xmlns:a="http://schemas.openxmlformats.org/drawingml/2006/main">
            <a:off x="685800" y="2028825"/>
            <a:ext cx="61912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Arial"/>
                <a:ea typeface="Arial"/>
                <a:cs typeface="Arial"/>
              </a:defRPr>
            </a:defPPr>
          </a:lstStyle>
          <a:p xmlns:a="http://schemas.openxmlformats.org/drawingml/2006/main">
            <a:pPr algn="l">
              <a:buNone/>
              <a:defRPr sz="5700" b="1">
                <a:solidFill>
                  <a:srgbClr val="FFFFFF"/>
                </a:solidFill>
                <a:latin typeface="Arial"/>
                <a:ea typeface="Arial"/>
                <a:cs typeface="Arial"/>
              </a:defRPr>
            </a:pPr>
            <a:r>
              <a:rPr sz="5700" b="1">
                <a:solidFill>
                  <a:srgbClr val="FFFFFF"/>
                </a:solidFill>
                <a:latin typeface="Arial"/>
                <a:ea typeface="Arial"/>
                <a:cs typeface="Arial"/>
              </a:rPr>
              <a:t>ICB response</a:t>
            </a:r>
          </a:p>
          <a:p xmlns:a="http://schemas.openxmlformats.org/drawingml/2006/main">
            <a:pPr algn="l">
              <a:buNone/>
              <a:defRPr sz="5700" b="1">
                <a:solidFill>
                  <a:srgbClr val="FFFFFF"/>
                </a:solidFill>
                <a:latin typeface="Arial"/>
                <a:ea typeface="Arial"/>
                <a:cs typeface="Arial"/>
              </a:defRPr>
            </a:pPr>
            <a:r>
              <a:rPr sz="5700" b="1">
                <a:solidFill>
                  <a:srgbClr val="FFFFFF"/>
                </a:solidFill>
                <a:latin typeface="Arial"/>
                <a:ea typeface="Arial"/>
                <a:cs typeface="Arial"/>
              </a:rPr>
              <a:t>prediction</a:t>
            </a:r>
          </a:p>
        </p:txBody>
      </p:sp>
      <p:sp>
        <p:nvSpPr>
          <p:cNvPr id="3" name="cover-subtitle">
            <a:extLst xmlns:a="http://schemas.openxmlformats.org/drawingml/2006/main">
              <a:ext uri="{FF2B5EF4-FFF2-40B4-BE49-F238E27FC236}">
                <a16:creationId xmlns:a16="http://schemas.microsoft.com/office/drawing/2014/main" id="{B018C268-BED6-4EEE-A994-BFE3E5706D26}"/>
              </a:ext>
            </a:extLst>
          </p:cNvPr>
          <p:cNvSpPr>
            <a:spLocks xmlns:a="http://schemas.openxmlformats.org/drawingml/2006/main" noGrp="1"/>
          </p:cNvSpPr>
          <p:nvPr/>
        </p:nvSpPr>
        <p:spPr>
          <a:xfrm xmlns:a="http://schemas.openxmlformats.org/drawingml/2006/main">
            <a:off x="723900" y="4038600"/>
            <a:ext cx="6191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BDE885"/>
                </a:solidFill>
                <a:latin typeface="Arial"/>
                <a:ea typeface="Arial"/>
                <a:cs typeface="Arial"/>
              </a:defRPr>
            </a:defPPr>
          </a:lstStyle>
          <a:p xmlns:a="http://schemas.openxmlformats.org/drawingml/2006/main">
            <a:pPr algn="l">
              <a:buNone/>
              <a:defRPr sz="2550" b="1">
                <a:solidFill>
                  <a:srgbClr val="BDE885"/>
                </a:solidFill>
                <a:latin typeface="Arial"/>
                <a:ea typeface="Arial"/>
                <a:cs typeface="Arial"/>
              </a:defRPr>
            </a:pPr>
            <a:r>
              <a:rPr sz="2550" b="1">
                <a:solidFill>
                  <a:srgbClr val="BDE885"/>
                </a:solidFill>
                <a:latin typeface="Arial"/>
                <a:ea typeface="Arial"/>
                <a:cs typeface="Arial"/>
              </a:rPr>
              <a:t>Nemotron clinical copilot</a:t>
            </a:r>
          </a:p>
        </p:txBody>
      </p:sp>
      <p:sp>
        <p:nvSpPr>
          <p:cNvPr id="4" name="cover-scope">
            <a:extLst xmlns:a="http://schemas.openxmlformats.org/drawingml/2006/main">
              <a:ext uri="{FF2B5EF4-FFF2-40B4-BE49-F238E27FC236}">
                <a16:creationId xmlns:a16="http://schemas.microsoft.com/office/drawing/2014/main" id="{7FDAE8E9-ECF5-41AB-84D9-79CB435462E8}"/>
              </a:ext>
            </a:extLst>
          </p:cNvPr>
          <p:cNvSpPr>
            <a:spLocks xmlns:a="http://schemas.openxmlformats.org/drawingml/2006/main" noGrp="1"/>
          </p:cNvSpPr>
          <p:nvPr/>
        </p:nvSpPr>
        <p:spPr>
          <a:xfrm xmlns:a="http://schemas.openxmlformats.org/drawingml/2006/main">
            <a:off x="723900" y="4629150"/>
            <a:ext cx="628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stStyle>
          <a:p xmlns:a="http://schemas.openxmlformats.org/drawingml/2006/main">
            <a:pPr algn="l">
              <a:buNone/>
              <a:defRPr sz="2250" b="0">
                <a:solidFill>
                  <a:srgbClr val="FFFFFF"/>
                </a:solidFill>
                <a:latin typeface="Arial"/>
                <a:ea typeface="Arial"/>
                <a:cs typeface="Arial"/>
              </a:defRPr>
            </a:pPr>
            <a:r>
              <a:rPr sz="2250" b="0">
                <a:solidFill>
                  <a:srgbClr val="FFFFFF"/>
                </a:solidFill>
                <a:latin typeface="Arial"/>
                <a:ea typeface="Arial"/>
                <a:cs typeface="Arial"/>
              </a:rPr>
              <a:t>Execution pipeline and model harnesses</a:t>
            </a:r>
          </a:p>
        </p:txBody>
      </p:sp>
      <p:sp>
        <p:nvSpPr>
          <p:cNvPr id="5" name="cover-disclosure">
            <a:extLst xmlns:a="http://schemas.openxmlformats.org/drawingml/2006/main">
              <a:ext uri="{FF2B5EF4-FFF2-40B4-BE49-F238E27FC236}">
                <a16:creationId xmlns:a16="http://schemas.microsoft.com/office/drawing/2014/main" id="{7F07B0C4-5A03-41E2-A123-69BD772592B5}"/>
              </a:ext>
            </a:extLst>
          </p:cNvPr>
          <p:cNvSpPr>
            <a:spLocks xmlns:a="http://schemas.openxmlformats.org/drawingml/2006/main" noGrp="1"/>
          </p:cNvSpPr>
          <p:nvPr/>
        </p:nvSpPr>
        <p:spPr>
          <a:xfrm xmlns:a="http://schemas.openxmlformats.org/drawingml/2006/main">
            <a:off x="723900" y="6134100"/>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C5D3C9"/>
                </a:solidFill>
                <a:latin typeface="Arial"/>
                <a:ea typeface="Arial"/>
                <a:cs typeface="Arial"/>
              </a:defRPr>
            </a:defPPr>
          </a:lstStyle>
          <a:p xmlns:a="http://schemas.openxmlformats.org/drawingml/2006/main">
            <a:pPr algn="l">
              <a:buNone/>
              <a:defRPr sz="1800" b="0">
                <a:solidFill>
                  <a:srgbClr val="C5D3C9"/>
                </a:solidFill>
                <a:latin typeface="Arial"/>
                <a:ea typeface="Arial"/>
                <a:cs typeface="Arial"/>
              </a:defRPr>
            </a:pPr>
            <a:r>
              <a:rPr sz="1800" b="0">
                <a:solidFill>
                  <a:srgbClr val="C5D3C9"/>
                </a:solidFill>
                <a:latin typeface="Arial"/>
                <a:ea typeface="Arial"/>
                <a:cs typeface="Arial"/>
              </a:rPr>
              <a:t>Research demonstration</a:t>
            </a:r>
          </a:p>
        </p:txBody>
      </p:sp>
    </p:spTree>
    <p:extLst>
      <p:ext uri="{BB962C8B-B14F-4D97-AF65-F5344CB8AC3E}">
        <p14:creationId xmlns:p14="http://schemas.microsoft.com/office/powerpoint/2010/main" val="1263890634"/>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C7DB1003-A6C3-4A41-8911-41C04E512B3B}"/>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Research scope</a:t>
            </a:r>
          </a:p>
        </p:txBody>
      </p:sp>
      <p:sp>
        <p:nvSpPr>
          <p:cNvPr id="2" name="cohort-heading">
            <a:extLst xmlns:a="http://schemas.openxmlformats.org/drawingml/2006/main">
              <a:ext uri="{FF2B5EF4-FFF2-40B4-BE49-F238E27FC236}">
                <a16:creationId xmlns:a16="http://schemas.microsoft.com/office/drawing/2014/main" id="{65913535-B50E-452B-90D0-D3BA4FCBCFD5}"/>
              </a:ext>
            </a:extLst>
          </p:cNvPr>
          <p:cNvSpPr>
            <a:spLocks xmlns:a="http://schemas.openxmlformats.org/drawingml/2006/main" noGrp="1"/>
          </p:cNvSpPr>
          <p:nvPr/>
        </p:nvSpPr>
        <p:spPr>
          <a:xfrm xmlns:a="http://schemas.openxmlformats.org/drawingml/2006/main">
            <a:off x="609600" y="158115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buNone/>
              <a:defRPr sz="2250" b="1">
                <a:solidFill>
                  <a:srgbClr val="12211C"/>
                </a:solidFill>
                <a:latin typeface="Arial"/>
                <a:ea typeface="Arial"/>
                <a:cs typeface="Arial"/>
              </a:defRPr>
            </a:pPr>
            <a:r>
              <a:rPr sz="2250" b="1">
                <a:solidFill>
                  <a:srgbClr val="12211C"/>
                </a:solidFill>
                <a:latin typeface="Arial"/>
                <a:ea typeface="Arial"/>
                <a:cs typeface="Arial"/>
              </a:rPr>
              <a:t>Available patients</a:t>
            </a:r>
          </a:p>
        </p:txBody>
      </p:sp>
      <p:graphicFrame>
        <p:nvGraphicFramePr>
          <p:cNvPr id="3" name="Chart">
            <a:extLst xmlns:a="http://schemas.openxmlformats.org/drawingml/2006/main">
              <a:ext uri="{FF2B5EF4-FFF2-40B4-BE49-F238E27FC236}">
                <a16:creationId xmlns:a16="http://schemas.microsoft.com/office/drawing/2014/main" id="{5044BE0F-A68F-4CE5-9AB4-2FAD8BD069FD}"/>
              </a:ext>
            </a:extLst>
          </p:cNvPr>
          <p:cNvGraphicFramePr/>
          <p:nvPr/>
        </p:nvGraphicFramePr>
        <p:xfrm>
          <a:off xmlns:a="http://schemas.openxmlformats.org/drawingml/2006/main" x="609600" y="2181225"/>
          <a:ext xmlns:a="http://schemas.openxmlformats.org/drawingml/2006/main" cx="5715000" cy="3219450"/>
        </p:xfrm>
        <a:graphic xmlns:a="http://schemas.openxmlformats.org/drawingml/2006/main">
          <a:graphicData uri="http://schemas.openxmlformats.org/drawingml/2006/chart">
            <c:chart xmlns:r="http://schemas.openxmlformats.org/officeDocument/2006/relationships" xmlns:c="http://schemas.openxmlformats.org/drawingml/2006/chart" r:id="R35d9a1a8bcda4336"/>
          </a:graphicData>
        </a:graphic>
      </p:graphicFrame>
      <p:sp>
        <p:nvSpPr>
          <p:cNvPr id="4" name="question-heading">
            <a:extLst xmlns:a="http://schemas.openxmlformats.org/drawingml/2006/main">
              <a:ext uri="{FF2B5EF4-FFF2-40B4-BE49-F238E27FC236}">
                <a16:creationId xmlns:a16="http://schemas.microsoft.com/office/drawing/2014/main" id="{785FB6AA-3312-45E2-8F03-4CE0892A8BDA}"/>
              </a:ext>
            </a:extLst>
          </p:cNvPr>
          <p:cNvSpPr>
            <a:spLocks xmlns:a="http://schemas.openxmlformats.org/drawingml/2006/main" noGrp="1"/>
          </p:cNvSpPr>
          <p:nvPr/>
        </p:nvSpPr>
        <p:spPr>
          <a:xfrm xmlns:a="http://schemas.openxmlformats.org/drawingml/2006/main">
            <a:off x="7048500" y="1581150"/>
            <a:ext cx="4524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buNone/>
              <a:defRPr sz="2250" b="1">
                <a:solidFill>
                  <a:srgbClr val="12211C"/>
                </a:solidFill>
                <a:latin typeface="Arial"/>
                <a:ea typeface="Arial"/>
                <a:cs typeface="Arial"/>
              </a:defRPr>
            </a:pPr>
            <a:r>
              <a:rPr sz="2250" b="1">
                <a:solidFill>
                  <a:srgbClr val="12211C"/>
                </a:solidFill>
                <a:latin typeface="Arial"/>
                <a:ea typeface="Arial"/>
                <a:cs typeface="Arial"/>
              </a:rPr>
              <a:t>Research question</a:t>
            </a:r>
          </a:p>
        </p:txBody>
      </p:sp>
      <p:sp>
        <p:nvSpPr>
          <p:cNvPr id="5" name="question-body">
            <a:extLst xmlns:a="http://schemas.openxmlformats.org/drawingml/2006/main">
              <a:ext uri="{FF2B5EF4-FFF2-40B4-BE49-F238E27FC236}">
                <a16:creationId xmlns:a16="http://schemas.microsoft.com/office/drawing/2014/main" id="{2E2F9810-D06A-4731-9039-F58CCBF8FD26}"/>
              </a:ext>
            </a:extLst>
          </p:cNvPr>
          <p:cNvSpPr>
            <a:spLocks xmlns:a="http://schemas.openxmlformats.org/drawingml/2006/main" noGrp="1"/>
          </p:cNvSpPr>
          <p:nvPr/>
        </p:nvSpPr>
        <p:spPr>
          <a:xfrm xmlns:a="http://schemas.openxmlformats.org/drawingml/2006/main">
            <a:off x="7048500" y="2133600"/>
            <a:ext cx="452437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2211C"/>
                </a:solidFill>
                <a:latin typeface="Arial"/>
                <a:ea typeface="Arial"/>
                <a:cs typeface="Arial"/>
              </a:defRPr>
            </a:defPPr>
          </a:lstStyle>
          <a:p xmlns:a="http://schemas.openxmlformats.org/drawingml/2006/main">
            <a:pPr algn="l">
              <a:buNone/>
              <a:defRPr sz="2400" b="0">
                <a:solidFill>
                  <a:srgbClr val="12211C"/>
                </a:solidFill>
                <a:latin typeface="Arial"/>
                <a:ea typeface="Arial"/>
                <a:cs typeface="Arial"/>
              </a:defRPr>
            </a:pPr>
            <a:r>
              <a:rPr sz="2400" b="0">
                <a:solidFill>
                  <a:srgbClr val="12211C"/>
                </a:solidFill>
                <a:latin typeface="Arial"/>
                <a:ea typeface="Arial"/>
                <a:cs typeface="Arial"/>
              </a:rPr>
              <a:t>Does combining clinical and mIF information improve prediction of ICB responders?</a:t>
            </a:r>
          </a:p>
        </p:txBody>
      </p:sp>
      <p:sp>
        <p:nvSpPr>
          <p:cNvPr id="6" name="models-heading">
            <a:extLst xmlns:a="http://schemas.openxmlformats.org/drawingml/2006/main">
              <a:ext uri="{FF2B5EF4-FFF2-40B4-BE49-F238E27FC236}">
                <a16:creationId xmlns:a16="http://schemas.microsoft.com/office/drawing/2014/main" id="{D9655F23-4490-4008-863E-36BA51DEC65B}"/>
              </a:ext>
            </a:extLst>
          </p:cNvPr>
          <p:cNvSpPr>
            <a:spLocks xmlns:a="http://schemas.openxmlformats.org/drawingml/2006/main" noGrp="1"/>
          </p:cNvSpPr>
          <p:nvPr/>
        </p:nvSpPr>
        <p:spPr>
          <a:xfrm xmlns:a="http://schemas.openxmlformats.org/drawingml/2006/main">
            <a:off x="7048500" y="4067175"/>
            <a:ext cx="4524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buNone/>
              <a:defRPr sz="2250" b="1">
                <a:solidFill>
                  <a:srgbClr val="12211C"/>
                </a:solidFill>
                <a:latin typeface="Arial"/>
                <a:ea typeface="Arial"/>
                <a:cs typeface="Arial"/>
              </a:defRPr>
            </a:pPr>
            <a:r>
              <a:rPr sz="2250" b="1">
                <a:solidFill>
                  <a:srgbClr val="12211C"/>
                </a:solidFill>
                <a:latin typeface="Arial"/>
                <a:ea typeface="Arial"/>
                <a:cs typeface="Arial"/>
              </a:rPr>
              <a:t>Planned comparison</a:t>
            </a:r>
          </a:p>
        </p:txBody>
      </p:sp>
      <p:sp>
        <p:nvSpPr>
          <p:cNvPr id="7" name="models-body">
            <a:extLst xmlns:a="http://schemas.openxmlformats.org/drawingml/2006/main">
              <a:ext uri="{FF2B5EF4-FFF2-40B4-BE49-F238E27FC236}">
                <a16:creationId xmlns:a16="http://schemas.microsoft.com/office/drawing/2014/main" id="{493836B7-FACC-422F-BB7E-5B1C6361F789}"/>
              </a:ext>
            </a:extLst>
          </p:cNvPr>
          <p:cNvSpPr>
            <a:spLocks xmlns:a="http://schemas.openxmlformats.org/drawingml/2006/main" noGrp="1"/>
          </p:cNvSpPr>
          <p:nvPr/>
        </p:nvSpPr>
        <p:spPr>
          <a:xfrm xmlns:a="http://schemas.openxmlformats.org/drawingml/2006/main">
            <a:off x="7048500" y="4619625"/>
            <a:ext cx="452437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211C"/>
                </a:solidFill>
                <a:latin typeface="Arial"/>
                <a:ea typeface="Arial"/>
                <a:cs typeface="Arial"/>
              </a:defRPr>
            </a:defPPr>
          </a:lstStyle>
          <a:p xmlns:a="http://schemas.openxmlformats.org/drawingml/2006/main">
            <a:pPr algn="l">
              <a:buNone/>
              <a:defRPr sz="2025" b="0">
                <a:solidFill>
                  <a:srgbClr val="12211C"/>
                </a:solidFill>
                <a:latin typeface="Arial"/>
                <a:ea typeface="Arial"/>
                <a:cs typeface="Arial"/>
              </a:defRPr>
            </a:pPr>
            <a:r>
              <a:rPr sz="2025" b="0">
                <a:solidFill>
                  <a:srgbClr val="12211C"/>
                </a:solidFill>
                <a:latin typeface="Arial"/>
                <a:ea typeface="Arial"/>
                <a:cs typeface="Arial"/>
              </a:rPr>
              <a:t>Clinical-only, mIF-only and late-fusion predictions on the same evaluation patients.</a:t>
            </a:r>
          </a:p>
        </p:txBody>
      </p:sp>
      <p:sp>
        <p:nvSpPr>
          <p:cNvPr id="8" name="caption">
            <a:extLst xmlns:a="http://schemas.openxmlformats.org/drawingml/2006/main">
              <a:ext uri="{FF2B5EF4-FFF2-40B4-BE49-F238E27FC236}">
                <a16:creationId xmlns:a16="http://schemas.microsoft.com/office/drawing/2014/main" id="{3828B051-3F36-4DD7-B92E-2D4BC263E062}"/>
              </a:ext>
            </a:extLst>
          </p:cNvPr>
          <p:cNvSpPr>
            <a:spLocks xmlns:a="http://schemas.openxmlformats.org/drawingml/2006/main" noGrp="1"/>
          </p:cNvSpPr>
          <p:nvPr/>
        </p:nvSpPr>
        <p:spPr>
          <a:xfrm xmlns:a="http://schemas.openxmlformats.org/drawingml/2006/main">
            <a:off x="609600" y="61722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The 29 paired patients are a subset of 48. H&amp;E and extra mIF batches remain possible extensions.</a:t>
            </a:r>
          </a:p>
        </p:txBody>
      </p:sp>
    </p:spTree>
    <p:extLst>
      <p:ext uri="{BB962C8B-B14F-4D97-AF65-F5344CB8AC3E}">
        <p14:creationId xmlns:p14="http://schemas.microsoft.com/office/powerpoint/2010/main" val="1444027821"/>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17C0FB0D-F944-4C3C-9A59-4902F5FA589C}"/>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System architecture</a:t>
            </a:r>
          </a:p>
        </p:txBody>
      </p:sp>
      <p:pic>
        <p:nvPicPr>
          <p:cNvPr id="2" name="">
            <a:extLst xmlns:a="http://schemas.openxmlformats.org/drawingml/2006/main">
              <a:ext uri="{FF2B5EF4-FFF2-40B4-BE49-F238E27FC236}">
                <a16:creationId xmlns:a16="http://schemas.microsoft.com/office/drawing/2014/main" id="{C9B35ADC-CEA5-4E04-AB7E-A4590AFDDA8D}"/>
              </a:ext>
            </a:extLst>
          </p:cNvPr>
          <p:cNvPicPr>
            <a:picLocks xmlns:a="http://schemas.openxmlformats.org/drawingml/2006/main" noChangeAspect="1"/>
          </p:cNvPicPr>
          <p:nvPr/>
        </p:nvPicPr>
        <p:blipFill>
          <a:blip xmlns:r="http://schemas.openxmlformats.org/officeDocument/2006/relationships" xmlns:a="http://schemas.openxmlformats.org/drawingml/2006/main" r:embed="Rc2960fe907664318"/>
          <a:srcRect xmlns:a="http://schemas.openxmlformats.org/drawingml/2006/main" l="0" t="15065" r="0" b="15065"/>
          <a:stretch xmlns:a="http://schemas.openxmlformats.org/drawingml/2006/main">
            <a:fillRect l="0" t="0" r="0" b="0"/>
          </a:stretch>
        </p:blipFill>
        <p:spPr>
          <a:xfrm xmlns:a="http://schemas.openxmlformats.org/drawingml/2006/main">
            <a:off x="609600" y="1524000"/>
            <a:ext cx="10972800" cy="4314825"/>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37A83FD2-B5FB-4C5D-8E40-25C39FB12FF2}"/>
              </a:ext>
            </a:extLst>
          </p:cNvPr>
          <p:cNvSpPr>
            <a:spLocks xmlns:a="http://schemas.openxmlformats.org/drawingml/2006/main" noGrp="1"/>
          </p:cNvSpPr>
          <p:nvPr/>
        </p:nvSpPr>
        <p:spPr>
          <a:xfrm xmlns:a="http://schemas.openxmlformats.org/drawingml/2006/main">
            <a:off x="609600" y="61150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Models export scores, features and context. This repository implements the copilot and its interfaces.</a:t>
            </a:r>
          </a:p>
        </p:txBody>
      </p:sp>
    </p:spTree>
    <p:extLst>
      <p:ext uri="{BB962C8B-B14F-4D97-AF65-F5344CB8AC3E}">
        <p14:creationId xmlns:p14="http://schemas.microsoft.com/office/powerpoint/2010/main" val="2114812101"/>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8A66BADD-D5E7-4FB2-9426-DCA197FE1709}"/>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Application harness around Nemotron</a:t>
            </a:r>
          </a:p>
        </p:txBody>
      </p:sp>
      <p:pic>
        <p:nvPicPr>
          <p:cNvPr id="2" name="">
            <a:extLst xmlns:a="http://schemas.openxmlformats.org/drawingml/2006/main">
              <a:ext uri="{FF2B5EF4-FFF2-40B4-BE49-F238E27FC236}">
                <a16:creationId xmlns:a16="http://schemas.microsoft.com/office/drawing/2014/main" id="{11777418-0D6F-4D16-8CD6-44B75D481906}"/>
              </a:ext>
            </a:extLst>
          </p:cNvPr>
          <p:cNvPicPr>
            <a:picLocks xmlns:a="http://schemas.openxmlformats.org/drawingml/2006/main" noChangeAspect="1"/>
          </p:cNvPicPr>
          <p:nvPr/>
        </p:nvPicPr>
        <p:blipFill>
          <a:blip xmlns:r="http://schemas.openxmlformats.org/officeDocument/2006/relationships" xmlns:a="http://schemas.openxmlformats.org/drawingml/2006/main" r:embed="Racac483294e94d6c"/>
          <a:stretch xmlns:a="http://schemas.openxmlformats.org/drawingml/2006/main"/>
        </p:blipFill>
        <p:spPr>
          <a:xfrm xmlns:a="http://schemas.openxmlformats.org/drawingml/2006/main">
            <a:off x="1839530" y="1295400"/>
            <a:ext cx="8512941" cy="4791075"/>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C6D9D3D5-CF0A-43EB-A0E1-B4DD3E596EDA}"/>
              </a:ext>
            </a:extLst>
          </p:cNvPr>
          <p:cNvSpPr>
            <a:spLocks xmlns:a="http://schemas.openxmlformats.org/drawingml/2006/main" noGrp="1"/>
          </p:cNvSpPr>
          <p:nvPr/>
        </p:nvSpPr>
        <p:spPr>
          <a:xfrm xmlns:a="http://schemas.openxmlformats.org/drawingml/2006/main">
            <a:off x="609600" y="62293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The harness controls evidence and execution. Every summary requires independent human review.</a:t>
            </a:r>
          </a:p>
        </p:txBody>
      </p:sp>
    </p:spTree>
    <p:extLst>
      <p:ext uri="{BB962C8B-B14F-4D97-AF65-F5344CB8AC3E}">
        <p14:creationId xmlns:p14="http://schemas.microsoft.com/office/powerpoint/2010/main" val="560642054"/>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C8FD0E83-DAFB-45CA-BFEB-7045461CDF29}"/>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HPC execution pipeline</a:t>
            </a:r>
          </a:p>
        </p:txBody>
      </p:sp>
      <p:sp>
        <p:nvSpPr>
          <p:cNvPr id="2" name="command">
            <a:extLst xmlns:a="http://schemas.openxmlformats.org/drawingml/2006/main">
              <a:ext uri="{FF2B5EF4-FFF2-40B4-BE49-F238E27FC236}">
                <a16:creationId xmlns:a16="http://schemas.microsoft.com/office/drawing/2014/main" id="{D70D92E6-26E4-4EFF-9A11-F0E46357AAF7}"/>
              </a:ext>
            </a:extLst>
          </p:cNvPr>
          <p:cNvSpPr>
            <a:spLocks xmlns:a="http://schemas.openxmlformats.org/drawingml/2006/main" noGrp="1"/>
          </p:cNvSpPr>
          <p:nvPr/>
        </p:nvSpPr>
        <p:spPr>
          <a:xfrm xmlns:a="http://schemas.openxmlformats.org/drawingml/2006/main">
            <a:off x="609600" y="13239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2211C"/>
                </a:solidFill>
                <a:latin typeface="Courier New"/>
                <a:ea typeface="Courier New"/>
                <a:cs typeface="Courier New"/>
              </a:defRPr>
            </a:defPPr>
          </a:lstStyle>
          <a:p xmlns:a="http://schemas.openxmlformats.org/drawingml/2006/main">
            <a:pPr algn="l">
              <a:buNone/>
              <a:defRPr sz="2850" b="1">
                <a:solidFill>
                  <a:srgbClr val="12211C"/>
                </a:solidFill>
                <a:latin typeface="Courier New"/>
                <a:ea typeface="Courier New"/>
                <a:cs typeface="Courier New"/>
              </a:defRPr>
            </a:pPr>
            <a:r>
              <a:rPr sz="2850" b="1">
                <a:solidFill>
                  <a:srgbClr val="12211C"/>
                </a:solidFill>
                <a:latin typeface="Courier New"/>
                <a:ea typeface="Courier New"/>
                <a:cs typeface="Courier New"/>
              </a:rPr>
              <a:t>bash run_hpc.sh</a:t>
            </a:r>
          </a:p>
        </p:txBody>
      </p:sp>
      <p:pic>
        <p:nvPicPr>
          <p:cNvPr id="3" name="">
            <a:extLst xmlns:a="http://schemas.openxmlformats.org/drawingml/2006/main">
              <a:ext uri="{FF2B5EF4-FFF2-40B4-BE49-F238E27FC236}">
                <a16:creationId xmlns:a16="http://schemas.microsoft.com/office/drawing/2014/main" id="{FD540020-ACC4-4FD2-8F7E-B68127242CAB}"/>
              </a:ext>
            </a:extLst>
          </p:cNvPr>
          <p:cNvPicPr>
            <a:picLocks xmlns:a="http://schemas.openxmlformats.org/drawingml/2006/main" noChangeAspect="1"/>
          </p:cNvPicPr>
          <p:nvPr/>
        </p:nvPicPr>
        <p:blipFill>
          <a:blip xmlns:r="http://schemas.openxmlformats.org/officeDocument/2006/relationships" xmlns:a="http://schemas.openxmlformats.org/drawingml/2006/main" r:embed="R041e3a20b6764672"/>
          <a:srcRect xmlns:a="http://schemas.openxmlformats.org/drawingml/2006/main" l="0" t="8600" r="0" b="8600"/>
          <a:stretch xmlns:a="http://schemas.openxmlformats.org/drawingml/2006/main">
            <a:fillRect l="0" t="0" r="0" b="0"/>
          </a:stretch>
        </p:blipFill>
        <p:spPr>
          <a:xfrm xmlns:a="http://schemas.openxmlformats.org/drawingml/2006/main">
            <a:off x="609600" y="1952625"/>
            <a:ext cx="10972800" cy="3486150"/>
          </a:xfrm>
          <a:prstGeom xmlns:a="http://schemas.openxmlformats.org/drawingml/2006/main" prst="rect">
            <a:avLst/>
          </a:prstGeom>
        </p:spPr>
      </p:pic>
      <p:sp>
        <p:nvSpPr>
          <p:cNvPr id="4" name="setup-inference">
            <a:extLst xmlns:a="http://schemas.openxmlformats.org/drawingml/2006/main">
              <a:ext uri="{FF2B5EF4-FFF2-40B4-BE49-F238E27FC236}">
                <a16:creationId xmlns:a16="http://schemas.microsoft.com/office/drawing/2014/main" id="{A66C1965-07B5-4888-96DD-77522A0133AE}"/>
              </a:ext>
            </a:extLst>
          </p:cNvPr>
          <p:cNvSpPr>
            <a:spLocks xmlns:a="http://schemas.openxmlformats.org/drawingml/2006/main" noGrp="1"/>
          </p:cNvSpPr>
          <p:nvPr/>
        </p:nvSpPr>
        <p:spPr>
          <a:xfrm xmlns:a="http://schemas.openxmlformats.org/drawingml/2006/main">
            <a:off x="609600" y="56388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211C"/>
                </a:solidFill>
                <a:latin typeface="Arial"/>
                <a:ea typeface="Arial"/>
                <a:cs typeface="Arial"/>
              </a:defRPr>
            </a:defPPr>
          </a:lstStyle>
          <a:p xmlns:a="http://schemas.openxmlformats.org/drawingml/2006/main">
            <a:pPr algn="l">
              <a:buNone/>
              <a:defRPr sz="2025" b="0">
                <a:solidFill>
                  <a:srgbClr val="12211C"/>
                </a:solidFill>
                <a:latin typeface="Arial"/>
                <a:ea typeface="Arial"/>
                <a:cs typeface="Arial"/>
              </a:defRPr>
            </a:pPr>
            <a:r>
              <a:rPr sz="2025" b="0">
                <a:solidFill>
                  <a:srgbClr val="12211C"/>
                </a:solidFill>
                <a:latin typeface="Arial"/>
                <a:ea typeface="Arial"/>
                <a:cs typeface="Arial"/>
              </a:rPr>
              <a:t>Preparation downloads public artifacts. Patient inference then uses local weights with offline settings.</a:t>
            </a:r>
          </a:p>
        </p:txBody>
      </p:sp>
      <p:sp>
        <p:nvSpPr>
          <p:cNvPr id="5" name="caption">
            <a:extLst xmlns:a="http://schemas.openxmlformats.org/drawingml/2006/main">
              <a:ext uri="{FF2B5EF4-FFF2-40B4-BE49-F238E27FC236}">
                <a16:creationId xmlns:a16="http://schemas.microsoft.com/office/drawing/2014/main" id="{C65E22DB-AB3B-4A59-B8C9-47C1D2992D92}"/>
              </a:ext>
            </a:extLst>
          </p:cNvPr>
          <p:cNvSpPr>
            <a:spLocks xmlns:a="http://schemas.openxmlformats.org/drawingml/2006/main" noGrp="1"/>
          </p:cNvSpPr>
          <p:nvPr/>
        </p:nvSpPr>
        <p:spPr>
          <a:xfrm xmlns:a="http://schemas.openxmlformats.org/drawingml/2006/main">
            <a:off x="609600" y="63817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The GPU engine loads lazily on the first interpretation request.</a:t>
            </a:r>
          </a:p>
        </p:txBody>
      </p:sp>
    </p:spTree>
    <p:extLst>
      <p:ext uri="{BB962C8B-B14F-4D97-AF65-F5344CB8AC3E}">
        <p14:creationId xmlns:p14="http://schemas.microsoft.com/office/powerpoint/2010/main" val="647175783"/>
      </p:ext>
    </p:extLst>
  </p:cSld>
</p:sld>
</file>

<file path=ppt/slides/slide6.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B9437D10-FBFD-4CF6-8B9F-002E1B945E42}"/>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Runtime prerequisites</a:t>
            </a:r>
          </a:p>
        </p:txBody>
      </p:sp>
      <p:graphicFrame>
        <p:nvGraphicFramePr>
          <p:cNvPr id="2" name="runtime-requirements">
            <a:extLst xmlns:a="http://schemas.openxmlformats.org/drawingml/2006/main">
              <a:ext uri="{FF2B5EF4-FFF2-40B4-BE49-F238E27FC236}">
                <a16:creationId xmlns:a16="http://schemas.microsoft.com/office/drawing/2014/main" id="{AE1C0504-5DF5-4A48-8BD4-51440464A924}"/>
              </a:ext>
            </a:extLst>
          </p:cNvPr>
          <p:cNvGraphicFramePr/>
          <p:nvPr/>
        </p:nvGraphicFramePr>
        <p:xfrm>
          <a:off xmlns:a="http://schemas.openxmlformats.org/drawingml/2006/main" x="609600" y="1438275"/>
          <a:ext xmlns:a="http://schemas.openxmlformats.org/drawingml/2006/main" cx="10972800" cy="4410075"/>
        </p:xfrm>
        <a:graphic xmlns:a="http://schemas.openxmlformats.org/drawingml/2006/main">
          <a:graphicData uri="http://schemas.openxmlformats.org/drawingml/2006/table">
            <a:tbl>
              <a:tblPr firstRow="0" bandRow="0"/>
              <a:tblGrid>
                <a:gridCol w="2638425"/>
                <a:gridCol w="8334375"/>
              </a:tblGrid>
              <a:tr h="447675">
                <a:tc>
                  <a:txBody>
                    <a:bodyPr wrap="square" lIns="133350" tIns="0" rIns="133350" bIns="0" anchor="ctr">
                      <a:noAutofit/>
                    </a:bodyPr>
                    <a:lstStyle/>
                    <a:p>
                      <a:r>
                        <a:rPr sz="1800" b="1">
                          <a:solidFill>
                            <a:srgbClr val="FFFFFF"/>
                          </a:solidFill>
                          <a:latin typeface="Arial"/>
                          <a:ea typeface="Arial"/>
                          <a:cs typeface="Arial"/>
                        </a:rPr>
                        <a:t>Layer</a:t>
                      </a:r>
                    </a:p>
                  </a:txBody>
                  <a:tcPr marL="133350" marR="133350" marT="0" marB="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0" rIns="133350" bIns="0" anchor="ctr">
                      <a:noAutofit/>
                    </a:bodyPr>
                    <a:lstStyle/>
                    <a:p>
                      <a:r>
                        <a:rPr sz="1800" b="1">
                          <a:solidFill>
                            <a:srgbClr val="FFFFFF"/>
                          </a:solidFill>
                          <a:latin typeface="Arial"/>
                          <a:ea typeface="Arial"/>
                          <a:cs typeface="Arial"/>
                        </a:rPr>
                        <a:t>Selected deployment requirement</a:t>
                      </a:r>
                    </a:p>
                  </a:txBody>
                  <a:tcPr marL="133350" marR="133350" marT="0" marB="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495300">
                <a:tc>
                  <a:txBody>
                    <a:bodyPr wrap="square" lIns="133350" tIns="0" rIns="133350" bIns="0" anchor="ctr">
                      <a:noAutofit/>
                    </a:bodyPr>
                    <a:lstStyle/>
                    <a:p>
                      <a:r>
                        <a:rPr sz="1800" b="0">
                          <a:solidFill>
                            <a:srgbClr val="12211C"/>
                          </a:solidFill>
                          <a:latin typeface="Arial"/>
                          <a:ea typeface="Arial"/>
                          <a:cs typeface="Arial"/>
                        </a:rPr>
                        <a:t>GPU</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One A30 with 24 GB VRAM and BF16 support.</a:t>
                      </a:r>
                    </a:p>
                  </a:txBody>
                  <a:tcPr marL="133350" marR="133350" marT="0" marB="0" anchor="ctr">
                    <a:lnR w="6668">
                      <a:solidFill>
                        <a:srgbClr val="D5DFD7"/>
                      </a:solidFill>
                      <a:prstDash val="solid"/>
                    </a:lnR>
                    <a:lnB w="6668">
                      <a:solidFill>
                        <a:srgbClr val="D5DFD7"/>
                      </a:solidFill>
                      <a:prstDash val="solid"/>
                    </a:lnB>
                    <a:solidFill>
                      <a:srgbClr val="F5F7F4"/>
                    </a:solidFill>
                  </a:tcPr>
                </a:tc>
              </a:tr>
              <a:tr h="495300">
                <a:tc>
                  <a:txBody>
                    <a:bodyPr wrap="square" lIns="133350" tIns="0" rIns="133350" bIns="0" anchor="ctr">
                      <a:noAutofit/>
                    </a:bodyPr>
                    <a:lstStyle/>
                    <a:p>
                      <a:r>
                        <a:rPr sz="1800" b="0">
                          <a:solidFill>
                            <a:srgbClr val="12211C"/>
                          </a:solidFill>
                          <a:latin typeface="Arial"/>
                          <a:ea typeface="Arial"/>
                          <a:cs typeface="Arial"/>
                        </a:rPr>
                        <a:t>Host platform</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Linux x86_64 with glibc 2.28 or newer.</a:t>
                      </a:r>
                    </a:p>
                  </a:txBody>
                  <a:tcPr marL="133350" marR="133350" marT="0" marB="0" anchor="ctr">
                    <a:lnR w="6668">
                      <a:solidFill>
                        <a:srgbClr val="D5DFD7"/>
                      </a:solidFill>
                      <a:prstDash val="solid"/>
                    </a:lnR>
                    <a:lnB w="6668">
                      <a:solidFill>
                        <a:srgbClr val="D5DFD7"/>
                      </a:solidFill>
                      <a:prstDash val="solid"/>
                    </a:lnB>
                    <a:solidFill>
                      <a:srgbClr val="F5F7F4"/>
                    </a:solidFill>
                  </a:tcPr>
                </a:tc>
              </a:tr>
              <a:tr h="495300">
                <a:tc>
                  <a:txBody>
                    <a:bodyPr wrap="square" lIns="133350" tIns="0" rIns="133350" bIns="0" anchor="ctr">
                      <a:noAutofit/>
                    </a:bodyPr>
                    <a:lstStyle/>
                    <a:p>
                      <a:r>
                        <a:rPr sz="1800" b="0">
                          <a:solidFill>
                            <a:srgbClr val="12211C"/>
                          </a:solidFill>
                          <a:latin typeface="Arial"/>
                          <a:ea typeface="Arial"/>
                          <a:cs typeface="Arial"/>
                        </a:rPr>
                        <a:t>NVIDIA driver</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570.26 or newer for the selected native CUDA 12.8 path.</a:t>
                      </a:r>
                    </a:p>
                  </a:txBody>
                  <a:tcPr marL="133350" marR="133350" marT="0" marB="0" anchor="ctr">
                    <a:lnR w="6668">
                      <a:solidFill>
                        <a:srgbClr val="D5DFD7"/>
                      </a:solidFill>
                      <a:prstDash val="solid"/>
                    </a:lnR>
                    <a:lnB w="6668">
                      <a:solidFill>
                        <a:srgbClr val="D5DFD7"/>
                      </a:solidFill>
                      <a:prstDash val="solid"/>
                    </a:lnB>
                    <a:solidFill>
                      <a:srgbClr val="F5F7F4"/>
                    </a:solidFill>
                  </a:tcPr>
                </a:tc>
              </a:tr>
              <a:tr h="495300">
                <a:tc>
                  <a:txBody>
                    <a:bodyPr wrap="square" lIns="133350" tIns="0" rIns="133350" bIns="0" anchor="ctr">
                      <a:noAutofit/>
                    </a:bodyPr>
                    <a:lstStyle/>
                    <a:p>
                      <a:r>
                        <a:rPr sz="1800" b="0">
                          <a:solidFill>
                            <a:srgbClr val="12211C"/>
                          </a:solidFill>
                          <a:latin typeface="Arial"/>
                          <a:ea typeface="Arial"/>
                          <a:cs typeface="Arial"/>
                        </a:rPr>
                        <a:t>Python</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Fresh Python 3.11 environment from the Anaconda module.</a:t>
                      </a:r>
                    </a:p>
                  </a:txBody>
                  <a:tcPr marL="133350" marR="133350" marT="0" marB="0" anchor="ctr">
                    <a:lnR w="6668">
                      <a:solidFill>
                        <a:srgbClr val="D5DFD7"/>
                      </a:solidFill>
                      <a:prstDash val="solid"/>
                    </a:lnR>
                    <a:lnB w="6668">
                      <a:solidFill>
                        <a:srgbClr val="D5DFD7"/>
                      </a:solidFill>
                      <a:prstDash val="solid"/>
                    </a:lnB>
                    <a:solidFill>
                      <a:srgbClr val="F5F7F4"/>
                    </a:solidFill>
                  </a:tcPr>
                </a:tc>
              </a:tr>
              <a:tr h="495300">
                <a:tc>
                  <a:txBody>
                    <a:bodyPr wrap="square" lIns="133350" tIns="0" rIns="133350" bIns="0" anchor="ctr">
                      <a:noAutofit/>
                    </a:bodyPr>
                    <a:lstStyle/>
                    <a:p>
                      <a:r>
                        <a:rPr sz="1800" b="0">
                          <a:solidFill>
                            <a:srgbClr val="12211C"/>
                          </a:solidFill>
                          <a:latin typeface="Arial"/>
                          <a:ea typeface="Arial"/>
                          <a:cs typeface="Arial"/>
                        </a:rPr>
                        <a:t>GPU libraries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vLLM 0.10.2 and PyTorch 2.8.0+cu128.</a:t>
                      </a:r>
                    </a:p>
                  </a:txBody>
                  <a:tcPr marL="133350" marR="133350" marT="0" marB="0" anchor="ctr">
                    <a:lnR w="6668">
                      <a:solidFill>
                        <a:srgbClr val="D5DFD7"/>
                      </a:solidFill>
                      <a:prstDash val="solid"/>
                    </a:lnR>
                    <a:lnB w="6668">
                      <a:solidFill>
                        <a:srgbClr val="D5DFD7"/>
                      </a:solidFill>
                      <a:prstDash val="solid"/>
                    </a:lnB>
                    <a:solidFill>
                      <a:srgbClr val="F5F7F4"/>
                    </a:solidFill>
                  </a:tcPr>
                </a:tc>
              </a:tr>
              <a:tr h="495300">
                <a:tc>
                  <a:txBody>
                    <a:bodyPr wrap="square" lIns="133350" tIns="0" rIns="133350" bIns="0" anchor="ctr">
                      <a:noAutofit/>
                    </a:bodyPr>
                    <a:lstStyle/>
                    <a:p>
                      <a:r>
                        <a:rPr sz="1800" b="0">
                          <a:solidFill>
                            <a:srgbClr val="12211C"/>
                          </a:solidFill>
                          <a:latin typeface="Arial"/>
                          <a:ea typeface="Arial"/>
                          <a:cs typeface="Arial"/>
                        </a:rPr>
                        <a:t>Tokenizer libraries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Transformers 4.55.2 and Hugging Face Hub 0.34.4.</a:t>
                      </a:r>
                    </a:p>
                  </a:txBody>
                  <a:tcPr marL="133350" marR="133350" marT="0" marB="0" anchor="ctr">
                    <a:lnR w="6668">
                      <a:solidFill>
                        <a:srgbClr val="D5DFD7"/>
                      </a:solidFill>
                      <a:prstDash val="solid"/>
                    </a:lnR>
                    <a:lnB w="6668">
                      <a:solidFill>
                        <a:srgbClr val="D5DFD7"/>
                      </a:solidFill>
                      <a:prstDash val="solid"/>
                    </a:lnB>
                    <a:solidFill>
                      <a:srgbClr val="F5F7F4"/>
                    </a:solidFill>
                  </a:tcPr>
                </a:tc>
              </a:tr>
              <a:tr h="495300">
                <a:tc>
                  <a:txBody>
                    <a:bodyPr wrap="square" lIns="133350" tIns="0" rIns="133350" bIns="0" anchor="ctr">
                      <a:noAutofit/>
                    </a:bodyPr>
                    <a:lstStyle/>
                    <a:p>
                      <a:r>
                        <a:rPr sz="1800" b="0">
                          <a:solidFill>
                            <a:srgbClr val="12211C"/>
                          </a:solidFill>
                          <a:latin typeface="Arial"/>
                          <a:ea typeface="Arial"/>
                          <a:cs typeface="Arial"/>
                        </a:rPr>
                        <a:t>Model snapshot</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Local configuration, tokenizer, weight files and revision metadata.</a:t>
                      </a:r>
                    </a:p>
                  </a:txBody>
                  <a:tcPr marL="133350" marR="133350" marT="0" marB="0" anchor="ctr">
                    <a:lnR w="6668">
                      <a:solidFill>
                        <a:srgbClr val="D5DFD7"/>
                      </a:solidFill>
                      <a:prstDash val="solid"/>
                    </a:lnR>
                    <a:lnB w="6668">
                      <a:solidFill>
                        <a:srgbClr val="D5DFD7"/>
                      </a:solidFill>
                      <a:prstDash val="solid"/>
                    </a:lnB>
                    <a:solidFill>
                      <a:srgbClr val="F5F7F4"/>
                    </a:solidFill>
                  </a:tcPr>
                </a:tc>
              </a:tr>
              <a:tr h="495300">
                <a:tc>
                  <a:txBody>
                    <a:bodyPr wrap="square" lIns="133350" tIns="0" rIns="133350" bIns="0" anchor="ctr">
                      <a:noAutofit/>
                    </a:bodyPr>
                    <a:lstStyle/>
                    <a:p>
                      <a:r>
                        <a:rPr sz="1800" b="0">
                          <a:solidFill>
                            <a:srgbClr val="12211C"/>
                          </a:solidFill>
                          <a:latin typeface="Arial"/>
                          <a:ea typeface="Arial"/>
                          <a:cs typeface="Arial"/>
                        </a:rPr>
                        <a:t>Job defaults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32 GB host RAM, four CPUs and a four-hour allocation.</a:t>
                      </a:r>
                    </a:p>
                  </a:txBody>
                  <a:tcPr marL="133350" marR="133350" marT="0" marB="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3" name="caption">
            <a:extLst xmlns:a="http://schemas.openxmlformats.org/drawingml/2006/main">
              <a:ext uri="{FF2B5EF4-FFF2-40B4-BE49-F238E27FC236}">
                <a16:creationId xmlns:a16="http://schemas.microsoft.com/office/drawing/2014/main" id="{C0F4E48E-8402-4F06-ACC3-20CD7C8D7A2E}"/>
              </a:ext>
            </a:extLst>
          </p:cNvPr>
          <p:cNvSpPr>
            <a:spLocks xmlns:a="http://schemas.openxmlformats.org/drawingml/2006/main" noGrp="1"/>
          </p:cNvSpPr>
          <p:nvPr/>
        </p:nvSpPr>
        <p:spPr>
          <a:xfrm xmlns:a="http://schemas.openxmlformats.org/drawingml/2006/main">
            <a:off x="609600" y="6191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Doctor checks CUDA allocation. A generation experiment must verify model loading.</a:t>
            </a:r>
          </a:p>
        </p:txBody>
      </p:sp>
    </p:spTree>
    <p:extLst>
      <p:ext uri="{BB962C8B-B14F-4D97-AF65-F5344CB8AC3E}">
        <p14:creationId xmlns:p14="http://schemas.microsoft.com/office/powerpoint/2010/main" val="1552649398"/>
      </p:ext>
    </p:extLst>
  </p:cSld>
</p:sld>
</file>

<file path=ppt/slides/slide7.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7BF58B7E-11C5-49AF-8CE6-D8C2970FDB02}"/>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Token budget and execution settings</a:t>
            </a:r>
          </a:p>
        </p:txBody>
      </p:sp>
      <p:sp>
        <p:nvSpPr>
          <p:cNvPr id="2" name="budget-heading">
            <a:extLst xmlns:a="http://schemas.openxmlformats.org/drawingml/2006/main">
              <a:ext uri="{FF2B5EF4-FFF2-40B4-BE49-F238E27FC236}">
                <a16:creationId xmlns:a16="http://schemas.microsoft.com/office/drawing/2014/main" id="{69705918-71ED-4375-B179-E0FBA1931AE6}"/>
              </a:ext>
            </a:extLst>
          </p:cNvPr>
          <p:cNvSpPr>
            <a:spLocks xmlns:a="http://schemas.openxmlformats.org/drawingml/2006/main" noGrp="1"/>
          </p:cNvSpPr>
          <p:nvPr/>
        </p:nvSpPr>
        <p:spPr>
          <a:xfrm xmlns:a="http://schemas.openxmlformats.org/drawingml/2006/main">
            <a:off x="609600" y="1476375"/>
            <a:ext cx="552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buNone/>
              <a:defRPr sz="2175" b="1">
                <a:solidFill>
                  <a:srgbClr val="12211C"/>
                </a:solidFill>
                <a:latin typeface="Arial"/>
                <a:ea typeface="Arial"/>
                <a:cs typeface="Arial"/>
              </a:defRPr>
            </a:pPr>
            <a:r>
              <a:rPr sz="2175" b="1">
                <a:solidFill>
                  <a:srgbClr val="12211C"/>
                </a:solidFill>
                <a:latin typeface="Arial"/>
                <a:ea typeface="Arial"/>
                <a:cs typeface="Arial"/>
              </a:rPr>
              <a:t>Default context allocation</a:t>
            </a:r>
          </a:p>
        </p:txBody>
      </p:sp>
      <p:graphicFrame>
        <p:nvGraphicFramePr>
          <p:cNvPr id="3" name="Chart">
            <a:extLst xmlns:a="http://schemas.openxmlformats.org/drawingml/2006/main">
              <a:ext uri="{FF2B5EF4-FFF2-40B4-BE49-F238E27FC236}">
                <a16:creationId xmlns:a16="http://schemas.microsoft.com/office/drawing/2014/main" id="{8AD8B544-2F57-4095-B51A-79F64D412FD1}"/>
              </a:ext>
            </a:extLst>
          </p:cNvPr>
          <p:cNvGraphicFramePr/>
          <p:nvPr/>
        </p:nvGraphicFramePr>
        <p:xfrm>
          <a:off xmlns:a="http://schemas.openxmlformats.org/drawingml/2006/main" x="609600" y="2114550"/>
          <a:ext xmlns:a="http://schemas.openxmlformats.org/drawingml/2006/main" cx="5638800" cy="3381375"/>
        </p:xfrm>
        <a:graphic xmlns:a="http://schemas.openxmlformats.org/drawingml/2006/main">
          <a:graphicData uri="http://schemas.openxmlformats.org/drawingml/2006/chart">
            <c:chart xmlns:r="http://schemas.openxmlformats.org/officeDocument/2006/relationships" xmlns:c="http://schemas.openxmlformats.org/drawingml/2006/chart" r:id="R9eba6c8832e64c9b"/>
          </a:graphicData>
        </a:graphic>
      </p:graphicFrame>
      <p:sp>
        <p:nvSpPr>
          <p:cNvPr id="4" name="budget-equation">
            <a:extLst xmlns:a="http://schemas.openxmlformats.org/drawingml/2006/main">
              <a:ext uri="{FF2B5EF4-FFF2-40B4-BE49-F238E27FC236}">
                <a16:creationId xmlns:a16="http://schemas.microsoft.com/office/drawing/2014/main" id="{C2E539B2-AA15-417C-8C14-4C0CCEFEF2AD}"/>
              </a:ext>
            </a:extLst>
          </p:cNvPr>
          <p:cNvSpPr>
            <a:spLocks xmlns:a="http://schemas.openxmlformats.org/drawingml/2006/main" noGrp="1"/>
          </p:cNvSpPr>
          <p:nvPr/>
        </p:nvSpPr>
        <p:spPr>
          <a:xfrm xmlns:a="http://schemas.openxmlformats.org/drawingml/2006/main">
            <a:off x="609600" y="5648325"/>
            <a:ext cx="590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2211C"/>
                </a:solidFill>
                <a:latin typeface="Arial"/>
                <a:ea typeface="Arial"/>
                <a:cs typeface="Arial"/>
              </a:defRPr>
            </a:defPPr>
          </a:lstStyle>
          <a:p xmlns:a="http://schemas.openxmlformats.org/drawingml/2006/main">
            <a:pPr algn="l">
              <a:buNone/>
              <a:defRPr sz="2025" b="1">
                <a:solidFill>
                  <a:srgbClr val="12211C"/>
                </a:solidFill>
                <a:latin typeface="Arial"/>
                <a:ea typeface="Arial"/>
                <a:cs typeface="Arial"/>
              </a:defRPr>
            </a:pPr>
            <a:r>
              <a:rPr sz="2025" b="1">
                <a:solidFill>
                  <a:srgbClr val="12211C"/>
                </a:solidFill>
                <a:latin typeface="Arial"/>
                <a:ea typeface="Arial"/>
                <a:cs typeface="Arial"/>
              </a:rPr>
              <a:t>4,096 − 300 = 3,796 input tokens maximum</a:t>
            </a:r>
          </a:p>
        </p:txBody>
      </p:sp>
      <p:sp>
        <p:nvSpPr>
          <p:cNvPr id="5" name="settings-heading">
            <a:extLst xmlns:a="http://schemas.openxmlformats.org/drawingml/2006/main">
              <a:ext uri="{FF2B5EF4-FFF2-40B4-BE49-F238E27FC236}">
                <a16:creationId xmlns:a16="http://schemas.microsoft.com/office/drawing/2014/main" id="{0A14428E-06F2-45A3-899B-C788C28B5144}"/>
              </a:ext>
            </a:extLst>
          </p:cNvPr>
          <p:cNvSpPr>
            <a:spLocks xmlns:a="http://schemas.openxmlformats.org/drawingml/2006/main" noGrp="1"/>
          </p:cNvSpPr>
          <p:nvPr/>
        </p:nvSpPr>
        <p:spPr>
          <a:xfrm xmlns:a="http://schemas.openxmlformats.org/drawingml/2006/main">
            <a:off x="7010400" y="14763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buNone/>
              <a:defRPr sz="2175" b="1">
                <a:solidFill>
                  <a:srgbClr val="12211C"/>
                </a:solidFill>
                <a:latin typeface="Arial"/>
                <a:ea typeface="Arial"/>
                <a:cs typeface="Arial"/>
              </a:defRPr>
            </a:pPr>
            <a:r>
              <a:rPr sz="2175" b="1">
                <a:solidFill>
                  <a:srgbClr val="12211C"/>
                </a:solidFill>
                <a:latin typeface="Arial"/>
                <a:ea typeface="Arial"/>
                <a:cs typeface="Arial"/>
              </a:rPr>
              <a:t>Current execution defaults</a:t>
            </a:r>
          </a:p>
        </p:txBody>
      </p:sp>
      <p:sp>
        <p:nvSpPr>
          <p:cNvPr id="6" name="settings">
            <a:extLst xmlns:a="http://schemas.openxmlformats.org/drawingml/2006/main">
              <a:ext uri="{FF2B5EF4-FFF2-40B4-BE49-F238E27FC236}">
                <a16:creationId xmlns:a16="http://schemas.microsoft.com/office/drawing/2014/main" id="{A2F5E3FB-F575-48BB-8339-5F433C8E04FE}"/>
              </a:ext>
            </a:extLst>
          </p:cNvPr>
          <p:cNvSpPr>
            <a:spLocks xmlns:a="http://schemas.openxmlformats.org/drawingml/2006/main" noGrp="1"/>
          </p:cNvSpPr>
          <p:nvPr/>
        </p:nvSpPr>
        <p:spPr>
          <a:xfrm xmlns:a="http://schemas.openxmlformats.org/drawingml/2006/main">
            <a:off x="7010400" y="2124075"/>
            <a:ext cx="4572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2211C"/>
                </a:solidFill>
                <a:latin typeface="Courier New"/>
                <a:ea typeface="Courier New"/>
                <a:cs typeface="Courier New"/>
              </a:defRPr>
            </a:defPPr>
          </a:lstStyle>
          <a:p xmlns:a="http://schemas.openxmlformats.org/drawingml/2006/main">
            <a:pPr algn="l">
              <a:buNone/>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dtype = bfloat16</a:t>
            </a:r>
          </a:p>
          <a:p xmlns:a="http://schemas.openxmlformats.org/drawingml/2006/main">
            <a:pPr algn="l">
              <a:buNone/>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GPU memory fraction = 0.80</a:t>
            </a:r>
          </a:p>
          <a:p xmlns:a="http://schemas.openxmlformats.org/drawingml/2006/main">
            <a:pPr algn="l">
              <a:buNone/>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GPU concurrent sequences = 4</a:t>
            </a:r>
          </a:p>
          <a:p xmlns:a="http://schemas.openxmlformats.org/drawingml/2006/main">
            <a:pPr algn="l">
              <a:buNone/>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Experiment batch size = 8</a:t>
            </a:r>
          </a:p>
          <a:p xmlns:a="http://schemas.openxmlformats.org/drawingml/2006/main">
            <a:pPr algn="l">
              <a:buNone/>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temperature = 0.0</a:t>
            </a:r>
          </a:p>
          <a:p xmlns:a="http://schemas.openxmlformats.org/drawingml/2006/main">
            <a:pPr algn="l">
              <a:buNone/>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seed = 42</a:t>
            </a:r>
          </a:p>
        </p:txBody>
      </p:sp>
      <p:sp>
        <p:nvSpPr>
          <p:cNvPr id="7" name="budget-caution">
            <a:extLst xmlns:a="http://schemas.openxmlformats.org/drawingml/2006/main">
              <a:ext uri="{FF2B5EF4-FFF2-40B4-BE49-F238E27FC236}">
                <a16:creationId xmlns:a16="http://schemas.microsoft.com/office/drawing/2014/main" id="{7B14908D-687C-4834-81C4-29A25DFA4506}"/>
              </a:ext>
            </a:extLst>
          </p:cNvPr>
          <p:cNvSpPr>
            <a:spLocks xmlns:a="http://schemas.openxmlformats.org/drawingml/2006/main" noGrp="1"/>
          </p:cNvSpPr>
          <p:nvPr/>
        </p:nvSpPr>
        <p:spPr>
          <a:xfrm xmlns:a="http://schemas.openxmlformats.org/drawingml/2006/main">
            <a:off x="7010400" y="4857750"/>
            <a:ext cx="4572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1655B"/>
                </a:solidFill>
                <a:latin typeface="Arial"/>
                <a:ea typeface="Arial"/>
                <a:cs typeface="Arial"/>
              </a:defRPr>
            </a:defPPr>
          </a:lstStyle>
          <a:p xmlns:a="http://schemas.openxmlformats.org/drawingml/2006/main">
            <a:pPr algn="l">
              <a:buNone/>
              <a:defRPr sz="2100" b="0">
                <a:solidFill>
                  <a:srgbClr val="51655B"/>
                </a:solidFill>
                <a:latin typeface="Arial"/>
                <a:ea typeface="Arial"/>
                <a:cs typeface="Arial"/>
              </a:defRPr>
            </a:pPr>
            <a:r>
              <a:rPr sz="2100" b="0">
                <a:solidFill>
                  <a:srgbClr val="51655B"/>
                </a:solidFill>
                <a:latin typeface="Arial"/>
                <a:ea typeface="Arial"/>
                <a:cs typeface="Arial"/>
              </a:rPr>
              <a:t>Character limits do not guarantee a prompt fits the token budget.</a:t>
            </a:r>
          </a:p>
        </p:txBody>
      </p:sp>
    </p:spTree>
    <p:extLst>
      <p:ext uri="{BB962C8B-B14F-4D97-AF65-F5344CB8AC3E}">
        <p14:creationId xmlns:p14="http://schemas.microsoft.com/office/powerpoint/2010/main" val="533805003"/>
      </p:ext>
    </p:extLst>
  </p:cSld>
</p:sld>
</file>

<file path=ppt/slides/slide8.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2BDE718E-D790-4735-9E99-F9E45E5E73E5}"/>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Patient joins and missing modalities</a:t>
            </a:r>
          </a:p>
        </p:txBody>
      </p:sp>
      <p:pic>
        <p:nvPicPr>
          <p:cNvPr id="2" name="">
            <a:extLst xmlns:a="http://schemas.openxmlformats.org/drawingml/2006/main">
              <a:ext uri="{FF2B5EF4-FFF2-40B4-BE49-F238E27FC236}">
                <a16:creationId xmlns:a16="http://schemas.microsoft.com/office/drawing/2014/main" id="{D2F9C3A0-CF44-46C6-8D81-E57CA08C39DF}"/>
              </a:ext>
            </a:extLst>
          </p:cNvPr>
          <p:cNvPicPr>
            <a:picLocks xmlns:a="http://schemas.openxmlformats.org/drawingml/2006/main" noChangeAspect="1"/>
          </p:cNvPicPr>
          <p:nvPr/>
        </p:nvPicPr>
        <p:blipFill>
          <a:blip xmlns:r="http://schemas.openxmlformats.org/officeDocument/2006/relationships" xmlns:a="http://schemas.openxmlformats.org/drawingml/2006/main" r:embed="Ra704e024f4f24fbe"/>
          <a:stretch xmlns:a="http://schemas.openxmlformats.org/drawingml/2006/main"/>
        </p:blipFill>
        <p:spPr>
          <a:xfrm xmlns:a="http://schemas.openxmlformats.org/drawingml/2006/main">
            <a:off x="987680" y="1428750"/>
            <a:ext cx="10216640" cy="3752850"/>
          </a:xfrm>
          <a:prstGeom xmlns:a="http://schemas.openxmlformats.org/drawingml/2006/main" prst="rect">
            <a:avLst/>
          </a:prstGeom>
        </p:spPr>
      </p:pic>
      <p:sp>
        <p:nvSpPr>
          <p:cNvPr id="3" name="ids-heading">
            <a:extLst xmlns:a="http://schemas.openxmlformats.org/drawingml/2006/main">
              <a:ext uri="{FF2B5EF4-FFF2-40B4-BE49-F238E27FC236}">
                <a16:creationId xmlns:a16="http://schemas.microsoft.com/office/drawing/2014/main" id="{36753BC6-73B9-403D-9668-FD915E98BBF9}"/>
              </a:ext>
            </a:extLst>
          </p:cNvPr>
          <p:cNvSpPr>
            <a:spLocks xmlns:a="http://schemas.openxmlformats.org/drawingml/2006/main" noGrp="1"/>
          </p:cNvSpPr>
          <p:nvPr/>
        </p:nvSpPr>
        <p:spPr>
          <a:xfrm xmlns:a="http://schemas.openxmlformats.org/drawingml/2006/main">
            <a:off x="609600" y="52197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buNone/>
              <a:defRPr sz="2175" b="1">
                <a:solidFill>
                  <a:srgbClr val="12211C"/>
                </a:solidFill>
                <a:latin typeface="Arial"/>
                <a:ea typeface="Arial"/>
                <a:cs typeface="Arial"/>
              </a:defRPr>
            </a:pPr>
            <a:r>
              <a:rPr sz="2175" b="1">
                <a:solidFill>
                  <a:srgbClr val="12211C"/>
                </a:solidFill>
                <a:latin typeface="Arial"/>
                <a:ea typeface="Arial"/>
                <a:cs typeface="Arial"/>
              </a:rPr>
              <a:t>Identity gate</a:t>
            </a:r>
          </a:p>
        </p:txBody>
      </p:sp>
      <p:sp>
        <p:nvSpPr>
          <p:cNvPr id="4" name="ids-body">
            <a:extLst xmlns:a="http://schemas.openxmlformats.org/drawingml/2006/main">
              <a:ext uri="{FF2B5EF4-FFF2-40B4-BE49-F238E27FC236}">
                <a16:creationId xmlns:a16="http://schemas.microsoft.com/office/drawing/2014/main" id="{2F1E377D-EAFC-4C22-9F30-2F4899D380DF}"/>
              </a:ext>
            </a:extLst>
          </p:cNvPr>
          <p:cNvSpPr>
            <a:spLocks xmlns:a="http://schemas.openxmlformats.org/drawingml/2006/main" noGrp="1"/>
          </p:cNvSpPr>
          <p:nvPr/>
        </p:nvSpPr>
        <p:spPr>
          <a:xfrm xmlns:a="http://schemas.openxmlformats.org/drawingml/2006/main">
            <a:off x="609600" y="5734050"/>
            <a:ext cx="5143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2211C"/>
                </a:solidFill>
                <a:latin typeface="Arial"/>
                <a:ea typeface="Arial"/>
                <a:cs typeface="Arial"/>
              </a:defRPr>
            </a:defPPr>
          </a:lstStyle>
          <a:p xmlns:a="http://schemas.openxmlformats.org/drawingml/2006/main">
            <a:pPr algn="l">
              <a:buNone/>
              <a:defRPr sz="1950" b="0">
                <a:solidFill>
                  <a:srgbClr val="12211C"/>
                </a:solidFill>
                <a:latin typeface="Arial"/>
                <a:ea typeface="Arial"/>
                <a:cs typeface="Arial"/>
              </a:defRPr>
            </a:pPr>
            <a:r>
              <a:rPr sz="1950" b="0">
                <a:solidFill>
                  <a:srgbClr val="12211C"/>
                </a:solidFill>
                <a:latin typeface="Arial"/>
                <a:ea typeface="Arial"/>
                <a:cs typeface="Arial"/>
              </a:rPr>
              <a:t>Resolve slide IDs upstream. Export one score per patient per modality.</a:t>
            </a:r>
          </a:p>
        </p:txBody>
      </p:sp>
      <p:sp>
        <p:nvSpPr>
          <p:cNvPr id="5" name="missing-heading">
            <a:extLst xmlns:a="http://schemas.openxmlformats.org/drawingml/2006/main">
              <a:ext uri="{FF2B5EF4-FFF2-40B4-BE49-F238E27FC236}">
                <a16:creationId xmlns:a16="http://schemas.microsoft.com/office/drawing/2014/main" id="{07E04595-6AFF-4EA2-B93D-E73D2E3DB653}"/>
              </a:ext>
            </a:extLst>
          </p:cNvPr>
          <p:cNvSpPr>
            <a:spLocks xmlns:a="http://schemas.openxmlformats.org/drawingml/2006/main" noGrp="1"/>
          </p:cNvSpPr>
          <p:nvPr/>
        </p:nvSpPr>
        <p:spPr>
          <a:xfrm xmlns:a="http://schemas.openxmlformats.org/drawingml/2006/main">
            <a:off x="6724650" y="521970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buNone/>
              <a:defRPr sz="2175" b="1">
                <a:solidFill>
                  <a:srgbClr val="12211C"/>
                </a:solidFill>
                <a:latin typeface="Arial"/>
                <a:ea typeface="Arial"/>
                <a:cs typeface="Arial"/>
              </a:defRPr>
            </a:pPr>
            <a:r>
              <a:rPr sz="2175" b="1">
                <a:solidFill>
                  <a:srgbClr val="12211C"/>
                </a:solidFill>
                <a:latin typeface="Arial"/>
                <a:ea typeface="Arial"/>
                <a:cs typeface="Arial"/>
              </a:rPr>
              <a:t>Availability gate</a:t>
            </a:r>
          </a:p>
        </p:txBody>
      </p:sp>
      <p:sp>
        <p:nvSpPr>
          <p:cNvPr id="6" name="missing-body">
            <a:extLst xmlns:a="http://schemas.openxmlformats.org/drawingml/2006/main">
              <a:ext uri="{FF2B5EF4-FFF2-40B4-BE49-F238E27FC236}">
                <a16:creationId xmlns:a16="http://schemas.microsoft.com/office/drawing/2014/main" id="{ECF660C4-2944-4CF8-9364-4F0709C2A3A6}"/>
              </a:ext>
            </a:extLst>
          </p:cNvPr>
          <p:cNvSpPr>
            <a:spLocks xmlns:a="http://schemas.openxmlformats.org/drawingml/2006/main" noGrp="1"/>
          </p:cNvSpPr>
          <p:nvPr/>
        </p:nvSpPr>
        <p:spPr>
          <a:xfrm xmlns:a="http://schemas.openxmlformats.org/drawingml/2006/main">
            <a:off x="6724650" y="573405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2211C"/>
                </a:solidFill>
                <a:latin typeface="Arial"/>
                <a:ea typeface="Arial"/>
                <a:cs typeface="Arial"/>
              </a:defRPr>
            </a:defPPr>
          </a:lstStyle>
          <a:p xmlns:a="http://schemas.openxmlformats.org/drawingml/2006/main">
            <a:pPr algn="l">
              <a:buNone/>
              <a:defRPr sz="1950" b="0">
                <a:solidFill>
                  <a:srgbClr val="12211C"/>
                </a:solidFill>
                <a:latin typeface="Arial"/>
                <a:ea typeface="Arial"/>
                <a:cs typeface="Arial"/>
              </a:defRPr>
            </a:pPr>
            <a:r>
              <a:rPr sz="1950" b="0">
                <a:solidFill>
                  <a:srgbClr val="12211C"/>
                </a:solidFill>
                <a:latin typeface="Arial"/>
                <a:ea typeface="Arial"/>
                <a:cs typeface="Arial"/>
              </a:rPr>
              <a:t>Missing predictions remain absent. The structured result names unavailable modalities.</a:t>
            </a:r>
          </a:p>
        </p:txBody>
      </p:sp>
    </p:spTree>
    <p:extLst>
      <p:ext uri="{BB962C8B-B14F-4D97-AF65-F5344CB8AC3E}">
        <p14:creationId xmlns:p14="http://schemas.microsoft.com/office/powerpoint/2010/main" val="1017059583"/>
      </p:ext>
    </p:extLst>
  </p:cSld>
</p:sld>
</file>

<file path=ppt/slides/slide9.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731260CA-3259-424F-B374-2A7DF786FAE9}"/>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Shared patient contract</a:t>
            </a:r>
          </a:p>
        </p:txBody>
      </p:sp>
      <p:sp>
        <p:nvSpPr>
          <p:cNvPr id="2" name="record-example">
            <a:extLst xmlns:a="http://schemas.openxmlformats.org/drawingml/2006/main">
              <a:ext uri="{FF2B5EF4-FFF2-40B4-BE49-F238E27FC236}">
                <a16:creationId xmlns:a16="http://schemas.microsoft.com/office/drawing/2014/main" id="{A918B7CC-A42A-4AF1-AFFD-967258413159}"/>
              </a:ext>
            </a:extLst>
          </p:cNvPr>
          <p:cNvSpPr>
            <a:spLocks xmlns:a="http://schemas.openxmlformats.org/drawingml/2006/main" noGrp="1"/>
          </p:cNvSpPr>
          <p:nvPr/>
        </p:nvSpPr>
        <p:spPr>
          <a:xfrm xmlns:a="http://schemas.openxmlformats.org/drawingml/2006/main">
            <a:off x="609600" y="1704975"/>
            <a:ext cx="6619875" cy="3600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211C"/>
                </a:solidFill>
                <a:latin typeface="Courier New"/>
                <a:ea typeface="Courier New"/>
                <a:cs typeface="Courier New"/>
              </a:defRPr>
            </a:defPPr>
          </a:lstStyle>
          <a:p xmlns:a="http://schemas.openxmlformats.org/drawingml/2006/main">
            <a:pPr algn="l">
              <a:buNone/>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a:t>
            </a:r>
          </a:p>
          <a:p xmlns:a="http://schemas.openxmlformats.org/drawingml/2006/main">
            <a:pPr algn="l">
              <a:buNone/>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  "schema_version": "1.0",</a:t>
            </a:r>
          </a:p>
          <a:p xmlns:a="http://schemas.openxmlformats.org/drawingml/2006/main">
            <a:pPr algn="l">
              <a:buNone/>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  "patient_id": "P12",</a:t>
            </a:r>
          </a:p>
          <a:p xmlns:a="http://schemas.openxmlformats.org/drawingml/2006/main">
            <a:pPr algn="l">
              <a:buNone/>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  "predictions": {</a:t>
            </a:r>
          </a:p>
          <a:p xmlns:a="http://schemas.openxmlformats.org/drawingml/2006/main">
            <a:pPr algn="l">
              <a:buNone/>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    "clinical": {"probability": 0.21},</a:t>
            </a:r>
          </a:p>
          <a:p xmlns:a="http://schemas.openxmlformats.org/drawingml/2006/main">
            <a:pPr algn="l">
              <a:buNone/>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    "mif": {"probability": 0.78},</a:t>
            </a:r>
          </a:p>
          <a:p xmlns:a="http://schemas.openxmlformats.org/drawingml/2006/main">
            <a:pPr algn="l">
              <a:buNone/>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    "fused": {"probability": 0.57}</a:t>
            </a:r>
          </a:p>
          <a:p xmlns:a="http://schemas.openxmlformats.org/drawingml/2006/main">
            <a:pPr algn="l">
              <a:buNone/>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  },</a:t>
            </a:r>
          </a:p>
          <a:p xmlns:a="http://schemas.openxmlformats.org/drawingml/2006/main">
            <a:pPr algn="l">
              <a:buNone/>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  "response_definition": "Not specified"</a:t>
            </a:r>
          </a:p>
          <a:p xmlns:a="http://schemas.openxmlformats.org/drawingml/2006/main">
            <a:pPr algn="l">
              <a:buNone/>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a:t>
            </a:r>
          </a:p>
        </p:txBody>
      </p:sp>
      <p:sp>
        <p:nvSpPr>
          <p:cNvPr id="3" name="identity-heading">
            <a:extLst xmlns:a="http://schemas.openxmlformats.org/drawingml/2006/main">
              <a:ext uri="{FF2B5EF4-FFF2-40B4-BE49-F238E27FC236}">
                <a16:creationId xmlns:a16="http://schemas.microsoft.com/office/drawing/2014/main" id="{9D80820E-D0CD-4084-B312-768A5B47F496}"/>
              </a:ext>
            </a:extLst>
          </p:cNvPr>
          <p:cNvSpPr>
            <a:spLocks xmlns:a="http://schemas.openxmlformats.org/drawingml/2006/main" noGrp="1"/>
          </p:cNvSpPr>
          <p:nvPr/>
        </p:nvSpPr>
        <p:spPr>
          <a:xfrm xmlns:a="http://schemas.openxmlformats.org/drawingml/2006/main">
            <a:off x="7715250" y="1638300"/>
            <a:ext cx="3848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buNone/>
              <a:defRPr sz="2250" b="1">
                <a:solidFill>
                  <a:srgbClr val="12211C"/>
                </a:solidFill>
                <a:latin typeface="Arial"/>
                <a:ea typeface="Arial"/>
                <a:cs typeface="Arial"/>
              </a:defRPr>
            </a:pPr>
            <a:r>
              <a:rPr sz="2250" b="1">
                <a:solidFill>
                  <a:srgbClr val="12211C"/>
                </a:solidFill>
                <a:latin typeface="Arial"/>
                <a:ea typeface="Arial"/>
                <a:cs typeface="Arial"/>
              </a:rPr>
              <a:t>Patient identity</a:t>
            </a:r>
          </a:p>
        </p:txBody>
      </p:sp>
      <p:sp>
        <p:nvSpPr>
          <p:cNvPr id="4" name="identity-body">
            <a:extLst xmlns:a="http://schemas.openxmlformats.org/drawingml/2006/main">
              <a:ext uri="{FF2B5EF4-FFF2-40B4-BE49-F238E27FC236}">
                <a16:creationId xmlns:a16="http://schemas.microsoft.com/office/drawing/2014/main" id="{DF81A241-14A6-49DA-B54B-CB444DA728E4}"/>
              </a:ext>
            </a:extLst>
          </p:cNvPr>
          <p:cNvSpPr>
            <a:spLocks xmlns:a="http://schemas.openxmlformats.org/drawingml/2006/main" noGrp="1"/>
          </p:cNvSpPr>
          <p:nvPr/>
        </p:nvSpPr>
        <p:spPr>
          <a:xfrm xmlns:a="http://schemas.openxmlformats.org/drawingml/2006/main">
            <a:off x="7715250" y="2190750"/>
            <a:ext cx="3848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211C"/>
                </a:solidFill>
                <a:latin typeface="Arial"/>
                <a:ea typeface="Arial"/>
                <a:cs typeface="Arial"/>
              </a:defRPr>
            </a:defPPr>
          </a:lstStyle>
          <a:p xmlns:a="http://schemas.openxmlformats.org/drawingml/2006/main">
            <a:pPr algn="l">
              <a:buNone/>
              <a:defRPr sz="2025" b="0">
                <a:solidFill>
                  <a:srgbClr val="12211C"/>
                </a:solidFill>
                <a:latin typeface="Arial"/>
                <a:ea typeface="Arial"/>
                <a:cs typeface="Arial"/>
              </a:defRPr>
            </a:pPr>
            <a:r>
              <a:rPr sz="2025" b="0">
                <a:solidFill>
                  <a:srgbClr val="12211C"/>
                </a:solidFill>
                <a:latin typeface="Arial"/>
                <a:ea typeface="Arial"/>
                <a:cs typeface="Arial"/>
              </a:rPr>
              <a:t>One canonical patient ID and one prediction per patient per modality.</a:t>
            </a:r>
          </a:p>
        </p:txBody>
      </p:sp>
      <p:sp>
        <p:nvSpPr>
          <p:cNvPr id="5" name="metadata-heading">
            <a:extLst xmlns:a="http://schemas.openxmlformats.org/drawingml/2006/main">
              <a:ext uri="{FF2B5EF4-FFF2-40B4-BE49-F238E27FC236}">
                <a16:creationId xmlns:a16="http://schemas.microsoft.com/office/drawing/2014/main" id="{4411DC6B-62FC-42A3-8203-093F10ADD53A}"/>
              </a:ext>
            </a:extLst>
          </p:cNvPr>
          <p:cNvSpPr>
            <a:spLocks xmlns:a="http://schemas.openxmlformats.org/drawingml/2006/main" noGrp="1"/>
          </p:cNvSpPr>
          <p:nvPr/>
        </p:nvSpPr>
        <p:spPr>
          <a:xfrm xmlns:a="http://schemas.openxmlformats.org/drawingml/2006/main">
            <a:off x="7715250" y="3333750"/>
            <a:ext cx="3848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buNone/>
              <a:defRPr sz="2250" b="1">
                <a:solidFill>
                  <a:srgbClr val="12211C"/>
                </a:solidFill>
                <a:latin typeface="Arial"/>
                <a:ea typeface="Arial"/>
                <a:cs typeface="Arial"/>
              </a:defRPr>
            </a:pPr>
            <a:r>
              <a:rPr sz="2250" b="1">
                <a:solidFill>
                  <a:srgbClr val="12211C"/>
                </a:solidFill>
                <a:latin typeface="Arial"/>
                <a:ea typeface="Arial"/>
                <a:cs typeface="Arial"/>
              </a:rPr>
              <a:t>Score metadata</a:t>
            </a:r>
          </a:p>
        </p:txBody>
      </p:sp>
      <p:sp>
        <p:nvSpPr>
          <p:cNvPr id="6" name="metadata-body">
            <a:extLst xmlns:a="http://schemas.openxmlformats.org/drawingml/2006/main">
              <a:ext uri="{FF2B5EF4-FFF2-40B4-BE49-F238E27FC236}">
                <a16:creationId xmlns:a16="http://schemas.microsoft.com/office/drawing/2014/main" id="{99D8BB73-E741-4C6F-83DE-7CD6306D1F0D}"/>
              </a:ext>
            </a:extLst>
          </p:cNvPr>
          <p:cNvSpPr>
            <a:spLocks xmlns:a="http://schemas.openxmlformats.org/drawingml/2006/main" noGrp="1"/>
          </p:cNvSpPr>
          <p:nvPr/>
        </p:nvSpPr>
        <p:spPr>
          <a:xfrm xmlns:a="http://schemas.openxmlformats.org/drawingml/2006/main">
            <a:off x="7715250" y="3886200"/>
            <a:ext cx="3848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211C"/>
                </a:solidFill>
                <a:latin typeface="Arial"/>
                <a:ea typeface="Arial"/>
                <a:cs typeface="Arial"/>
              </a:defRPr>
            </a:defPPr>
          </a:lstStyle>
          <a:p xmlns:a="http://schemas.openxmlformats.org/drawingml/2006/main">
            <a:pPr algn="l">
              <a:buNone/>
              <a:defRPr sz="2025" b="0">
                <a:solidFill>
                  <a:srgbClr val="12211C"/>
                </a:solidFill>
                <a:latin typeface="Arial"/>
                <a:ea typeface="Arial"/>
                <a:cs typeface="Arial"/>
              </a:defRPr>
            </a:pPr>
            <a:r>
              <a:rPr sz="2025" b="0">
                <a:solidFill>
                  <a:srgbClr val="12211C"/>
                </a:solidFill>
                <a:latin typeface="Arial"/>
                <a:ea typeface="Arial"/>
                <a:cs typeface="Arial"/>
              </a:rPr>
              <a:t>Model version, calibration status and optional threshold travel with each score.</a:t>
            </a:r>
          </a:p>
        </p:txBody>
      </p:sp>
      <p:sp>
        <p:nvSpPr>
          <p:cNvPr id="7" name="features-heading">
            <a:extLst xmlns:a="http://schemas.openxmlformats.org/drawingml/2006/main">
              <a:ext uri="{FF2B5EF4-FFF2-40B4-BE49-F238E27FC236}">
                <a16:creationId xmlns:a16="http://schemas.microsoft.com/office/drawing/2014/main" id="{B3BB548E-73D0-4B2F-9F68-F46B10F80DBA}"/>
              </a:ext>
            </a:extLst>
          </p:cNvPr>
          <p:cNvSpPr>
            <a:spLocks xmlns:a="http://schemas.openxmlformats.org/drawingml/2006/main" noGrp="1"/>
          </p:cNvSpPr>
          <p:nvPr/>
        </p:nvSpPr>
        <p:spPr>
          <a:xfrm xmlns:a="http://schemas.openxmlformats.org/drawingml/2006/main">
            <a:off x="7715250" y="4810125"/>
            <a:ext cx="3848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buNone/>
              <a:defRPr sz="2250" b="1">
                <a:solidFill>
                  <a:srgbClr val="12211C"/>
                </a:solidFill>
                <a:latin typeface="Arial"/>
                <a:ea typeface="Arial"/>
                <a:cs typeface="Arial"/>
              </a:defRPr>
            </a:pPr>
            <a:r>
              <a:rPr sz="2250" b="1">
                <a:solidFill>
                  <a:srgbClr val="12211C"/>
                </a:solidFill>
                <a:latin typeface="Arial"/>
                <a:ea typeface="Arial"/>
                <a:cs typeface="Arial"/>
              </a:rPr>
              <a:t>Feature evidence</a:t>
            </a:r>
          </a:p>
        </p:txBody>
      </p:sp>
      <p:sp>
        <p:nvSpPr>
          <p:cNvPr id="8" name="features-body">
            <a:extLst xmlns:a="http://schemas.openxmlformats.org/drawingml/2006/main">
              <a:ext uri="{FF2B5EF4-FFF2-40B4-BE49-F238E27FC236}">
                <a16:creationId xmlns:a16="http://schemas.microsoft.com/office/drawing/2014/main" id="{2FE8B77E-F6C4-4520-A3AF-A0C2FF453D85}"/>
              </a:ext>
            </a:extLst>
          </p:cNvPr>
          <p:cNvSpPr>
            <a:spLocks xmlns:a="http://schemas.openxmlformats.org/drawingml/2006/main" noGrp="1"/>
          </p:cNvSpPr>
          <p:nvPr/>
        </p:nvSpPr>
        <p:spPr>
          <a:xfrm xmlns:a="http://schemas.openxmlformats.org/drawingml/2006/main">
            <a:off x="7715250" y="5362575"/>
            <a:ext cx="38481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211C"/>
                </a:solidFill>
                <a:latin typeface="Arial"/>
                <a:ea typeface="Arial"/>
                <a:cs typeface="Arial"/>
              </a:defRPr>
            </a:defPPr>
          </a:lstStyle>
          <a:p xmlns:a="http://schemas.openxmlformats.org/drawingml/2006/main">
            <a:pPr algn="l">
              <a:buNone/>
              <a:defRPr sz="2025" b="0">
                <a:solidFill>
                  <a:srgbClr val="12211C"/>
                </a:solidFill>
                <a:latin typeface="Arial"/>
                <a:ea typeface="Arial"/>
                <a:cs typeface="Arial"/>
              </a:defRPr>
            </a:pPr>
            <a:r>
              <a:rPr sz="2025" b="0">
                <a:solidFill>
                  <a:srgbClr val="12211C"/>
                </a:solidFill>
                <a:latin typeface="Arial"/>
                <a:ea typeface="Arial"/>
                <a:cs typeface="Arial"/>
              </a:rPr>
              <a:t>Measurement direction and signed attribution are separate.</a:t>
            </a:r>
          </a:p>
        </p:txBody>
      </p:sp>
      <p:sp>
        <p:nvSpPr>
          <p:cNvPr id="9" name="caption">
            <a:extLst xmlns:a="http://schemas.openxmlformats.org/drawingml/2006/main">
              <a:ext uri="{FF2B5EF4-FFF2-40B4-BE49-F238E27FC236}">
                <a16:creationId xmlns:a16="http://schemas.microsoft.com/office/drawing/2014/main" id="{7BCCDED4-930E-405C-BDAF-17C8C1BC65FE}"/>
              </a:ext>
            </a:extLst>
          </p:cNvPr>
          <p:cNvSpPr>
            <a:spLocks xmlns:a="http://schemas.openxmlformats.org/drawingml/2006/main" noGrp="1"/>
          </p:cNvSpPr>
          <p:nvPr/>
        </p:nvSpPr>
        <p:spPr>
          <a:xfrm xmlns:a="http://schemas.openxmlformats.org/drawingml/2006/main">
            <a:off x="609600" y="62388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Positive class: ICB responder. The team has not yet agreed the responder definition.</a:t>
            </a:r>
          </a:p>
        </p:txBody>
      </p:sp>
    </p:spTree>
    <p:extLst>
      <p:ext uri="{BB962C8B-B14F-4D97-AF65-F5344CB8AC3E}">
        <p14:creationId xmlns:p14="http://schemas.microsoft.com/office/powerpoint/2010/main" val="223117601"/>
      </p:ext>
    </p:extLst>
  </p:cSld>
</p:sld>
</file>

<file path=ppt/slides/slide10.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2F4CCADC-F79E-4870-A1E7-49E63C984817}"/>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Feature evidence contract</a:t>
            </a:r>
          </a:p>
        </p:txBody>
      </p:sp>
      <p:sp>
        <p:nvSpPr>
          <p:cNvPr id="2" name="feature-example">
            <a:extLst xmlns:a="http://schemas.openxmlformats.org/drawingml/2006/main">
              <a:ext uri="{FF2B5EF4-FFF2-40B4-BE49-F238E27FC236}">
                <a16:creationId xmlns:a16="http://schemas.microsoft.com/office/drawing/2014/main" id="{76A08C36-5EF5-4ED2-8A34-83D10CE65357}"/>
              </a:ext>
            </a:extLst>
          </p:cNvPr>
          <p:cNvSpPr>
            <a:spLocks xmlns:a="http://schemas.openxmlformats.org/drawingml/2006/main" noGrp="1"/>
          </p:cNvSpPr>
          <p:nvPr/>
        </p:nvSpPr>
        <p:spPr>
          <a:xfrm xmlns:a="http://schemas.openxmlformats.org/drawingml/2006/main">
            <a:off x="609600" y="1657350"/>
            <a:ext cx="5238750" cy="3762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2211C"/>
                </a:solidFill>
                <a:latin typeface="Courier New"/>
                <a:ea typeface="Courier New"/>
                <a:cs typeface="Courier New"/>
              </a:defRPr>
            </a:defPPr>
          </a:lstStyle>
          <a:p xmlns:a="http://schemas.openxmlformats.org/drawingml/2006/main">
            <a:pPr algn="l">
              <a:buNone/>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a:t>
            </a:r>
          </a:p>
          <a:p xmlns:a="http://schemas.openxmlformats.org/drawingml/2006/main">
            <a:pPr algn="l">
              <a:buNone/>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  "feature": "LDH level",</a:t>
            </a:r>
          </a:p>
          <a:p xmlns:a="http://schemas.openxmlformats.org/drawingml/2006/main">
            <a:pPr algn="l">
              <a:buNone/>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  "value": 510,</a:t>
            </a:r>
          </a:p>
          <a:p xmlns:a="http://schemas.openxmlformats.org/drawingml/2006/main">
            <a:pPr algn="l">
              <a:buNone/>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  "unit": "U/L",</a:t>
            </a:r>
          </a:p>
          <a:p xmlns:a="http://schemas.openxmlformats.org/drawingml/2006/main">
            <a:pPr algn="l">
              <a:buNone/>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  "direction": "elevated",</a:t>
            </a:r>
          </a:p>
          <a:p xmlns:a="http://schemas.openxmlformats.org/drawingml/2006/main">
            <a:pPr algn="l">
              <a:buNone/>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  "attribution": {</a:t>
            </a:r>
          </a:p>
          <a:p xmlns:a="http://schemas.openxmlformats.org/drawingml/2006/main">
            <a:pPr algn="l">
              <a:buNone/>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    "method": "shap",</a:t>
            </a:r>
          </a:p>
          <a:p xmlns:a="http://schemas.openxmlformats.org/drawingml/2006/main">
            <a:pPr algn="l">
              <a:buNone/>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    "value": -0.18,</a:t>
            </a:r>
          </a:p>
          <a:p xmlns:a="http://schemas.openxmlformats.org/drawingml/2006/main">
            <a:pPr algn="l">
              <a:buNone/>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    "scale": "log_odds"</a:t>
            </a:r>
          </a:p>
          <a:p xmlns:a="http://schemas.openxmlformats.org/drawingml/2006/main">
            <a:pPr algn="l">
              <a:buNone/>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  }</a:t>
            </a:r>
          </a:p>
          <a:p xmlns:a="http://schemas.openxmlformats.org/drawingml/2006/main">
            <a:pPr algn="l">
              <a:buNone/>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a:t>
            </a:r>
          </a:p>
        </p:txBody>
      </p:sp>
      <p:sp>
        <p:nvSpPr>
          <p:cNvPr id="3" name="measurement-heading">
            <a:extLst xmlns:a="http://schemas.openxmlformats.org/drawingml/2006/main">
              <a:ext uri="{FF2B5EF4-FFF2-40B4-BE49-F238E27FC236}">
                <a16:creationId xmlns:a16="http://schemas.microsoft.com/office/drawing/2014/main" id="{DF0F2277-D178-4C9B-871D-833DDEAC6535}"/>
              </a:ext>
            </a:extLst>
          </p:cNvPr>
          <p:cNvSpPr>
            <a:spLocks xmlns:a="http://schemas.openxmlformats.org/drawingml/2006/main" noGrp="1"/>
          </p:cNvSpPr>
          <p:nvPr/>
        </p:nvSpPr>
        <p:spPr>
          <a:xfrm xmlns:a="http://schemas.openxmlformats.org/drawingml/2006/main">
            <a:off x="6724650" y="16192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buNone/>
              <a:defRPr sz="2175" b="1">
                <a:solidFill>
                  <a:srgbClr val="12211C"/>
                </a:solidFill>
                <a:latin typeface="Arial"/>
                <a:ea typeface="Arial"/>
                <a:cs typeface="Arial"/>
              </a:defRPr>
            </a:pPr>
            <a:r>
              <a:rPr sz="2175" b="1">
                <a:solidFill>
                  <a:srgbClr val="12211C"/>
                </a:solidFill>
                <a:latin typeface="Arial"/>
                <a:ea typeface="Arial"/>
                <a:cs typeface="Arial"/>
              </a:rPr>
              <a:t>Measurement meaning</a:t>
            </a:r>
          </a:p>
        </p:txBody>
      </p:sp>
      <p:sp>
        <p:nvSpPr>
          <p:cNvPr id="4" name="measurement-body">
            <a:extLst xmlns:a="http://schemas.openxmlformats.org/drawingml/2006/main">
              <a:ext uri="{FF2B5EF4-FFF2-40B4-BE49-F238E27FC236}">
                <a16:creationId xmlns:a16="http://schemas.microsoft.com/office/drawing/2014/main" id="{4414DCBF-4925-42FF-885C-728ACF9E8BAC}"/>
              </a:ext>
            </a:extLst>
          </p:cNvPr>
          <p:cNvSpPr>
            <a:spLocks xmlns:a="http://schemas.openxmlformats.org/drawingml/2006/main" noGrp="1"/>
          </p:cNvSpPr>
          <p:nvPr/>
        </p:nvSpPr>
        <p:spPr>
          <a:xfrm xmlns:a="http://schemas.openxmlformats.org/drawingml/2006/main">
            <a:off x="6724650" y="2133600"/>
            <a:ext cx="4857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11C"/>
                </a:solidFill>
                <a:latin typeface="Arial"/>
                <a:ea typeface="Arial"/>
                <a:cs typeface="Arial"/>
              </a:defRPr>
            </a:defPPr>
          </a:lstStyle>
          <a:p xmlns:a="http://schemas.openxmlformats.org/drawingml/2006/main">
            <a:pPr algn="l">
              <a:buNone/>
              <a:defRPr sz="2175" b="0">
                <a:solidFill>
                  <a:srgbClr val="12211C"/>
                </a:solidFill>
                <a:latin typeface="Arial"/>
                <a:ea typeface="Arial"/>
                <a:cs typeface="Arial"/>
              </a:defRPr>
            </a:pPr>
            <a:r>
              <a:rPr sz="2175" b="0">
                <a:solidFill>
                  <a:srgbClr val="12211C"/>
                </a:solidFill>
                <a:latin typeface="Arial"/>
                <a:ea typeface="Arial"/>
                <a:cs typeface="Arial"/>
              </a:rPr>
              <a:t>Value, units and reference direction describe the supplied observation.</a:t>
            </a:r>
          </a:p>
        </p:txBody>
      </p:sp>
      <p:sp>
        <p:nvSpPr>
          <p:cNvPr id="5" name="attribution-heading">
            <a:extLst xmlns:a="http://schemas.openxmlformats.org/drawingml/2006/main">
              <a:ext uri="{FF2B5EF4-FFF2-40B4-BE49-F238E27FC236}">
                <a16:creationId xmlns:a16="http://schemas.microsoft.com/office/drawing/2014/main" id="{AB04EBC3-6C34-412F-AF9A-454DBFB41966}"/>
              </a:ext>
            </a:extLst>
          </p:cNvPr>
          <p:cNvSpPr>
            <a:spLocks xmlns:a="http://schemas.openxmlformats.org/drawingml/2006/main" noGrp="1"/>
          </p:cNvSpPr>
          <p:nvPr/>
        </p:nvSpPr>
        <p:spPr>
          <a:xfrm xmlns:a="http://schemas.openxmlformats.org/drawingml/2006/main">
            <a:off x="6724650" y="328612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buNone/>
              <a:defRPr sz="2175" b="1">
                <a:solidFill>
                  <a:srgbClr val="12211C"/>
                </a:solidFill>
                <a:latin typeface="Arial"/>
                <a:ea typeface="Arial"/>
                <a:cs typeface="Arial"/>
              </a:defRPr>
            </a:pPr>
            <a:r>
              <a:rPr sz="2175" b="1">
                <a:solidFill>
                  <a:srgbClr val="12211C"/>
                </a:solidFill>
                <a:latin typeface="Arial"/>
                <a:ea typeface="Arial"/>
                <a:cs typeface="Arial"/>
              </a:rPr>
              <a:t>Model effect</a:t>
            </a:r>
          </a:p>
        </p:txBody>
      </p:sp>
      <p:sp>
        <p:nvSpPr>
          <p:cNvPr id="6" name="attribution-body">
            <a:extLst xmlns:a="http://schemas.openxmlformats.org/drawingml/2006/main">
              <a:ext uri="{FF2B5EF4-FFF2-40B4-BE49-F238E27FC236}">
                <a16:creationId xmlns:a16="http://schemas.microsoft.com/office/drawing/2014/main" id="{102FCFAE-E219-4346-8497-654B950B2692}"/>
              </a:ext>
            </a:extLst>
          </p:cNvPr>
          <p:cNvSpPr>
            <a:spLocks xmlns:a="http://schemas.openxmlformats.org/drawingml/2006/main" noGrp="1"/>
          </p:cNvSpPr>
          <p:nvPr/>
        </p:nvSpPr>
        <p:spPr>
          <a:xfrm xmlns:a="http://schemas.openxmlformats.org/drawingml/2006/main">
            <a:off x="6724650" y="3800475"/>
            <a:ext cx="4857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11C"/>
                </a:solidFill>
                <a:latin typeface="Arial"/>
                <a:ea typeface="Arial"/>
                <a:cs typeface="Arial"/>
              </a:defRPr>
            </a:defPPr>
          </a:lstStyle>
          <a:p xmlns:a="http://schemas.openxmlformats.org/drawingml/2006/main">
            <a:pPr algn="l">
              <a:buNone/>
              <a:defRPr sz="2175" b="0">
                <a:solidFill>
                  <a:srgbClr val="12211C"/>
                </a:solidFill>
                <a:latin typeface="Arial"/>
                <a:ea typeface="Arial"/>
                <a:cs typeface="Arial"/>
              </a:defRPr>
            </a:pPr>
            <a:r>
              <a:rPr sz="2175" b="0">
                <a:solidFill>
                  <a:srgbClr val="12211C"/>
                </a:solidFill>
                <a:latin typeface="Arial"/>
                <a:ea typeface="Arial"/>
                <a:cs typeface="Arial"/>
              </a:rPr>
              <a:t>A signed attribution describes that model’s responder score on a declared scale.</a:t>
            </a:r>
          </a:p>
        </p:txBody>
      </p:sp>
      <p:sp>
        <p:nvSpPr>
          <p:cNvPr id="7" name="semantic-heading">
            <a:extLst xmlns:a="http://schemas.openxmlformats.org/drawingml/2006/main">
              <a:ext uri="{FF2B5EF4-FFF2-40B4-BE49-F238E27FC236}">
                <a16:creationId xmlns:a16="http://schemas.microsoft.com/office/drawing/2014/main" id="{BF6F8666-5BE5-4272-9203-EE2AC90E5109}"/>
              </a:ext>
            </a:extLst>
          </p:cNvPr>
          <p:cNvSpPr>
            <a:spLocks xmlns:a="http://schemas.openxmlformats.org/drawingml/2006/main" noGrp="1"/>
          </p:cNvSpPr>
          <p:nvPr/>
        </p:nvSpPr>
        <p:spPr>
          <a:xfrm xmlns:a="http://schemas.openxmlformats.org/drawingml/2006/main">
            <a:off x="6724650" y="49815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buNone/>
              <a:defRPr sz="2175" b="1">
                <a:solidFill>
                  <a:srgbClr val="12211C"/>
                </a:solidFill>
                <a:latin typeface="Arial"/>
                <a:ea typeface="Arial"/>
                <a:cs typeface="Arial"/>
              </a:defRPr>
            </a:pPr>
            <a:r>
              <a:rPr sz="2175" b="1">
                <a:solidFill>
                  <a:srgbClr val="12211C"/>
                </a:solidFill>
                <a:latin typeface="Arial"/>
                <a:ea typeface="Arial"/>
                <a:cs typeface="Arial"/>
              </a:rPr>
              <a:t>Upstream semantic checks</a:t>
            </a:r>
          </a:p>
        </p:txBody>
      </p:sp>
      <p:sp>
        <p:nvSpPr>
          <p:cNvPr id="8" name="semantic-body">
            <a:extLst xmlns:a="http://schemas.openxmlformats.org/drawingml/2006/main">
              <a:ext uri="{FF2B5EF4-FFF2-40B4-BE49-F238E27FC236}">
                <a16:creationId xmlns:a16="http://schemas.microsoft.com/office/drawing/2014/main" id="{E97A4E25-7518-43DF-BE24-C6B7644BBD65}"/>
              </a:ext>
            </a:extLst>
          </p:cNvPr>
          <p:cNvSpPr>
            <a:spLocks xmlns:a="http://schemas.openxmlformats.org/drawingml/2006/main" noGrp="1"/>
          </p:cNvSpPr>
          <p:nvPr/>
        </p:nvSpPr>
        <p:spPr>
          <a:xfrm xmlns:a="http://schemas.openxmlformats.org/drawingml/2006/main">
            <a:off x="6724650" y="5495925"/>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211C"/>
                </a:solidFill>
                <a:latin typeface="Arial"/>
                <a:ea typeface="Arial"/>
                <a:cs typeface="Arial"/>
              </a:defRPr>
            </a:defPPr>
          </a:lstStyle>
          <a:p xmlns:a="http://schemas.openxmlformats.org/drawingml/2006/main">
            <a:pPr algn="l">
              <a:buNone/>
              <a:defRPr sz="2025" b="0">
                <a:solidFill>
                  <a:srgbClr val="12211C"/>
                </a:solidFill>
                <a:latin typeface="Arial"/>
                <a:ea typeface="Arial"/>
                <a:cs typeface="Arial"/>
              </a:defRPr>
            </a:pPr>
            <a:r>
              <a:rPr sz="2025" b="0">
                <a:solidFill>
                  <a:srgbClr val="12211C"/>
                </a:solidFill>
                <a:latin typeface="Arial"/>
                <a:ea typeface="Arial"/>
                <a:cs typeface="Arial"/>
              </a:rPr>
              <a:t>Confirm class mapping, units and prediction timepoint. Avoid causal claims.</a:t>
            </a:r>
          </a:p>
        </p:txBody>
      </p:sp>
      <p:sp>
        <p:nvSpPr>
          <p:cNvPr id="9" name="caption">
            <a:extLst xmlns:a="http://schemas.openxmlformats.org/drawingml/2006/main">
              <a:ext uri="{FF2B5EF4-FFF2-40B4-BE49-F238E27FC236}">
                <a16:creationId xmlns:a16="http://schemas.microsoft.com/office/drawing/2014/main" id="{4F6F79AB-F5E4-4F9E-83E1-F03DE21E33A6}"/>
              </a:ext>
            </a:extLst>
          </p:cNvPr>
          <p:cNvSpPr>
            <a:spLocks xmlns:a="http://schemas.openxmlformats.org/drawingml/2006/main" noGrp="1"/>
          </p:cNvSpPr>
          <p:nvPr/>
        </p:nvSpPr>
        <p:spPr>
          <a:xfrm xmlns:a="http://schemas.openxmlformats.org/drawingml/2006/main">
            <a:off x="609600" y="6191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Synthetic example. A high measurement alone does not determine the feature’s effect on a model score.</a:t>
            </a:r>
          </a:p>
        </p:txBody>
      </p:sp>
    </p:spTree>
    <p:extLst>
      <p:ext uri="{BB962C8B-B14F-4D97-AF65-F5344CB8AC3E}">
        <p14:creationId xmlns:p14="http://schemas.microsoft.com/office/powerpoint/2010/main" val="1972461740"/>
      </p:ext>
    </p:extLst>
  </p:cSld>
</p:sld>
</file>

<file path=ppt/slides/slide11.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87716C21-C2AF-43B2-B3EE-8D7E8682D7E3}"/>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Prompt and context harness</a:t>
            </a:r>
          </a:p>
        </p:txBody>
      </p:sp>
      <p:pic>
        <p:nvPicPr>
          <p:cNvPr id="2" name="">
            <a:extLst xmlns:a="http://schemas.openxmlformats.org/drawingml/2006/main">
              <a:ext uri="{FF2B5EF4-FFF2-40B4-BE49-F238E27FC236}">
                <a16:creationId xmlns:a16="http://schemas.microsoft.com/office/drawing/2014/main" id="{7755AA00-4E91-487D-9FC5-89FD62C3F240}"/>
              </a:ext>
            </a:extLst>
          </p:cNvPr>
          <p:cNvPicPr>
            <a:picLocks xmlns:a="http://schemas.openxmlformats.org/drawingml/2006/main" noChangeAspect="1"/>
          </p:cNvPicPr>
          <p:nvPr/>
        </p:nvPicPr>
        <p:blipFill>
          <a:blip xmlns:r="http://schemas.openxmlformats.org/officeDocument/2006/relationships" xmlns:a="http://schemas.openxmlformats.org/drawingml/2006/main" r:embed="R6468d0b8709f4e04"/>
          <a:srcRect xmlns:a="http://schemas.openxmlformats.org/drawingml/2006/main" l="0" t="16067" r="0" b="16067"/>
          <a:stretch xmlns:a="http://schemas.openxmlformats.org/drawingml/2006/main">
            <a:fillRect l="0" t="0" r="0" b="0"/>
          </a:stretch>
        </p:blipFill>
        <p:spPr>
          <a:xfrm xmlns:a="http://schemas.openxmlformats.org/drawingml/2006/main">
            <a:off x="609600" y="1390650"/>
            <a:ext cx="10972800" cy="4191000"/>
          </a:xfrm>
          <a:prstGeom xmlns:a="http://schemas.openxmlformats.org/drawingml/2006/main" prst="rect">
            <a:avLst/>
          </a:prstGeom>
        </p:spPr>
      </p:pic>
      <p:sp>
        <p:nvSpPr>
          <p:cNvPr id="3" name="prompt-output">
            <a:extLst xmlns:a="http://schemas.openxmlformats.org/drawingml/2006/main">
              <a:ext uri="{FF2B5EF4-FFF2-40B4-BE49-F238E27FC236}">
                <a16:creationId xmlns:a16="http://schemas.microsoft.com/office/drawing/2014/main" id="{A44B0F33-EBEE-4133-A4ED-3FE38AEEA01E}"/>
              </a:ext>
            </a:extLst>
          </p:cNvPr>
          <p:cNvSpPr>
            <a:spLocks xmlns:a="http://schemas.openxmlformats.org/drawingml/2006/main" noGrp="1"/>
          </p:cNvSpPr>
          <p:nvPr/>
        </p:nvSpPr>
        <p:spPr>
          <a:xfrm xmlns:a="http://schemas.openxmlformats.org/drawingml/2006/main">
            <a:off x="609600" y="572452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211C"/>
                </a:solidFill>
                <a:latin typeface="Courier New"/>
                <a:ea typeface="Courier New"/>
                <a:cs typeface="Courier New"/>
              </a:defRPr>
            </a:defPPr>
          </a:lstStyle>
          <a:p xmlns:a="http://schemas.openxmlformats.org/drawingml/2006/main">
            <a:pPr algn="l">
              <a:buNone/>
              <a:defRPr sz="1875" b="0">
                <a:solidFill>
                  <a:srgbClr val="12211C"/>
                </a:solidFill>
                <a:latin typeface="Courier New"/>
                <a:ea typeface="Courier New"/>
                <a:cs typeface="Courier New"/>
              </a:defRPr>
            </a:pPr>
            <a:r>
              <a:rPr sz="1875" b="0">
                <a:solidFill>
                  <a:srgbClr val="12211C"/>
                </a:solidFill>
                <a:latin typeface="Courier New"/>
                <a:ea typeface="Courier New"/>
                <a:cs typeface="Courier New"/>
              </a:rPr>
              <a:t>Expected model JSON: {"interpretation": "Two concise research sentences."}</a:t>
            </a:r>
          </a:p>
        </p:txBody>
      </p:sp>
      <p:sp>
        <p:nvSpPr>
          <p:cNvPr id="4" name="caption">
            <a:extLst xmlns:a="http://schemas.openxmlformats.org/drawingml/2006/main">
              <a:ext uri="{FF2B5EF4-FFF2-40B4-BE49-F238E27FC236}">
                <a16:creationId xmlns:a16="http://schemas.microsoft.com/office/drawing/2014/main" id="{326DC19D-5435-48FC-AEC9-32EBFB0831FC}"/>
              </a:ext>
            </a:extLst>
          </p:cNvPr>
          <p:cNvSpPr>
            <a:spLocks xmlns:a="http://schemas.openxmlformats.org/drawingml/2006/main" noGrp="1"/>
          </p:cNvSpPr>
          <p:nvPr/>
        </p:nvSpPr>
        <p:spPr>
          <a:xfrm xmlns:a="http://schemas.openxmlformats.org/drawingml/2006/main">
            <a:off x="609600" y="62674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Ground truth stays outside generation. Human review still checks factual correctness and context leakage.</a:t>
            </a:r>
          </a:p>
        </p:txBody>
      </p:sp>
    </p:spTree>
    <p:extLst>
      <p:ext uri="{BB962C8B-B14F-4D97-AF65-F5344CB8AC3E}">
        <p14:creationId xmlns:p14="http://schemas.microsoft.com/office/powerpoint/2010/main" val="620191451"/>
      </p:ext>
    </p:extLst>
  </p:cSld>
</p:sld>
</file>

<file path=ppt/slides/slide1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A09AC247-7074-4A2F-9917-C788F31645D5}"/>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Output quality gates and fallback</a:t>
            </a:r>
          </a:p>
        </p:txBody>
      </p:sp>
      <p:pic>
        <p:nvPicPr>
          <p:cNvPr id="2" name="">
            <a:extLst xmlns:a="http://schemas.openxmlformats.org/drawingml/2006/main">
              <a:ext uri="{FF2B5EF4-FFF2-40B4-BE49-F238E27FC236}">
                <a16:creationId xmlns:a16="http://schemas.microsoft.com/office/drawing/2014/main" id="{852AA251-2010-41C9-AE03-BBFF65A4256F}"/>
              </a:ext>
            </a:extLst>
          </p:cNvPr>
          <p:cNvPicPr>
            <a:picLocks xmlns:a="http://schemas.openxmlformats.org/drawingml/2006/main" noChangeAspect="1"/>
          </p:cNvPicPr>
          <p:nvPr/>
        </p:nvPicPr>
        <p:blipFill>
          <a:blip xmlns:r="http://schemas.openxmlformats.org/officeDocument/2006/relationships" xmlns:a="http://schemas.openxmlformats.org/drawingml/2006/main" r:embed="R9295182235544fca"/>
          <a:srcRect xmlns:a="http://schemas.openxmlformats.org/drawingml/2006/main" l="0" t="12828" r="0" b="12828"/>
          <a:stretch xmlns:a="http://schemas.openxmlformats.org/drawingml/2006/main">
            <a:fillRect l="0" t="0" r="0" b="0"/>
          </a:stretch>
        </p:blipFill>
        <p:spPr>
          <a:xfrm xmlns:a="http://schemas.openxmlformats.org/drawingml/2006/main">
            <a:off x="609600" y="1352550"/>
            <a:ext cx="10972800" cy="459105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25ADB57F-C6C2-47D3-A628-971B5CC7B6C9}"/>
              </a:ext>
            </a:extLst>
          </p:cNvPr>
          <p:cNvSpPr>
            <a:spLocks xmlns:a="http://schemas.openxmlformats.org/drawingml/2006/main" noGrp="1"/>
          </p:cNvSpPr>
          <p:nvPr/>
        </p:nvSpPr>
        <p:spPr>
          <a:xfrm xmlns:a="http://schemas.openxmlformats.org/drawingml/2006/main">
            <a:off x="609600" y="6191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Rejected prose falls back. Engine errors stop a batch run or return an API error.</a:t>
            </a:r>
          </a:p>
        </p:txBody>
      </p:sp>
    </p:spTree>
    <p:extLst>
      <p:ext uri="{BB962C8B-B14F-4D97-AF65-F5344CB8AC3E}">
        <p14:creationId xmlns:p14="http://schemas.microsoft.com/office/powerpoint/2010/main" val="1152176683"/>
      </p:ext>
    </p:extLst>
  </p:cSld>
</p:sld>
</file>

<file path=ppt/slides/slide1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47F18825-D3D7-4014-A1A2-B91D21E00D8D}"/>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Expected result contract</a:t>
            </a:r>
          </a:p>
        </p:txBody>
      </p:sp>
      <p:graphicFrame>
        <p:nvGraphicFramePr>
          <p:cNvPr id="2" name="expected-result">
            <a:extLst xmlns:a="http://schemas.openxmlformats.org/drawingml/2006/main">
              <a:ext uri="{FF2B5EF4-FFF2-40B4-BE49-F238E27FC236}">
                <a16:creationId xmlns:a16="http://schemas.microsoft.com/office/drawing/2014/main" id="{F14B7164-7DD4-443B-9AA4-9B598B7ABF8D}"/>
              </a:ext>
            </a:extLst>
          </p:cNvPr>
          <p:cNvGraphicFramePr/>
          <p:nvPr/>
        </p:nvGraphicFramePr>
        <p:xfrm>
          <a:off xmlns:a="http://schemas.openxmlformats.org/drawingml/2006/main" x="609600" y="1552575"/>
          <a:ext xmlns:a="http://schemas.openxmlformats.org/drawingml/2006/main" cx="10972800" cy="4162425"/>
        </p:xfrm>
        <a:graphic xmlns:a="http://schemas.openxmlformats.org/drawingml/2006/main">
          <a:graphicData uri="http://schemas.openxmlformats.org/drawingml/2006/table">
            <a:tbl>
              <a:tblPr firstRow="0" bandRow="0"/>
              <a:tblGrid>
                <a:gridCol w="3114675"/>
                <a:gridCol w="7858125"/>
              </a:tblGrid>
              <a:tr h="447675">
                <a:tc>
                  <a:txBody>
                    <a:bodyPr wrap="square" lIns="133350" tIns="0" rIns="133350" bIns="0" anchor="ctr">
                      <a:noAutofit/>
                    </a:bodyPr>
                    <a:lstStyle/>
                    <a:p>
                      <a:r>
                        <a:rPr sz="1875" b="1">
                          <a:solidFill>
                            <a:srgbClr val="FFFFFF"/>
                          </a:solidFill>
                          <a:latin typeface="Arial"/>
                          <a:ea typeface="Arial"/>
                          <a:cs typeface="Arial"/>
                        </a:rPr>
                        <a:t>Field group</a:t>
                      </a:r>
                    </a:p>
                  </a:txBody>
                  <a:tcPr marL="133350" marR="133350" marT="0" marB="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0" rIns="133350" bIns="0" anchor="ctr">
                      <a:noAutofit/>
                    </a:bodyPr>
                    <a:lstStyle/>
                    <a:p>
                      <a:r>
                        <a:rPr sz="1875" b="1">
                          <a:solidFill>
                            <a:srgbClr val="FFFFFF"/>
                          </a:solidFill>
                          <a:latin typeface="Arial"/>
                          <a:ea typeface="Arial"/>
                          <a:cs typeface="Arial"/>
                        </a:rPr>
                        <a:t>Expected behavior</a:t>
                      </a:r>
                    </a:p>
                  </a:txBody>
                  <a:tcPr marL="133350" marR="133350" marT="0" marB="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619125">
                <a:tc>
                  <a:txBody>
                    <a:bodyPr wrap="square" lIns="133350" tIns="0" rIns="133350" bIns="0" anchor="ctr">
                      <a:noAutofit/>
                    </a:bodyPr>
                    <a:lstStyle/>
                    <a:p>
                      <a:r>
                        <a:rPr sz="1875" b="0">
                          <a:solidFill>
                            <a:srgbClr val="12211C"/>
                          </a:solidFill>
                          <a:latin typeface="Arial"/>
                          <a:ea typeface="Arial"/>
                          <a:cs typeface="Arial"/>
                        </a:rPr>
                        <a:t>Identity and predictions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Same patient ID and validated scores. No fabricated missing score.</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19125">
                <a:tc>
                  <a:txBody>
                    <a:bodyPr wrap="square" lIns="133350" tIns="0" rIns="133350" bIns="0" anchor="ctr">
                      <a:noAutofit/>
                    </a:bodyPr>
                    <a:lstStyle/>
                    <a:p>
                      <a:r>
                        <a:rPr sz="1875" b="0">
                          <a:solidFill>
                            <a:srgbClr val="12211C"/>
                          </a:solidFill>
                          <a:latin typeface="Arial"/>
                          <a:ea typeface="Arial"/>
                          <a:cs typeface="Arial"/>
                        </a:rPr>
                        <a:t>Narrative</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Facts from input, a screened interpretation or fallback, and a review note.</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19125">
                <a:tc>
                  <a:txBody>
                    <a:bodyPr wrap="square" lIns="133350" tIns="0" rIns="133350" bIns="0" anchor="ctr">
                      <a:noAutofit/>
                    </a:bodyPr>
                    <a:lstStyle/>
                    <a:p>
                      <a:r>
                        <a:rPr sz="1875" b="0">
                          <a:solidFill>
                            <a:srgbClr val="12211C"/>
                          </a:solidFill>
                          <a:latin typeface="Arial"/>
                          <a:ea typeface="Arial"/>
                          <a:cs typeface="Arial"/>
                        </a:rPr>
                        <a:t>Source and quality</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Source: mock / vllm / fallback. Quality: mock / passed / fallback.</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19125">
                <a:tc>
                  <a:txBody>
                    <a:bodyPr wrap="square" lIns="133350" tIns="0" rIns="133350" bIns="0" anchor="ctr">
                      <a:noAutofit/>
                    </a:bodyPr>
                    <a:lstStyle/>
                    <a:p>
                      <a:r>
                        <a:rPr sz="1875" b="0">
                          <a:solidFill>
                            <a:srgbClr val="12211C"/>
                          </a:solidFill>
                          <a:latin typeface="Arial"/>
                          <a:ea typeface="Arial"/>
                          <a:cs typeface="Arial"/>
                        </a:rPr>
                        <a:t>Comparison and limitations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Show availability, score gaps and supplied-threshold classifications.</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19125">
                <a:tc>
                  <a:txBody>
                    <a:bodyPr wrap="square" lIns="133350" tIns="0" rIns="133350" bIns="0" anchor="ctr">
                      <a:noAutofit/>
                    </a:bodyPr>
                    <a:lstStyle/>
                    <a:p>
                      <a:r>
                        <a:rPr sz="1875" b="0">
                          <a:solidFill>
                            <a:srgbClr val="12211C"/>
                          </a:solidFill>
                          <a:latin typeface="Arial"/>
                          <a:ea typeface="Arial"/>
                          <a:cs typeface="Arial"/>
                        </a:rPr>
                        <a:t>Review status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review_required is always true. The summary remains research output.</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19125">
                <a:tc>
                  <a:txBody>
                    <a:bodyPr wrap="square" lIns="133350" tIns="0" rIns="133350" bIns="0" anchor="ctr">
                      <a:noAutofit/>
                    </a:bodyPr>
                    <a:lstStyle/>
                    <a:p>
                      <a:r>
                        <a:rPr sz="1875" b="0">
                          <a:solidFill>
                            <a:srgbClr val="12211C"/>
                          </a:solidFill>
                          <a:latin typeface="Arial"/>
                          <a:ea typeface="Arial"/>
                          <a:cs typeface="Arial"/>
                        </a:rPr>
                        <a:t>Provenance</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Record prompt version, backend, local model metadata and settings.</a:t>
                      </a:r>
                    </a:p>
                  </a:txBody>
                  <a:tcPr marL="133350" marR="133350" marT="0" marB="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3" name="caption">
            <a:extLst xmlns:a="http://schemas.openxmlformats.org/drawingml/2006/main">
              <a:ext uri="{FF2B5EF4-FFF2-40B4-BE49-F238E27FC236}">
                <a16:creationId xmlns:a16="http://schemas.microsoft.com/office/drawing/2014/main" id="{1AA4531D-9516-4C59-BABC-0023422AA066}"/>
              </a:ext>
            </a:extLst>
          </p:cNvPr>
          <p:cNvSpPr>
            <a:spLocks xmlns:a="http://schemas.openxmlformats.org/drawingml/2006/main" noGrp="1"/>
          </p:cNvSpPr>
          <p:nvPr/>
        </p:nvSpPr>
        <p:spPr>
          <a:xfrm xmlns:a="http://schemas.openxmlformats.org/drawingml/2006/main">
            <a:off x="609600" y="6191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Result fields are implemented. A formal response-schema validator is a proposed hardening step.</a:t>
            </a:r>
          </a:p>
        </p:txBody>
      </p:sp>
    </p:spTree>
    <p:extLst>
      <p:ext uri="{BB962C8B-B14F-4D97-AF65-F5344CB8AC3E}">
        <p14:creationId xmlns:p14="http://schemas.microsoft.com/office/powerpoint/2010/main" val="1287746392"/>
      </p:ext>
    </p:extLst>
  </p:cSld>
</p:sld>
</file>

<file path=ppt/slides/slide1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7397E408-A4E1-4F7A-ACAB-4C4917A451B8}"/>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Synthetic case: discordant predictions</a:t>
            </a:r>
          </a:p>
        </p:txBody>
      </p:sp>
      <p:sp>
        <p:nvSpPr>
          <p:cNvPr id="2" name="synthetic-label">
            <a:extLst xmlns:a="http://schemas.openxmlformats.org/drawingml/2006/main">
              <a:ext uri="{FF2B5EF4-FFF2-40B4-BE49-F238E27FC236}">
                <a16:creationId xmlns:a16="http://schemas.microsoft.com/office/drawing/2014/main" id="{7147C863-F9DF-4B01-B069-20335455CBF8}"/>
              </a:ext>
            </a:extLst>
          </p:cNvPr>
          <p:cNvSpPr>
            <a:spLocks xmlns:a="http://schemas.openxmlformats.org/drawingml/2006/main" noGrp="1"/>
          </p:cNvSpPr>
          <p:nvPr/>
        </p:nvSpPr>
        <p:spPr>
          <a:xfrm xmlns:a="http://schemas.openxmlformats.org/drawingml/2006/main">
            <a:off x="609600" y="15335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1655B"/>
                </a:solidFill>
                <a:latin typeface="Arial"/>
                <a:ea typeface="Arial"/>
                <a:cs typeface="Arial"/>
              </a:defRPr>
            </a:defPPr>
          </a:lstStyle>
          <a:p xmlns:a="http://schemas.openxmlformats.org/drawingml/2006/main">
            <a:pPr algn="l">
              <a:buNone/>
              <a:defRPr sz="2250" b="1">
                <a:solidFill>
                  <a:srgbClr val="51655B"/>
                </a:solidFill>
                <a:latin typeface="Arial"/>
                <a:ea typeface="Arial"/>
                <a:cs typeface="Arial"/>
              </a:defRPr>
            </a:pPr>
            <a:r>
              <a:rPr sz="2250" b="1">
                <a:solidFill>
                  <a:srgbClr val="51655B"/>
                </a:solidFill>
                <a:latin typeface="Arial"/>
                <a:ea typeface="Arial"/>
                <a:cs typeface="Arial"/>
              </a:rPr>
              <a:t>P12 / synthetic model scores</a:t>
            </a:r>
          </a:p>
        </p:txBody>
      </p:sp>
      <p:graphicFrame>
        <p:nvGraphicFramePr>
          <p:cNvPr id="3" name="Chart">
            <a:extLst xmlns:a="http://schemas.openxmlformats.org/drawingml/2006/main">
              <a:ext uri="{FF2B5EF4-FFF2-40B4-BE49-F238E27FC236}">
                <a16:creationId xmlns:a16="http://schemas.microsoft.com/office/drawing/2014/main" id="{D4914CF7-BEDE-49D1-9DF0-3E1FA06372B7}"/>
              </a:ext>
            </a:extLst>
          </p:cNvPr>
          <p:cNvGraphicFramePr/>
          <p:nvPr/>
        </p:nvGraphicFramePr>
        <p:xfrm>
          <a:off xmlns:a="http://schemas.openxmlformats.org/drawingml/2006/main" x="609600" y="2162175"/>
          <a:ext xmlns:a="http://schemas.openxmlformats.org/drawingml/2006/main" cx="6124575" cy="3476625"/>
        </p:xfrm>
        <a:graphic xmlns:a="http://schemas.openxmlformats.org/drawingml/2006/main">
          <a:graphicData uri="http://schemas.openxmlformats.org/drawingml/2006/chart">
            <c:chart xmlns:r="http://schemas.openxmlformats.org/officeDocument/2006/relationships" xmlns:c="http://schemas.openxmlformats.org/drawingml/2006/chart" r:id="R65090397ee884777"/>
          </a:graphicData>
        </a:graphic>
      </p:graphicFrame>
      <p:sp>
        <p:nvSpPr>
          <p:cNvPr id="4" name="mock-quote">
            <a:extLst xmlns:a="http://schemas.openxmlformats.org/drawingml/2006/main">
              <a:ext uri="{FF2B5EF4-FFF2-40B4-BE49-F238E27FC236}">
                <a16:creationId xmlns:a16="http://schemas.microsoft.com/office/drawing/2014/main" id="{BE8EC85C-5996-4B25-A230-69771F63AD62}"/>
              </a:ext>
            </a:extLst>
          </p:cNvPr>
          <p:cNvSpPr>
            <a:spLocks xmlns:a="http://schemas.openxmlformats.org/drawingml/2006/main" noGrp="1"/>
          </p:cNvSpPr>
          <p:nvPr/>
        </p:nvSpPr>
        <p:spPr>
          <a:xfrm xmlns:a="http://schemas.openxmlformats.org/drawingml/2006/main">
            <a:off x="7315200" y="1952625"/>
            <a:ext cx="424815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2211C"/>
                </a:solidFill>
                <a:latin typeface="Arial"/>
                <a:ea typeface="Arial"/>
                <a:cs typeface="Arial"/>
              </a:defRPr>
            </a:defPPr>
          </a:lstStyle>
          <a:p xmlns:a="http://schemas.openxmlformats.org/drawingml/2006/main">
            <a:pPr algn="l">
              <a:buNone/>
              <a:defRPr sz="2400" b="1">
                <a:solidFill>
                  <a:srgbClr val="12211C"/>
                </a:solidFill>
                <a:latin typeface="Arial"/>
                <a:ea typeface="Arial"/>
                <a:cs typeface="Arial"/>
              </a:defRPr>
            </a:pPr>
            <a:r>
              <a:rPr sz="2400" b="1">
                <a:solidFill>
                  <a:srgbClr val="12211C"/>
                </a:solidFill>
                <a:latin typeface="Arial"/>
                <a:ea typeface="Arial"/>
                <a:cs typeface="Arial"/>
              </a:rPr>
              <a:t>“Clinical and spatial mIF predictions are discordant and warrant review of the supplied evidence.”</a:t>
            </a:r>
          </a:p>
        </p:txBody>
      </p:sp>
      <p:sp>
        <p:nvSpPr>
          <p:cNvPr id="5" name="gap-evidence">
            <a:extLst xmlns:a="http://schemas.openxmlformats.org/drawingml/2006/main">
              <a:ext uri="{FF2B5EF4-FFF2-40B4-BE49-F238E27FC236}">
                <a16:creationId xmlns:a16="http://schemas.microsoft.com/office/drawing/2014/main" id="{06630093-1BDE-44CF-83A2-D021B540AD0C}"/>
              </a:ext>
            </a:extLst>
          </p:cNvPr>
          <p:cNvSpPr>
            <a:spLocks xmlns:a="http://schemas.openxmlformats.org/drawingml/2006/main" noGrp="1"/>
          </p:cNvSpPr>
          <p:nvPr/>
        </p:nvSpPr>
        <p:spPr>
          <a:xfrm xmlns:a="http://schemas.openxmlformats.org/drawingml/2006/main">
            <a:off x="7315200" y="4333875"/>
            <a:ext cx="42481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1655B"/>
                </a:solidFill>
                <a:latin typeface="Arial"/>
                <a:ea typeface="Arial"/>
                <a:cs typeface="Arial"/>
              </a:defRPr>
            </a:defPPr>
          </a:lstStyle>
          <a:p xmlns:a="http://schemas.openxmlformats.org/drawingml/2006/main">
            <a:pPr algn="l">
              <a:buNone/>
              <a:defRPr sz="2100" b="0">
                <a:solidFill>
                  <a:srgbClr val="51655B"/>
                </a:solidFill>
                <a:latin typeface="Arial"/>
                <a:ea typeface="Arial"/>
                <a:cs typeface="Arial"/>
              </a:defRPr>
            </a:pPr>
            <a:r>
              <a:rPr sz="2100" b="0">
                <a:solidFill>
                  <a:srgbClr val="51655B"/>
                </a:solidFill>
                <a:latin typeface="Arial"/>
                <a:ea typeface="Arial"/>
                <a:cs typeface="Arial"/>
              </a:rPr>
              <a:t>Clinical–mIF gap: 0.57</a:t>
            </a:r>
          </a:p>
          <a:p xmlns:a="http://schemas.openxmlformats.org/drawingml/2006/main">
            <a:pPr algn="l">
              <a:buNone/>
              <a:defRPr sz="2100" b="0">
                <a:solidFill>
                  <a:srgbClr val="51655B"/>
                </a:solidFill>
                <a:latin typeface="Arial"/>
                <a:ea typeface="Arial"/>
                <a:cs typeface="Arial"/>
              </a:defRPr>
            </a:pPr>
            <a:r>
              <a:rPr sz="2100" b="0">
                <a:solidFill>
                  <a:srgbClr val="51655B"/>
                </a:solidFill>
                <a:latin typeface="Arial"/>
                <a:ea typeface="Arial"/>
                <a:cs typeface="Arial"/>
              </a:rPr>
              <a:t>Calibration: unknown</a:t>
            </a:r>
          </a:p>
          <a:p xmlns:a="http://schemas.openxmlformats.org/drawingml/2006/main">
            <a:pPr algn="l">
              <a:buNone/>
              <a:defRPr sz="2100" b="0">
                <a:solidFill>
                  <a:srgbClr val="51655B"/>
                </a:solidFill>
                <a:latin typeface="Arial"/>
                <a:ea typeface="Arial"/>
                <a:cs typeface="Arial"/>
              </a:defRPr>
            </a:pPr>
            <a:r>
              <a:rPr sz="2100" b="0">
                <a:solidFill>
                  <a:srgbClr val="51655B"/>
                </a:solidFill>
                <a:latin typeface="Arial"/>
                <a:ea typeface="Arial"/>
                <a:cs typeface="Arial"/>
              </a:rPr>
              <a:t>Human review: required</a:t>
            </a:r>
          </a:p>
        </p:txBody>
      </p:sp>
      <p:sp>
        <p:nvSpPr>
          <p:cNvPr id="6" name="caption">
            <a:extLst xmlns:a="http://schemas.openxmlformats.org/drawingml/2006/main">
              <a:ext uri="{FF2B5EF4-FFF2-40B4-BE49-F238E27FC236}">
                <a16:creationId xmlns:a16="http://schemas.microsoft.com/office/drawing/2014/main" id="{3A980751-93CD-457F-A467-76A672F65F00}"/>
              </a:ext>
            </a:extLst>
          </p:cNvPr>
          <p:cNvSpPr>
            <a:spLocks xmlns:a="http://schemas.openxmlformats.org/drawingml/2006/main" noGrp="1"/>
          </p:cNvSpPr>
          <p:nvPr/>
        </p:nvSpPr>
        <p:spPr>
          <a:xfrm xmlns:a="http://schemas.openxmlformats.org/drawingml/2006/main">
            <a:off x="609600" y="61722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This is deterministic mock output. The supplied fused score does not establish better performance.</a:t>
            </a:r>
          </a:p>
        </p:txBody>
      </p:sp>
    </p:spTree>
    <p:extLst>
      <p:ext uri="{BB962C8B-B14F-4D97-AF65-F5344CB8AC3E}">
        <p14:creationId xmlns:p14="http://schemas.microsoft.com/office/powerpoint/2010/main" val="794628482"/>
      </p:ext>
    </p:extLst>
  </p:cSld>
</p:sld>
</file>

<file path=ppt/slides/slide1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95813492-5E77-450C-BAE8-FEE1F5F16419}"/>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Failure handling and recovery</a:t>
            </a:r>
          </a:p>
        </p:txBody>
      </p:sp>
      <p:graphicFrame>
        <p:nvGraphicFramePr>
          <p:cNvPr id="2" name="failure-policy">
            <a:extLst xmlns:a="http://schemas.openxmlformats.org/drawingml/2006/main">
              <a:ext uri="{FF2B5EF4-FFF2-40B4-BE49-F238E27FC236}">
                <a16:creationId xmlns:a16="http://schemas.microsoft.com/office/drawing/2014/main" id="{D27D8752-DD72-4C55-9CFE-BABB2EED3ADD}"/>
              </a:ext>
            </a:extLst>
          </p:cNvPr>
          <p:cNvGraphicFramePr/>
          <p:nvPr/>
        </p:nvGraphicFramePr>
        <p:xfrm>
          <a:off xmlns:a="http://schemas.openxmlformats.org/drawingml/2006/main" x="609600" y="1590675"/>
          <a:ext xmlns:a="http://schemas.openxmlformats.org/drawingml/2006/main" cx="10972800" cy="4143375"/>
        </p:xfrm>
        <a:graphic xmlns:a="http://schemas.openxmlformats.org/drawingml/2006/main">
          <a:graphicData uri="http://schemas.openxmlformats.org/drawingml/2006/table">
            <a:tbl>
              <a:tblPr firstRow="0" bandRow="0"/>
              <a:tblGrid>
                <a:gridCol w="2571750"/>
                <a:gridCol w="3981450"/>
                <a:gridCol w="4419600"/>
              </a:tblGrid>
              <a:tr h="457200">
                <a:tc>
                  <a:txBody>
                    <a:bodyPr wrap="square" lIns="133350" tIns="0" rIns="133350" bIns="0" anchor="ctr">
                      <a:noAutofit/>
                    </a:bodyPr>
                    <a:lstStyle/>
                    <a:p>
                      <a:r>
                        <a:rPr sz="1800" b="1">
                          <a:solidFill>
                            <a:srgbClr val="FFFFFF"/>
                          </a:solidFill>
                          <a:latin typeface="Arial"/>
                          <a:ea typeface="Arial"/>
                          <a:cs typeface="Arial"/>
                        </a:rPr>
                        <a:t>Failure</a:t>
                      </a:r>
                    </a:p>
                  </a:txBody>
                  <a:tcPr marL="133350" marR="133350" marT="0" marB="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0" rIns="133350" bIns="0" anchor="ctr">
                      <a:noAutofit/>
                    </a:bodyPr>
                    <a:lstStyle/>
                    <a:p>
                      <a:r>
                        <a:rPr sz="1800" b="1">
                          <a:solidFill>
                            <a:srgbClr val="FFFFFF"/>
                          </a:solidFill>
                          <a:latin typeface="Arial"/>
                          <a:ea typeface="Arial"/>
                          <a:cs typeface="Arial"/>
                        </a:rPr>
                        <a:t>Current behavior</a:t>
                      </a:r>
                    </a:p>
                  </a:txBody>
                  <a:tcPr marL="133350" marR="133350" marT="0" marB="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0" rIns="133350" bIns="0" anchor="ctr">
                      <a:noAutofit/>
                    </a:bodyPr>
                    <a:lstStyle/>
                    <a:p>
                      <a:r>
                        <a:rPr sz="1800" b="1">
                          <a:solidFill>
                            <a:srgbClr val="FFFFFF"/>
                          </a:solidFill>
                          <a:latin typeface="Arial"/>
                          <a:ea typeface="Arial"/>
                          <a:cs typeface="Arial"/>
                        </a:rPr>
                        <a:t>Operator response</a:t>
                      </a:r>
                    </a:p>
                  </a:txBody>
                  <a:tcPr marL="133350" marR="133350" marT="0" marB="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628650">
                <a:tc>
                  <a:txBody>
                    <a:bodyPr wrap="square" lIns="133350" tIns="0" rIns="133350" bIns="0" anchor="ctr">
                      <a:noAutofit/>
                    </a:bodyPr>
                    <a:lstStyle/>
                    <a:p>
                      <a:r>
                        <a:rPr sz="1800" b="0">
                          <a:solidFill>
                            <a:srgbClr val="12211C"/>
                          </a:solidFill>
                          <a:latin typeface="Arial"/>
                          <a:ea typeface="Arial"/>
                          <a:cs typeface="Arial"/>
                        </a:rPr>
                        <a:t>Contract error</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Reject input before generation.</a:t>
                      </a:r>
                    </a:p>
                  </a:txBody>
                  <a:tcPr marL="133350" marR="133350" marT="0" marB="0" anchor="ctr">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Correct IDs, types or metadata.</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28650">
                <a:tc>
                  <a:txBody>
                    <a:bodyPr wrap="square" lIns="133350" tIns="0" rIns="133350" bIns="0" anchor="ctr">
                      <a:noAutofit/>
                    </a:bodyPr>
                    <a:lstStyle/>
                    <a:p>
                      <a:r>
                        <a:rPr sz="1800" b="0">
                          <a:solidFill>
                            <a:srgbClr val="12211C"/>
                          </a:solidFill>
                          <a:latin typeface="Arial"/>
                          <a:ea typeface="Arial"/>
                          <a:cs typeface="Arial"/>
                        </a:rPr>
                        <a:t>Prompt too long</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Reject before token generation.</a:t>
                      </a:r>
                    </a:p>
                  </a:txBody>
                  <a:tcPr marL="133350" marR="133350" marT="0" marB="0" anchor="ctr">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Reduce approved context or features.</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28650">
                <a:tc>
                  <a:txBody>
                    <a:bodyPr wrap="square" lIns="133350" tIns="0" rIns="133350" bIns="0" anchor="ctr">
                      <a:noAutofit/>
                    </a:bodyPr>
                    <a:lstStyle/>
                    <a:p>
                      <a:r>
                        <a:rPr sz="1800" b="0">
                          <a:solidFill>
                            <a:srgbClr val="12211C"/>
                          </a:solidFill>
                          <a:latin typeface="Arial"/>
                          <a:ea typeface="Arial"/>
                          <a:cs typeface="Arial"/>
                        </a:rPr>
                        <a:t>GPU / cache failure</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Stop runtime or scheduled job.</a:t>
                      </a:r>
                    </a:p>
                  </a:txBody>
                  <a:tcPr marL="133350" marR="133350" marT="0" marB="0" anchor="ctr">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Inspect doctor, cache and SLURM logs.</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28650">
                <a:tc>
                  <a:txBody>
                    <a:bodyPr wrap="square" lIns="133350" tIns="0" rIns="133350" bIns="0" anchor="ctr">
                      <a:noAutofit/>
                    </a:bodyPr>
                    <a:lstStyle/>
                    <a:p>
                      <a:r>
                        <a:rPr sz="1800" b="0">
                          <a:solidFill>
                            <a:srgbClr val="12211C"/>
                          </a:solidFill>
                          <a:latin typeface="Arial"/>
                          <a:ea typeface="Arial"/>
                          <a:cs typeface="Arial"/>
                        </a:rPr>
                        <a:t>Rejected model prose</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Publish deterministic fallback.</a:t>
                      </a:r>
                    </a:p>
                  </a:txBody>
                  <a:tcPr marL="133350" marR="133350" marT="0" marB="0" anchor="ctr">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Inspect screen issues and review the case.</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28650">
                <a:tc>
                  <a:txBody>
                    <a:bodyPr wrap="square" lIns="133350" tIns="0" rIns="133350" bIns="0" anchor="ctr">
                      <a:noAutofit/>
                    </a:bodyPr>
                    <a:lstStyle/>
                    <a:p>
                      <a:r>
                        <a:rPr sz="1800" b="0">
                          <a:solidFill>
                            <a:srgbClr val="12211C"/>
                          </a:solidFill>
                          <a:latin typeface="Arial"/>
                          <a:ea typeface="Arial"/>
                          <a:cs typeface="Arial"/>
                        </a:rPr>
                        <a:t>Engine failure</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Stop run. API returns an error.</a:t>
                      </a:r>
                    </a:p>
                  </a:txBody>
                  <a:tcPr marL="133350" marR="133350" marT="0" marB="0" anchor="ctr">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Fix the runtime and retry in a new run dir.</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28650">
                <a:tc>
                  <a:txBody>
                    <a:bodyPr wrap="square" lIns="133350" tIns="0" rIns="133350" bIns="0" anchor="ctr">
                      <a:noAutofit/>
                    </a:bodyPr>
                    <a:lstStyle/>
                    <a:p>
                      <a:r>
                        <a:rPr sz="1800" b="0">
                          <a:solidFill>
                            <a:srgbClr val="12211C"/>
                          </a:solidFill>
                          <a:latin typeface="Arial"/>
                          <a:ea typeface="Arial"/>
                          <a:cs typeface="Arial"/>
                        </a:rPr>
                        <a:t>Existing result directory</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Protect the completed run.</a:t>
                      </a:r>
                    </a:p>
                  </a:txBody>
                  <a:tcPr marL="133350" marR="133350" marT="0" marB="0" anchor="ctr">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Choose a new output directory.</a:t>
                      </a:r>
                    </a:p>
                  </a:txBody>
                  <a:tcPr marL="133350" marR="133350" marT="0" marB="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3" name="caption">
            <a:extLst xmlns:a="http://schemas.openxmlformats.org/drawingml/2006/main">
              <a:ext uri="{FF2B5EF4-FFF2-40B4-BE49-F238E27FC236}">
                <a16:creationId xmlns:a16="http://schemas.microsoft.com/office/drawing/2014/main" id="{AB0A5E2F-F6E4-4D65-8E9F-4B33D94300AF}"/>
              </a:ext>
            </a:extLst>
          </p:cNvPr>
          <p:cNvSpPr>
            <a:spLocks xmlns:a="http://schemas.openxmlformats.org/drawingml/2006/main" noGrp="1"/>
          </p:cNvSpPr>
          <p:nvPr/>
        </p:nvSpPr>
        <p:spPr>
          <a:xfrm xmlns:a="http://schemas.openxmlformats.org/drawingml/2006/main">
            <a:off x="609600" y="6191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A fallback is a labeled summary. A runtime failure is an execution error, with no partial batch publication.</a:t>
            </a:r>
          </a:p>
        </p:txBody>
      </p:sp>
    </p:spTree>
    <p:extLst>
      <p:ext uri="{BB962C8B-B14F-4D97-AF65-F5344CB8AC3E}">
        <p14:creationId xmlns:p14="http://schemas.microsoft.com/office/powerpoint/2010/main" val="1193792926"/>
      </p:ext>
    </p:extLst>
  </p:cSld>
</p:sld>
</file>

<file path=ppt/slides/slide16.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6F2A0B2D-F2A5-405B-A76E-C10DF2D051CE}"/>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Experiment publication and provenance</a:t>
            </a:r>
          </a:p>
        </p:txBody>
      </p:sp>
      <p:pic>
        <p:nvPicPr>
          <p:cNvPr id="2" name="">
            <a:extLst xmlns:a="http://schemas.openxmlformats.org/drawingml/2006/main">
              <a:ext uri="{FF2B5EF4-FFF2-40B4-BE49-F238E27FC236}">
                <a16:creationId xmlns:a16="http://schemas.microsoft.com/office/drawing/2014/main" id="{25347E72-FF0D-428B-A134-A82B19D44147}"/>
              </a:ext>
            </a:extLst>
          </p:cNvPr>
          <p:cNvPicPr>
            <a:picLocks xmlns:a="http://schemas.openxmlformats.org/drawingml/2006/main" noChangeAspect="1"/>
          </p:cNvPicPr>
          <p:nvPr/>
        </p:nvPicPr>
        <p:blipFill>
          <a:blip xmlns:r="http://schemas.openxmlformats.org/officeDocument/2006/relationships" xmlns:a="http://schemas.openxmlformats.org/drawingml/2006/main" r:embed="R55ae4a94a0a64840"/>
          <a:srcRect xmlns:a="http://schemas.openxmlformats.org/drawingml/2006/main" l="0" t="11440" r="0" b="11440"/>
          <a:stretch xmlns:a="http://schemas.openxmlformats.org/drawingml/2006/main">
            <a:fillRect l="0" t="0" r="0" b="0"/>
          </a:stretch>
        </p:blipFill>
        <p:spPr>
          <a:xfrm xmlns:a="http://schemas.openxmlformats.org/drawingml/2006/main">
            <a:off x="609600" y="1352550"/>
            <a:ext cx="10972800" cy="4762500"/>
          </a:xfrm>
          <a:prstGeom xmlns:a="http://schemas.openxmlformats.org/drawingml/2006/main" prst="rect">
            <a:avLst/>
          </a:prstGeom>
        </p:spPr>
      </p:pic>
      <p:sp>
        <p:nvSpPr>
          <p:cNvPr id="3" name="files">
            <a:extLst xmlns:a="http://schemas.openxmlformats.org/drawingml/2006/main">
              <a:ext uri="{FF2B5EF4-FFF2-40B4-BE49-F238E27FC236}">
                <a16:creationId xmlns:a16="http://schemas.microsoft.com/office/drawing/2014/main" id="{C3D4419E-D2F2-402B-9D14-E5625A479F8D}"/>
              </a:ext>
            </a:extLst>
          </p:cNvPr>
          <p:cNvSpPr>
            <a:spLocks xmlns:a="http://schemas.openxmlformats.org/drawingml/2006/main" noGrp="1"/>
          </p:cNvSpPr>
          <p:nvPr/>
        </p:nvSpPr>
        <p:spPr>
          <a:xfrm xmlns:a="http://schemas.openxmlformats.org/drawingml/2006/main">
            <a:off x="609600" y="62865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211C"/>
                </a:solidFill>
                <a:latin typeface="Courier New"/>
                <a:ea typeface="Courier New"/>
                <a:cs typeface="Courier New"/>
              </a:defRPr>
            </a:defPPr>
          </a:lstStyle>
          <a:p xmlns:a="http://schemas.openxmlformats.org/drawingml/2006/main">
            <a:pPr algn="l">
              <a:buNone/>
              <a:defRPr sz="1725" b="0">
                <a:solidFill>
                  <a:srgbClr val="12211C"/>
                </a:solidFill>
                <a:latin typeface="Courier New"/>
                <a:ea typeface="Courier New"/>
                <a:cs typeface="Courier New"/>
              </a:defRPr>
            </a:pPr>
            <a:r>
              <a:rPr sz="1725" b="0">
                <a:solidFill>
                  <a:srgbClr val="12211C"/>
                </a:solidFill>
                <a:latin typeface="Courier New"/>
                <a:ea typeface="Courier New"/>
                <a:cs typeface="Courier New"/>
              </a:rPr>
              <a:t>narratives.jsonl   narratives.csv   report.md   manifest.json   metrics.json</a:t>
            </a:r>
          </a:p>
        </p:txBody>
      </p:sp>
    </p:spTree>
    <p:extLst>
      <p:ext uri="{BB962C8B-B14F-4D97-AF65-F5344CB8AC3E}">
        <p14:creationId xmlns:p14="http://schemas.microsoft.com/office/powerpoint/2010/main" val="1233710980"/>
      </p:ext>
    </p:extLst>
  </p:cSld>
</p:sld>
</file>

<file path=ppt/slides/slide17.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65B159EF-9793-4775-95F5-4EFDD9D13432}"/>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Local API execution envelope</a:t>
            </a:r>
          </a:p>
        </p:txBody>
      </p:sp>
      <p:pic>
        <p:nvPicPr>
          <p:cNvPr id="2" name="">
            <a:extLst xmlns:a="http://schemas.openxmlformats.org/drawingml/2006/main">
              <a:ext uri="{FF2B5EF4-FFF2-40B4-BE49-F238E27FC236}">
                <a16:creationId xmlns:a16="http://schemas.microsoft.com/office/drawing/2014/main" id="{0D1018C4-9C77-467E-819F-43D044F16ADE}"/>
              </a:ext>
            </a:extLst>
          </p:cNvPr>
          <p:cNvPicPr>
            <a:picLocks xmlns:a="http://schemas.openxmlformats.org/drawingml/2006/main" noChangeAspect="1"/>
          </p:cNvPicPr>
          <p:nvPr/>
        </p:nvPicPr>
        <p:blipFill>
          <a:blip xmlns:r="http://schemas.openxmlformats.org/officeDocument/2006/relationships" xmlns:a="http://schemas.openxmlformats.org/drawingml/2006/main" r:embed="R62b6e85e813849c2"/>
          <a:srcRect xmlns:a="http://schemas.openxmlformats.org/drawingml/2006/main" l="0" t="19769" r="0" b="19769"/>
          <a:stretch xmlns:a="http://schemas.openxmlformats.org/drawingml/2006/main">
            <a:fillRect l="0" t="0" r="0" b="0"/>
          </a:stretch>
        </p:blipFill>
        <p:spPr>
          <a:xfrm xmlns:a="http://schemas.openxmlformats.org/drawingml/2006/main">
            <a:off x="609600" y="1333500"/>
            <a:ext cx="10972800" cy="3733800"/>
          </a:xfrm>
          <a:prstGeom xmlns:a="http://schemas.openxmlformats.org/drawingml/2006/main" prst="rect">
            <a:avLst/>
          </a:prstGeom>
        </p:spPr>
      </p:pic>
      <p:sp>
        <p:nvSpPr>
          <p:cNvPr id="3" name="limits-heading">
            <a:extLst xmlns:a="http://schemas.openxmlformats.org/drawingml/2006/main">
              <a:ext uri="{FF2B5EF4-FFF2-40B4-BE49-F238E27FC236}">
                <a16:creationId xmlns:a16="http://schemas.microsoft.com/office/drawing/2014/main" id="{82D155A5-510D-4222-A56C-068C13D7CF4F}"/>
              </a:ext>
            </a:extLst>
          </p:cNvPr>
          <p:cNvSpPr>
            <a:spLocks xmlns:a="http://schemas.openxmlformats.org/drawingml/2006/main" noGrp="1"/>
          </p:cNvSpPr>
          <p:nvPr/>
        </p:nvSpPr>
        <p:spPr>
          <a:xfrm xmlns:a="http://schemas.openxmlformats.org/drawingml/2006/main">
            <a:off x="609600" y="5105400"/>
            <a:ext cx="5172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buNone/>
              <a:defRPr sz="2175" b="1">
                <a:solidFill>
                  <a:srgbClr val="12211C"/>
                </a:solidFill>
                <a:latin typeface="Arial"/>
                <a:ea typeface="Arial"/>
                <a:cs typeface="Arial"/>
              </a:defRPr>
            </a:pPr>
            <a:r>
              <a:rPr sz="2175" b="1">
                <a:solidFill>
                  <a:srgbClr val="12211C"/>
                </a:solidFill>
                <a:latin typeface="Arial"/>
                <a:ea typeface="Arial"/>
                <a:cs typeface="Arial"/>
              </a:rPr>
              <a:t>Current request limits</a:t>
            </a:r>
          </a:p>
        </p:txBody>
      </p:sp>
      <p:sp>
        <p:nvSpPr>
          <p:cNvPr id="4" name="limits-body">
            <a:extLst xmlns:a="http://schemas.openxmlformats.org/drawingml/2006/main">
              <a:ext uri="{FF2B5EF4-FFF2-40B4-BE49-F238E27FC236}">
                <a16:creationId xmlns:a16="http://schemas.microsoft.com/office/drawing/2014/main" id="{960B37AB-9F03-4F6D-AC1D-31247E5BAA6F}"/>
              </a:ext>
            </a:extLst>
          </p:cNvPr>
          <p:cNvSpPr>
            <a:spLocks xmlns:a="http://schemas.openxmlformats.org/drawingml/2006/main" noGrp="1"/>
          </p:cNvSpPr>
          <p:nvPr/>
        </p:nvSpPr>
        <p:spPr>
          <a:xfrm xmlns:a="http://schemas.openxmlformats.org/drawingml/2006/main">
            <a:off x="609600" y="5619750"/>
            <a:ext cx="51720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2211C"/>
                </a:solidFill>
                <a:latin typeface="Arial"/>
                <a:ea typeface="Arial"/>
                <a:cs typeface="Arial"/>
              </a:defRPr>
            </a:defPPr>
          </a:lstStyle>
          <a:p xmlns:a="http://schemas.openxmlformats.org/drawingml/2006/main">
            <a:pPr algn="l">
              <a:buNone/>
              <a:defRPr sz="1950" b="0">
                <a:solidFill>
                  <a:srgbClr val="12211C"/>
                </a:solidFill>
                <a:latin typeface="Arial"/>
                <a:ea typeface="Arial"/>
                <a:cs typeface="Arial"/>
              </a:defRPr>
            </a:pPr>
            <a:r>
              <a:rPr sz="1950" b="0">
                <a:solidFill>
                  <a:srgbClr val="12211C"/>
                </a:solidFill>
                <a:latin typeface="Arial"/>
                <a:ea typeface="Arial"/>
                <a:cs typeface="Arial"/>
              </a:rPr>
              <a:t>2 MB requests. Batches contain 1–128 patients. Model calls serialize.</a:t>
            </a:r>
          </a:p>
        </p:txBody>
      </p:sp>
      <p:sp>
        <p:nvSpPr>
          <p:cNvPr id="5" name="readiness-heading">
            <a:extLst xmlns:a="http://schemas.openxmlformats.org/drawingml/2006/main">
              <a:ext uri="{FF2B5EF4-FFF2-40B4-BE49-F238E27FC236}">
                <a16:creationId xmlns:a16="http://schemas.microsoft.com/office/drawing/2014/main" id="{0E8C3817-04F5-430C-BE66-68D86DC1AFDE}"/>
              </a:ext>
            </a:extLst>
          </p:cNvPr>
          <p:cNvSpPr>
            <a:spLocks xmlns:a="http://schemas.openxmlformats.org/drawingml/2006/main" noGrp="1"/>
          </p:cNvSpPr>
          <p:nvPr/>
        </p:nvSpPr>
        <p:spPr>
          <a:xfrm xmlns:a="http://schemas.openxmlformats.org/drawingml/2006/main">
            <a:off x="6724650" y="510540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buNone/>
              <a:defRPr sz="2175" b="1">
                <a:solidFill>
                  <a:srgbClr val="12211C"/>
                </a:solidFill>
                <a:latin typeface="Arial"/>
                <a:ea typeface="Arial"/>
                <a:cs typeface="Arial"/>
              </a:defRPr>
            </a:pPr>
            <a:r>
              <a:rPr sz="2175" b="1">
                <a:solidFill>
                  <a:srgbClr val="12211C"/>
                </a:solidFill>
                <a:latin typeface="Arial"/>
                <a:ea typeface="Arial"/>
                <a:cs typeface="Arial"/>
              </a:rPr>
              <a:t>Readiness distinction</a:t>
            </a:r>
          </a:p>
        </p:txBody>
      </p:sp>
      <p:sp>
        <p:nvSpPr>
          <p:cNvPr id="6" name="readiness-body">
            <a:extLst xmlns:a="http://schemas.openxmlformats.org/drawingml/2006/main">
              <a:ext uri="{FF2B5EF4-FFF2-40B4-BE49-F238E27FC236}">
                <a16:creationId xmlns:a16="http://schemas.microsoft.com/office/drawing/2014/main" id="{D952B427-4D2C-4219-BB38-AD5F59D7155B}"/>
              </a:ext>
            </a:extLst>
          </p:cNvPr>
          <p:cNvSpPr>
            <a:spLocks xmlns:a="http://schemas.openxmlformats.org/drawingml/2006/main" noGrp="1"/>
          </p:cNvSpPr>
          <p:nvPr/>
        </p:nvSpPr>
        <p:spPr>
          <a:xfrm xmlns:a="http://schemas.openxmlformats.org/drawingml/2006/main">
            <a:off x="6724650" y="5619750"/>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2211C"/>
                </a:solidFill>
                <a:latin typeface="Arial"/>
                <a:ea typeface="Arial"/>
                <a:cs typeface="Arial"/>
              </a:defRPr>
            </a:defPPr>
          </a:lstStyle>
          <a:p xmlns:a="http://schemas.openxmlformats.org/drawingml/2006/main">
            <a:pPr algn="l">
              <a:buNone/>
              <a:defRPr sz="1950" b="0">
                <a:solidFill>
                  <a:srgbClr val="12211C"/>
                </a:solidFill>
                <a:latin typeface="Arial"/>
                <a:ea typeface="Arial"/>
                <a:cs typeface="Arial"/>
              </a:defRPr>
            </a:pPr>
            <a:r>
              <a:rPr sz="1950" b="0">
                <a:solidFill>
                  <a:srgbClr val="12211C"/>
                </a:solidFill>
                <a:latin typeface="Arial"/>
                <a:ea typeface="Arial"/>
                <a:cs typeface="Arial"/>
              </a:rPr>
              <a:t>Health checks service state. Generation verifies model execution.</a:t>
            </a:r>
          </a:p>
        </p:txBody>
      </p:sp>
      <p:sp>
        <p:nvSpPr>
          <p:cNvPr id="7" name="caption">
            <a:extLst xmlns:a="http://schemas.openxmlformats.org/drawingml/2006/main">
              <a:ext uri="{FF2B5EF4-FFF2-40B4-BE49-F238E27FC236}">
                <a16:creationId xmlns:a16="http://schemas.microsoft.com/office/drawing/2014/main" id="{948E78DB-CBB7-4CEF-ACA3-BCD552F4BB7E}"/>
              </a:ext>
            </a:extLst>
          </p:cNvPr>
          <p:cNvSpPr>
            <a:spLocks xmlns:a="http://schemas.openxmlformats.org/drawingml/2006/main" noGrp="1"/>
          </p:cNvSpPr>
          <p:nvPr/>
        </p:nvSpPr>
        <p:spPr>
          <a:xfrm xmlns:a="http://schemas.openxmlformats.org/drawingml/2006/main">
            <a:off x="609600" y="625792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Authentication, bounded queues and inference deadlines are proposed additions, not current API features.</a:t>
            </a:r>
          </a:p>
        </p:txBody>
      </p:sp>
    </p:spTree>
    <p:extLst>
      <p:ext uri="{BB962C8B-B14F-4D97-AF65-F5344CB8AC3E}">
        <p14:creationId xmlns:p14="http://schemas.microsoft.com/office/powerpoint/2010/main" val="465357609"/>
      </p:ext>
    </p:extLst>
  </p:cSld>
</p:sld>
</file>

<file path=ppt/slides/slide18.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FF263DC0-A98C-44F2-BDA3-882CACBDB293}"/>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Testing harness and readiness gates</a:t>
            </a:r>
          </a:p>
        </p:txBody>
      </p:sp>
      <p:pic>
        <p:nvPicPr>
          <p:cNvPr id="2" name="">
            <a:extLst xmlns:a="http://schemas.openxmlformats.org/drawingml/2006/main">
              <a:ext uri="{FF2B5EF4-FFF2-40B4-BE49-F238E27FC236}">
                <a16:creationId xmlns:a16="http://schemas.microsoft.com/office/drawing/2014/main" id="{9335CD4F-094D-4632-994E-AE4F1A1EC3FE}"/>
              </a:ext>
            </a:extLst>
          </p:cNvPr>
          <p:cNvPicPr>
            <a:picLocks xmlns:a="http://schemas.openxmlformats.org/drawingml/2006/main" noChangeAspect="1"/>
          </p:cNvPicPr>
          <p:nvPr/>
        </p:nvPicPr>
        <p:blipFill>
          <a:blip xmlns:r="http://schemas.openxmlformats.org/officeDocument/2006/relationships" xmlns:a="http://schemas.openxmlformats.org/drawingml/2006/main" r:embed="R91c724ae90ff4303"/>
          <a:srcRect xmlns:a="http://schemas.openxmlformats.org/drawingml/2006/main" l="0" t="15194" r="0" b="15194"/>
          <a:stretch xmlns:a="http://schemas.openxmlformats.org/drawingml/2006/main">
            <a:fillRect l="0" t="0" r="0" b="0"/>
          </a:stretch>
        </p:blipFill>
        <p:spPr>
          <a:xfrm xmlns:a="http://schemas.openxmlformats.org/drawingml/2006/main">
            <a:off x="609600" y="1476375"/>
            <a:ext cx="10972800" cy="2924175"/>
          </a:xfrm>
          <a:prstGeom xmlns:a="http://schemas.openxmlformats.org/drawingml/2006/main" prst="rect">
            <a:avLst/>
          </a:prstGeom>
        </p:spPr>
      </p:pic>
      <p:sp>
        <p:nvSpPr>
          <p:cNvPr id="3" name="cpu-heading">
            <a:extLst xmlns:a="http://schemas.openxmlformats.org/drawingml/2006/main">
              <a:ext uri="{FF2B5EF4-FFF2-40B4-BE49-F238E27FC236}">
                <a16:creationId xmlns:a16="http://schemas.microsoft.com/office/drawing/2014/main" id="{088454BE-D577-4492-9568-1D57349F56EA}"/>
              </a:ext>
            </a:extLst>
          </p:cNvPr>
          <p:cNvSpPr>
            <a:spLocks xmlns:a="http://schemas.openxmlformats.org/drawingml/2006/main" noGrp="1"/>
          </p:cNvSpPr>
          <p:nvPr/>
        </p:nvSpPr>
        <p:spPr>
          <a:xfrm xmlns:a="http://schemas.openxmlformats.org/drawingml/2006/main">
            <a:off x="609600" y="471487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buNone/>
              <a:defRPr sz="2175" b="1">
                <a:solidFill>
                  <a:srgbClr val="12211C"/>
                </a:solidFill>
                <a:latin typeface="Arial"/>
                <a:ea typeface="Arial"/>
                <a:cs typeface="Arial"/>
              </a:defRPr>
            </a:pPr>
            <a:r>
              <a:rPr sz="2175" b="1">
                <a:solidFill>
                  <a:srgbClr val="12211C"/>
                </a:solidFill>
                <a:latin typeface="Arial"/>
                <a:ea typeface="Arial"/>
                <a:cs typeface="Arial"/>
              </a:rPr>
              <a:t>Implemented tests</a:t>
            </a:r>
          </a:p>
        </p:txBody>
      </p:sp>
      <p:sp>
        <p:nvSpPr>
          <p:cNvPr id="4" name="cpu-body">
            <a:extLst xmlns:a="http://schemas.openxmlformats.org/drawingml/2006/main">
              <a:ext uri="{FF2B5EF4-FFF2-40B4-BE49-F238E27FC236}">
                <a16:creationId xmlns:a16="http://schemas.microsoft.com/office/drawing/2014/main" id="{E978231F-B03F-4E67-B265-A19DDB72C7F4}"/>
              </a:ext>
            </a:extLst>
          </p:cNvPr>
          <p:cNvSpPr>
            <a:spLocks xmlns:a="http://schemas.openxmlformats.org/drawingml/2006/main" noGrp="1"/>
          </p:cNvSpPr>
          <p:nvPr/>
        </p:nvSpPr>
        <p:spPr>
          <a:xfrm xmlns:a="http://schemas.openxmlformats.org/drawingml/2006/main">
            <a:off x="609600" y="5229225"/>
            <a:ext cx="5143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2211C"/>
                </a:solidFill>
                <a:latin typeface="Arial"/>
                <a:ea typeface="Arial"/>
                <a:cs typeface="Arial"/>
              </a:defRPr>
            </a:defPPr>
          </a:lstStyle>
          <a:p xmlns:a="http://schemas.openxmlformats.org/drawingml/2006/main">
            <a:pPr algn="l">
              <a:buNone/>
              <a:defRPr sz="2100" b="0">
                <a:solidFill>
                  <a:srgbClr val="12211C"/>
                </a:solidFill>
                <a:latin typeface="Arial"/>
                <a:ea typeface="Arial"/>
                <a:cs typeface="Arial"/>
              </a:defRPr>
            </a:pPr>
            <a:r>
              <a:rPr sz="2100" b="0">
                <a:solidFill>
                  <a:srgbClr val="12211C"/>
                </a:solidFill>
                <a:latin typeface="Arial"/>
                <a:ea typeface="Arial"/>
                <a:cs typeface="Arial"/>
              </a:rPr>
              <a:t>Schema, adapters, mocks, artifacts, HTTP and mocked SLURM tests pass.</a:t>
            </a:r>
          </a:p>
        </p:txBody>
      </p:sp>
      <p:sp>
        <p:nvSpPr>
          <p:cNvPr id="5" name="site-heading">
            <a:extLst xmlns:a="http://schemas.openxmlformats.org/drawingml/2006/main">
              <a:ext uri="{FF2B5EF4-FFF2-40B4-BE49-F238E27FC236}">
                <a16:creationId xmlns:a16="http://schemas.microsoft.com/office/drawing/2014/main" id="{1699D40B-A1CE-484D-91F3-A0B8F09E87E0}"/>
              </a:ext>
            </a:extLst>
          </p:cNvPr>
          <p:cNvSpPr>
            <a:spLocks xmlns:a="http://schemas.openxmlformats.org/drawingml/2006/main" noGrp="1"/>
          </p:cNvSpPr>
          <p:nvPr/>
        </p:nvSpPr>
        <p:spPr>
          <a:xfrm xmlns:a="http://schemas.openxmlformats.org/drawingml/2006/main">
            <a:off x="6724650" y="47148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buNone/>
              <a:defRPr sz="2175" b="1">
                <a:solidFill>
                  <a:srgbClr val="12211C"/>
                </a:solidFill>
                <a:latin typeface="Arial"/>
                <a:ea typeface="Arial"/>
                <a:cs typeface="Arial"/>
              </a:defRPr>
            </a:pPr>
            <a:r>
              <a:rPr sz="2175" b="1">
                <a:solidFill>
                  <a:srgbClr val="12211C"/>
                </a:solidFill>
                <a:latin typeface="Arial"/>
                <a:ea typeface="Arial"/>
                <a:cs typeface="Arial"/>
              </a:rPr>
              <a:t>Remaining site checks</a:t>
            </a:r>
          </a:p>
        </p:txBody>
      </p:sp>
      <p:sp>
        <p:nvSpPr>
          <p:cNvPr id="6" name="site-body">
            <a:extLst xmlns:a="http://schemas.openxmlformats.org/drawingml/2006/main">
              <a:ext uri="{FF2B5EF4-FFF2-40B4-BE49-F238E27FC236}">
                <a16:creationId xmlns:a16="http://schemas.microsoft.com/office/drawing/2014/main" id="{44FBF806-3F01-4D45-8BFF-317DB96AD033}"/>
              </a:ext>
            </a:extLst>
          </p:cNvPr>
          <p:cNvSpPr>
            <a:spLocks xmlns:a="http://schemas.openxmlformats.org/drawingml/2006/main" noGrp="1"/>
          </p:cNvSpPr>
          <p:nvPr/>
        </p:nvSpPr>
        <p:spPr>
          <a:xfrm xmlns:a="http://schemas.openxmlformats.org/drawingml/2006/main">
            <a:off x="6724650" y="5229225"/>
            <a:ext cx="4857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2211C"/>
                </a:solidFill>
                <a:latin typeface="Arial"/>
                <a:ea typeface="Arial"/>
                <a:cs typeface="Arial"/>
              </a:defRPr>
            </a:defPPr>
          </a:lstStyle>
          <a:p xmlns:a="http://schemas.openxmlformats.org/drawingml/2006/main">
            <a:pPr algn="l">
              <a:buNone/>
              <a:defRPr sz="2100" b="0">
                <a:solidFill>
                  <a:srgbClr val="12211C"/>
                </a:solidFill>
                <a:latin typeface="Arial"/>
                <a:ea typeface="Arial"/>
                <a:cs typeface="Arial"/>
              </a:defRPr>
            </a:pPr>
            <a:r>
              <a:rPr sz="2100" b="0">
                <a:solidFill>
                  <a:srgbClr val="12211C"/>
                </a:solidFill>
                <a:latin typeface="Arial"/>
                <a:ea typeface="Arial"/>
                <a:cs typeface="Arial"/>
              </a:rPr>
              <a:t>Run four synthetic cases on A30. Review each resulting narrative.</a:t>
            </a:r>
          </a:p>
        </p:txBody>
      </p:sp>
      <p:sp>
        <p:nvSpPr>
          <p:cNvPr id="7" name="caption">
            <a:extLst xmlns:a="http://schemas.openxmlformats.org/drawingml/2006/main">
              <a:ext uri="{FF2B5EF4-FFF2-40B4-BE49-F238E27FC236}">
                <a16:creationId xmlns:a16="http://schemas.microsoft.com/office/drawing/2014/main" id="{1E3D5CCD-D836-4871-95CB-7D8EFBE3CE25}"/>
              </a:ext>
            </a:extLst>
          </p:cNvPr>
          <p:cNvSpPr>
            <a:spLocks xmlns:a="http://schemas.openxmlformats.org/drawingml/2006/main" noGrp="1"/>
          </p:cNvSpPr>
          <p:nvPr/>
        </p:nvSpPr>
        <p:spPr>
          <a:xfrm xmlns:a="http://schemas.openxmlformats.org/drawingml/2006/main">
            <a:off x="609600" y="6286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Software tests verify the harness. Prediction and narrative quality need separate evidence.</a:t>
            </a:r>
          </a:p>
        </p:txBody>
      </p:sp>
    </p:spTree>
    <p:extLst>
      <p:ext uri="{BB962C8B-B14F-4D97-AF65-F5344CB8AC3E}">
        <p14:creationId xmlns:p14="http://schemas.microsoft.com/office/powerpoint/2010/main" val="301441671"/>
      </p:ext>
    </p:extLst>
  </p:cSld>
</p:sld>
</file>

<file path=ppt/slides/slide19.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FAD91938-1944-48F8-A3E1-9477D527024D}"/>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Acceptance contracts for the real-data run</a:t>
            </a:r>
          </a:p>
        </p:txBody>
      </p:sp>
      <p:graphicFrame>
        <p:nvGraphicFramePr>
          <p:cNvPr id="2" name="acceptance-contract">
            <a:extLst xmlns:a="http://schemas.openxmlformats.org/drawingml/2006/main">
              <a:ext uri="{FF2B5EF4-FFF2-40B4-BE49-F238E27FC236}">
                <a16:creationId xmlns:a16="http://schemas.microsoft.com/office/drawing/2014/main" id="{D5D173F6-EB27-445C-9154-9D2C90644048}"/>
              </a:ext>
            </a:extLst>
          </p:cNvPr>
          <p:cNvGraphicFramePr/>
          <p:nvPr/>
        </p:nvGraphicFramePr>
        <p:xfrm>
          <a:off xmlns:a="http://schemas.openxmlformats.org/drawingml/2006/main" x="609600" y="1552575"/>
          <a:ext xmlns:a="http://schemas.openxmlformats.org/drawingml/2006/main" cx="10972800" cy="4171950"/>
        </p:xfrm>
        <a:graphic xmlns:a="http://schemas.openxmlformats.org/drawingml/2006/main">
          <a:graphicData uri="http://schemas.openxmlformats.org/drawingml/2006/table">
            <a:tbl>
              <a:tblPr firstRow="0" bandRow="0"/>
              <a:tblGrid>
                <a:gridCol w="2981325"/>
                <a:gridCol w="7991475"/>
              </a:tblGrid>
              <a:tr h="457200">
                <a:tc>
                  <a:txBody>
                    <a:bodyPr wrap="square" lIns="133350" tIns="0" rIns="133350" bIns="0" anchor="ctr">
                      <a:noAutofit/>
                    </a:bodyPr>
                    <a:lstStyle/>
                    <a:p>
                      <a:r>
                        <a:rPr sz="1875" b="1">
                          <a:solidFill>
                            <a:srgbClr val="FFFFFF"/>
                          </a:solidFill>
                          <a:latin typeface="Arial"/>
                          <a:ea typeface="Arial"/>
                          <a:cs typeface="Arial"/>
                        </a:rPr>
                        <a:t>Gate</a:t>
                      </a:r>
                    </a:p>
                  </a:txBody>
                  <a:tcPr marL="133350" marR="133350" marT="0" marB="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0" rIns="133350" bIns="0" anchor="ctr">
                      <a:noAutofit/>
                    </a:bodyPr>
                    <a:lstStyle/>
                    <a:p>
                      <a:r>
                        <a:rPr sz="1875" b="1">
                          <a:solidFill>
                            <a:srgbClr val="FFFFFF"/>
                          </a:solidFill>
                          <a:latin typeface="Arial"/>
                          <a:ea typeface="Arial"/>
                          <a:cs typeface="Arial"/>
                        </a:rPr>
                        <a:t>Evidence required before demo use</a:t>
                      </a:r>
                    </a:p>
                  </a:txBody>
                  <a:tcPr marL="133350" marR="133350" marT="0" marB="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619125">
                <a:tc>
                  <a:txBody>
                    <a:bodyPr wrap="square" lIns="133350" tIns="0" rIns="133350" bIns="0" anchor="ctr">
                      <a:noAutofit/>
                    </a:bodyPr>
                    <a:lstStyle/>
                    <a:p>
                      <a:r>
                        <a:rPr sz="1875" b="0">
                          <a:solidFill>
                            <a:srgbClr val="12211C"/>
                          </a:solidFill>
                          <a:latin typeface="Arial"/>
                          <a:ea typeface="Arial"/>
                          <a:cs typeface="Arial"/>
                        </a:rPr>
                        <a:t>Identity and completeness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Expected IDs and row counts match. Missing modalities stay explicit.</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19125">
                <a:tc>
                  <a:txBody>
                    <a:bodyPr wrap="square" lIns="133350" tIns="0" rIns="133350" bIns="0" anchor="ctr">
                      <a:noAutofit/>
                    </a:bodyPr>
                    <a:lstStyle/>
                    <a:p>
                      <a:r>
                        <a:rPr sz="1875" b="0">
                          <a:solidFill>
                            <a:srgbClr val="12211C"/>
                          </a:solidFill>
                          <a:latin typeface="Arial"/>
                          <a:ea typeface="Arial"/>
                          <a:cs typeface="Arial"/>
                        </a:rPr>
                        <a:t>Prediction meaning</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Responder class, endpoint, units and attribution scales are confirmed.</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19125">
                <a:tc>
                  <a:txBody>
                    <a:bodyPr wrap="square" lIns="133350" tIns="0" rIns="133350" bIns="0" anchor="ctr">
                      <a:noAutofit/>
                    </a:bodyPr>
                    <a:lstStyle/>
                    <a:p>
                      <a:r>
                        <a:rPr sz="1875" b="0">
                          <a:solidFill>
                            <a:srgbClr val="12211C"/>
                          </a:solidFill>
                          <a:latin typeface="Arial"/>
                          <a:ea typeface="Arial"/>
                          <a:cs typeface="Arial"/>
                        </a:rPr>
                        <a:t>Runtime execution</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Real A30 generation succeeds and source/fallback counts are visible.</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19125">
                <a:tc>
                  <a:txBody>
                    <a:bodyPr wrap="square" lIns="133350" tIns="0" rIns="133350" bIns="0" anchor="ctr">
                      <a:noAutofit/>
                    </a:bodyPr>
                    <a:lstStyle/>
                    <a:p>
                      <a:r>
                        <a:rPr sz="1875" b="0">
                          <a:solidFill>
                            <a:srgbClr val="12211C"/>
                          </a:solidFill>
                          <a:latin typeface="Arial"/>
                          <a:ea typeface="Arial"/>
                          <a:cs typeface="Arial"/>
                        </a:rPr>
                        <a:t>Narrative review</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Review numeric facts, supplied evidence and unsupported claims.</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19125">
                <a:tc>
                  <a:txBody>
                    <a:bodyPr wrap="square" lIns="133350" tIns="0" rIns="133350" bIns="0" anchor="ctr">
                      <a:noAutofit/>
                    </a:bodyPr>
                    <a:lstStyle/>
                    <a:p>
                      <a:r>
                        <a:rPr sz="1875" b="0">
                          <a:solidFill>
                            <a:srgbClr val="12211C"/>
                          </a:solidFill>
                          <a:latin typeface="Arial"/>
                          <a:ea typeface="Arial"/>
                          <a:cs typeface="Arial"/>
                        </a:rPr>
                        <a:t>Model evaluation</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Compare eligible paired patients using agreed folds and endpoint.</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19125">
                <a:tc>
                  <a:txBody>
                    <a:bodyPr wrap="square" lIns="133350" tIns="0" rIns="133350" bIns="0" anchor="ctr">
                      <a:noAutofit/>
                    </a:bodyPr>
                    <a:lstStyle/>
                    <a:p>
                      <a:r>
                        <a:rPr sz="1875" b="0">
                          <a:solidFill>
                            <a:srgbClr val="12211C"/>
                          </a:solidFill>
                          <a:latin typeface="Arial"/>
                          <a:ea typeface="Arial"/>
                          <a:cs typeface="Arial"/>
                        </a:rPr>
                        <a:t>Demo display</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Show scores, source, limitations and the human-review flag.</a:t>
                      </a:r>
                    </a:p>
                  </a:txBody>
                  <a:tcPr marL="133350" marR="133350" marT="0" marB="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3" name="caption">
            <a:extLst xmlns:a="http://schemas.openxmlformats.org/drawingml/2006/main">
              <a:ext uri="{FF2B5EF4-FFF2-40B4-BE49-F238E27FC236}">
                <a16:creationId xmlns:a16="http://schemas.microsoft.com/office/drawing/2014/main" id="{D4CA357E-FD0B-4540-8F4D-A92EC83148A5}"/>
              </a:ext>
            </a:extLst>
          </p:cNvPr>
          <p:cNvSpPr>
            <a:spLocks xmlns:a="http://schemas.openxmlformats.org/drawingml/2006/main" noGrp="1"/>
          </p:cNvSpPr>
          <p:nvPr/>
        </p:nvSpPr>
        <p:spPr>
          <a:xfrm xmlns:a="http://schemas.openxmlformats.org/drawingml/2006/main">
            <a:off x="609600" y="6191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Proposed acceptance rubric. The team must agree fallback tolerance, latency targets and the reviewer.</a:t>
            </a:r>
          </a:p>
        </p:txBody>
      </p:sp>
    </p:spTree>
    <p:extLst>
      <p:ext uri="{BB962C8B-B14F-4D97-AF65-F5344CB8AC3E}">
        <p14:creationId xmlns:p14="http://schemas.microsoft.com/office/powerpoint/2010/main" val="1231446661"/>
      </p:ext>
    </p:extLst>
  </p:cSld>
</p:sld>
</file>

<file path=ppt/slides/slide20.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21B497AB-B0BC-4D44-800F-3D4BCCFAD1F2}"/>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Connections to future models</a:t>
            </a:r>
          </a:p>
        </p:txBody>
      </p:sp>
      <p:graphicFrame>
        <p:nvGraphicFramePr>
          <p:cNvPr id="2" name="team-handoff">
            <a:extLst xmlns:a="http://schemas.openxmlformats.org/drawingml/2006/main">
              <a:ext uri="{FF2B5EF4-FFF2-40B4-BE49-F238E27FC236}">
                <a16:creationId xmlns:a16="http://schemas.microsoft.com/office/drawing/2014/main" id="{2577468D-24DD-4336-BD1C-6FD7E6D955D6}"/>
              </a:ext>
            </a:extLst>
          </p:cNvPr>
          <p:cNvGraphicFramePr/>
          <p:nvPr/>
        </p:nvGraphicFramePr>
        <p:xfrm>
          <a:off xmlns:a="http://schemas.openxmlformats.org/drawingml/2006/main" x="609600" y="1552575"/>
          <a:ext xmlns:a="http://schemas.openxmlformats.org/drawingml/2006/main" cx="10972800" cy="4076700"/>
        </p:xfrm>
        <a:graphic xmlns:a="http://schemas.openxmlformats.org/drawingml/2006/main">
          <a:graphicData uri="http://schemas.openxmlformats.org/drawingml/2006/table">
            <a:tbl>
              <a:tblPr firstRow="0" bandRow="0"/>
              <a:tblGrid>
                <a:gridCol w="3429000"/>
                <a:gridCol w="7543800"/>
              </a:tblGrid>
              <a:tr h="447675">
                <a:tc>
                  <a:txBody>
                    <a:bodyPr wrap="square" lIns="133350" tIns="76200" rIns="133350" bIns="76200" anchor="ctr">
                      <a:noAutofit/>
                    </a:bodyPr>
                    <a:lstStyle/>
                    <a:p>
                      <a:r>
                        <a:rPr sz="1875" b="1">
                          <a:solidFill>
                            <a:srgbClr val="FFFFFF"/>
                          </a:solidFill>
                          <a:latin typeface="Arial"/>
                          <a:ea typeface="Arial"/>
                          <a:cs typeface="Arial"/>
                        </a:rPr>
                        <a:t>Owner / workstream</a:t>
                      </a:r>
                    </a:p>
                  </a:txBody>
                  <a:tcPr marL="133350" marR="133350" marT="76200" marB="7620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76200" rIns="133350" bIns="76200" anchor="ctr">
                      <a:noAutofit/>
                    </a:bodyPr>
                    <a:lstStyle/>
                    <a:p>
                      <a:r>
                        <a:rPr sz="1875" b="1">
                          <a:solidFill>
                            <a:srgbClr val="FFFFFF"/>
                          </a:solidFill>
                          <a:latin typeface="Arial"/>
                          <a:ea typeface="Arial"/>
                          <a:cs typeface="Arial"/>
                        </a:rPr>
                        <a:t>Handoff to the copilot</a:t>
                      </a:r>
                    </a:p>
                  </a:txBody>
                  <a:tcPr marL="133350" marR="133350" marT="76200" marB="7620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695325">
                <a:tc>
                  <a:txBody>
                    <a:bodyPr wrap="square" lIns="133350" tIns="76200" rIns="133350" bIns="76200" anchor="ctr">
                      <a:noAutofit/>
                    </a:bodyPr>
                    <a:lstStyle/>
                    <a:p>
                      <a:r>
                        <a:rPr sz="1875" b="0">
                          <a:solidFill>
                            <a:srgbClr val="12211C"/>
                          </a:solidFill>
                          <a:latin typeface="Arial"/>
                          <a:ea typeface="Arial"/>
                          <a:cs typeface="Arial"/>
                        </a:rPr>
                        <a:t>Isis / clinical model</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Clinical prediction CSV plus clinical features and context.</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95325">
                <a:tc>
                  <a:txBody>
                    <a:bodyPr wrap="square" lIns="133350" tIns="76200" rIns="133350" bIns="76200" anchor="ctr">
                      <a:noAutofit/>
                    </a:bodyPr>
                    <a:lstStyle/>
                    <a:p>
                      <a:r>
                        <a:rPr sz="1875" b="0">
                          <a:solidFill>
                            <a:srgbClr val="12211C"/>
                          </a:solidFill>
                          <a:latin typeface="Arial"/>
                          <a:ea typeface="Arial"/>
                          <a:cs typeface="Arial"/>
                        </a:rPr>
                        <a:t>Alyssa / mIF model</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mIF prediction CSV plus feature metadata and canonical patient IDs.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95325">
                <a:tc>
                  <a:txBody>
                    <a:bodyPr wrap="square" lIns="133350" tIns="76200" rIns="133350" bIns="76200" anchor="ctr">
                      <a:noAutofit/>
                    </a:bodyPr>
                    <a:lstStyle/>
                    <a:p>
                      <a:r>
                        <a:rPr sz="1875" b="0">
                          <a:solidFill>
                            <a:srgbClr val="12211C"/>
                          </a:solidFill>
                          <a:latin typeface="Arial"/>
                          <a:ea typeface="Arial"/>
                          <a:cs typeface="Arial"/>
                        </a:rPr>
                        <a:t>Fusion owner / TBD</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Fused prediction CSV with model provenance for paired patients.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95325">
                <a:tc>
                  <a:txBody>
                    <a:bodyPr wrap="square" lIns="133350" tIns="76200" rIns="133350" bIns="76200" anchor="ctr">
                      <a:noAutofit/>
                    </a:bodyPr>
                    <a:lstStyle/>
                    <a:p>
                      <a:r>
                        <a:rPr sz="1875" b="0">
                          <a:solidFill>
                            <a:srgbClr val="12211C"/>
                          </a:solidFill>
                          <a:latin typeface="Arial"/>
                          <a:ea typeface="Arial"/>
                          <a:cs typeface="Arial"/>
                        </a:rPr>
                        <a:t>Paulo / copilot</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Assemble, validate and interpret the combined patient records.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95325">
                <a:tc>
                  <a:txBody>
                    <a:bodyPr wrap="square" lIns="133350" tIns="76200" rIns="133350" bIns="76200" anchor="ctr">
                      <a:noAutofit/>
                    </a:bodyPr>
                    <a:lstStyle/>
                    <a:p>
                      <a:r>
                        <a:rPr sz="1875" b="0">
                          <a:solidFill>
                            <a:srgbClr val="12211C"/>
                          </a:solidFill>
                          <a:latin typeface="Arial"/>
                          <a:ea typeface="Arial"/>
                          <a:cs typeface="Arial"/>
                        </a:rPr>
                        <a:t>Junhao / demo UI</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Read structured narrative results or call the local interpretation API.</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3" name="caption">
            <a:extLst xmlns:a="http://schemas.openxmlformats.org/drawingml/2006/main">
              <a:ext uri="{FF2B5EF4-FFF2-40B4-BE49-F238E27FC236}">
                <a16:creationId xmlns:a16="http://schemas.microsoft.com/office/drawing/2014/main" id="{45AF1E30-8910-4395-9C50-D9B724237140}"/>
              </a:ext>
            </a:extLst>
          </p:cNvPr>
          <p:cNvSpPr>
            <a:spLocks xmlns:a="http://schemas.openxmlformats.org/drawingml/2006/main" noGrp="1"/>
          </p:cNvSpPr>
          <p:nvPr/>
        </p:nvSpPr>
        <p:spPr>
          <a:xfrm xmlns:a="http://schemas.openxmlformats.org/drawingml/2006/main">
            <a:off x="609600" y="61150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Future H&amp;E predictions require a versioned contract and adapter change. Raw images stay upstream.</a:t>
            </a:r>
          </a:p>
        </p:txBody>
      </p:sp>
    </p:spTree>
    <p:extLst>
      <p:ext uri="{BB962C8B-B14F-4D97-AF65-F5344CB8AC3E}">
        <p14:creationId xmlns:p14="http://schemas.microsoft.com/office/powerpoint/2010/main" val="1511219115"/>
      </p:ext>
    </p:extLst>
  </p:cSld>
</p:sld>
</file>

<file path=ppt/slides/slide21.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7979C7C-A499-4A18-A2C0-4294370FC630}"/>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Evaluation and review</a:t>
            </a:r>
          </a:p>
        </p:txBody>
      </p:sp>
      <p:sp>
        <p:nvSpPr>
          <p:cNvPr id="2" name="prediction-checks-heading">
            <a:extLst xmlns:a="http://schemas.openxmlformats.org/drawingml/2006/main">
              <a:ext uri="{FF2B5EF4-FFF2-40B4-BE49-F238E27FC236}">
                <a16:creationId xmlns:a16="http://schemas.microsoft.com/office/drawing/2014/main" id="{25B21C26-5FC0-4A8F-969A-EB2817E77657}"/>
              </a:ext>
            </a:extLst>
          </p:cNvPr>
          <p:cNvSpPr>
            <a:spLocks xmlns:a="http://schemas.openxmlformats.org/drawingml/2006/main" noGrp="1"/>
          </p:cNvSpPr>
          <p:nvPr/>
        </p:nvSpPr>
        <p:spPr>
          <a:xfrm xmlns:a="http://schemas.openxmlformats.org/drawingml/2006/main">
            <a:off x="609600" y="166687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buNone/>
              <a:defRPr sz="2250" b="1">
                <a:solidFill>
                  <a:srgbClr val="12211C"/>
                </a:solidFill>
                <a:latin typeface="Arial"/>
                <a:ea typeface="Arial"/>
                <a:cs typeface="Arial"/>
              </a:defRPr>
            </a:pPr>
            <a:r>
              <a:rPr sz="2250" b="1">
                <a:solidFill>
                  <a:srgbClr val="12211C"/>
                </a:solidFill>
                <a:latin typeface="Arial"/>
                <a:ea typeface="Arial"/>
                <a:cs typeface="Arial"/>
              </a:rPr>
              <a:t>Prediction quality</a:t>
            </a:r>
          </a:p>
        </p:txBody>
      </p:sp>
      <p:sp>
        <p:nvSpPr>
          <p:cNvPr id="3" name="prediction-checks-body">
            <a:extLst xmlns:a="http://schemas.openxmlformats.org/drawingml/2006/main">
              <a:ext uri="{FF2B5EF4-FFF2-40B4-BE49-F238E27FC236}">
                <a16:creationId xmlns:a16="http://schemas.microsoft.com/office/drawing/2014/main" id="{FB7C7278-4A30-46E1-926A-DBCECDA1EF02}"/>
              </a:ext>
            </a:extLst>
          </p:cNvPr>
          <p:cNvSpPr>
            <a:spLocks xmlns:a="http://schemas.openxmlformats.org/drawingml/2006/main" noGrp="1"/>
          </p:cNvSpPr>
          <p:nvPr/>
        </p:nvSpPr>
        <p:spPr>
          <a:xfrm xmlns:a="http://schemas.openxmlformats.org/drawingml/2006/main">
            <a:off x="609600" y="2219325"/>
            <a:ext cx="5181600" cy="315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11C"/>
                </a:solidFill>
                <a:latin typeface="Arial"/>
                <a:ea typeface="Arial"/>
                <a:cs typeface="Arial"/>
              </a:defRPr>
            </a:defPPr>
          </a:lstStyle>
          <a:p xmlns:a="http://schemas.openxmlformats.org/drawingml/2006/main">
            <a:pPr algn="l">
              <a:buNone/>
              <a:defRPr sz="2175" b="0">
                <a:solidFill>
                  <a:srgbClr val="12211C"/>
                </a:solidFill>
                <a:latin typeface="Arial"/>
                <a:ea typeface="Arial"/>
                <a:cs typeface="Arial"/>
              </a:defRPr>
            </a:pPr>
            <a:r>
              <a:rPr sz="2175" b="0">
                <a:solidFill>
                  <a:srgbClr val="12211C"/>
                </a:solidFill>
                <a:latin typeface="Arial"/>
                <a:ea typeface="Arial"/>
                <a:cs typeface="Arial"/>
              </a:rPr>
              <a:t>Use the same eligible patients across modalities.</a:t>
            </a:r>
          </a:p>
          <a:p xmlns:a="http://schemas.openxmlformats.org/drawingml/2006/main">
            <a:r>
              <a:t/>
            </a:r>
          </a:p>
          <a:p xmlns:a="http://schemas.openxmlformats.org/drawingml/2006/main">
            <a:pPr algn="l">
              <a:buNone/>
              <a:defRPr sz="2175" b="0">
                <a:solidFill>
                  <a:srgbClr val="12211C"/>
                </a:solidFill>
                <a:latin typeface="Arial"/>
                <a:ea typeface="Arial"/>
                <a:cs typeface="Arial"/>
              </a:defRPr>
            </a:pPr>
            <a:r>
              <a:rPr sz="2175" b="0">
                <a:solidFill>
                  <a:srgbClr val="12211C"/>
                </a:solidFill>
                <a:latin typeface="Arial"/>
                <a:ea typeface="Arial"/>
                <a:cs typeface="Arial"/>
              </a:rPr>
              <a:t>Agree the endpoint and preserve patient-level folds.</a:t>
            </a:r>
          </a:p>
          <a:p xmlns:a="http://schemas.openxmlformats.org/drawingml/2006/main">
            <a:r>
              <a:t/>
            </a:r>
          </a:p>
          <a:p xmlns:a="http://schemas.openxmlformats.org/drawingml/2006/main">
            <a:pPr algn="l">
              <a:buNone/>
              <a:defRPr sz="2175" b="0">
                <a:solidFill>
                  <a:srgbClr val="12211C"/>
                </a:solidFill>
                <a:latin typeface="Arial"/>
                <a:ea typeface="Arial"/>
                <a:cs typeface="Arial"/>
              </a:defRPr>
            </a:pPr>
            <a:r>
              <a:rPr sz="2175" b="0">
                <a:solidFill>
                  <a:srgbClr val="12211C"/>
                </a:solidFill>
                <a:latin typeface="Arial"/>
                <a:ea typeface="Arial"/>
                <a:cs typeface="Arial"/>
              </a:rPr>
              <a:t>Inspect AUROC and Brier score on paired outputs.</a:t>
            </a:r>
          </a:p>
        </p:txBody>
      </p:sp>
      <p:sp>
        <p:nvSpPr>
          <p:cNvPr id="4" name="narrative-checks-heading">
            <a:extLst xmlns:a="http://schemas.openxmlformats.org/drawingml/2006/main">
              <a:ext uri="{FF2B5EF4-FFF2-40B4-BE49-F238E27FC236}">
                <a16:creationId xmlns:a16="http://schemas.microsoft.com/office/drawing/2014/main" id="{73DA30D2-0F54-4CDE-92E2-A7B04E3F81EE}"/>
              </a:ext>
            </a:extLst>
          </p:cNvPr>
          <p:cNvSpPr>
            <a:spLocks xmlns:a="http://schemas.openxmlformats.org/drawingml/2006/main" noGrp="1"/>
          </p:cNvSpPr>
          <p:nvPr/>
        </p:nvSpPr>
        <p:spPr>
          <a:xfrm xmlns:a="http://schemas.openxmlformats.org/drawingml/2006/main">
            <a:off x="6762750" y="1666875"/>
            <a:ext cx="4810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buNone/>
              <a:defRPr sz="2250" b="1">
                <a:solidFill>
                  <a:srgbClr val="12211C"/>
                </a:solidFill>
                <a:latin typeface="Arial"/>
                <a:ea typeface="Arial"/>
                <a:cs typeface="Arial"/>
              </a:defRPr>
            </a:pPr>
            <a:r>
              <a:rPr sz="2250" b="1">
                <a:solidFill>
                  <a:srgbClr val="12211C"/>
                </a:solidFill>
                <a:latin typeface="Arial"/>
                <a:ea typeface="Arial"/>
                <a:cs typeface="Arial"/>
              </a:rPr>
              <a:t>Narrative quality</a:t>
            </a:r>
          </a:p>
        </p:txBody>
      </p:sp>
      <p:sp>
        <p:nvSpPr>
          <p:cNvPr id="5" name="narrative-checks-body">
            <a:extLst xmlns:a="http://schemas.openxmlformats.org/drawingml/2006/main">
              <a:ext uri="{FF2B5EF4-FFF2-40B4-BE49-F238E27FC236}">
                <a16:creationId xmlns:a16="http://schemas.microsoft.com/office/drawing/2014/main" id="{773255BB-169B-4A7E-B844-014CC199E278}"/>
              </a:ext>
            </a:extLst>
          </p:cNvPr>
          <p:cNvSpPr>
            <a:spLocks xmlns:a="http://schemas.openxmlformats.org/drawingml/2006/main" noGrp="1"/>
          </p:cNvSpPr>
          <p:nvPr/>
        </p:nvSpPr>
        <p:spPr>
          <a:xfrm xmlns:a="http://schemas.openxmlformats.org/drawingml/2006/main">
            <a:off x="6762750" y="2219325"/>
            <a:ext cx="4810125" cy="315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11C"/>
                </a:solidFill>
                <a:latin typeface="Arial"/>
                <a:ea typeface="Arial"/>
                <a:cs typeface="Arial"/>
              </a:defRPr>
            </a:defPPr>
          </a:lstStyle>
          <a:p xmlns:a="http://schemas.openxmlformats.org/drawingml/2006/main">
            <a:pPr algn="l">
              <a:buNone/>
              <a:defRPr sz="2175" b="0">
                <a:solidFill>
                  <a:srgbClr val="12211C"/>
                </a:solidFill>
                <a:latin typeface="Arial"/>
                <a:ea typeface="Arial"/>
                <a:cs typeface="Arial"/>
              </a:defRPr>
            </a:pPr>
            <a:r>
              <a:rPr sz="2175" b="0">
                <a:solidFill>
                  <a:srgbClr val="12211C"/>
                </a:solidFill>
                <a:latin typeface="Arial"/>
                <a:ea typeface="Arial"/>
                <a:cs typeface="Arial"/>
              </a:rPr>
              <a:t>Check reproduced scores and supplied features.</a:t>
            </a:r>
          </a:p>
          <a:p xmlns:a="http://schemas.openxmlformats.org/drawingml/2006/main">
            <a:r>
              <a:t/>
            </a:r>
          </a:p>
          <a:p xmlns:a="http://schemas.openxmlformats.org/drawingml/2006/main">
            <a:pPr algn="l">
              <a:buNone/>
              <a:defRPr sz="2175" b="0">
                <a:solidFill>
                  <a:srgbClr val="12211C"/>
                </a:solidFill>
                <a:latin typeface="Arial"/>
                <a:ea typeface="Arial"/>
                <a:cs typeface="Arial"/>
              </a:defRPr>
            </a:pPr>
            <a:r>
              <a:rPr sz="2175" b="0">
                <a:solidFill>
                  <a:srgbClr val="12211C"/>
                </a:solidFill>
                <a:latin typeface="Arial"/>
                <a:ea typeface="Arial"/>
                <a:cs typeface="Arial"/>
              </a:rPr>
              <a:t>Review disagreement and missing modalities.</a:t>
            </a:r>
          </a:p>
          <a:p xmlns:a="http://schemas.openxmlformats.org/drawingml/2006/main">
            <a:r>
              <a:t/>
            </a:r>
          </a:p>
          <a:p xmlns:a="http://schemas.openxmlformats.org/drawingml/2006/main">
            <a:pPr algn="l">
              <a:buNone/>
              <a:defRPr sz="2175" b="0">
                <a:solidFill>
                  <a:srgbClr val="12211C"/>
                </a:solidFill>
                <a:latin typeface="Arial"/>
                <a:ea typeface="Arial"/>
                <a:cs typeface="Arial"/>
              </a:defRPr>
            </a:pPr>
            <a:r>
              <a:rPr sz="2175" b="0">
                <a:solidFill>
                  <a:srgbClr val="12211C"/>
                </a:solidFill>
                <a:latin typeface="Arial"/>
                <a:ea typeface="Arial"/>
                <a:cs typeface="Arial"/>
              </a:rPr>
              <a:t>Inspect unsupported claims, source and limitations.</a:t>
            </a:r>
          </a:p>
        </p:txBody>
      </p:sp>
      <p:sp>
        <p:nvSpPr>
          <p:cNvPr id="6" name="evaluation-limit">
            <a:extLst xmlns:a="http://schemas.openxmlformats.org/drawingml/2006/main">
              <a:ext uri="{FF2B5EF4-FFF2-40B4-BE49-F238E27FC236}">
                <a16:creationId xmlns:a16="http://schemas.microsoft.com/office/drawing/2014/main" id="{BC42DA7E-B35D-4FAF-BB77-4394C73637C7}"/>
              </a:ext>
            </a:extLst>
          </p:cNvPr>
          <p:cNvSpPr>
            <a:spLocks xmlns:a="http://schemas.openxmlformats.org/drawingml/2006/main" noGrp="1"/>
          </p:cNvSpPr>
          <p:nvPr/>
        </p:nvSpPr>
        <p:spPr>
          <a:xfrm xmlns:a="http://schemas.openxmlformats.org/drawingml/2006/main">
            <a:off x="609600" y="5381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1655B"/>
                </a:solidFill>
                <a:latin typeface="Arial"/>
                <a:ea typeface="Arial"/>
                <a:cs typeface="Arial"/>
              </a:defRPr>
            </a:defPPr>
          </a:lstStyle>
          <a:p xmlns:a="http://schemas.openxmlformats.org/drawingml/2006/main">
            <a:pPr algn="l">
              <a:buNone/>
              <a:defRPr sz="2175" b="1">
                <a:solidFill>
                  <a:srgbClr val="51655B"/>
                </a:solidFill>
                <a:latin typeface="Arial"/>
                <a:ea typeface="Arial"/>
                <a:cs typeface="Arial"/>
              </a:defRPr>
            </a:pPr>
            <a:r>
              <a:rPr sz="2175" b="1">
                <a:solidFill>
                  <a:srgbClr val="51655B"/>
                </a:solidFill>
                <a:latin typeface="Arial"/>
                <a:ea typeface="Arial"/>
                <a:cs typeface="Arial"/>
              </a:rPr>
              <a:t>A successful mock run establishes interface behavior. Clinical validity and multimodal benefit require further evidence.</a:t>
            </a:r>
          </a:p>
        </p:txBody>
      </p:sp>
    </p:spTree>
    <p:extLst>
      <p:ext uri="{BB962C8B-B14F-4D97-AF65-F5344CB8AC3E}">
        <p14:creationId xmlns:p14="http://schemas.microsoft.com/office/powerpoint/2010/main" val="595553856"/>
      </p:ext>
    </p:extLst>
  </p:cSld>
</p:sld>
</file>

<file path=ppt/slides/slide2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810B395F-FCCF-4F17-A86B-8BB5B9AB4EB1}"/>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Study and evaluation limitations</a:t>
            </a:r>
          </a:p>
        </p:txBody>
      </p:sp>
      <p:graphicFrame>
        <p:nvGraphicFramePr>
          <p:cNvPr id="2" name="study-limits">
            <a:extLst xmlns:a="http://schemas.openxmlformats.org/drawingml/2006/main">
              <a:ext uri="{FF2B5EF4-FFF2-40B4-BE49-F238E27FC236}">
                <a16:creationId xmlns:a16="http://schemas.microsoft.com/office/drawing/2014/main" id="{DD3F90B0-B360-435B-993F-106E2031D5C7}"/>
              </a:ext>
            </a:extLst>
          </p:cNvPr>
          <p:cNvGraphicFramePr/>
          <p:nvPr/>
        </p:nvGraphicFramePr>
        <p:xfrm>
          <a:off xmlns:a="http://schemas.openxmlformats.org/drawingml/2006/main" x="609600" y="1562100"/>
          <a:ext xmlns:a="http://schemas.openxmlformats.org/drawingml/2006/main" cx="10972800" cy="4457700"/>
        </p:xfrm>
        <a:graphic xmlns:a="http://schemas.openxmlformats.org/drawingml/2006/main">
          <a:graphicData uri="http://schemas.openxmlformats.org/drawingml/2006/table">
            <a:tbl>
              <a:tblPr firstRow="0" bandRow="0"/>
              <a:tblGrid>
                <a:gridCol w="2876550"/>
                <a:gridCol w="8096250"/>
              </a:tblGrid>
              <a:tr h="457200">
                <a:tc>
                  <a:txBody>
                    <a:bodyPr wrap="square" lIns="133350" tIns="0" rIns="133350" bIns="0" anchor="ctr">
                      <a:noAutofit/>
                    </a:bodyPr>
                    <a:lstStyle/>
                    <a:p>
                      <a:r>
                        <a:rPr sz="1875" b="1">
                          <a:solidFill>
                            <a:srgbClr val="FFFFFF"/>
                          </a:solidFill>
                          <a:latin typeface="Arial"/>
                          <a:ea typeface="Arial"/>
                          <a:cs typeface="Arial"/>
                        </a:rPr>
                        <a:t>Limitation</a:t>
                      </a:r>
                    </a:p>
                  </a:txBody>
                  <a:tcPr marL="133350" marR="133350" marT="0" marB="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0" rIns="133350" bIns="0" anchor="ctr">
                      <a:noAutofit/>
                    </a:bodyPr>
                    <a:lstStyle/>
                    <a:p>
                      <a:r>
                        <a:rPr sz="1875" b="1">
                          <a:solidFill>
                            <a:srgbClr val="FFFFFF"/>
                          </a:solidFill>
                          <a:latin typeface="Arial"/>
                          <a:ea typeface="Arial"/>
                          <a:cs typeface="Arial"/>
                        </a:rPr>
                        <a:t>Implication and required action</a:t>
                      </a:r>
                    </a:p>
                  </a:txBody>
                  <a:tcPr marL="133350" marR="133350" marT="0" marB="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800100">
                <a:tc>
                  <a:txBody>
                    <a:bodyPr wrap="square" lIns="133350" tIns="0" rIns="133350" bIns="0" anchor="ctr">
                      <a:noAutofit/>
                    </a:bodyPr>
                    <a:lstStyle/>
                    <a:p>
                      <a:r>
                        <a:rPr sz="1875" b="0">
                          <a:solidFill>
                            <a:srgbClr val="12211C"/>
                          </a:solidFill>
                          <a:latin typeface="Arial"/>
                          <a:ea typeface="Arial"/>
                          <a:cs typeface="Arial"/>
                        </a:rPr>
                        <a:t>Unspecified endpoint</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Responder definition remains undecided. Agree the assessment window before evaluation.</a:t>
                      </a:r>
                    </a:p>
                  </a:txBody>
                  <a:tcPr marL="133350" marR="133350" marT="0" marB="0" anchor="ctr">
                    <a:lnR w="6668">
                      <a:solidFill>
                        <a:srgbClr val="D5DFD7"/>
                      </a:solidFill>
                      <a:prstDash val="solid"/>
                    </a:lnR>
                    <a:lnB w="6668">
                      <a:solidFill>
                        <a:srgbClr val="D5DFD7"/>
                      </a:solidFill>
                      <a:prstDash val="solid"/>
                    </a:lnB>
                    <a:solidFill>
                      <a:srgbClr val="F5F7F4"/>
                    </a:solidFill>
                  </a:tcPr>
                </a:tc>
              </a:tr>
              <a:tr h="800100">
                <a:tc>
                  <a:txBody>
                    <a:bodyPr wrap="square" lIns="133350" tIns="0" rIns="133350" bIns="0" anchor="ctr">
                      <a:noAutofit/>
                    </a:bodyPr>
                    <a:lstStyle/>
                    <a:p>
                      <a:r>
                        <a:rPr sz="1875" b="0">
                          <a:solidFill>
                            <a:srgbClr val="12211C"/>
                          </a:solidFill>
                          <a:latin typeface="Arial"/>
                          <a:ea typeface="Arial"/>
                          <a:cs typeface="Arial"/>
                        </a:rPr>
                        <a:t>Small paired cohort</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29 patients have mIF. The eligible comparison may shrink after exclusions.</a:t>
                      </a:r>
                    </a:p>
                  </a:txBody>
                  <a:tcPr marL="133350" marR="133350" marT="0" marB="0" anchor="ctr">
                    <a:lnR w="6668">
                      <a:solidFill>
                        <a:srgbClr val="D5DFD7"/>
                      </a:solidFill>
                      <a:prstDash val="solid"/>
                    </a:lnR>
                    <a:lnB w="6668">
                      <a:solidFill>
                        <a:srgbClr val="D5DFD7"/>
                      </a:solidFill>
                      <a:prstDash val="solid"/>
                    </a:lnB>
                    <a:solidFill>
                      <a:srgbClr val="F5F7F4"/>
                    </a:solidFill>
                  </a:tcPr>
                </a:tc>
              </a:tr>
              <a:tr h="800100">
                <a:tc>
                  <a:txBody>
                    <a:bodyPr wrap="square" lIns="133350" tIns="0" rIns="133350" bIns="0" anchor="ctr">
                      <a:noAutofit/>
                    </a:bodyPr>
                    <a:lstStyle/>
                    <a:p>
                      <a:r>
                        <a:rPr sz="1875" b="0">
                          <a:solidFill>
                            <a:srgbClr val="12211C"/>
                          </a:solidFill>
                          <a:latin typeface="Arial"/>
                          <a:ea typeface="Arial"/>
                          <a:cs typeface="Arial"/>
                        </a:rPr>
                        <a:t>Uneven mIF availability</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The paired group may differ from other patients. Describe the missingness.</a:t>
                      </a:r>
                    </a:p>
                  </a:txBody>
                  <a:tcPr marL="133350" marR="133350" marT="0" marB="0" anchor="ctr">
                    <a:lnR w="6668">
                      <a:solidFill>
                        <a:srgbClr val="D5DFD7"/>
                      </a:solidFill>
                      <a:prstDash val="solid"/>
                    </a:lnR>
                    <a:lnB w="6668">
                      <a:solidFill>
                        <a:srgbClr val="D5DFD7"/>
                      </a:solidFill>
                      <a:prstDash val="solid"/>
                    </a:lnB>
                    <a:solidFill>
                      <a:srgbClr val="F5F7F4"/>
                    </a:solidFill>
                  </a:tcPr>
                </a:tc>
              </a:tr>
              <a:tr h="800100">
                <a:tc>
                  <a:txBody>
                    <a:bodyPr wrap="square" lIns="133350" tIns="0" rIns="133350" bIns="0" anchor="ctr">
                      <a:noAutofit/>
                    </a:bodyPr>
                    <a:lstStyle/>
                    <a:p>
                      <a:r>
                        <a:rPr sz="1875" b="0">
                          <a:solidFill>
                            <a:srgbClr val="12211C"/>
                          </a:solidFill>
                          <a:latin typeface="Arial"/>
                          <a:ea typeface="Arial"/>
                          <a:cs typeface="Arial"/>
                        </a:rPr>
                        <a:t>Patient or fold leakage</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Keep patient slides together. Fit preprocessing and fusion within training folds.</a:t>
                      </a:r>
                    </a:p>
                  </a:txBody>
                  <a:tcPr marL="133350" marR="133350" marT="0" marB="0" anchor="ctr">
                    <a:lnR w="6668">
                      <a:solidFill>
                        <a:srgbClr val="D5DFD7"/>
                      </a:solidFill>
                      <a:prstDash val="solid"/>
                    </a:lnR>
                    <a:lnB w="6668">
                      <a:solidFill>
                        <a:srgbClr val="D5DFD7"/>
                      </a:solidFill>
                      <a:prstDash val="solid"/>
                    </a:lnB>
                    <a:solidFill>
                      <a:srgbClr val="F5F7F4"/>
                    </a:solidFill>
                  </a:tcPr>
                </a:tc>
              </a:tr>
              <a:tr h="800100">
                <a:tc>
                  <a:txBody>
                    <a:bodyPr wrap="square" lIns="133350" tIns="0" rIns="133350" bIns="0" anchor="ctr">
                      <a:noAutofit/>
                    </a:bodyPr>
                    <a:lstStyle/>
                    <a:p>
                      <a:r>
                        <a:rPr sz="1875" b="0">
                          <a:solidFill>
                            <a:srgbClr val="12211C"/>
                          </a:solidFill>
                          <a:latin typeface="Arial"/>
                          <a:ea typeface="Arial"/>
                          <a:cs typeface="Arial"/>
                        </a:rPr>
                        <a:t>Changing assays or cohort</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Extra mIF batches have reported batch effects. H&amp;E needs a new modality contract.</a:t>
                      </a:r>
                    </a:p>
                  </a:txBody>
                  <a:tcPr marL="133350" marR="133350" marT="0" marB="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3" name="caption">
            <a:extLst xmlns:a="http://schemas.openxmlformats.org/drawingml/2006/main">
              <a:ext uri="{FF2B5EF4-FFF2-40B4-BE49-F238E27FC236}">
                <a16:creationId xmlns:a16="http://schemas.microsoft.com/office/drawing/2014/main" id="{7560D6AC-EEC3-48EC-A62B-F48B2CBFAC9E}"/>
              </a:ext>
            </a:extLst>
          </p:cNvPr>
          <p:cNvSpPr>
            <a:spLocks xmlns:a="http://schemas.openxmlformats.org/drawingml/2006/main" noGrp="1"/>
          </p:cNvSpPr>
          <p:nvPr/>
        </p:nvSpPr>
        <p:spPr>
          <a:xfrm xmlns:a="http://schemas.openxmlformats.org/drawingml/2006/main">
            <a:off x="609600" y="6286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Current metrics are exploratory point estimates. Confidence intervals and significance tests are absent.</a:t>
            </a:r>
          </a:p>
        </p:txBody>
      </p:sp>
    </p:spTree>
    <p:extLst>
      <p:ext uri="{BB962C8B-B14F-4D97-AF65-F5344CB8AC3E}">
        <p14:creationId xmlns:p14="http://schemas.microsoft.com/office/powerpoint/2010/main" val="69901138"/>
      </p:ext>
    </p:extLst>
  </p:cSld>
</p:sld>
</file>

<file path=ppt/slides/slide2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C134A12F-68D7-4E97-84A7-DA3E3D33B691}"/>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Score interpretation edge cases</a:t>
            </a:r>
          </a:p>
        </p:txBody>
      </p:sp>
      <p:sp>
        <p:nvSpPr>
          <p:cNvPr id="2" name="synthetic-label">
            <a:extLst xmlns:a="http://schemas.openxmlformats.org/drawingml/2006/main">
              <a:ext uri="{FF2B5EF4-FFF2-40B4-BE49-F238E27FC236}">
                <a16:creationId xmlns:a16="http://schemas.microsoft.com/office/drawing/2014/main" id="{020CFE0D-40B6-4B33-91DD-C387EBADACCC}"/>
              </a:ext>
            </a:extLst>
          </p:cNvPr>
          <p:cNvSpPr>
            <a:spLocks xmlns:a="http://schemas.openxmlformats.org/drawingml/2006/main" noGrp="1"/>
          </p:cNvSpPr>
          <p:nvPr/>
        </p:nvSpPr>
        <p:spPr>
          <a:xfrm xmlns:a="http://schemas.openxmlformats.org/drawingml/2006/main">
            <a:off x="609600" y="13620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1655B"/>
                </a:solidFill>
                <a:latin typeface="Arial"/>
                <a:ea typeface="Arial"/>
                <a:cs typeface="Arial"/>
              </a:defRPr>
            </a:defPPr>
          </a:lstStyle>
          <a:p xmlns:a="http://schemas.openxmlformats.org/drawingml/2006/main">
            <a:pPr algn="l">
              <a:defRPr sz="2025" b="0">
                <a:solidFill>
                  <a:srgbClr val="51655B"/>
                </a:solidFill>
                <a:latin typeface="Arial"/>
                <a:ea typeface="Arial"/>
                <a:cs typeface="Arial"/>
              </a:defRPr>
            </a:pPr>
            <a:r>
              <a:rPr sz="2025" b="0">
                <a:solidFill>
                  <a:srgbClr val="51655B"/>
                </a:solidFill>
                <a:latin typeface="Arial"/>
                <a:ea typeface="Arial"/>
                <a:cs typeface="Arial"/>
              </a:rPr>
              <a:t>Synthetic example with a supplied threshold of 0.5</a:t>
            </a:r>
          </a:p>
        </p:txBody>
      </p:sp>
      <p:graphicFrame>
        <p:nvGraphicFramePr>
          <p:cNvPr id="3" name="rounding-example">
            <a:extLst xmlns:a="http://schemas.openxmlformats.org/drawingml/2006/main">
              <a:ext uri="{FF2B5EF4-FFF2-40B4-BE49-F238E27FC236}">
                <a16:creationId xmlns:a16="http://schemas.microsoft.com/office/drawing/2014/main" id="{DD52BD3C-589A-410C-80FB-6B9CECF5D2B1}"/>
              </a:ext>
            </a:extLst>
          </p:cNvPr>
          <p:cNvGraphicFramePr/>
          <p:nvPr/>
        </p:nvGraphicFramePr>
        <p:xfrm>
          <a:off xmlns:a="http://schemas.openxmlformats.org/drawingml/2006/main" x="609600" y="1962150"/>
          <a:ext xmlns:a="http://schemas.openxmlformats.org/drawingml/2006/main" cx="10972800" cy="1828800"/>
        </p:xfrm>
        <a:graphic xmlns:a="http://schemas.openxmlformats.org/drawingml/2006/main">
          <a:graphicData uri="http://schemas.openxmlformats.org/drawingml/2006/table">
            <a:tbl>
              <a:tblPr firstRow="0" bandRow="0"/>
              <a:tblGrid>
                <a:gridCol w="2838450"/>
                <a:gridCol w="3162300"/>
                <a:gridCol w="4972050"/>
              </a:tblGrid>
              <a:tr h="457200">
                <a:tc>
                  <a:txBody>
                    <a:bodyPr wrap="square" lIns="133350" tIns="0" rIns="133350" bIns="0" anchor="ctr">
                      <a:noAutofit/>
                    </a:bodyPr>
                    <a:lstStyle/>
                    <a:p>
                      <a:r>
                        <a:rPr sz="1950" b="1">
                          <a:solidFill>
                            <a:srgbClr val="FFFFFF"/>
                          </a:solidFill>
                          <a:latin typeface="Arial"/>
                          <a:ea typeface="Arial"/>
                          <a:cs typeface="Arial"/>
                        </a:rPr>
                        <a:t>Structured score</a:t>
                      </a:r>
                    </a:p>
                  </a:txBody>
                  <a:tcPr marL="133350" marR="133350" marT="0" marB="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0" rIns="133350" bIns="0" anchor="ctr">
                      <a:noAutofit/>
                    </a:bodyPr>
                    <a:lstStyle/>
                    <a:p>
                      <a:r>
                        <a:rPr sz="1950" b="1">
                          <a:solidFill>
                            <a:srgbClr val="FFFFFF"/>
                          </a:solidFill>
                          <a:latin typeface="Arial"/>
                          <a:ea typeface="Arial"/>
                          <a:cs typeface="Arial"/>
                        </a:rPr>
                        <a:t>Narrative display</a:t>
                      </a:r>
                    </a:p>
                  </a:txBody>
                  <a:tcPr marL="133350" marR="133350" marT="0" marB="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0" rIns="133350" bIns="0" anchor="ctr">
                      <a:noAutofit/>
                    </a:bodyPr>
                    <a:lstStyle/>
                    <a:p>
                      <a:r>
                        <a:rPr sz="1950" b="1">
                          <a:solidFill>
                            <a:srgbClr val="FFFFFF"/>
                          </a:solidFill>
                          <a:latin typeface="Arial"/>
                          <a:ea typeface="Arial"/>
                          <a:cs typeface="Arial"/>
                        </a:rPr>
                        <a:t>Class at threshold 0.5</a:t>
                      </a:r>
                    </a:p>
                  </a:txBody>
                  <a:tcPr marL="133350" marR="133350" marT="0" marB="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685800">
                <a:tc>
                  <a:txBody>
                    <a:bodyPr wrap="square" lIns="133350" tIns="0" rIns="133350" bIns="0" anchor="ctr">
                      <a:noAutofit/>
                    </a:bodyPr>
                    <a:lstStyle/>
                    <a:p>
                      <a:r>
                        <a:rPr sz="1950" b="0">
                          <a:solidFill>
                            <a:srgbClr val="12211C"/>
                          </a:solidFill>
                          <a:latin typeface="Arial"/>
                          <a:ea typeface="Arial"/>
                          <a:cs typeface="Arial"/>
                        </a:rPr>
                        <a:t>0.4996</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950" b="0">
                          <a:solidFill>
                            <a:srgbClr val="12211C"/>
                          </a:solidFill>
                          <a:latin typeface="Arial"/>
                          <a:ea typeface="Arial"/>
                          <a:cs typeface="Arial"/>
                        </a:rPr>
                        <a:t>0.500</a:t>
                      </a:r>
                    </a:p>
                  </a:txBody>
                  <a:tcPr marL="133350" marR="133350" marT="0" marB="0" anchor="ctr">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950" b="0">
                          <a:solidFill>
                            <a:srgbClr val="12211C"/>
                          </a:solidFill>
                          <a:latin typeface="Arial"/>
                          <a:ea typeface="Arial"/>
                          <a:cs typeface="Arial"/>
                        </a:rPr>
                        <a:t>0 (score below threshold)</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85800">
                <a:tc>
                  <a:txBody>
                    <a:bodyPr wrap="square" lIns="133350" tIns="0" rIns="133350" bIns="0" anchor="ctr">
                      <a:noAutofit/>
                    </a:bodyPr>
                    <a:lstStyle/>
                    <a:p>
                      <a:r>
                        <a:rPr sz="1950" b="0">
                          <a:solidFill>
                            <a:srgbClr val="12211C"/>
                          </a:solidFill>
                          <a:latin typeface="Arial"/>
                          <a:ea typeface="Arial"/>
                          <a:cs typeface="Arial"/>
                        </a:rPr>
                        <a:t>0.5004</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950" b="0">
                          <a:solidFill>
                            <a:srgbClr val="12211C"/>
                          </a:solidFill>
                          <a:latin typeface="Arial"/>
                          <a:ea typeface="Arial"/>
                          <a:cs typeface="Arial"/>
                        </a:rPr>
                        <a:t>0.500</a:t>
                      </a:r>
                    </a:p>
                  </a:txBody>
                  <a:tcPr marL="133350" marR="133350" marT="0" marB="0" anchor="ctr">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950" b="0">
                          <a:solidFill>
                            <a:srgbClr val="12211C"/>
                          </a:solidFill>
                          <a:latin typeface="Arial"/>
                          <a:ea typeface="Arial"/>
                          <a:cs typeface="Arial"/>
                        </a:rPr>
                        <a:t>1 (score at or above threshold)</a:t>
                      </a:r>
                    </a:p>
                  </a:txBody>
                  <a:tcPr marL="133350" marR="133350" marT="0" marB="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4" name="precision-heading">
            <a:extLst xmlns:a="http://schemas.openxmlformats.org/drawingml/2006/main">
              <a:ext uri="{FF2B5EF4-FFF2-40B4-BE49-F238E27FC236}">
                <a16:creationId xmlns:a16="http://schemas.microsoft.com/office/drawing/2014/main" id="{2E304F88-DCB9-48F1-BBC5-24E782851839}"/>
              </a:ext>
            </a:extLst>
          </p:cNvPr>
          <p:cNvSpPr>
            <a:spLocks xmlns:a="http://schemas.openxmlformats.org/drawingml/2006/main" noGrp="1"/>
          </p:cNvSpPr>
          <p:nvPr/>
        </p:nvSpPr>
        <p:spPr>
          <a:xfrm xmlns:a="http://schemas.openxmlformats.org/drawingml/2006/main">
            <a:off x="609600" y="42672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defRPr sz="2175" b="1">
                <a:solidFill>
                  <a:srgbClr val="12211C"/>
                </a:solidFill>
                <a:latin typeface="Arial"/>
                <a:ea typeface="Arial"/>
                <a:cs typeface="Arial"/>
              </a:defRPr>
            </a:pPr>
            <a:r>
              <a:rPr sz="2175" b="1">
                <a:solidFill>
                  <a:srgbClr val="12211C"/>
                </a:solidFill>
                <a:latin typeface="Arial"/>
                <a:ea typeface="Arial"/>
                <a:cs typeface="Arial"/>
              </a:rPr>
              <a:t>Full precision matters</a:t>
            </a:r>
          </a:p>
        </p:txBody>
      </p:sp>
      <p:sp>
        <p:nvSpPr>
          <p:cNvPr id="5" name="precision-body">
            <a:extLst xmlns:a="http://schemas.openxmlformats.org/drawingml/2006/main">
              <a:ext uri="{FF2B5EF4-FFF2-40B4-BE49-F238E27FC236}">
                <a16:creationId xmlns:a16="http://schemas.microsoft.com/office/drawing/2014/main" id="{E614DA73-FA1B-4DB1-B3F8-B9CB71F1854E}"/>
              </a:ext>
            </a:extLst>
          </p:cNvPr>
          <p:cNvSpPr>
            <a:spLocks xmlns:a="http://schemas.openxmlformats.org/drawingml/2006/main" noGrp="1"/>
          </p:cNvSpPr>
          <p:nvPr/>
        </p:nvSpPr>
        <p:spPr>
          <a:xfrm xmlns:a="http://schemas.openxmlformats.org/drawingml/2006/main">
            <a:off x="609600" y="4800600"/>
            <a:ext cx="514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2211C"/>
                </a:solidFill>
                <a:latin typeface="Arial"/>
                <a:ea typeface="Arial"/>
                <a:cs typeface="Arial"/>
              </a:defRPr>
            </a:defPPr>
          </a:lstStyle>
          <a:p xmlns:a="http://schemas.openxmlformats.org/drawingml/2006/main">
            <a:pPr algn="l">
              <a:defRPr sz="2100" b="0">
                <a:solidFill>
                  <a:srgbClr val="12211C"/>
                </a:solidFill>
                <a:latin typeface="Arial"/>
                <a:ea typeface="Arial"/>
                <a:cs typeface="Arial"/>
              </a:defRPr>
            </a:pPr>
            <a:r>
              <a:rPr sz="2100" b="0">
                <a:solidFill>
                  <a:srgbClr val="12211C"/>
                </a:solidFill>
                <a:latin typeface="Arial"/>
                <a:ea typeface="Arial"/>
                <a:cs typeface="Arial"/>
              </a:rPr>
              <a:t>Both scores print as 0.500. The UI should use the structured score and supplied threshold.</a:t>
            </a:r>
          </a:p>
        </p:txBody>
      </p:sp>
      <p:sp>
        <p:nvSpPr>
          <p:cNvPr id="6" name="calibration-heading">
            <a:extLst xmlns:a="http://schemas.openxmlformats.org/drawingml/2006/main">
              <a:ext uri="{FF2B5EF4-FFF2-40B4-BE49-F238E27FC236}">
                <a16:creationId xmlns:a16="http://schemas.microsoft.com/office/drawing/2014/main" id="{6ECD7AC6-D253-4162-AA5A-5DF258AAFDCB}"/>
              </a:ext>
            </a:extLst>
          </p:cNvPr>
          <p:cNvSpPr>
            <a:spLocks xmlns:a="http://schemas.openxmlformats.org/drawingml/2006/main" noGrp="1"/>
          </p:cNvSpPr>
          <p:nvPr/>
        </p:nvSpPr>
        <p:spPr>
          <a:xfrm xmlns:a="http://schemas.openxmlformats.org/drawingml/2006/main">
            <a:off x="6724650" y="426720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defRPr sz="2175" b="1">
                <a:solidFill>
                  <a:srgbClr val="12211C"/>
                </a:solidFill>
                <a:latin typeface="Arial"/>
                <a:ea typeface="Arial"/>
                <a:cs typeface="Arial"/>
              </a:defRPr>
            </a:pPr>
            <a:r>
              <a:rPr sz="2175" b="1">
                <a:solidFill>
                  <a:srgbClr val="12211C"/>
                </a:solidFill>
                <a:latin typeface="Arial"/>
                <a:ea typeface="Arial"/>
                <a:cs typeface="Arial"/>
              </a:rPr>
              <a:t>Calibration and uncertainty</a:t>
            </a:r>
          </a:p>
        </p:txBody>
      </p:sp>
      <p:sp>
        <p:nvSpPr>
          <p:cNvPr id="7" name="calibration-body">
            <a:extLst xmlns:a="http://schemas.openxmlformats.org/drawingml/2006/main">
              <a:ext uri="{FF2B5EF4-FFF2-40B4-BE49-F238E27FC236}">
                <a16:creationId xmlns:a16="http://schemas.microsoft.com/office/drawing/2014/main" id="{88490ABD-E8B5-43E1-B4B6-5EA7C949470F}"/>
              </a:ext>
            </a:extLst>
          </p:cNvPr>
          <p:cNvSpPr>
            <a:spLocks xmlns:a="http://schemas.openxmlformats.org/drawingml/2006/main" noGrp="1"/>
          </p:cNvSpPr>
          <p:nvPr/>
        </p:nvSpPr>
        <p:spPr>
          <a:xfrm xmlns:a="http://schemas.openxmlformats.org/drawingml/2006/main">
            <a:off x="6724650" y="4800600"/>
            <a:ext cx="485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2211C"/>
                </a:solidFill>
                <a:latin typeface="Arial"/>
                <a:ea typeface="Arial"/>
                <a:cs typeface="Arial"/>
              </a:defRPr>
            </a:defPPr>
          </a:lstStyle>
          <a:p xmlns:a="http://schemas.openxmlformats.org/drawingml/2006/main">
            <a:pPr algn="l">
              <a:defRPr sz="2100" b="0">
                <a:solidFill>
                  <a:srgbClr val="12211C"/>
                </a:solidFill>
                <a:latin typeface="Arial"/>
                <a:ea typeface="Arial"/>
                <a:cs typeface="Arial"/>
              </a:defRPr>
            </a:pPr>
            <a:r>
              <a:rPr sz="2100" b="0">
                <a:solidFill>
                  <a:srgbClr val="12211C"/>
                </a:solidFill>
                <a:latin typeface="Arial"/>
                <a:ea typeface="Arial"/>
                <a:cs typeface="Arial"/>
              </a:rPr>
              <a:t>Calibration is producer metadata. Score gaps and agreement do not quantify confidence.</a:t>
            </a:r>
          </a:p>
        </p:txBody>
      </p:sp>
      <p:sp>
        <p:nvSpPr>
          <p:cNvPr id="8" name="caption">
            <a:extLst xmlns:a="http://schemas.openxmlformats.org/drawingml/2006/main">
              <a:ext uri="{FF2B5EF4-FFF2-40B4-BE49-F238E27FC236}">
                <a16:creationId xmlns:a16="http://schemas.microsoft.com/office/drawing/2014/main" id="{16416FA4-0E61-47A2-8506-E26C74DE213A}"/>
              </a:ext>
            </a:extLst>
          </p:cNvPr>
          <p:cNvSpPr>
            <a:spLocks xmlns:a="http://schemas.openxmlformats.org/drawingml/2006/main" noGrp="1"/>
          </p:cNvSpPr>
          <p:nvPr/>
        </p:nvSpPr>
        <p:spPr>
          <a:xfrm xmlns:a="http://schemas.openxmlformats.org/drawingml/2006/main">
            <a:off x="609600" y="6286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Missing thresholds remain explicit. The copilot does not infer a default classification threshold.</a:t>
            </a:r>
          </a:p>
        </p:txBody>
      </p:sp>
    </p:spTree>
    <p:extLst>
      <p:ext uri="{BB962C8B-B14F-4D97-AF65-F5344CB8AC3E}">
        <p14:creationId xmlns:p14="http://schemas.microsoft.com/office/powerpoint/2010/main" val="1094545145"/>
      </p:ext>
    </p:extLst>
  </p:cSld>
</p:sld>
</file>

<file path=ppt/slides/slide2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488F1499-63A0-4431-B425-6A27EA670F35}"/>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Patient and evidence edge cases</a:t>
            </a:r>
          </a:p>
        </p:txBody>
      </p:sp>
      <p:graphicFrame>
        <p:nvGraphicFramePr>
          <p:cNvPr id="2" name="evidence-edge-cases">
            <a:extLst xmlns:a="http://schemas.openxmlformats.org/drawingml/2006/main">
              <a:ext uri="{FF2B5EF4-FFF2-40B4-BE49-F238E27FC236}">
                <a16:creationId xmlns:a16="http://schemas.microsoft.com/office/drawing/2014/main" id="{2D7A3ED9-22FD-4D52-87B3-8BA4A63D14D8}"/>
              </a:ext>
            </a:extLst>
          </p:cNvPr>
          <p:cNvGraphicFramePr/>
          <p:nvPr/>
        </p:nvGraphicFramePr>
        <p:xfrm>
          <a:off xmlns:a="http://schemas.openxmlformats.org/drawingml/2006/main" x="609600" y="1562100"/>
          <a:ext xmlns:a="http://schemas.openxmlformats.org/drawingml/2006/main" cx="10972800" cy="4457700"/>
        </p:xfrm>
        <a:graphic xmlns:a="http://schemas.openxmlformats.org/drawingml/2006/main">
          <a:graphicData uri="http://schemas.openxmlformats.org/drawingml/2006/table">
            <a:tbl>
              <a:tblPr firstRow="0" bandRow="0"/>
              <a:tblGrid>
                <a:gridCol w="2876550"/>
                <a:gridCol w="8096250"/>
              </a:tblGrid>
              <a:tr h="457200">
                <a:tc>
                  <a:txBody>
                    <a:bodyPr wrap="square" lIns="133350" tIns="0" rIns="133350" bIns="0" anchor="ctr">
                      <a:noAutofit/>
                    </a:bodyPr>
                    <a:lstStyle/>
                    <a:p>
                      <a:r>
                        <a:rPr sz="1875" b="1">
                          <a:solidFill>
                            <a:srgbClr val="FFFFFF"/>
                          </a:solidFill>
                          <a:latin typeface="Arial"/>
                          <a:ea typeface="Arial"/>
                          <a:cs typeface="Arial"/>
                        </a:rPr>
                        <a:t>Edge case</a:t>
                      </a:r>
                    </a:p>
                  </a:txBody>
                  <a:tcPr marL="133350" marR="133350" marT="0" marB="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0" rIns="133350" bIns="0" anchor="ctr">
                      <a:noAutofit/>
                    </a:bodyPr>
                    <a:lstStyle/>
                    <a:p>
                      <a:r>
                        <a:rPr sz="1875" b="1">
                          <a:solidFill>
                            <a:srgbClr val="FFFFFF"/>
                          </a:solidFill>
                          <a:latin typeface="Arial"/>
                          <a:ea typeface="Arial"/>
                          <a:cs typeface="Arial"/>
                        </a:rPr>
                        <a:t>Current behavior and review action</a:t>
                      </a:r>
                    </a:p>
                  </a:txBody>
                  <a:tcPr marL="133350" marR="133350" marT="0" marB="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800100">
                <a:tc>
                  <a:txBody>
                    <a:bodyPr wrap="square" lIns="133350" tIns="0" rIns="133350" bIns="0" anchor="ctr">
                      <a:noAutofit/>
                    </a:bodyPr>
                    <a:lstStyle/>
                    <a:p>
                      <a:r>
                        <a:rPr sz="1875" b="0">
                          <a:solidFill>
                            <a:srgbClr val="12211C"/>
                          </a:solidFill>
                          <a:latin typeface="Arial"/>
                          <a:ea typeface="Arial"/>
                          <a:cs typeface="Arial"/>
                        </a:rPr>
                        <a:t>Missing mIF or fusion</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The score stays absent. Show availability and avoid inventing a fusion result.</a:t>
                      </a:r>
                    </a:p>
                  </a:txBody>
                  <a:tcPr marL="133350" marR="133350" marT="0" marB="0" anchor="ctr">
                    <a:lnR w="6668">
                      <a:solidFill>
                        <a:srgbClr val="D5DFD7"/>
                      </a:solidFill>
                      <a:prstDash val="solid"/>
                    </a:lnR>
                    <a:lnB w="6668">
                      <a:solidFill>
                        <a:srgbClr val="D5DFD7"/>
                      </a:solidFill>
                      <a:prstDash val="solid"/>
                    </a:lnB>
                    <a:solidFill>
                      <a:srgbClr val="F5F7F4"/>
                    </a:solidFill>
                  </a:tcPr>
                </a:tc>
              </a:tr>
              <a:tr h="800100">
                <a:tc>
                  <a:txBody>
                    <a:bodyPr wrap="square" lIns="133350" tIns="0" rIns="133350" bIns="0" anchor="ctr">
                      <a:noAutofit/>
                    </a:bodyPr>
                    <a:lstStyle/>
                    <a:p>
                      <a:r>
                        <a:rPr sz="1875" b="0">
                          <a:solidFill>
                            <a:srgbClr val="12211C"/>
                          </a:solidFill>
                          <a:latin typeface="Arial"/>
                          <a:ea typeface="Arial"/>
                          <a:cs typeface="Arial"/>
                        </a:rPr>
                        <a:t>ID and context errors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Duplicate IDs and unmatched context records fail. Resolve slide aggregation upstream.</a:t>
                      </a:r>
                    </a:p>
                  </a:txBody>
                  <a:tcPr marL="133350" marR="133350" marT="0" marB="0" anchor="ctr">
                    <a:lnR w="6668">
                      <a:solidFill>
                        <a:srgbClr val="D5DFD7"/>
                      </a:solidFill>
                      <a:prstDash val="solid"/>
                    </a:lnR>
                    <a:lnB w="6668">
                      <a:solidFill>
                        <a:srgbClr val="D5DFD7"/>
                      </a:solidFill>
                      <a:prstDash val="solid"/>
                    </a:lnB>
                    <a:solidFill>
                      <a:srgbClr val="F5F7F4"/>
                    </a:solidFill>
                  </a:tcPr>
                </a:tc>
              </a:tr>
              <a:tr h="800100">
                <a:tc>
                  <a:txBody>
                    <a:bodyPr wrap="square" lIns="133350" tIns="0" rIns="133350" bIns="0" anchor="ctr">
                      <a:noAutofit/>
                    </a:bodyPr>
                    <a:lstStyle/>
                    <a:p>
                      <a:r>
                        <a:rPr sz="1875" b="0">
                          <a:solidFill>
                            <a:srgbClr val="12211C"/>
                          </a:solidFill>
                          <a:latin typeface="Arial"/>
                          <a:ea typeface="Arial"/>
                          <a:cs typeface="Arial"/>
                        </a:rPr>
                        <a:t>Reversed responder class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A valid numeric score can target the wrong class. Confirm class order.</a:t>
                      </a:r>
                    </a:p>
                  </a:txBody>
                  <a:tcPr marL="133350" marR="133350" marT="0" marB="0" anchor="ctr">
                    <a:lnR w="6668">
                      <a:solidFill>
                        <a:srgbClr val="D5DFD7"/>
                      </a:solidFill>
                      <a:prstDash val="solid"/>
                    </a:lnR>
                    <a:lnB w="6668">
                      <a:solidFill>
                        <a:srgbClr val="D5DFD7"/>
                      </a:solidFill>
                      <a:prstDash val="solid"/>
                    </a:lnB>
                    <a:solidFill>
                      <a:srgbClr val="F5F7F4"/>
                    </a:solidFill>
                  </a:tcPr>
                </a:tc>
              </a:tr>
              <a:tr h="800100">
                <a:tc>
                  <a:txBody>
                    <a:bodyPr wrap="square" lIns="133350" tIns="0" rIns="133350" bIns="0" anchor="ctr">
                      <a:noAutofit/>
                    </a:bodyPr>
                    <a:lstStyle/>
                    <a:p>
                      <a:r>
                        <a:rPr sz="1875" b="0">
                          <a:solidFill>
                            <a:srgbClr val="12211C"/>
                          </a:solidFill>
                          <a:latin typeface="Arial"/>
                          <a:ea typeface="Arial"/>
                          <a:cs typeface="Arial"/>
                        </a:rPr>
                        <a:t>Units or attribution signs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Types can pass while meaning is wrong. Verify units, target class and scale.</a:t>
                      </a:r>
                    </a:p>
                  </a:txBody>
                  <a:tcPr marL="133350" marR="133350" marT="0" marB="0" anchor="ctr">
                    <a:lnR w="6668">
                      <a:solidFill>
                        <a:srgbClr val="D5DFD7"/>
                      </a:solidFill>
                      <a:prstDash val="solid"/>
                    </a:lnR>
                    <a:lnB w="6668">
                      <a:solidFill>
                        <a:srgbClr val="D5DFD7"/>
                      </a:solidFill>
                      <a:prstDash val="solid"/>
                    </a:lnB>
                    <a:solidFill>
                      <a:srgbClr val="F5F7F4"/>
                    </a:solidFill>
                  </a:tcPr>
                </a:tc>
              </a:tr>
              <a:tr h="800100">
                <a:tc>
                  <a:txBody>
                    <a:bodyPr wrap="square" lIns="133350" tIns="0" rIns="133350" bIns="0" anchor="ctr">
                      <a:noAutofit/>
                    </a:bodyPr>
                    <a:lstStyle/>
                    <a:p>
                      <a:r>
                        <a:rPr sz="1875" b="0">
                          <a:solidFill>
                            <a:srgbClr val="12211C"/>
                          </a:solidFill>
                          <a:latin typeface="Arial"/>
                          <a:ea typeface="Arial"/>
                          <a:cs typeface="Arial"/>
                        </a:rPr>
                        <a:t>Outcome text in context</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Ground truth is withheld explicitly. Review free text for future-outcome leakage.</a:t>
                      </a:r>
                    </a:p>
                  </a:txBody>
                  <a:tcPr marL="133350" marR="133350" marT="0" marB="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3" name="caption">
            <a:extLst xmlns:a="http://schemas.openxmlformats.org/drawingml/2006/main">
              <a:ext uri="{FF2B5EF4-FFF2-40B4-BE49-F238E27FC236}">
                <a16:creationId xmlns:a16="http://schemas.microsoft.com/office/drawing/2014/main" id="{756941F1-B171-4DD2-A7BA-ADD5F2500104}"/>
              </a:ext>
            </a:extLst>
          </p:cNvPr>
          <p:cNvSpPr>
            <a:spLocks xmlns:a="http://schemas.openxmlformats.org/drawingml/2006/main" noGrp="1"/>
          </p:cNvSpPr>
          <p:nvPr/>
        </p:nvSpPr>
        <p:spPr>
          <a:xfrm xmlns:a="http://schemas.openxmlformats.org/drawingml/2006/main">
            <a:off x="609600" y="6286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Input validation checks field structure. Producers confirm the clinical and study meaning.</a:t>
            </a:r>
          </a:p>
        </p:txBody>
      </p:sp>
    </p:spTree>
    <p:extLst>
      <p:ext uri="{BB962C8B-B14F-4D97-AF65-F5344CB8AC3E}">
        <p14:creationId xmlns:p14="http://schemas.microsoft.com/office/powerpoint/2010/main" val="2145119604"/>
      </p:ext>
    </p:extLst>
  </p:cSld>
</p:sld>
</file>

<file path=ppt/slides/slide2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5FE75A5B-9916-4938-BE33-09260B83E1E0}"/>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Narrative and review limitations</a:t>
            </a:r>
          </a:p>
        </p:txBody>
      </p:sp>
      <p:sp>
        <p:nvSpPr>
          <p:cNvPr id="2" name="model-label">
            <a:extLst xmlns:a="http://schemas.openxmlformats.org/drawingml/2006/main">
              <a:ext uri="{FF2B5EF4-FFF2-40B4-BE49-F238E27FC236}">
                <a16:creationId xmlns:a16="http://schemas.microsoft.com/office/drawing/2014/main" id="{CED59586-C92D-4AE3-8E16-95C772A5CB00}"/>
              </a:ext>
            </a:extLst>
          </p:cNvPr>
          <p:cNvSpPr>
            <a:spLocks xmlns:a="http://schemas.openxmlformats.org/drawingml/2006/main" noGrp="1"/>
          </p:cNvSpPr>
          <p:nvPr/>
        </p:nvSpPr>
        <p:spPr>
          <a:xfrm xmlns:a="http://schemas.openxmlformats.org/drawingml/2006/main">
            <a:off x="609600" y="1619250"/>
            <a:ext cx="3009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defRPr sz="2175" b="1">
                <a:solidFill>
                  <a:srgbClr val="12211C"/>
                </a:solidFill>
                <a:latin typeface="Arial"/>
                <a:ea typeface="Arial"/>
                <a:cs typeface="Arial"/>
              </a:defRPr>
            </a:pPr>
            <a:r>
              <a:rPr sz="2175" b="1">
                <a:solidFill>
                  <a:srgbClr val="12211C"/>
                </a:solidFill>
                <a:latin typeface="Arial"/>
                <a:ea typeface="Arial"/>
                <a:cs typeface="Arial"/>
              </a:rPr>
              <a:t>General instruction model</a:t>
            </a:r>
          </a:p>
        </p:txBody>
      </p:sp>
      <p:sp>
        <p:nvSpPr>
          <p:cNvPr id="3" name="model-body">
            <a:extLst xmlns:a="http://schemas.openxmlformats.org/drawingml/2006/main">
              <a:ext uri="{FF2B5EF4-FFF2-40B4-BE49-F238E27FC236}">
                <a16:creationId xmlns:a16="http://schemas.microsoft.com/office/drawing/2014/main" id="{62D63CA4-AFB9-4C58-8BD9-2E6733F78672}"/>
              </a:ext>
            </a:extLst>
          </p:cNvPr>
          <p:cNvSpPr>
            <a:spLocks xmlns:a="http://schemas.openxmlformats.org/drawingml/2006/main" noGrp="1"/>
          </p:cNvSpPr>
          <p:nvPr/>
        </p:nvSpPr>
        <p:spPr>
          <a:xfrm xmlns:a="http://schemas.openxmlformats.org/drawingml/2006/main">
            <a:off x="4019550" y="1619250"/>
            <a:ext cx="7562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11C"/>
                </a:solidFill>
                <a:latin typeface="Arial"/>
                <a:ea typeface="Arial"/>
                <a:cs typeface="Arial"/>
              </a:defRPr>
            </a:defPPr>
          </a:lstStyle>
          <a:p xmlns:a="http://schemas.openxmlformats.org/drawingml/2006/main">
            <a:pPr algn="l">
              <a:defRPr sz="2175" b="0">
                <a:solidFill>
                  <a:srgbClr val="12211C"/>
                </a:solidFill>
                <a:latin typeface="Arial"/>
                <a:ea typeface="Arial"/>
                <a:cs typeface="Arial"/>
              </a:defRPr>
            </a:pPr>
            <a:r>
              <a:rPr sz="2175" b="0">
                <a:solidFill>
                  <a:srgbClr val="12211C"/>
                </a:solidFill>
                <a:latin typeface="Arial"/>
                <a:ea typeface="Arial"/>
                <a:cs typeface="Arial"/>
              </a:rPr>
              <a:t>NVIDIA documents risks of inaccurate, biased or incomplete answers. Clinical narrative quality remains unverified.</a:t>
            </a:r>
          </a:p>
        </p:txBody>
      </p:sp>
      <p:sp>
        <p:nvSpPr>
          <p:cNvPr id="4" name="screen-label">
            <a:extLst xmlns:a="http://schemas.openxmlformats.org/drawingml/2006/main">
              <a:ext uri="{FF2B5EF4-FFF2-40B4-BE49-F238E27FC236}">
                <a16:creationId xmlns:a16="http://schemas.microsoft.com/office/drawing/2014/main" id="{B3FB55C6-7C7D-4ABF-AF00-3D5923251D6C}"/>
              </a:ext>
            </a:extLst>
          </p:cNvPr>
          <p:cNvSpPr>
            <a:spLocks xmlns:a="http://schemas.openxmlformats.org/drawingml/2006/main" noGrp="1"/>
          </p:cNvSpPr>
          <p:nvPr/>
        </p:nvSpPr>
        <p:spPr>
          <a:xfrm xmlns:a="http://schemas.openxmlformats.org/drawingml/2006/main">
            <a:off x="609600" y="3105150"/>
            <a:ext cx="3009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defRPr sz="2175" b="1">
                <a:solidFill>
                  <a:srgbClr val="12211C"/>
                </a:solidFill>
                <a:latin typeface="Arial"/>
                <a:ea typeface="Arial"/>
                <a:cs typeface="Arial"/>
              </a:defRPr>
            </a:pPr>
            <a:r>
              <a:rPr sz="2175" b="1">
                <a:solidFill>
                  <a:srgbClr val="12211C"/>
                </a:solidFill>
                <a:latin typeface="Arial"/>
                <a:ea typeface="Arial"/>
                <a:cs typeface="Arial"/>
              </a:rPr>
              <a:t>Lexical output screen</a:t>
            </a:r>
          </a:p>
        </p:txBody>
      </p:sp>
      <p:sp>
        <p:nvSpPr>
          <p:cNvPr id="5" name="screen-body">
            <a:extLst xmlns:a="http://schemas.openxmlformats.org/drawingml/2006/main">
              <a:ext uri="{FF2B5EF4-FFF2-40B4-BE49-F238E27FC236}">
                <a16:creationId xmlns:a16="http://schemas.microsoft.com/office/drawing/2014/main" id="{525A2F7F-2230-4AB3-8C43-5F26747C2353}"/>
              </a:ext>
            </a:extLst>
          </p:cNvPr>
          <p:cNvSpPr>
            <a:spLocks xmlns:a="http://schemas.openxmlformats.org/drawingml/2006/main" noGrp="1"/>
          </p:cNvSpPr>
          <p:nvPr/>
        </p:nvSpPr>
        <p:spPr>
          <a:xfrm xmlns:a="http://schemas.openxmlformats.org/drawingml/2006/main">
            <a:off x="4019550" y="3105150"/>
            <a:ext cx="7562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11C"/>
                </a:solidFill>
                <a:latin typeface="Arial"/>
                <a:ea typeface="Arial"/>
                <a:cs typeface="Arial"/>
              </a:defRPr>
            </a:defPPr>
          </a:lstStyle>
          <a:p xmlns:a="http://schemas.openxmlformats.org/drawingml/2006/main">
            <a:pPr algn="l">
              <a:defRPr sz="2175" b="0">
                <a:solidFill>
                  <a:srgbClr val="12211C"/>
                </a:solidFill>
                <a:latin typeface="Arial"/>
                <a:ea typeface="Arial"/>
                <a:cs typeface="Arial"/>
              </a:defRPr>
            </a:pPr>
            <a:r>
              <a:rPr sz="2175" b="0">
                <a:solidFill>
                  <a:srgbClr val="12211C"/>
                </a:solidFill>
                <a:latin typeface="Arial"/>
                <a:ea typeface="Arial"/>
                <a:cs typeface="Arial"/>
              </a:rPr>
              <a:t>Unsupported paraphrases can pass. Harmless negated phrases can trigger a fallback.</a:t>
            </a:r>
          </a:p>
        </p:txBody>
      </p:sp>
      <p:sp>
        <p:nvSpPr>
          <p:cNvPr id="6" name="facts-label">
            <a:extLst xmlns:a="http://schemas.openxmlformats.org/drawingml/2006/main">
              <a:ext uri="{FF2B5EF4-FFF2-40B4-BE49-F238E27FC236}">
                <a16:creationId xmlns:a16="http://schemas.microsoft.com/office/drawing/2014/main" id="{5DDA3200-0602-40BA-8B5E-BDC25A04516C}"/>
              </a:ext>
            </a:extLst>
          </p:cNvPr>
          <p:cNvSpPr>
            <a:spLocks xmlns:a="http://schemas.openxmlformats.org/drawingml/2006/main" noGrp="1"/>
          </p:cNvSpPr>
          <p:nvPr/>
        </p:nvSpPr>
        <p:spPr>
          <a:xfrm xmlns:a="http://schemas.openxmlformats.org/drawingml/2006/main">
            <a:off x="609600" y="4591050"/>
            <a:ext cx="3009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defRPr sz="2175" b="1">
                <a:solidFill>
                  <a:srgbClr val="12211C"/>
                </a:solidFill>
                <a:latin typeface="Arial"/>
                <a:ea typeface="Arial"/>
                <a:cs typeface="Arial"/>
              </a:defRPr>
            </a:pPr>
            <a:r>
              <a:rPr sz="2175" b="1">
                <a:solidFill>
                  <a:srgbClr val="12211C"/>
                </a:solidFill>
                <a:latin typeface="Arial"/>
                <a:ea typeface="Arial"/>
                <a:cs typeface="Arial"/>
              </a:rPr>
              <a:t>Evidence and fallback</a:t>
            </a:r>
          </a:p>
        </p:txBody>
      </p:sp>
      <p:sp>
        <p:nvSpPr>
          <p:cNvPr id="7" name="facts-body">
            <a:extLst xmlns:a="http://schemas.openxmlformats.org/drawingml/2006/main">
              <a:ext uri="{FF2B5EF4-FFF2-40B4-BE49-F238E27FC236}">
                <a16:creationId xmlns:a16="http://schemas.microsoft.com/office/drawing/2014/main" id="{B9B2005B-D2A7-45EE-B415-EC10B63A4195}"/>
              </a:ext>
            </a:extLst>
          </p:cNvPr>
          <p:cNvSpPr>
            <a:spLocks xmlns:a="http://schemas.openxmlformats.org/drawingml/2006/main" noGrp="1"/>
          </p:cNvSpPr>
          <p:nvPr/>
        </p:nvSpPr>
        <p:spPr>
          <a:xfrm xmlns:a="http://schemas.openxmlformats.org/drawingml/2006/main">
            <a:off x="4019550" y="4591050"/>
            <a:ext cx="7562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11C"/>
                </a:solidFill>
                <a:latin typeface="Arial"/>
                <a:ea typeface="Arial"/>
                <a:cs typeface="Arial"/>
              </a:defRPr>
            </a:defPPr>
          </a:lstStyle>
          <a:p xmlns:a="http://schemas.openxmlformats.org/drawingml/2006/main">
            <a:pPr algn="l">
              <a:defRPr sz="2175" b="0">
                <a:solidFill>
                  <a:srgbClr val="12211C"/>
                </a:solidFill>
                <a:latin typeface="Arial"/>
                <a:ea typeface="Arial"/>
                <a:cs typeface="Arial"/>
              </a:defRPr>
            </a:pPr>
            <a:r>
              <a:rPr sz="2175" b="0">
                <a:solidFill>
                  <a:srgbClr val="12211C"/>
                </a:solidFill>
                <a:latin typeface="Arial"/>
                <a:ea typeface="Arial"/>
                <a:cs typeface="Arial"/>
              </a:rPr>
              <a:t>Facts preserve supplied values, including upstream errors. Deterministic fallback also requires human review.</a:t>
            </a:r>
          </a:p>
        </p:txBody>
      </p:sp>
      <p:sp>
        <p:nvSpPr>
          <p:cNvPr id="8" name="caption">
            <a:extLst xmlns:a="http://schemas.openxmlformats.org/drawingml/2006/main">
              <a:ext uri="{FF2B5EF4-FFF2-40B4-BE49-F238E27FC236}">
                <a16:creationId xmlns:a16="http://schemas.microsoft.com/office/drawing/2014/main" id="{6F94AD28-D36B-4C76-9210-3287350D3DC9}"/>
              </a:ext>
            </a:extLst>
          </p:cNvPr>
          <p:cNvSpPr>
            <a:spLocks xmlns:a="http://schemas.openxmlformats.org/drawingml/2006/main" noGrp="1"/>
          </p:cNvSpPr>
          <p:nvPr/>
        </p:nvSpPr>
        <p:spPr>
          <a:xfrm xmlns:a="http://schemas.openxmlformats.org/drawingml/2006/main">
            <a:off x="609600" y="6286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Measure the added value of generated prose against the deterministic template.</a:t>
            </a:r>
          </a:p>
        </p:txBody>
      </p:sp>
    </p:spTree>
    <p:extLst>
      <p:ext uri="{BB962C8B-B14F-4D97-AF65-F5344CB8AC3E}">
        <p14:creationId xmlns:p14="http://schemas.microsoft.com/office/powerpoint/2010/main" val="424125775"/>
      </p:ext>
    </p:extLst>
  </p:cSld>
</p:sld>
</file>

<file path=ppt/slides/slide26.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E3B0F831-68A7-4685-8D5C-E9558E60C3B8}"/>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Runtime and publication edge cases</a:t>
            </a:r>
          </a:p>
        </p:txBody>
      </p:sp>
      <p:graphicFrame>
        <p:nvGraphicFramePr>
          <p:cNvPr id="2" name="runtime-edge-cases">
            <a:extLst xmlns:a="http://schemas.openxmlformats.org/drawingml/2006/main">
              <a:ext uri="{FF2B5EF4-FFF2-40B4-BE49-F238E27FC236}">
                <a16:creationId xmlns:a16="http://schemas.microsoft.com/office/drawing/2014/main" id="{0540E1BE-4F43-4361-9980-F56145292CEA}"/>
              </a:ext>
            </a:extLst>
          </p:cNvPr>
          <p:cNvGraphicFramePr/>
          <p:nvPr/>
        </p:nvGraphicFramePr>
        <p:xfrm>
          <a:off xmlns:a="http://schemas.openxmlformats.org/drawingml/2006/main" x="609600" y="1562100"/>
          <a:ext xmlns:a="http://schemas.openxmlformats.org/drawingml/2006/main" cx="10972800" cy="4457700"/>
        </p:xfrm>
        <a:graphic xmlns:a="http://schemas.openxmlformats.org/drawingml/2006/main">
          <a:graphicData uri="http://schemas.openxmlformats.org/drawingml/2006/table">
            <a:tbl>
              <a:tblPr firstRow="0" bandRow="0"/>
              <a:tblGrid>
                <a:gridCol w="2876550"/>
                <a:gridCol w="8096250"/>
              </a:tblGrid>
              <a:tr h="457200">
                <a:tc>
                  <a:txBody>
                    <a:bodyPr wrap="square" lIns="133350" tIns="0" rIns="133350" bIns="0" anchor="ctr">
                      <a:noAutofit/>
                    </a:bodyPr>
                    <a:lstStyle/>
                    <a:p>
                      <a:r>
                        <a:rPr sz="1875" b="1">
                          <a:solidFill>
                            <a:srgbClr val="FFFFFF"/>
                          </a:solidFill>
                          <a:latin typeface="Arial"/>
                          <a:ea typeface="Arial"/>
                          <a:cs typeface="Arial"/>
                        </a:rPr>
                        <a:t>Trigger</a:t>
                      </a:r>
                    </a:p>
                  </a:txBody>
                  <a:tcPr marL="133350" marR="133350" marT="0" marB="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0" rIns="133350" bIns="0" anchor="ctr">
                      <a:noAutofit/>
                    </a:bodyPr>
                    <a:lstStyle/>
                    <a:p>
                      <a:r>
                        <a:rPr sz="1875" b="1">
                          <a:solidFill>
                            <a:srgbClr val="FFFFFF"/>
                          </a:solidFill>
                          <a:latin typeface="Arial"/>
                          <a:ea typeface="Arial"/>
                          <a:cs typeface="Arial"/>
                        </a:rPr>
                        <a:t>Current behavior and remaining control</a:t>
                      </a:r>
                    </a:p>
                  </a:txBody>
                  <a:tcPr marL="133350" marR="133350" marT="0" marB="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800100">
                <a:tc>
                  <a:txBody>
                    <a:bodyPr wrap="square" lIns="133350" tIns="0" rIns="133350" bIns="0" anchor="ctr">
                      <a:noAutofit/>
                    </a:bodyPr>
                    <a:lstStyle/>
                    <a:p>
                      <a:r>
                        <a:rPr sz="1875" b="0">
                          <a:solidFill>
                            <a:srgbClr val="12211C"/>
                          </a:solidFill>
                          <a:latin typeface="Arial"/>
                          <a:ea typeface="Arial"/>
                          <a:cs typeface="Arial"/>
                        </a:rPr>
                        <a:t>Healthy but cold service</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Health can pass before model loading. Add a generation readiness probe.</a:t>
                      </a:r>
                    </a:p>
                  </a:txBody>
                  <a:tcPr marL="133350" marR="133350" marT="0" marB="0" anchor="ctr">
                    <a:lnR w="6668">
                      <a:solidFill>
                        <a:srgbClr val="D5DFD7"/>
                      </a:solidFill>
                      <a:prstDash val="solid"/>
                    </a:lnR>
                    <a:lnB w="6668">
                      <a:solidFill>
                        <a:srgbClr val="D5DFD7"/>
                      </a:solidFill>
                      <a:prstDash val="solid"/>
                    </a:lnB>
                    <a:solidFill>
                      <a:srgbClr val="F5F7F4"/>
                    </a:solidFill>
                  </a:tcPr>
                </a:tc>
              </a:tr>
              <a:tr h="800100">
                <a:tc>
                  <a:txBody>
                    <a:bodyPr wrap="square" lIns="133350" tIns="0" rIns="133350" bIns="0" anchor="ctr">
                      <a:noAutofit/>
                    </a:bodyPr>
                    <a:lstStyle/>
                    <a:p>
                      <a:r>
                        <a:rPr sz="1875" b="0">
                          <a:solidFill>
                            <a:srgbClr val="12211C"/>
                          </a:solidFill>
                          <a:latin typeface="Arial"/>
                          <a:ea typeface="Arial"/>
                          <a:cs typeface="Arial"/>
                        </a:rPr>
                        <a:t>Context overflow or GPU OOM</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The operation fails. Measure token and VRAM headroom on the A30.</a:t>
                      </a:r>
                    </a:p>
                  </a:txBody>
                  <a:tcPr marL="133350" marR="133350" marT="0" marB="0" anchor="ctr">
                    <a:lnR w="6668">
                      <a:solidFill>
                        <a:srgbClr val="D5DFD7"/>
                      </a:solidFill>
                      <a:prstDash val="solid"/>
                    </a:lnR>
                    <a:lnB w="6668">
                      <a:solidFill>
                        <a:srgbClr val="D5DFD7"/>
                      </a:solidFill>
                      <a:prstDash val="solid"/>
                    </a:lnB>
                    <a:solidFill>
                      <a:srgbClr val="F5F7F4"/>
                    </a:solidFill>
                  </a:tcPr>
                </a:tc>
              </a:tr>
              <a:tr h="800100">
                <a:tc>
                  <a:txBody>
                    <a:bodyPr wrap="square" lIns="133350" tIns="0" rIns="133350" bIns="0" anchor="ctr">
                      <a:noAutofit/>
                    </a:bodyPr>
                    <a:lstStyle/>
                    <a:p>
                      <a:r>
                        <a:rPr sz="1875" b="0">
                          <a:solidFill>
                            <a:srgbClr val="12211C"/>
                          </a:solidFill>
                          <a:latin typeface="Arial"/>
                          <a:ea typeface="Arial"/>
                          <a:cs typeface="Arial"/>
                        </a:rPr>
                        <a:t>Busy GPU or caller retry</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Calls serialize. No bounded queue, inference deadline or retry deduplication.</a:t>
                      </a:r>
                    </a:p>
                  </a:txBody>
                  <a:tcPr marL="133350" marR="133350" marT="0" marB="0" anchor="ctr">
                    <a:lnR w="6668">
                      <a:solidFill>
                        <a:srgbClr val="D5DFD7"/>
                      </a:solidFill>
                      <a:prstDash val="solid"/>
                    </a:lnR>
                    <a:lnB w="6668">
                      <a:solidFill>
                        <a:srgbClr val="D5DFD7"/>
                      </a:solidFill>
                      <a:prstDash val="solid"/>
                    </a:lnB>
                    <a:solidFill>
                      <a:srgbClr val="F5F7F4"/>
                    </a:solidFill>
                  </a:tcPr>
                </a:tc>
              </a:tr>
              <a:tr h="800100">
                <a:tc>
                  <a:txBody>
                    <a:bodyPr wrap="square" lIns="133350" tIns="0" rIns="133350" bIns="0" anchor="ctr">
                      <a:noAutofit/>
                    </a:bodyPr>
                    <a:lstStyle/>
                    <a:p>
                      <a:r>
                        <a:rPr sz="1875" b="0">
                          <a:solidFill>
                            <a:srgbClr val="12211C"/>
                          </a:solidFill>
                          <a:latin typeface="Arial"/>
                          <a:ea typeface="Arial"/>
                          <a:cs typeface="Arial"/>
                        </a:rPr>
                        <a:t>Killed job or storage error</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Ordinary errors avoid partial publication. Checkpoints and crash durability are absent.</a:t>
                      </a:r>
                    </a:p>
                  </a:txBody>
                  <a:tcPr marL="133350" marR="133350" marT="0" marB="0" anchor="ctr">
                    <a:lnR w="6668">
                      <a:solidFill>
                        <a:srgbClr val="D5DFD7"/>
                      </a:solidFill>
                      <a:prstDash val="solid"/>
                    </a:lnR>
                    <a:lnB w="6668">
                      <a:solidFill>
                        <a:srgbClr val="D5DFD7"/>
                      </a:solidFill>
                      <a:prstDash val="solid"/>
                    </a:lnB>
                    <a:solidFill>
                      <a:srgbClr val="F5F7F4"/>
                    </a:solidFill>
                  </a:tcPr>
                </a:tc>
              </a:tr>
              <a:tr h="800100">
                <a:tc>
                  <a:txBody>
                    <a:bodyPr wrap="square" lIns="133350" tIns="0" rIns="133350" bIns="0" anchor="ctr">
                      <a:noAutofit/>
                    </a:bodyPr>
                    <a:lstStyle/>
                    <a:p>
                      <a:r>
                        <a:rPr sz="1875" b="0">
                          <a:solidFill>
                            <a:srgbClr val="12211C"/>
                          </a:solidFill>
                          <a:latin typeface="Arial"/>
                          <a:ea typeface="Arial"/>
                          <a:cs typeface="Arial"/>
                        </a:rPr>
                        <a:t>Sensitive context or API access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Context remains in artifacts. Offline flags do not provide isolation or authentication.</a:t>
                      </a:r>
                    </a:p>
                  </a:txBody>
                  <a:tcPr marL="133350" marR="133350" marT="0" marB="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3" name="caption">
            <a:extLst xmlns:a="http://schemas.openxmlformats.org/drawingml/2006/main">
              <a:ext uri="{FF2B5EF4-FFF2-40B4-BE49-F238E27FC236}">
                <a16:creationId xmlns:a16="http://schemas.microsoft.com/office/drawing/2014/main" id="{C6F6688A-9A4B-458A-ADC9-4A53540450BD}"/>
              </a:ext>
            </a:extLst>
          </p:cNvPr>
          <p:cNvSpPr>
            <a:spLocks xmlns:a="http://schemas.openxmlformats.org/drawingml/2006/main" noGrp="1"/>
          </p:cNvSpPr>
          <p:nvPr/>
        </p:nvSpPr>
        <p:spPr>
          <a:xfrm xmlns:a="http://schemas.openxmlformats.org/drawingml/2006/main">
            <a:off x="609600" y="6286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These operational limits require deployment checks. The current runner does not add these controls.</a:t>
            </a:r>
          </a:p>
        </p:txBody>
      </p:sp>
    </p:spTree>
    <p:extLst>
      <p:ext uri="{BB962C8B-B14F-4D97-AF65-F5344CB8AC3E}">
        <p14:creationId xmlns:p14="http://schemas.microsoft.com/office/powerpoint/2010/main" val="684404892"/>
      </p:ext>
    </p:extLst>
  </p:cSld>
</p:sld>
</file>

<file path=ppt/slides/slide27.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9DA900DD-5A08-424F-84E3-8145B8D25FCE}"/>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Deployment trade-offs</a:t>
            </a:r>
          </a:p>
        </p:txBody>
      </p:sp>
      <p:graphicFrame>
        <p:nvGraphicFramePr>
          <p:cNvPr id="2" name="deployment-tradeoffs">
            <a:extLst xmlns:a="http://schemas.openxmlformats.org/drawingml/2006/main">
              <a:ext uri="{FF2B5EF4-FFF2-40B4-BE49-F238E27FC236}">
                <a16:creationId xmlns:a16="http://schemas.microsoft.com/office/drawing/2014/main" id="{B7E5025C-3385-486B-A7BB-12AA15C79A29}"/>
              </a:ext>
            </a:extLst>
          </p:cNvPr>
          <p:cNvGraphicFramePr/>
          <p:nvPr/>
        </p:nvGraphicFramePr>
        <p:xfrm>
          <a:off xmlns:a="http://schemas.openxmlformats.org/drawingml/2006/main" x="609600" y="1514475"/>
          <a:ext xmlns:a="http://schemas.openxmlformats.org/drawingml/2006/main" cx="10972800" cy="4648200"/>
        </p:xfrm>
        <a:graphic xmlns:a="http://schemas.openxmlformats.org/drawingml/2006/main">
          <a:graphicData uri="http://schemas.openxmlformats.org/drawingml/2006/table">
            <a:tbl>
              <a:tblPr firstRow="0" bandRow="0"/>
              <a:tblGrid>
                <a:gridCol w="2857500"/>
                <a:gridCol w="3600450"/>
                <a:gridCol w="4514850"/>
              </a:tblGrid>
              <a:tr h="457200">
                <a:tc>
                  <a:txBody>
                    <a:bodyPr wrap="square" lIns="133350" tIns="0" rIns="133350" bIns="0" anchor="ctr">
                      <a:noAutofit/>
                    </a:bodyPr>
                    <a:lstStyle/>
                    <a:p>
                      <a:r>
                        <a:rPr sz="1875" b="1">
                          <a:solidFill>
                            <a:srgbClr val="FFFFFF"/>
                          </a:solidFill>
                          <a:latin typeface="Arial"/>
                          <a:ea typeface="Arial"/>
                          <a:cs typeface="Arial"/>
                        </a:rPr>
                        <a:t>Current choice</a:t>
                      </a:r>
                    </a:p>
                  </a:txBody>
                  <a:tcPr marL="133350" marR="133350" marT="0" marB="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0" rIns="133350" bIns="0" anchor="ctr">
                      <a:noAutofit/>
                    </a:bodyPr>
                    <a:lstStyle/>
                    <a:p>
                      <a:r>
                        <a:rPr sz="1875" b="1">
                          <a:solidFill>
                            <a:srgbClr val="FFFFFF"/>
                          </a:solidFill>
                          <a:latin typeface="Arial"/>
                          <a:ea typeface="Arial"/>
                          <a:cs typeface="Arial"/>
                        </a:rPr>
                        <a:t>Benefit</a:t>
                      </a:r>
                    </a:p>
                  </a:txBody>
                  <a:tcPr marL="133350" marR="133350" marT="0" marB="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0" rIns="133350" bIns="0" anchor="ctr">
                      <a:noAutofit/>
                    </a:bodyPr>
                    <a:lstStyle/>
                    <a:p>
                      <a:r>
                        <a:rPr sz="1875" b="1">
                          <a:solidFill>
                            <a:srgbClr val="FFFFFF"/>
                          </a:solidFill>
                          <a:latin typeface="Arial"/>
                          <a:ea typeface="Arial"/>
                          <a:cs typeface="Arial"/>
                        </a:rPr>
                        <a:t>Cost or decision</a:t>
                      </a:r>
                    </a:p>
                  </a:txBody>
                  <a:tcPr marL="133350" marR="133350" marT="0" marB="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1047750">
                <a:tc>
                  <a:txBody>
                    <a:bodyPr wrap="square" lIns="133350" tIns="0" rIns="133350" bIns="0" anchor="ctr">
                      <a:noAutofit/>
                    </a:bodyPr>
                    <a:lstStyle/>
                    <a:p>
                      <a:r>
                        <a:rPr sz="1875" b="0">
                          <a:solidFill>
                            <a:srgbClr val="12211C"/>
                          </a:solidFill>
                          <a:latin typeface="Arial"/>
                          <a:ea typeface="Arial"/>
                          <a:cs typeface="Arial"/>
                        </a:rPr>
                        <a:t>Local Nemotron 4B</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Targets one local GPU.</a:t>
                      </a:r>
                    </a:p>
                  </a:txBody>
                  <a:tcPr marL="133350" marR="133350" marT="0" marB="0" anchor="ctr">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Narrative quality needs review. Larger-model benefit remains untested.</a:t>
                      </a:r>
                    </a:p>
                  </a:txBody>
                  <a:tcPr marL="133350" marR="133350" marT="0" marB="0" anchor="ctr">
                    <a:lnR w="6668">
                      <a:solidFill>
                        <a:srgbClr val="D5DFD7"/>
                      </a:solidFill>
                      <a:prstDash val="solid"/>
                    </a:lnR>
                    <a:lnB w="6668">
                      <a:solidFill>
                        <a:srgbClr val="D5DFD7"/>
                      </a:solidFill>
                      <a:prstDash val="solid"/>
                    </a:lnB>
                    <a:solidFill>
                      <a:srgbClr val="F5F7F4"/>
                    </a:solidFill>
                  </a:tcPr>
                </a:tc>
              </a:tr>
              <a:tr h="1047750">
                <a:tc>
                  <a:txBody>
                    <a:bodyPr wrap="square" lIns="133350" tIns="0" rIns="133350" bIns="0" anchor="ctr">
                      <a:noAutofit/>
                    </a:bodyPr>
                    <a:lstStyle/>
                    <a:p>
                      <a:r>
                        <a:rPr sz="1875" b="0">
                          <a:solidFill>
                            <a:srgbClr val="12211C"/>
                          </a:solidFill>
                          <a:latin typeface="Arial"/>
                          <a:ea typeface="Arial"/>
                          <a:cs typeface="Arial"/>
                        </a:rPr>
                        <a:t>Unquantized BF16</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Explicit runtime and precision.</a:t>
                      </a:r>
                    </a:p>
                  </a:txBody>
                  <a:tcPr marL="133350" marR="133350" marT="0" marB="0" anchor="ctr">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Measure VRAM first. Quantization needs fresh validation.</a:t>
                      </a:r>
                    </a:p>
                  </a:txBody>
                  <a:tcPr marL="133350" marR="133350" marT="0" marB="0" anchor="ctr">
                    <a:lnR w="6668">
                      <a:solidFill>
                        <a:srgbClr val="D5DFD7"/>
                      </a:solidFill>
                      <a:prstDash val="solid"/>
                    </a:lnR>
                    <a:lnB w="6668">
                      <a:solidFill>
                        <a:srgbClr val="D5DFD7"/>
                      </a:solidFill>
                      <a:prstDash val="solid"/>
                    </a:lnB>
                    <a:solidFill>
                      <a:srgbClr val="F5F7F4"/>
                    </a:solidFill>
                  </a:tcPr>
                </a:tc>
              </a:tr>
              <a:tr h="1047750">
                <a:tc>
                  <a:txBody>
                    <a:bodyPr wrap="square" lIns="133350" tIns="0" rIns="133350" bIns="0" anchor="ctr">
                      <a:noAutofit/>
                    </a:bodyPr>
                    <a:lstStyle/>
                    <a:p>
                      <a:r>
                        <a:rPr sz="1875" b="0">
                          <a:solidFill>
                            <a:srgbClr val="12211C"/>
                          </a:solidFill>
                          <a:latin typeface="Arial"/>
                          <a:ea typeface="Arial"/>
                          <a:cs typeface="Arial"/>
                        </a:rPr>
                        <a:t>Bounded evidence</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Limits prompt size and excess text.</a:t>
                      </a:r>
                    </a:p>
                  </a:txBody>
                  <a:tcPr marL="133350" marR="133350" marT="0" marB="0" anchor="ctr">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Owners select evidence. Long prompts fail instead of truncating.</a:t>
                      </a:r>
                    </a:p>
                  </a:txBody>
                  <a:tcPr marL="133350" marR="133350" marT="0" marB="0" anchor="ctr">
                    <a:lnR w="6668">
                      <a:solidFill>
                        <a:srgbClr val="D5DFD7"/>
                      </a:solidFill>
                      <a:prstDash val="solid"/>
                    </a:lnR>
                    <a:lnB w="6668">
                      <a:solidFill>
                        <a:srgbClr val="D5DFD7"/>
                      </a:solidFill>
                      <a:prstDash val="solid"/>
                    </a:lnB>
                    <a:solidFill>
                      <a:srgbClr val="F5F7F4"/>
                    </a:solidFill>
                  </a:tcPr>
                </a:tc>
              </a:tr>
              <a:tr h="1047750">
                <a:tc>
                  <a:txBody>
                    <a:bodyPr wrap="square" lIns="133350" tIns="0" rIns="133350" bIns="0" anchor="ctr">
                      <a:noAutofit/>
                    </a:bodyPr>
                    <a:lstStyle/>
                    <a:p>
                      <a:r>
                        <a:rPr sz="1875" b="0">
                          <a:solidFill>
                            <a:srgbClr val="12211C"/>
                          </a:solidFill>
                          <a:latin typeface="Arial"/>
                          <a:ea typeface="Arial"/>
                          <a:cs typeface="Arial"/>
                        </a:rPr>
                        <a:t>Strict canonical contract</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Exposes malformed exports and joins.</a:t>
                      </a:r>
                    </a:p>
                  </a:txBody>
                  <a:tcPr marL="133350" marR="133350" marT="0" marB="0" anchor="ctr">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New fields or H&amp;E require explicit adapters and versioning.</a:t>
                      </a:r>
                    </a:p>
                  </a:txBody>
                  <a:tcPr marL="133350" marR="133350" marT="0" marB="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3" name="caption">
            <a:extLst xmlns:a="http://schemas.openxmlformats.org/drawingml/2006/main">
              <a:ext uri="{FF2B5EF4-FFF2-40B4-BE49-F238E27FC236}">
                <a16:creationId xmlns:a16="http://schemas.microsoft.com/office/drawing/2014/main" id="{A906A7CE-CD6E-44A0-9E3E-89E41E463DCA}"/>
              </a:ext>
            </a:extLst>
          </p:cNvPr>
          <p:cNvSpPr>
            <a:spLocks xmlns:a="http://schemas.openxmlformats.org/drawingml/2006/main" noGrp="1"/>
          </p:cNvSpPr>
          <p:nvPr/>
        </p:nvSpPr>
        <p:spPr>
          <a:xfrm xmlns:a="http://schemas.openxmlformats.org/drawingml/2006/main">
            <a:off x="609600" y="6286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Compare alternatives after defining review criteria. No performance or quality advantage is assumed.</a:t>
            </a:r>
          </a:p>
        </p:txBody>
      </p:sp>
    </p:spTree>
    <p:extLst>
      <p:ext uri="{BB962C8B-B14F-4D97-AF65-F5344CB8AC3E}">
        <p14:creationId xmlns:p14="http://schemas.microsoft.com/office/powerpoint/2010/main" val="1705983655"/>
      </p:ext>
    </p:extLst>
  </p:cSld>
</p:sld>
</file>

<file path=ppt/slides/slide28.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3E90CB11-CB02-4A61-A4CD-B7214153BD04}"/>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Demo and modeling trade-offs</a:t>
            </a:r>
          </a:p>
        </p:txBody>
      </p:sp>
      <p:graphicFrame>
        <p:nvGraphicFramePr>
          <p:cNvPr id="2" name="demo-modeling-tradeoffs">
            <a:extLst xmlns:a="http://schemas.openxmlformats.org/drawingml/2006/main">
              <a:ext uri="{FF2B5EF4-FFF2-40B4-BE49-F238E27FC236}">
                <a16:creationId xmlns:a16="http://schemas.microsoft.com/office/drawing/2014/main" id="{5F6980AF-13F1-4A1C-A0F0-0A40CD32E64B}"/>
              </a:ext>
            </a:extLst>
          </p:cNvPr>
          <p:cNvGraphicFramePr/>
          <p:nvPr/>
        </p:nvGraphicFramePr>
        <p:xfrm>
          <a:off xmlns:a="http://schemas.openxmlformats.org/drawingml/2006/main" x="609600" y="1514475"/>
          <a:ext xmlns:a="http://schemas.openxmlformats.org/drawingml/2006/main" cx="10972800" cy="4648200"/>
        </p:xfrm>
        <a:graphic xmlns:a="http://schemas.openxmlformats.org/drawingml/2006/main">
          <a:graphicData uri="http://schemas.openxmlformats.org/drawingml/2006/table">
            <a:tbl>
              <a:tblPr firstRow="0" bandRow="0"/>
              <a:tblGrid>
                <a:gridCol w="2857500"/>
                <a:gridCol w="3600450"/>
                <a:gridCol w="4514850"/>
              </a:tblGrid>
              <a:tr h="457200">
                <a:tc>
                  <a:txBody>
                    <a:bodyPr wrap="square" lIns="133350" tIns="0" rIns="133350" bIns="0" anchor="ctr">
                      <a:noAutofit/>
                    </a:bodyPr>
                    <a:lstStyle/>
                    <a:p>
                      <a:r>
                        <a:rPr sz="1875" b="1">
                          <a:solidFill>
                            <a:srgbClr val="FFFFFF"/>
                          </a:solidFill>
                          <a:latin typeface="Arial"/>
                          <a:ea typeface="Arial"/>
                          <a:cs typeface="Arial"/>
                        </a:rPr>
                        <a:t>Choice</a:t>
                      </a:r>
                    </a:p>
                  </a:txBody>
                  <a:tcPr marL="133350" marR="133350" marT="0" marB="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0" rIns="133350" bIns="0" anchor="ctr">
                      <a:noAutofit/>
                    </a:bodyPr>
                    <a:lstStyle/>
                    <a:p>
                      <a:r>
                        <a:rPr sz="1875" b="1">
                          <a:solidFill>
                            <a:srgbClr val="FFFFFF"/>
                          </a:solidFill>
                          <a:latin typeface="Arial"/>
                          <a:ea typeface="Arial"/>
                          <a:cs typeface="Arial"/>
                        </a:rPr>
                        <a:t>Benefit</a:t>
                      </a:r>
                    </a:p>
                  </a:txBody>
                  <a:tcPr marL="133350" marR="133350" marT="0" marB="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0" rIns="133350" bIns="0" anchor="ctr">
                      <a:noAutofit/>
                    </a:bodyPr>
                    <a:lstStyle/>
                    <a:p>
                      <a:r>
                        <a:rPr sz="1875" b="1">
                          <a:solidFill>
                            <a:srgbClr val="FFFFFF"/>
                          </a:solidFill>
                          <a:latin typeface="Arial"/>
                          <a:ea typeface="Arial"/>
                          <a:cs typeface="Arial"/>
                        </a:rPr>
                        <a:t>Cost or decision</a:t>
                      </a:r>
                    </a:p>
                  </a:txBody>
                  <a:tcPr marL="133350" marR="133350" marT="0" marB="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1047750">
                <a:tc>
                  <a:txBody>
                    <a:bodyPr wrap="square" lIns="133350" tIns="0" rIns="133350" bIns="0" anchor="ctr">
                      <a:noAutofit/>
                    </a:bodyPr>
                    <a:lstStyle/>
                    <a:p>
                      <a:r>
                        <a:rPr sz="1875" b="0">
                          <a:solidFill>
                            <a:srgbClr val="12211C"/>
                          </a:solidFill>
                          <a:latin typeface="Arial"/>
                          <a:ea typeface="Arial"/>
                          <a:cs typeface="Arial"/>
                        </a:rPr>
                        <a:t>Screened prose or templates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Prose may improve readability.</a:t>
                      </a:r>
                    </a:p>
                  </a:txBody>
                  <a:tcPr marL="133350" marR="133350" marT="0" marB="0" anchor="ctr">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Compare added value. Both paths still require evidence review.</a:t>
                      </a:r>
                    </a:p>
                  </a:txBody>
                  <a:tcPr marL="133350" marR="133350" marT="0" marB="0" anchor="ctr">
                    <a:lnR w="6668">
                      <a:solidFill>
                        <a:srgbClr val="D5DFD7"/>
                      </a:solidFill>
                      <a:prstDash val="solid"/>
                    </a:lnR>
                    <a:lnB w="6668">
                      <a:solidFill>
                        <a:srgbClr val="D5DFD7"/>
                      </a:solidFill>
                      <a:prstDash val="solid"/>
                    </a:lnB>
                    <a:solidFill>
                      <a:srgbClr val="F5F7F4"/>
                    </a:solidFill>
                  </a:tcPr>
                </a:tc>
              </a:tr>
              <a:tr h="1047750">
                <a:tc>
                  <a:txBody>
                    <a:bodyPr wrap="square" lIns="133350" tIns="0" rIns="133350" bIns="0" anchor="ctr">
                      <a:noAutofit/>
                    </a:bodyPr>
                    <a:lstStyle/>
                    <a:p>
                      <a:r>
                        <a:rPr sz="1875" b="0">
                          <a:solidFill>
                            <a:srgbClr val="12211C"/>
                          </a:solidFill>
                          <a:latin typeface="Arial"/>
                          <a:ea typeface="Arial"/>
                          <a:cs typeface="Arial"/>
                        </a:rPr>
                        <a:t>Completed files or live API</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Files provide a stable reviewed demo.</a:t>
                      </a:r>
                    </a:p>
                  </a:txBody>
                  <a:tcPr marL="133350" marR="133350" marT="0" marB="0" anchor="ctr">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Live interaction needs cold-load and overload testing.</a:t>
                      </a:r>
                    </a:p>
                  </a:txBody>
                  <a:tcPr marL="133350" marR="133350" marT="0" marB="0" anchor="ctr">
                    <a:lnR w="6668">
                      <a:solidFill>
                        <a:srgbClr val="D5DFD7"/>
                      </a:solidFill>
                      <a:prstDash val="solid"/>
                    </a:lnR>
                    <a:lnB w="6668">
                      <a:solidFill>
                        <a:srgbClr val="D5DFD7"/>
                      </a:solidFill>
                      <a:prstDash val="solid"/>
                    </a:lnB>
                    <a:solidFill>
                      <a:srgbClr val="F5F7F4"/>
                    </a:solidFill>
                  </a:tcPr>
                </a:tc>
              </a:tr>
              <a:tr h="1047750">
                <a:tc>
                  <a:txBody>
                    <a:bodyPr wrap="square" lIns="133350" tIns="0" rIns="133350" bIns="0" anchor="ctr">
                      <a:noAutofit/>
                    </a:bodyPr>
                    <a:lstStyle/>
                    <a:p>
                      <a:r>
                        <a:rPr sz="1875" b="0">
                          <a:solidFill>
                            <a:srgbClr val="12211C"/>
                          </a:solidFill>
                          <a:latin typeface="Arial"/>
                          <a:ea typeface="Arial"/>
                          <a:cs typeface="Arial"/>
                        </a:rPr>
                        <a:t>Paired or available cohorts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Paired scores use identical patients.</a:t>
                      </a:r>
                    </a:p>
                  </a:txBody>
                  <a:tcPr marL="133350" marR="133350" marT="0" marB="0" anchor="ctr">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Smaller selected cohort. Report clinical-only results separately.</a:t>
                      </a:r>
                    </a:p>
                  </a:txBody>
                  <a:tcPr marL="133350" marR="133350" marT="0" marB="0" anchor="ctr">
                    <a:lnR w="6668">
                      <a:solidFill>
                        <a:srgbClr val="D5DFD7"/>
                      </a:solidFill>
                      <a:prstDash val="solid"/>
                    </a:lnR>
                    <a:lnB w="6668">
                      <a:solidFill>
                        <a:srgbClr val="D5DFD7"/>
                      </a:solidFill>
                      <a:prstDash val="solid"/>
                    </a:lnB>
                    <a:solidFill>
                      <a:srgbClr val="F5F7F4"/>
                    </a:solidFill>
                  </a:tcPr>
                </a:tc>
              </a:tr>
              <a:tr h="1047750">
                <a:tc>
                  <a:txBody>
                    <a:bodyPr wrap="square" lIns="133350" tIns="0" rIns="133350" bIns="0" anchor="ctr">
                      <a:noAutofit/>
                    </a:bodyPr>
                    <a:lstStyle/>
                    <a:p>
                      <a:r>
                        <a:rPr sz="1875" b="0">
                          <a:solidFill>
                            <a:srgbClr val="12211C"/>
                          </a:solidFill>
                          <a:latin typeface="Arial"/>
                          <a:ea typeface="Arial"/>
                          <a:cs typeface="Arial"/>
                        </a:rPr>
                        <a:t>Simple or complex fusion</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A simple baseline limits tuning.</a:t>
                      </a:r>
                    </a:p>
                  </a:txBody>
                  <a:tcPr marL="133350" marR="133350" marT="0" marB="0" anchor="ctr">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Assign an owner. Complexity needs valid folds and more evidence.</a:t>
                      </a:r>
                    </a:p>
                  </a:txBody>
                  <a:tcPr marL="133350" marR="133350" marT="0" marB="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3" name="caption">
            <a:extLst xmlns:a="http://schemas.openxmlformats.org/drawingml/2006/main">
              <a:ext uri="{FF2B5EF4-FFF2-40B4-BE49-F238E27FC236}">
                <a16:creationId xmlns:a16="http://schemas.microsoft.com/office/drawing/2014/main" id="{58926F20-AFB9-4C90-92F0-699E94DF89B7}"/>
              </a:ext>
            </a:extLst>
          </p:cNvPr>
          <p:cNvSpPr>
            <a:spLocks xmlns:a="http://schemas.openxmlformats.org/drawingml/2006/main" noGrp="1"/>
          </p:cNvSpPr>
          <p:nvPr/>
        </p:nvSpPr>
        <p:spPr>
          <a:xfrm xmlns:a="http://schemas.openxmlformats.org/drawingml/2006/main">
            <a:off x="609600" y="6286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Proposed hackathon approach: reviewed files, an explicit fusion baseline and exploratory paired evaluation.</a:t>
            </a:r>
          </a:p>
        </p:txBody>
      </p:sp>
    </p:spTree>
    <p:extLst>
      <p:ext uri="{BB962C8B-B14F-4D97-AF65-F5344CB8AC3E}">
        <p14:creationId xmlns:p14="http://schemas.microsoft.com/office/powerpoint/2010/main" val="906424566"/>
      </p:ext>
    </p:extLst>
  </p:cSld>
</p:sld>
</file>

<file path=ppt/slides/slide29.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4EA80634-4C4C-4146-B506-B7357491DDC5}"/>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Edge-case acceptance checks</a:t>
            </a:r>
          </a:p>
        </p:txBody>
      </p:sp>
      <p:sp>
        <p:nvSpPr>
          <p:cNvPr id="2" name="proposed-label">
            <a:extLst xmlns:a="http://schemas.openxmlformats.org/drawingml/2006/main">
              <a:ext uri="{FF2B5EF4-FFF2-40B4-BE49-F238E27FC236}">
                <a16:creationId xmlns:a16="http://schemas.microsoft.com/office/drawing/2014/main" id="{55282838-5AC0-41D1-A06F-91D6533C55A2}"/>
              </a:ext>
            </a:extLst>
          </p:cNvPr>
          <p:cNvSpPr>
            <a:spLocks xmlns:a="http://schemas.openxmlformats.org/drawingml/2006/main" noGrp="1"/>
          </p:cNvSpPr>
          <p:nvPr/>
        </p:nvSpPr>
        <p:spPr>
          <a:xfrm xmlns:a="http://schemas.openxmlformats.org/drawingml/2006/main">
            <a:off x="609600" y="12858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1655B"/>
                </a:solidFill>
                <a:latin typeface="Arial"/>
                <a:ea typeface="Arial"/>
                <a:cs typeface="Arial"/>
              </a:defRPr>
            </a:defPPr>
          </a:lstStyle>
          <a:p xmlns:a="http://schemas.openxmlformats.org/drawingml/2006/main">
            <a:pPr algn="l">
              <a:defRPr sz="1950" b="0">
                <a:solidFill>
                  <a:srgbClr val="51655B"/>
                </a:solidFill>
                <a:latin typeface="Arial"/>
                <a:ea typeface="Arial"/>
                <a:cs typeface="Arial"/>
              </a:defRPr>
            </a:pPr>
            <a:r>
              <a:rPr sz="1950" b="0">
                <a:solidFill>
                  <a:srgbClr val="51655B"/>
                </a:solidFill>
                <a:latin typeface="Arial"/>
                <a:ea typeface="Arial"/>
                <a:cs typeface="Arial"/>
              </a:rPr>
              <a:t>Proposed checks before accepting the real-data demo</a:t>
            </a:r>
          </a:p>
        </p:txBody>
      </p:sp>
      <p:graphicFrame>
        <p:nvGraphicFramePr>
          <p:cNvPr id="3" name="edge-case-acceptance">
            <a:extLst xmlns:a="http://schemas.openxmlformats.org/drawingml/2006/main">
              <a:ext uri="{FF2B5EF4-FFF2-40B4-BE49-F238E27FC236}">
                <a16:creationId xmlns:a16="http://schemas.microsoft.com/office/drawing/2014/main" id="{9E17303F-6D2B-414F-80CA-3C08A8E611EC}"/>
              </a:ext>
            </a:extLst>
          </p:cNvPr>
          <p:cNvGraphicFramePr/>
          <p:nvPr/>
        </p:nvGraphicFramePr>
        <p:xfrm>
          <a:off xmlns:a="http://schemas.openxmlformats.org/drawingml/2006/main" x="609600" y="1781175"/>
          <a:ext xmlns:a="http://schemas.openxmlformats.org/drawingml/2006/main" cx="10972800" cy="4362450"/>
        </p:xfrm>
        <a:graphic xmlns:a="http://schemas.openxmlformats.org/drawingml/2006/main">
          <a:graphicData uri="http://schemas.openxmlformats.org/drawingml/2006/table">
            <a:tbl>
              <a:tblPr firstRow="0" bandRow="0"/>
              <a:tblGrid>
                <a:gridCol w="3276600"/>
                <a:gridCol w="7696200"/>
              </a:tblGrid>
              <a:tr h="457200">
                <a:tc>
                  <a:txBody>
                    <a:bodyPr wrap="square" lIns="133350" tIns="0" rIns="133350" bIns="0" anchor="ctr">
                      <a:noAutofit/>
                    </a:bodyPr>
                    <a:lstStyle/>
                    <a:p>
                      <a:r>
                        <a:rPr sz="1875" b="1">
                          <a:solidFill>
                            <a:srgbClr val="FFFFFF"/>
                          </a:solidFill>
                          <a:latin typeface="Arial"/>
                          <a:ea typeface="Arial"/>
                          <a:cs typeface="Arial"/>
                        </a:rPr>
                        <a:t>Scenario</a:t>
                      </a:r>
                    </a:p>
                  </a:txBody>
                  <a:tcPr marL="133350" marR="133350" marT="0" marB="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0" rIns="133350" bIns="0" anchor="ctr">
                      <a:noAutofit/>
                    </a:bodyPr>
                    <a:lstStyle/>
                    <a:p>
                      <a:r>
                        <a:rPr sz="1875" b="1">
                          <a:solidFill>
                            <a:srgbClr val="FFFFFF"/>
                          </a:solidFill>
                          <a:latin typeface="Arial"/>
                          <a:ea typeface="Arial"/>
                          <a:cs typeface="Arial"/>
                        </a:rPr>
                        <a:t>Expected acceptance evidence</a:t>
                      </a:r>
                    </a:p>
                  </a:txBody>
                  <a:tcPr marL="133350" marR="133350" marT="0" marB="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781050">
                <a:tc>
                  <a:txBody>
                    <a:bodyPr wrap="square" lIns="133350" tIns="0" rIns="133350" bIns="0" anchor="ctr">
                      <a:noAutofit/>
                    </a:bodyPr>
                    <a:lstStyle/>
                    <a:p>
                      <a:r>
                        <a:rPr sz="1875" b="0">
                          <a:solidFill>
                            <a:srgbClr val="12211C"/>
                          </a:solidFill>
                          <a:latin typeface="Arial"/>
                          <a:ea typeface="Arial"/>
                          <a:cs typeface="Arial"/>
                        </a:rPr>
                        <a:t>Wrong class, unit or timepoint</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Producer review catches semantic errors before release.</a:t>
                      </a:r>
                    </a:p>
                  </a:txBody>
                  <a:tcPr marL="133350" marR="133350" marT="0" marB="0" anchor="ctr">
                    <a:lnR w="6668">
                      <a:solidFill>
                        <a:srgbClr val="D5DFD7"/>
                      </a:solidFill>
                      <a:prstDash val="solid"/>
                    </a:lnR>
                    <a:lnB w="6668">
                      <a:solidFill>
                        <a:srgbClr val="D5DFD7"/>
                      </a:solidFill>
                      <a:prstDash val="solid"/>
                    </a:lnB>
                    <a:solidFill>
                      <a:srgbClr val="F5F7F4"/>
                    </a:solidFill>
                  </a:tcPr>
                </a:tc>
              </a:tr>
              <a:tr h="781050">
                <a:tc>
                  <a:txBody>
                    <a:bodyPr wrap="square" lIns="133350" tIns="0" rIns="133350" bIns="0" anchor="ctr">
                      <a:noAutofit/>
                    </a:bodyPr>
                    <a:lstStyle/>
                    <a:p>
                      <a:r>
                        <a:rPr sz="1875" b="0">
                          <a:solidFill>
                            <a:srgbClr val="12211C"/>
                          </a:solidFill>
                          <a:latin typeface="Arial"/>
                          <a:ea typeface="Arial"/>
                          <a:cs typeface="Arial"/>
                        </a:rPr>
                        <a:t>Missing score or rounded tie</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The UI shows availability, adequate precision and supplied thresholds.</a:t>
                      </a:r>
                    </a:p>
                  </a:txBody>
                  <a:tcPr marL="133350" marR="133350" marT="0" marB="0" anchor="ctr">
                    <a:lnR w="6668">
                      <a:solidFill>
                        <a:srgbClr val="D5DFD7"/>
                      </a:solidFill>
                      <a:prstDash val="solid"/>
                    </a:lnR>
                    <a:lnB w="6668">
                      <a:solidFill>
                        <a:srgbClr val="D5DFD7"/>
                      </a:solidFill>
                      <a:prstDash val="solid"/>
                    </a:lnB>
                    <a:solidFill>
                      <a:srgbClr val="F5F7F4"/>
                    </a:solidFill>
                  </a:tcPr>
                </a:tc>
              </a:tr>
              <a:tr h="781050">
                <a:tc>
                  <a:txBody>
                    <a:bodyPr wrap="square" lIns="133350" tIns="0" rIns="133350" bIns="0" anchor="ctr">
                      <a:noAutofit/>
                    </a:bodyPr>
                    <a:lstStyle/>
                    <a:p>
                      <a:r>
                        <a:rPr sz="1875" b="0">
                          <a:solidFill>
                            <a:srgbClr val="12211C"/>
                          </a:solidFill>
                          <a:latin typeface="Arial"/>
                          <a:ea typeface="Arial"/>
                          <a:cs typeface="Arial"/>
                        </a:rPr>
                        <a:t>No eligible labels or one class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Metrics keep exclusions explicit. Undefined AUROC stays null.</a:t>
                      </a:r>
                    </a:p>
                  </a:txBody>
                  <a:tcPr marL="133350" marR="133350" marT="0" marB="0" anchor="ctr">
                    <a:lnR w="6668">
                      <a:solidFill>
                        <a:srgbClr val="D5DFD7"/>
                      </a:solidFill>
                      <a:prstDash val="solid"/>
                    </a:lnR>
                    <a:lnB w="6668">
                      <a:solidFill>
                        <a:srgbClr val="D5DFD7"/>
                      </a:solidFill>
                      <a:prstDash val="solid"/>
                    </a:lnB>
                    <a:solidFill>
                      <a:srgbClr val="F5F7F4"/>
                    </a:solidFill>
                  </a:tcPr>
                </a:tc>
              </a:tr>
              <a:tr h="781050">
                <a:tc>
                  <a:txBody>
                    <a:bodyPr wrap="square" lIns="133350" tIns="0" rIns="133350" bIns="0" anchor="ctr">
                      <a:noAutofit/>
                    </a:bodyPr>
                    <a:lstStyle/>
                    <a:p>
                      <a:r>
                        <a:rPr sz="1875" b="0">
                          <a:solidFill>
                            <a:srgbClr val="12211C"/>
                          </a:solidFill>
                          <a:latin typeface="Arial"/>
                          <a:ea typeface="Arial"/>
                          <a:cs typeface="Arial"/>
                        </a:rPr>
                        <a:t>Passed or fallback narrative</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Review unsupported claims and omissions. Record source and rejection issues.</a:t>
                      </a:r>
                    </a:p>
                  </a:txBody>
                  <a:tcPr marL="133350" marR="133350" marT="0" marB="0" anchor="ctr">
                    <a:lnR w="6668">
                      <a:solidFill>
                        <a:srgbClr val="D5DFD7"/>
                      </a:solidFill>
                      <a:prstDash val="solid"/>
                    </a:lnR>
                    <a:lnB w="6668">
                      <a:solidFill>
                        <a:srgbClr val="D5DFD7"/>
                      </a:solidFill>
                      <a:prstDash val="solid"/>
                    </a:lnB>
                    <a:solidFill>
                      <a:srgbClr val="F5F7F4"/>
                    </a:solidFill>
                  </a:tcPr>
                </a:tc>
              </a:tr>
              <a:tr h="781050">
                <a:tc>
                  <a:txBody>
                    <a:bodyPr wrap="square" lIns="133350" tIns="0" rIns="133350" bIns="0" anchor="ctr">
                      <a:noAutofit/>
                    </a:bodyPr>
                    <a:lstStyle/>
                    <a:p>
                      <a:r>
                        <a:rPr sz="1875" b="0">
                          <a:solidFill>
                            <a:srgbClr val="12211C"/>
                          </a:solidFill>
                          <a:latin typeface="Arial"/>
                          <a:ea typeface="Arial"/>
                          <a:cs typeface="Arial"/>
                        </a:rPr>
                        <a:t>Cold, long or busy GPU request</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Real A30 checks expose readiness, failures and agreed latency limits.</a:t>
                      </a:r>
                    </a:p>
                  </a:txBody>
                  <a:tcPr marL="133350" marR="133350" marT="0" marB="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4" name="caption">
            <a:extLst xmlns:a="http://schemas.openxmlformats.org/drawingml/2006/main">
              <a:ext uri="{FF2B5EF4-FFF2-40B4-BE49-F238E27FC236}">
                <a16:creationId xmlns:a16="http://schemas.microsoft.com/office/drawing/2014/main" id="{EA32B42F-29E0-4A92-893B-D883BB9AE2C0}"/>
              </a:ext>
            </a:extLst>
          </p:cNvPr>
          <p:cNvSpPr>
            <a:spLocks xmlns:a="http://schemas.openxmlformats.org/drawingml/2006/main" noGrp="1"/>
          </p:cNvSpPr>
          <p:nvPr/>
        </p:nvSpPr>
        <p:spPr>
          <a:xfrm xmlns:a="http://schemas.openxmlformats.org/drawingml/2006/main">
            <a:off x="609600" y="6286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Proposed acceptance cases. Real GPU execution and independent narrative review remain pending.</a:t>
            </a:r>
          </a:p>
        </p:txBody>
      </p:sp>
    </p:spTree>
    <p:extLst>
      <p:ext uri="{BB962C8B-B14F-4D97-AF65-F5344CB8AC3E}">
        <p14:creationId xmlns:p14="http://schemas.microsoft.com/office/powerpoint/2010/main" val="242152379"/>
      </p:ext>
    </p:extLst>
  </p:cSld>
</p:sld>
</file>

<file path=ppt/slides/slide30.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4497A4DA-84F8-403D-B226-283FCD59CF3B}"/>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Harness hardening still to add</a:t>
            </a:r>
          </a:p>
        </p:txBody>
      </p:sp>
      <p:sp>
        <p:nvSpPr>
          <p:cNvPr id="2" name="proposed-label">
            <a:extLst xmlns:a="http://schemas.openxmlformats.org/drawingml/2006/main">
              <a:ext uri="{FF2B5EF4-FFF2-40B4-BE49-F238E27FC236}">
                <a16:creationId xmlns:a16="http://schemas.microsoft.com/office/drawing/2014/main" id="{3AF4760A-025E-4D46-9336-00463618C615}"/>
              </a:ext>
            </a:extLst>
          </p:cNvPr>
          <p:cNvSpPr>
            <a:spLocks xmlns:a="http://schemas.openxmlformats.org/drawingml/2006/main" noGrp="1"/>
          </p:cNvSpPr>
          <p:nvPr/>
        </p:nvSpPr>
        <p:spPr>
          <a:xfrm xmlns:a="http://schemas.openxmlformats.org/drawingml/2006/main">
            <a:off x="609600" y="12573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1655B"/>
                </a:solidFill>
                <a:latin typeface="Arial"/>
                <a:ea typeface="Arial"/>
                <a:cs typeface="Arial"/>
              </a:defRPr>
            </a:defPPr>
          </a:lstStyle>
          <a:p xmlns:a="http://schemas.openxmlformats.org/drawingml/2006/main">
            <a:pPr algn="l">
              <a:buNone/>
              <a:defRPr sz="1950" b="0">
                <a:solidFill>
                  <a:srgbClr val="51655B"/>
                </a:solidFill>
                <a:latin typeface="Arial"/>
                <a:ea typeface="Arial"/>
                <a:cs typeface="Arial"/>
              </a:defRPr>
            </a:pPr>
            <a:r>
              <a:rPr sz="1950" b="0">
                <a:solidFill>
                  <a:srgbClr val="51655B"/>
                </a:solidFill>
                <a:latin typeface="Arial"/>
                <a:ea typeface="Arial"/>
                <a:cs typeface="Arial"/>
              </a:rPr>
              <a:t>Proposed additions beyond the current implementation</a:t>
            </a:r>
          </a:p>
        </p:txBody>
      </p:sp>
      <p:graphicFrame>
        <p:nvGraphicFramePr>
          <p:cNvPr id="3" name="hardening-tasks">
            <a:extLst xmlns:a="http://schemas.openxmlformats.org/drawingml/2006/main">
              <a:ext uri="{FF2B5EF4-FFF2-40B4-BE49-F238E27FC236}">
                <a16:creationId xmlns:a16="http://schemas.microsoft.com/office/drawing/2014/main" id="{A8C50D75-9462-432E-B5E6-97009768407F}"/>
              </a:ext>
            </a:extLst>
          </p:cNvPr>
          <p:cNvGraphicFramePr/>
          <p:nvPr/>
        </p:nvGraphicFramePr>
        <p:xfrm>
          <a:off xmlns:a="http://schemas.openxmlformats.org/drawingml/2006/main" x="609600" y="1781175"/>
          <a:ext xmlns:a="http://schemas.openxmlformats.org/drawingml/2006/main" cx="10972800" cy="4038600"/>
        </p:xfrm>
        <a:graphic xmlns:a="http://schemas.openxmlformats.org/drawingml/2006/main">
          <a:graphicData uri="http://schemas.openxmlformats.org/drawingml/2006/table">
            <a:tbl>
              <a:tblPr firstRow="0" bandRow="0"/>
              <a:tblGrid>
                <a:gridCol w="3190875"/>
                <a:gridCol w="7781925"/>
              </a:tblGrid>
              <a:tr h="447675">
                <a:tc>
                  <a:txBody>
                    <a:bodyPr wrap="square" lIns="133350" tIns="0" rIns="133350" bIns="0" anchor="ctr">
                      <a:noAutofit/>
                    </a:bodyPr>
                    <a:lstStyle/>
                    <a:p>
                      <a:r>
                        <a:rPr sz="1875" b="1">
                          <a:solidFill>
                            <a:srgbClr val="FFFFFF"/>
                          </a:solidFill>
                          <a:latin typeface="Arial"/>
                          <a:ea typeface="Arial"/>
                          <a:cs typeface="Arial"/>
                        </a:rPr>
                        <a:t>Harness area</a:t>
                      </a:r>
                    </a:p>
                  </a:txBody>
                  <a:tcPr marL="133350" marR="133350" marT="0" marB="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0" rIns="133350" bIns="0" anchor="ctr">
                      <a:noAutofit/>
                    </a:bodyPr>
                    <a:lstStyle/>
                    <a:p>
                      <a:r>
                        <a:rPr sz="1875" b="1">
                          <a:solidFill>
                            <a:srgbClr val="FFFFFF"/>
                          </a:solidFill>
                          <a:latin typeface="Arial"/>
                          <a:ea typeface="Arial"/>
                          <a:cs typeface="Arial"/>
                        </a:rPr>
                        <a:t>Addition to design and implement</a:t>
                      </a:r>
                    </a:p>
                  </a:txBody>
                  <a:tcPr marL="133350" marR="133350" marT="0" marB="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600075">
                <a:tc>
                  <a:txBody>
                    <a:bodyPr wrap="square" lIns="133350" tIns="0" rIns="133350" bIns="0" anchor="ctr">
                      <a:noAutofit/>
                    </a:bodyPr>
                    <a:lstStyle/>
                    <a:p>
                      <a:r>
                        <a:rPr sz="1875" b="0">
                          <a:solidFill>
                            <a:srgbClr val="12211C"/>
                          </a:solidFill>
                          <a:latin typeface="Arial"/>
                          <a:ea typeface="Arial"/>
                          <a:cs typeface="Arial"/>
                        </a:rPr>
                        <a:t>Machine contracts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Versioned JSON Schemas and output cross-field invariants.</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00075">
                <a:tc>
                  <a:txBody>
                    <a:bodyPr wrap="square" lIns="133350" tIns="0" rIns="133350" bIns="0" anchor="ctr">
                      <a:noAutofit/>
                    </a:bodyPr>
                    <a:lstStyle/>
                    <a:p>
                      <a:r>
                        <a:rPr sz="1875" b="0">
                          <a:solidFill>
                            <a:srgbClr val="12211C"/>
                          </a:solidFill>
                          <a:latin typeface="Arial"/>
                          <a:ea typeface="Arial"/>
                          <a:cs typeface="Arial"/>
                        </a:rPr>
                        <a:t>Evidence semantics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Check endpoint, timepoint, units, class mapping and fold provenance.</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00075">
                <a:tc>
                  <a:txBody>
                    <a:bodyPr wrap="square" lIns="133350" tIns="0" rIns="133350" bIns="0" anchor="ctr">
                      <a:noAutofit/>
                    </a:bodyPr>
                    <a:lstStyle/>
                    <a:p>
                      <a:r>
                        <a:rPr sz="1875" b="0">
                          <a:solidFill>
                            <a:srgbClr val="12211C"/>
                          </a:solidFill>
                          <a:latin typeface="Arial"/>
                          <a:ea typeface="Arial"/>
                          <a:cs typeface="Arial"/>
                        </a:rPr>
                        <a:t>Live service controls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Model warmup, bounded queue, inference deadline and access policy.</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00075">
                <a:tc>
                  <a:txBody>
                    <a:bodyPr wrap="square" lIns="133350" tIns="0" rIns="133350" bIns="0" anchor="ctr">
                      <a:noAutofit/>
                    </a:bodyPr>
                    <a:lstStyle/>
                    <a:p>
                      <a:r>
                        <a:rPr sz="1875" b="0">
                          <a:solidFill>
                            <a:srgbClr val="12211C"/>
                          </a:solidFill>
                          <a:latin typeface="Arial"/>
                          <a:ea typeface="Arial"/>
                          <a:cs typeface="Arial"/>
                        </a:rPr>
                        <a:t>Local observability</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Request IDs, stage latency, live fallback counters and failed-run records.</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00075">
                <a:tc>
                  <a:txBody>
                    <a:bodyPr wrap="square" lIns="133350" tIns="0" rIns="133350" bIns="0" anchor="ctr">
                      <a:noAutofit/>
                    </a:bodyPr>
                    <a:lstStyle/>
                    <a:p>
                      <a:r>
                        <a:rPr sz="1875" b="0">
                          <a:solidFill>
                            <a:srgbClr val="12211C"/>
                          </a:solidFill>
                          <a:latin typeface="Arial"/>
                          <a:ea typeface="Arial"/>
                          <a:cs typeface="Arial"/>
                        </a:rPr>
                        <a:t>Reproducibility</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Hash-locked environment and weight digests when needed.</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00075">
                <a:tc>
                  <a:txBody>
                    <a:bodyPr wrap="square" lIns="133350" tIns="0" rIns="133350" bIns="0" anchor="ctr">
                      <a:noAutofit/>
                    </a:bodyPr>
                    <a:lstStyle/>
                    <a:p>
                      <a:r>
                        <a:rPr sz="1875" b="0">
                          <a:solidFill>
                            <a:srgbClr val="12211C"/>
                          </a:solidFill>
                          <a:latin typeface="Arial"/>
                          <a:ea typeface="Arial"/>
                          <a:cs typeface="Arial"/>
                        </a:rPr>
                        <a:t>Acceptance automation</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GPU regression cases plus independent narrative review.</a:t>
                      </a:r>
                    </a:p>
                  </a:txBody>
                  <a:tcPr marL="133350" marR="133350" marT="0" marB="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4" name="caption">
            <a:extLst xmlns:a="http://schemas.openxmlformats.org/drawingml/2006/main">
              <a:ext uri="{FF2B5EF4-FFF2-40B4-BE49-F238E27FC236}">
                <a16:creationId xmlns:a16="http://schemas.microsoft.com/office/drawing/2014/main" id="{E8E1A718-6EE7-4123-A77B-192BD650C2D1}"/>
              </a:ext>
            </a:extLst>
          </p:cNvPr>
          <p:cNvSpPr>
            <a:spLocks xmlns:a="http://schemas.openxmlformats.org/drawingml/2006/main" noGrp="1"/>
          </p:cNvSpPr>
          <p:nvPr/>
        </p:nvSpPr>
        <p:spPr>
          <a:xfrm xmlns:a="http://schemas.openxmlformats.org/drawingml/2006/main">
            <a:off x="609600" y="625792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These tasks strengthen execution and auditability. They do not establish clinical validity by themselves.</a:t>
            </a:r>
          </a:p>
        </p:txBody>
      </p:sp>
    </p:spTree>
    <p:extLst>
      <p:ext uri="{BB962C8B-B14F-4D97-AF65-F5344CB8AC3E}">
        <p14:creationId xmlns:p14="http://schemas.microsoft.com/office/powerpoint/2010/main" val="750893032"/>
      </p:ext>
    </p:extLst>
  </p:cSld>
</p:sld>
</file>

<file path=ppt/slides/slide31.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7B71FF41-6158-48B2-8CC1-EBD45EA17903}"/>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Decisions needed for the real-data demo</a:t>
            </a:r>
          </a:p>
        </p:txBody>
      </p:sp>
      <p:sp>
        <p:nvSpPr>
          <p:cNvPr id="2" name="decision-subtitle">
            <a:extLst xmlns:a="http://schemas.openxmlformats.org/drawingml/2006/main">
              <a:ext uri="{FF2B5EF4-FFF2-40B4-BE49-F238E27FC236}">
                <a16:creationId xmlns:a16="http://schemas.microsoft.com/office/drawing/2014/main" id="{828FBB3D-BEBF-480A-A2C3-102C17095FF9}"/>
              </a:ext>
            </a:extLst>
          </p:cNvPr>
          <p:cNvSpPr>
            <a:spLocks xmlns:a="http://schemas.openxmlformats.org/drawingml/2006/main" noGrp="1"/>
          </p:cNvSpPr>
          <p:nvPr/>
        </p:nvSpPr>
        <p:spPr>
          <a:xfrm xmlns:a="http://schemas.openxmlformats.org/drawingml/2006/main">
            <a:off x="609600" y="12287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1655B"/>
                </a:solidFill>
                <a:latin typeface="Arial"/>
                <a:ea typeface="Arial"/>
                <a:cs typeface="Arial"/>
              </a:defRPr>
            </a:defPPr>
          </a:lstStyle>
          <a:p xmlns:a="http://schemas.openxmlformats.org/drawingml/2006/main">
            <a:pPr algn="l">
              <a:buNone/>
              <a:defRPr sz="1950" b="0">
                <a:solidFill>
                  <a:srgbClr val="51655B"/>
                </a:solidFill>
                <a:latin typeface="Arial"/>
                <a:ea typeface="Arial"/>
                <a:cs typeface="Arial"/>
              </a:defRPr>
            </a:pPr>
            <a:r>
              <a:rPr sz="1950" b="0">
                <a:solidFill>
                  <a:srgbClr val="51655B"/>
                </a:solidFill>
                <a:latin typeface="Arial"/>
                <a:ea typeface="Arial"/>
                <a:cs typeface="Arial"/>
              </a:rPr>
              <a:t>Proposed starting choices and owners for team confirmation</a:t>
            </a:r>
          </a:p>
        </p:txBody>
      </p:sp>
      <p:graphicFrame>
        <p:nvGraphicFramePr>
          <p:cNvPr id="3" name="decisions">
            <a:extLst xmlns:a="http://schemas.openxmlformats.org/drawingml/2006/main">
              <a:ext uri="{FF2B5EF4-FFF2-40B4-BE49-F238E27FC236}">
                <a16:creationId xmlns:a16="http://schemas.microsoft.com/office/drawing/2014/main" id="{C72963F2-AAB2-4D54-AC99-8D7C449B6B3D}"/>
              </a:ext>
            </a:extLst>
          </p:cNvPr>
          <p:cNvGraphicFramePr/>
          <p:nvPr/>
        </p:nvGraphicFramePr>
        <p:xfrm>
          <a:off xmlns:a="http://schemas.openxmlformats.org/drawingml/2006/main" x="609600" y="1714500"/>
          <a:ext xmlns:a="http://schemas.openxmlformats.org/drawingml/2006/main" cx="10972800" cy="4076700"/>
        </p:xfrm>
        <a:graphic xmlns:a="http://schemas.openxmlformats.org/drawingml/2006/main">
          <a:graphicData uri="http://schemas.openxmlformats.org/drawingml/2006/table">
            <a:tbl>
              <a:tblPr firstRow="0" bandRow="0"/>
              <a:tblGrid>
                <a:gridCol w="2543175"/>
                <a:gridCol w="2714625"/>
                <a:gridCol w="5715000"/>
              </a:tblGrid>
              <a:tr h="457200">
                <a:tc>
                  <a:txBody>
                    <a:bodyPr wrap="square" lIns="133350" tIns="76200" rIns="133350" bIns="76200" anchor="ctr">
                      <a:noAutofit/>
                    </a:bodyPr>
                    <a:lstStyle/>
                    <a:p>
                      <a:r>
                        <a:rPr sz="1800" b="1">
                          <a:solidFill>
                            <a:srgbClr val="FFFFFF"/>
                          </a:solidFill>
                          <a:latin typeface="Arial"/>
                          <a:ea typeface="Arial"/>
                          <a:cs typeface="Arial"/>
                        </a:rPr>
                        <a:t>Decision</a:t>
                      </a:r>
                    </a:p>
                  </a:txBody>
                  <a:tcPr marL="133350" marR="133350" marT="76200" marB="7620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76200" rIns="133350" bIns="76200" anchor="ctr">
                      <a:noAutofit/>
                    </a:bodyPr>
                    <a:lstStyle/>
                    <a:p>
                      <a:r>
                        <a:rPr sz="1800" b="1">
                          <a:solidFill>
                            <a:srgbClr val="FFFFFF"/>
                          </a:solidFill>
                          <a:latin typeface="Arial"/>
                          <a:ea typeface="Arial"/>
                          <a:cs typeface="Arial"/>
                        </a:rPr>
                        <a:t>Suggested owner</a:t>
                      </a:r>
                    </a:p>
                  </a:txBody>
                  <a:tcPr marL="133350" marR="133350" marT="76200" marB="7620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76200" rIns="133350" bIns="76200" anchor="ctr">
                      <a:noAutofit/>
                    </a:bodyPr>
                    <a:lstStyle/>
                    <a:p>
                      <a:r>
                        <a:rPr sz="1800" b="1">
                          <a:solidFill>
                            <a:srgbClr val="FFFFFF"/>
                          </a:solidFill>
                          <a:latin typeface="Arial"/>
                          <a:ea typeface="Arial"/>
                          <a:cs typeface="Arial"/>
                        </a:rPr>
                        <a:t>Starting choice to confirm</a:t>
                      </a:r>
                    </a:p>
                  </a:txBody>
                  <a:tcPr marL="133350" marR="133350" marT="76200" marB="7620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609600">
                <a:tc>
                  <a:txBody>
                    <a:bodyPr wrap="square" lIns="133350" tIns="76200" rIns="133350" bIns="76200" anchor="ctr">
                      <a:noAutofit/>
                    </a:bodyPr>
                    <a:lstStyle/>
                    <a:p>
                      <a:r>
                        <a:rPr sz="1800" b="0">
                          <a:solidFill>
                            <a:srgbClr val="12211C"/>
                          </a:solidFill>
                          <a:latin typeface="Arial"/>
                          <a:ea typeface="Arial"/>
                          <a:cs typeface="Arial"/>
                        </a:rPr>
                        <a:t>Responder endpoint</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Clinical owner TBD + Isis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Agree the responder definition and assessment window.</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09600">
                <a:tc>
                  <a:txBody>
                    <a:bodyPr wrap="square" lIns="133350" tIns="76200" rIns="133350" bIns="76200" anchor="ctr">
                      <a:noAutofit/>
                    </a:bodyPr>
                    <a:lstStyle/>
                    <a:p>
                      <a:r>
                        <a:rPr sz="1800" b="0">
                          <a:solidFill>
                            <a:srgbClr val="12211C"/>
                          </a:solidFill>
                          <a:latin typeface="Arial"/>
                          <a:ea typeface="Arial"/>
                          <a:cs typeface="Arial"/>
                        </a:rPr>
                        <a:t>Patient identity</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Isis + Alyssa</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Use canonical IDs. Resolve slide aggregation upstream.</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09600">
                <a:tc>
                  <a:txBody>
                    <a:bodyPr wrap="square" lIns="133350" tIns="76200" rIns="133350" bIns="76200" anchor="ctr">
                      <a:noAutofit/>
                    </a:bodyPr>
                    <a:lstStyle/>
                    <a:p>
                      <a:r>
                        <a:rPr sz="1800" b="0">
                          <a:solidFill>
                            <a:srgbClr val="12211C"/>
                          </a:solidFill>
                          <a:latin typeface="Arial"/>
                          <a:ea typeface="Arial"/>
                          <a:cs typeface="Arial"/>
                        </a:rPr>
                        <a:t>Evaluation design</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Modeling team</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Share patient-level folds. Start with the paired cohort.</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09600">
                <a:tc>
                  <a:txBody>
                    <a:bodyPr wrap="square" lIns="133350" tIns="76200" rIns="133350" bIns="76200" anchor="ctr">
                      <a:noAutofit/>
                    </a:bodyPr>
                    <a:lstStyle/>
                    <a:p>
                      <a:r>
                        <a:rPr sz="1800" b="0">
                          <a:solidFill>
                            <a:srgbClr val="12211C"/>
                          </a:solidFill>
                          <a:latin typeface="Arial"/>
                          <a:ea typeface="Arial"/>
                          <a:cs typeface="Arial"/>
                        </a:rPr>
                        <a:t>Late-fusion method</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Owner TBD</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Assign an owner. Prespecify a simple fusion baseline.</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09600">
                <a:tc>
                  <a:txBody>
                    <a:bodyPr wrap="square" lIns="133350" tIns="76200" rIns="133350" bIns="76200" anchor="ctr">
                      <a:noAutofit/>
                    </a:bodyPr>
                    <a:lstStyle/>
                    <a:p>
                      <a:r>
                        <a:rPr sz="1800" b="0">
                          <a:solidFill>
                            <a:srgbClr val="12211C"/>
                          </a:solidFill>
                          <a:latin typeface="Arial"/>
                          <a:ea typeface="Arial"/>
                          <a:cs typeface="Arial"/>
                        </a:rPr>
                        <a:t>Export metadata</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All model owners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Fix class mapping, attribution scales and score metadata.</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09600">
                <a:tc>
                  <a:txBody>
                    <a:bodyPr wrap="square" lIns="133350" tIns="76200" rIns="133350" bIns="76200" anchor="ctr">
                      <a:noAutofit/>
                    </a:bodyPr>
                    <a:lstStyle/>
                    <a:p>
                      <a:r>
                        <a:rPr sz="1800" b="0">
                          <a:solidFill>
                            <a:srgbClr val="12211C"/>
                          </a:solidFill>
                          <a:latin typeface="Arial"/>
                          <a:ea typeface="Arial"/>
                          <a:cs typeface="Arial"/>
                        </a:rPr>
                        <a:t>Demo and acceptance</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Paulo + Junhao</a:t>
                      </a:r>
                    </a:p>
                    <a:p>
                      <a:r>
                        <a:rPr sz="1800" b="0">
                          <a:solidFill>
                            <a:srgbClr val="12211C"/>
                          </a:solidFill>
                          <a:latin typeface="Arial"/>
                          <a:ea typeface="Arial"/>
                          <a:cs typeface="Arial"/>
                        </a:rPr>
                        <a:t>Reviewer TBD</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Choose demo mode. Verify A30 output and review cases.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4" name="caption">
            <a:extLst xmlns:a="http://schemas.openxmlformats.org/drawingml/2006/main">
              <a:ext uri="{FF2B5EF4-FFF2-40B4-BE49-F238E27FC236}">
                <a16:creationId xmlns:a16="http://schemas.microsoft.com/office/drawing/2014/main" id="{C10805D1-EF77-497D-AEE0-3D6950BD6888}"/>
              </a:ext>
            </a:extLst>
          </p:cNvPr>
          <p:cNvSpPr>
            <a:spLocks xmlns:a="http://schemas.openxmlformats.org/drawingml/2006/main" noGrp="1"/>
          </p:cNvSpPr>
          <p:nvPr/>
        </p:nvSpPr>
        <p:spPr>
          <a:xfrm xmlns:a="http://schemas.openxmlformats.org/drawingml/2006/main">
            <a:off x="609600" y="63627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H&amp;E and extra mIF batches also need a scope decision before inclusion.</a:t>
            </a:r>
          </a:p>
        </p:txBody>
      </p:sp>
    </p:spTree>
    <p:extLst>
      <p:ext uri="{BB962C8B-B14F-4D97-AF65-F5344CB8AC3E}">
        <p14:creationId xmlns:p14="http://schemas.microsoft.com/office/powerpoint/2010/main" val="1215167077"/>
      </p:ext>
    </p:extLst>
  </p:cSld>
</p:sld>
</file>

<file path=ppt/slides/slide3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E3969B5C-7E2D-4D64-9EB5-18A57D99A610}"/>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Completion checkpoints</a:t>
            </a:r>
          </a:p>
        </p:txBody>
      </p:sp>
      <p:graphicFrame>
        <p:nvGraphicFramePr>
          <p:cNvPr id="2" name="completion">
            <a:extLst xmlns:a="http://schemas.openxmlformats.org/drawingml/2006/main">
              <a:ext uri="{FF2B5EF4-FFF2-40B4-BE49-F238E27FC236}">
                <a16:creationId xmlns:a16="http://schemas.microsoft.com/office/drawing/2014/main" id="{358489AD-24C1-4EC4-A266-35E0724F5042}"/>
              </a:ext>
            </a:extLst>
          </p:cNvPr>
          <p:cNvGraphicFramePr/>
          <p:nvPr/>
        </p:nvGraphicFramePr>
        <p:xfrm>
          <a:off xmlns:a="http://schemas.openxmlformats.org/drawingml/2006/main" x="609600" y="1600200"/>
          <a:ext xmlns:a="http://schemas.openxmlformats.org/drawingml/2006/main" cx="10972800" cy="4162425"/>
        </p:xfrm>
        <a:graphic xmlns:a="http://schemas.openxmlformats.org/drawingml/2006/main">
          <a:graphicData uri="http://schemas.openxmlformats.org/drawingml/2006/table">
            <a:tbl>
              <a:tblPr firstRow="0" bandRow="0"/>
              <a:tblGrid>
                <a:gridCol w="3381375"/>
                <a:gridCol w="7591425"/>
              </a:tblGrid>
              <a:tr h="466725">
                <a:tc>
                  <a:txBody>
                    <a:bodyPr wrap="square" lIns="133350" tIns="76200" rIns="133350" bIns="76200" anchor="ctr">
                      <a:noAutofit/>
                    </a:bodyPr>
                    <a:lstStyle/>
                    <a:p>
                      <a:r>
                        <a:rPr sz="1950" b="1">
                          <a:solidFill>
                            <a:srgbClr val="FFFFFF"/>
                          </a:solidFill>
                          <a:latin typeface="Arial"/>
                          <a:ea typeface="Arial"/>
                          <a:cs typeface="Arial"/>
                        </a:rPr>
                        <a:t>Checkpoint</a:t>
                      </a:r>
                    </a:p>
                  </a:txBody>
                  <a:tcPr marL="133350" marR="133350" marT="76200" marB="7620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76200" rIns="133350" bIns="76200" anchor="ctr">
                      <a:noAutofit/>
                    </a:bodyPr>
                    <a:lstStyle/>
                    <a:p>
                      <a:r>
                        <a:rPr sz="1950" b="1">
                          <a:solidFill>
                            <a:srgbClr val="FFFFFF"/>
                          </a:solidFill>
                          <a:latin typeface="Arial"/>
                          <a:ea typeface="Arial"/>
                          <a:cs typeface="Arial"/>
                        </a:rPr>
                        <a:t>Evidence of completion</a:t>
                      </a:r>
                    </a:p>
                  </a:txBody>
                  <a:tcPr marL="133350" marR="133350" marT="76200" marB="7620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723900">
                <a:tc>
                  <a:txBody>
                    <a:bodyPr wrap="square" lIns="133350" tIns="76200" rIns="133350" bIns="76200" anchor="ctr">
                      <a:noAutofit/>
                    </a:bodyPr>
                    <a:lstStyle/>
                    <a:p>
                      <a:r>
                        <a:rPr sz="1950" b="0">
                          <a:solidFill>
                            <a:srgbClr val="12211C"/>
                          </a:solidFill>
                          <a:latin typeface="Arial"/>
                          <a:ea typeface="Arial"/>
                          <a:cs typeface="Arial"/>
                        </a:rPr>
                        <a:t>Contract agreement</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950" b="0">
                          <a:solidFill>
                            <a:srgbClr val="12211C"/>
                          </a:solidFill>
                          <a:latin typeface="Arial"/>
                          <a:ea typeface="Arial"/>
                          <a:cs typeface="Arial"/>
                        </a:rPr>
                        <a:t>The team records the endpoint, IDs, splits and model exports.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723900">
                <a:tc>
                  <a:txBody>
                    <a:bodyPr wrap="square" lIns="133350" tIns="76200" rIns="133350" bIns="76200" anchor="ctr">
                      <a:noAutofit/>
                    </a:bodyPr>
                    <a:lstStyle/>
                    <a:p>
                      <a:r>
                        <a:rPr sz="1950" b="0">
                          <a:solidFill>
                            <a:srgbClr val="12211C"/>
                          </a:solidFill>
                          <a:latin typeface="Arial"/>
                          <a:ea typeface="Arial"/>
                          <a:cs typeface="Arial"/>
                        </a:rPr>
                        <a:t>A30 smoke experiment</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950" b="0">
                          <a:solidFill>
                            <a:srgbClr val="12211C"/>
                          </a:solidFill>
                          <a:latin typeface="Arial"/>
                          <a:ea typeface="Arial"/>
                          <a:cs typeface="Arial"/>
                        </a:rPr>
                        <a:t>Paulo generates local Nemotron output from the synthetic cases.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723900">
                <a:tc>
                  <a:txBody>
                    <a:bodyPr wrap="square" lIns="133350" tIns="76200" rIns="133350" bIns="76200" anchor="ctr">
                      <a:noAutofit/>
                    </a:bodyPr>
                    <a:lstStyle/>
                    <a:p>
                      <a:r>
                        <a:rPr sz="1950" b="0">
                          <a:solidFill>
                            <a:srgbClr val="12211C"/>
                          </a:solidFill>
                          <a:latin typeface="Arial"/>
                          <a:ea typeface="Arial"/>
                          <a:cs typeface="Arial"/>
                        </a:rPr>
                        <a:t>Real prediction handoff</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950" b="0">
                          <a:solidFill>
                            <a:srgbClr val="12211C"/>
                          </a:solidFill>
                          <a:latin typeface="Arial"/>
                          <a:ea typeface="Arial"/>
                          <a:cs typeface="Arial"/>
                        </a:rPr>
                        <a:t>Model owners supply held-out clinical, mIF and fused scores.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723900">
                <a:tc>
                  <a:txBody>
                    <a:bodyPr wrap="square" lIns="133350" tIns="76200" rIns="133350" bIns="76200" anchor="ctr">
                      <a:noAutofit/>
                    </a:bodyPr>
                    <a:lstStyle/>
                    <a:p>
                      <a:r>
                        <a:rPr sz="1950" b="0">
                          <a:solidFill>
                            <a:srgbClr val="12211C"/>
                          </a:solidFill>
                          <a:latin typeface="Arial"/>
                          <a:ea typeface="Arial"/>
                          <a:cs typeface="Arial"/>
                        </a:rPr>
                        <a:t>Review and comparison</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950" b="0">
                          <a:solidFill>
                            <a:srgbClr val="12211C"/>
                          </a:solidFill>
                          <a:latin typeface="Arial"/>
                          <a:ea typeface="Arial"/>
                          <a:cs typeface="Arial"/>
                        </a:rPr>
                        <a:t>The team inspects paired metrics and representative narratives.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723900">
                <a:tc>
                  <a:txBody>
                    <a:bodyPr wrap="square" lIns="133350" tIns="76200" rIns="133350" bIns="76200" anchor="ctr">
                      <a:noAutofit/>
                    </a:bodyPr>
                    <a:lstStyle/>
                    <a:p>
                      <a:r>
                        <a:rPr sz="1950" b="0">
                          <a:solidFill>
                            <a:srgbClr val="12211C"/>
                          </a:solidFill>
                          <a:latin typeface="Arial"/>
                          <a:ea typeface="Arial"/>
                          <a:cs typeface="Arial"/>
                        </a:rPr>
                        <a:t>Demo integration</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950" b="0">
                          <a:solidFill>
                            <a:srgbClr val="12211C"/>
                          </a:solidFill>
                          <a:latin typeface="Arial"/>
                          <a:ea typeface="Arial"/>
                          <a:cs typeface="Arial"/>
                        </a:rPr>
                        <a:t>Junhao displays each patient’s scores, evidence and review status.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3" name="caption">
            <a:extLst xmlns:a="http://schemas.openxmlformats.org/drawingml/2006/main">
              <a:ext uri="{FF2B5EF4-FFF2-40B4-BE49-F238E27FC236}">
                <a16:creationId xmlns:a16="http://schemas.microsoft.com/office/drawing/2014/main" id="{A3D19B06-C36E-4DC5-88E1-3EC96AEF8968}"/>
              </a:ext>
            </a:extLst>
          </p:cNvPr>
          <p:cNvSpPr>
            <a:spLocks xmlns:a="http://schemas.openxmlformats.org/drawingml/2006/main" noGrp="1"/>
          </p:cNvSpPr>
          <p:nvPr/>
        </p:nvSpPr>
        <p:spPr>
          <a:xfrm xmlns:a="http://schemas.openxmlformats.org/drawingml/2006/main">
            <a:off x="609600" y="6172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Ready now: mock experiment, HPC runner and integration interfaces. Pending: real GPU and model handoffs.</a:t>
            </a:r>
          </a:p>
        </p:txBody>
      </p:sp>
    </p:spTree>
    <p:extLst>
      <p:ext uri="{BB962C8B-B14F-4D97-AF65-F5344CB8AC3E}">
        <p14:creationId xmlns:p14="http://schemas.microsoft.com/office/powerpoint/2010/main" val="14251562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2026-10-13T03:57:55.5480000Z</dcterms:created>
  <dcterms:modified xsi:type="dcterms:W3CDTF">2026-10-13T03:57:55.5480000Z</dcterms:modified>
</coreProperties>
</file>