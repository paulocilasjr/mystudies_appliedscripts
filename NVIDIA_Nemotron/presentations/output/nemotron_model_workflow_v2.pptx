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1.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a0585d616c64e35" /><Relationship Type="http://schemas.openxmlformats.org/officeDocument/2006/relationships/extended-properties" Target="/docProps/app.xml" Id="R749d13200d6f4fc7" /><Relationship Type="http://schemas.openxmlformats.org/officeDocument/2006/relationships/officeDocument" Target="/ppt/presentation.xml" Id="R66190d610b074931" /></Relationships>
</file>

<file path=ppt/presentation.xml><?xml version="1.0" encoding="utf-8"?>
<p:presentation xmlns:p="http://schemas.openxmlformats.org/presentationml/2006/main">
  <p:sldMasterIdLst>
    <p:sldMasterId xmlns:r="http://schemas.openxmlformats.org/officeDocument/2006/relationships" id="2147483648" r:id="Rb20e4e23c1e74ee7"/>
  </p:sldMasterIdLst>
  <p:notesMasterIdLst>
    <p:notesMasterId xmlns:r="http://schemas.openxmlformats.org/officeDocument/2006/relationships" r:id="R078aa989f1d140c0"/>
  </p:notesMasterIdLst>
  <p:sldIdLst>
    <p:sldId xmlns:r="http://schemas.openxmlformats.org/officeDocument/2006/relationships" id="256" r:id="R52f1b7e220f544d8"/>
    <p:sldId xmlns:r="http://schemas.openxmlformats.org/officeDocument/2006/relationships" id="257" r:id="R57f1dbd0ac8d40cc"/>
    <p:sldId xmlns:r="http://schemas.openxmlformats.org/officeDocument/2006/relationships" id="258" r:id="Rcb79e5cddf374e5d"/>
    <p:sldId xmlns:r="http://schemas.openxmlformats.org/officeDocument/2006/relationships" id="259" r:id="R76bcc210785d422d"/>
    <p:sldId xmlns:r="http://schemas.openxmlformats.org/officeDocument/2006/relationships" id="260" r:id="Rce81d8f067714cd0"/>
    <p:sldId xmlns:r="http://schemas.openxmlformats.org/officeDocument/2006/relationships" id="261" r:id="R00fc3106c6fe47f3"/>
    <p:sldId xmlns:r="http://schemas.openxmlformats.org/officeDocument/2006/relationships" id="262" r:id="Re2b73b929e104492"/>
    <p:sldId xmlns:r="http://schemas.openxmlformats.org/officeDocument/2006/relationships" id="263" r:id="R14b34bd22ab14c15"/>
    <p:sldId xmlns:r="http://schemas.openxmlformats.org/officeDocument/2006/relationships" id="264" r:id="R5a335d3fe61c41cd"/>
    <p:sldId xmlns:r="http://schemas.openxmlformats.org/officeDocument/2006/relationships" id="265" r:id="R858554b4acce4bc6"/>
    <p:sldId xmlns:r="http://schemas.openxmlformats.org/officeDocument/2006/relationships" id="266" r:id="R988fbe0044df4a92"/>
    <p:sldId xmlns:r="http://schemas.openxmlformats.org/officeDocument/2006/relationships" id="267" r:id="R22b1096a1e934619"/>
    <p:sldId xmlns:r="http://schemas.openxmlformats.org/officeDocument/2006/relationships" id="268" r:id="R1560f2daaba54d3a"/>
    <p:sldId xmlns:r="http://schemas.openxmlformats.org/officeDocument/2006/relationships" id="269" r:id="R09bb4707d1bd4db8"/>
    <p:sldId xmlns:r="http://schemas.openxmlformats.org/officeDocument/2006/relationships" id="270" r:id="R4771da96a93647f0"/>
    <p:sldId xmlns:r="http://schemas.openxmlformats.org/officeDocument/2006/relationships" id="271" r:id="R8ef79f54675c4d14"/>
    <p:sldId xmlns:r="http://schemas.openxmlformats.org/officeDocument/2006/relationships" id="272" r:id="R0404c11fa1a9474d"/>
    <p:sldId xmlns:r="http://schemas.openxmlformats.org/officeDocument/2006/relationships" id="273" r:id="R9c543990ed1348a2"/>
    <p:sldId xmlns:r="http://schemas.openxmlformats.org/officeDocument/2006/relationships" id="274" r:id="R632f1c30b7a14b42"/>
    <p:sldId xmlns:r="http://schemas.openxmlformats.org/officeDocument/2006/relationships" id="275" r:id="R558a6604669e4e9e"/>
    <p:sldId xmlns:r="http://schemas.openxmlformats.org/officeDocument/2006/relationships" id="276" r:id="R028d870acc224ada"/>
    <p:sldId xmlns:r="http://schemas.openxmlformats.org/officeDocument/2006/relationships" id="277" r:id="Rc72426af523148e8"/>
    <p:sldId xmlns:r="http://schemas.openxmlformats.org/officeDocument/2006/relationships" id="278" r:id="R7101162c323b48f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2828a9a722540f9" /><Relationship Type="http://schemas.openxmlformats.org/officeDocument/2006/relationships/slideMaster" Target="/ppt/slideMasters/slideMaster1.xml" Id="Rb20e4e23c1e74ee7" /><Relationship Type="http://schemas.openxmlformats.org/officeDocument/2006/relationships/notesMaster" Target="/ppt/notesMasters/notesMaster1.xml" Id="R078aa989f1d140c0" /><Relationship Type="http://schemas.openxmlformats.org/officeDocument/2006/relationships/presProps" Target="/ppt/presProps.xml" Id="Rfbd3e7eea26a4860" /><Relationship Type="http://schemas.openxmlformats.org/officeDocument/2006/relationships/tableStyles" Target="/ppt/tableStyles.xml" Id="R3b361b2adbaa43c7" /><Relationship Type="http://schemas.openxmlformats.org/officeDocument/2006/relationships/slide" Target="/ppt/slides/slide1.xml" Id="R52f1b7e220f544d8" /><Relationship Type="http://schemas.openxmlformats.org/officeDocument/2006/relationships/slide" Target="/ppt/slides/slide2.xml" Id="R57f1dbd0ac8d40cc" /><Relationship Type="http://schemas.openxmlformats.org/officeDocument/2006/relationships/slide" Target="/ppt/slides/slide3.xml" Id="Rcb79e5cddf374e5d" /><Relationship Type="http://schemas.openxmlformats.org/officeDocument/2006/relationships/slide" Target="/ppt/slides/slide4.xml" Id="R76bcc210785d422d" /><Relationship Type="http://schemas.openxmlformats.org/officeDocument/2006/relationships/slide" Target="/ppt/slides/slide5.xml" Id="Rce81d8f067714cd0" /><Relationship Type="http://schemas.openxmlformats.org/officeDocument/2006/relationships/slide" Target="/ppt/slides/slide6.xml" Id="R00fc3106c6fe47f3" /><Relationship Type="http://schemas.openxmlformats.org/officeDocument/2006/relationships/slide" Target="/ppt/slides/slide7.xml" Id="Re2b73b929e104492" /><Relationship Type="http://schemas.openxmlformats.org/officeDocument/2006/relationships/slide" Target="/ppt/slides/slide8.xml" Id="R14b34bd22ab14c15" /><Relationship Type="http://schemas.openxmlformats.org/officeDocument/2006/relationships/slide" Target="/ppt/slides/slide9.xml" Id="R5a335d3fe61c41cd" /><Relationship Type="http://schemas.openxmlformats.org/officeDocument/2006/relationships/slide" Target="/ppt/slides/slide10.xml" Id="R858554b4acce4bc6" /><Relationship Type="http://schemas.openxmlformats.org/officeDocument/2006/relationships/slide" Target="/ppt/slides/slide11.xml" Id="R988fbe0044df4a92" /><Relationship Type="http://schemas.openxmlformats.org/officeDocument/2006/relationships/slide" Target="/ppt/slides/slide12.xml" Id="R22b1096a1e934619" /><Relationship Type="http://schemas.openxmlformats.org/officeDocument/2006/relationships/slide" Target="/ppt/slides/slide13.xml" Id="R1560f2daaba54d3a" /><Relationship Type="http://schemas.openxmlformats.org/officeDocument/2006/relationships/slide" Target="/ppt/slides/slide14.xml" Id="R09bb4707d1bd4db8" /><Relationship Type="http://schemas.openxmlformats.org/officeDocument/2006/relationships/slide" Target="/ppt/slides/slide15.xml" Id="R4771da96a93647f0" /><Relationship Type="http://schemas.openxmlformats.org/officeDocument/2006/relationships/slide" Target="/ppt/slides/slide16.xml" Id="R8ef79f54675c4d14" /><Relationship Type="http://schemas.openxmlformats.org/officeDocument/2006/relationships/slide" Target="/ppt/slides/slide17.xml" Id="R0404c11fa1a9474d" /><Relationship Type="http://schemas.openxmlformats.org/officeDocument/2006/relationships/slide" Target="/ppt/slides/slide18.xml" Id="R9c543990ed1348a2" /><Relationship Type="http://schemas.openxmlformats.org/officeDocument/2006/relationships/slide" Target="/ppt/slides/slide19.xml" Id="R632f1c30b7a14b42" /><Relationship Type="http://schemas.openxmlformats.org/officeDocument/2006/relationships/slide" Target="/ppt/slides/slide20.xml" Id="R558a6604669e4e9e" /><Relationship Type="http://schemas.openxmlformats.org/officeDocument/2006/relationships/slide" Target="/ppt/slides/slide21.xml" Id="R028d870acc224ada" /><Relationship Type="http://schemas.openxmlformats.org/officeDocument/2006/relationships/slide" Target="/ppt/slides/slide22.xml" Id="Rc72426af523148e8" /><Relationship Type="http://schemas.openxmlformats.org/officeDocument/2006/relationships/slide" Target="/ppt/slides/slide23.xml" Id="R7101162c323b48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9a559893394b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d0ca499b51406d" /><Relationship Type="http://schemas.openxmlformats.org/officeDocument/2006/relationships/notesMaster" Target="/ppt/notesMasters/notesMaster1.xml" Id="Rb1a2aca1812e48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c2d98ac6aa4b9a" /><Relationship Type="http://schemas.openxmlformats.org/officeDocument/2006/relationships/notesMaster" Target="/ppt/notesMasters/notesMaster1.xml" Id="R3d543ed855d34b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cde4777492498e" /><Relationship Type="http://schemas.openxmlformats.org/officeDocument/2006/relationships/notesMaster" Target="/ppt/notesMasters/notesMaster1.xml" Id="Re721ddbb10494f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5be0e463d24bce" /><Relationship Type="http://schemas.openxmlformats.org/officeDocument/2006/relationships/notesMaster" Target="/ppt/notesMasters/notesMaster1.xml" Id="Rbb68869130d34d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32171867f514ac1" /><Relationship Type="http://schemas.openxmlformats.org/officeDocument/2006/relationships/notesMaster" Target="/ppt/notesMasters/notesMaster1.xml" Id="R5e78d47ad7494c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e1e9c906be4aa7" /><Relationship Type="http://schemas.openxmlformats.org/officeDocument/2006/relationships/notesMaster" Target="/ppt/notesMasters/notesMaster1.xml" Id="R173e76b9384c45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683c480e0a4194" /><Relationship Type="http://schemas.openxmlformats.org/officeDocument/2006/relationships/notesMaster" Target="/ppt/notesMasters/notesMaster1.xml" Id="Rf8e6b248b1ac464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0248a5be4004997" /><Relationship Type="http://schemas.openxmlformats.org/officeDocument/2006/relationships/notesMaster" Target="/ppt/notesMasters/notesMaster1.xml" Id="Rbd495a31fa26450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df5fe35ac554352" /><Relationship Type="http://schemas.openxmlformats.org/officeDocument/2006/relationships/notesMaster" Target="/ppt/notesMasters/notesMaster1.xml" Id="R735c1f03ae35421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8bfe742adff4258" /><Relationship Type="http://schemas.openxmlformats.org/officeDocument/2006/relationships/notesMaster" Target="/ppt/notesMasters/notesMaster1.xml" Id="R1a0c1ba9d93c416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146aa2bd4f44159" /><Relationship Type="http://schemas.openxmlformats.org/officeDocument/2006/relationships/notesMaster" Target="/ppt/notesMasters/notesMaster1.xml" Id="Rad1ff08e7391481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865cb25c59040ef" /><Relationship Type="http://schemas.openxmlformats.org/officeDocument/2006/relationships/notesMaster" Target="/ppt/notesMasters/notesMaster1.xml" Id="Rd6e4947993294f5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5e01f7924f44b6a" /><Relationship Type="http://schemas.openxmlformats.org/officeDocument/2006/relationships/notesMaster" Target="/ppt/notesMasters/notesMaster1.xml" Id="R72c7706c542e433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fb0be5387d543b4" /><Relationship Type="http://schemas.openxmlformats.org/officeDocument/2006/relationships/notesMaster" Target="/ppt/notesMasters/notesMaster1.xml" Id="Re47d69bf0f274c5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4379dcc491a4763" /><Relationship Type="http://schemas.openxmlformats.org/officeDocument/2006/relationships/notesMaster" Target="/ppt/notesMasters/notesMaster1.xml" Id="Reb3da51f30a04b6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b583656690940f4" /><Relationship Type="http://schemas.openxmlformats.org/officeDocument/2006/relationships/notesMaster" Target="/ppt/notesMasters/notesMaster1.xml" Id="Rcf92bd73f3d6416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fad4048d3354edd" /><Relationship Type="http://schemas.openxmlformats.org/officeDocument/2006/relationships/notesMaster" Target="/ppt/notesMasters/notesMaster1.xml" Id="R7cd86f981bd3419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471fbb12eca4d72" /><Relationship Type="http://schemas.openxmlformats.org/officeDocument/2006/relationships/notesMaster" Target="/ppt/notesMasters/notesMaster1.xml" Id="Rd90fc8265d4042c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5554e8a1bf94da4" /><Relationship Type="http://schemas.openxmlformats.org/officeDocument/2006/relationships/notesMaster" Target="/ppt/notesMasters/notesMaster1.xml" Id="R384f0b7d9877444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dc01c81171344c7" /><Relationship Type="http://schemas.openxmlformats.org/officeDocument/2006/relationships/notesMaster" Target="/ppt/notesMasters/notesMaster1.xml" Id="R6a0c7be65b20406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df0b0bf68d042cc" /><Relationship Type="http://schemas.openxmlformats.org/officeDocument/2006/relationships/notesMaster" Target="/ppt/notesMasters/notesMaster1.xml" Id="R4704de4cc0fe442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4cc908c6ec543f8" /><Relationship Type="http://schemas.openxmlformats.org/officeDocument/2006/relationships/notesMaster" Target="/ppt/notesMasters/notesMaster1.xml" Id="R00c8aeb5cbdf417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776eb988c884e6f" /><Relationship Type="http://schemas.openxmlformats.org/officeDocument/2006/relationships/notesMaster" Target="/ppt/notesMasters/notesMaster1.xml" Id="R9a573b7da1eb4c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parts explain the component: preparation and literature grounding, local generation and the proposed NVIDIA deployment path, and structured outputs for the UI. The current model is NVIDIA Nemotron-Mini-4B-Instruct. This is a research interpretation workflow for advanced melanoma, not a clinical decision engine.</a:t>
            </a:r>
          </a:p>
          <a:p xmlns:a="http://schemas.openxmlformats.org/drawingml/2006/main">
            <a:r>
              <a:t/>
            </a:r>
          </a:p>
          <a:p xmlns:a="http://schemas.openxmlformats.org/drawingml/2006/main">
            <a:r>
              <a:t>Sources:</a:t>
            </a:r>
          </a:p>
          <a:p xmlns:a="http://schemas.openxmlformats.org/drawingml/2006/main">
            <a:r>
              <a:t>https://github.com/paulocilasjr/MyStudies_AppliedScripts/blob/336080c/NVIDIA_Nemotron/README.md</a:t>
            </a:r>
          </a:p>
          <a:p xmlns:a="http://schemas.openxmlformats.org/drawingml/2006/main">
            <a:r>
              <a:t>https://huggingface.co/nvidia/Nemotron-Mini-4B-Instruct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clinical, mIF and fused scores are precomputed. Nemotron does not inspect raw tissue images or train classifiers. Each source score enters the canonical contract independently. The late-fusion score combines the clinical and mIF outputs. The UI displays the report and supplied figures.</a:t>
            </a:r>
          </a:p>
          <a:p xmlns:a="http://schemas.openxmlformats.org/drawingml/2006/main">
            <a:r>
              <a:t/>
            </a:r>
          </a:p>
          <a:p xmlns:a="http://schemas.openxmlformats.org/drawingml/2006/main">
            <a:r>
              <a:t>Sources:</a:t>
            </a:r>
          </a:p>
          <a:p xmlns:a="http://schemas.openxmlformats.org/drawingml/2006/main">
            <a:r>
              <a:t>https://github.com/paulocilasjr/MyStudies_AppliedScripts/blob/336080c/NVIDIA_Nemotron/docs/integration.md</a:t>
            </a:r>
          </a:p>
          <a:p xmlns:a="http://schemas.openxmlformats.org/drawingml/2006/main">
            <a:r>
              <a:t>https://github.com/paulocilasjr/MyStudies_AppliedScripts/blob/336080c/NVIDIA_Nemotron/src/icb_copilot/handoff.py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counts supplied by the team: 48 clinical patients and 29 with paired mIF. The current handoff is a separate set of five simulated patients, not a new clinical validation cohort. Producer-supplied model outputs accompany synthetic inputs and labels. Each demo record has three scores, five clinical features and ten mIF features. There are 347 tile rows in sidecar files.</a:t>
            </a:r>
          </a:p>
          <a:p xmlns:a="http://schemas.openxmlformats.org/drawingml/2006/main">
            <a:r>
              <a:t/>
            </a:r>
          </a:p>
          <a:p xmlns:a="http://schemas.openxmlformats.org/drawingml/2006/main">
            <a:r>
              <a:t>Sources:</a:t>
            </a:r>
          </a:p>
          <a:p xmlns:a="http://schemas.openxmlformats.org/drawingml/2006/main">
            <a:r>
              <a:t>https://github.com/paulocilasjr/MyStudies_AppliedScripts/blob/336080c/NVIDIA_Nemotron/examples/paulo_handoff/HANDOFF_PAULO.md</a:t>
            </a:r>
          </a:p>
          <a:p xmlns:a="http://schemas.openxmlformats.org/drawingml/2006/main">
            <a:r>
              <a:t>https://github.com/paulocilasjr/MyStudies_AppliedScripts/blob/336080c/NVIDIA_Nemotron/docs/handoff.md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prepare-handoff reads the original packet and produces patients.jsonl plus audit sidecars. It checks identity, numeric values, clinical SHAP additivity and correspondence, figure hashes and tile semantics. Clinical JSON currently agrees with the CSV within the documented rounding rule. Existing clinical images remain stale. The source tile_prob values equal attention values, so they are retained only as source data. No scores are repaired.</a:t>
            </a:r>
          </a:p>
          <a:p xmlns:a="http://schemas.openxmlformats.org/drawingml/2006/main">
            <a:r>
              <a:t/>
            </a:r>
          </a:p>
          <a:p xmlns:a="http://schemas.openxmlformats.org/drawingml/2006/main">
            <a:r>
              <a:t>Sources:</a:t>
            </a:r>
          </a:p>
          <a:p xmlns:a="http://schemas.openxmlformats.org/drawingml/2006/main">
            <a:r>
              <a:t>https://github.com/paulocilasjr/MyStudies_AppliedScripts/blob/336080c/NVIDIA_Nemotron/src/icb_copilot/handoff.py</a:t>
            </a:r>
          </a:p>
          <a:p xmlns:a="http://schemas.openxmlformats.org/drawingml/2006/main">
            <a:r>
              <a:t>https://github.com/paulocilasjr/MyStudies_AppliedScripts/blob/336080c/NVIDIA_Nemotron/src/icb_copilot/handoff_tiles.py</a:t>
            </a:r>
          </a:p>
          <a:p xmlns:a="http://schemas.openxmlformats.org/drawingml/2006/main">
            <a:r>
              <a:t>https://github.com/paulocilasjr/MyStudies_AppliedScripts/blob/336080c/NVIDIA_Nemotron/docs/handoff.md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compact schema view of the current S03 record, not a complete copy. Each prediction also carries model_id, calibration and decision_threshold. Clinical SHAP is a signed model contribution. mIF contrast is a descriptive high-minus-low-attention measurement. Ground truth and patient IDs remain outside the LLM prompt. Canonical free-text clinical_context is retained in artifacts, but the current part-specific prompts do not send it to the model.</a:t>
            </a:r>
          </a:p>
          <a:p xmlns:a="http://schemas.openxmlformats.org/drawingml/2006/main">
            <a:r>
              <a:t/>
            </a:r>
          </a:p>
          <a:p xmlns:a="http://schemas.openxmlformats.org/drawingml/2006/main">
            <a:r>
              <a:t>Sources:</a:t>
            </a:r>
          </a:p>
          <a:p xmlns:a="http://schemas.openxmlformats.org/drawingml/2006/main">
            <a:r>
              <a:t>https://github.com/paulocilasjr/MyStudies_AppliedScripts/blob/336080c/NVIDIA_Nemotron/src/icb_copilot/schema.py</a:t>
            </a:r>
          </a:p>
          <a:p xmlns:a="http://schemas.openxmlformats.org/drawingml/2006/main">
            <a:r>
              <a:t>https://github.com/paulocilasjr/MyStudies_AppliedScripts/blob/336080c/NVIDIA_Nemotron/src/icb_copilot/backends.py</a:t>
            </a:r>
          </a:p>
          <a:p xmlns:a="http://schemas.openxmlformats.org/drawingml/2006/main">
            <a:r>
              <a:t>https://github.com/paulocilasjr/MyStudies_AppliedScripts/blob/336080c/NVIDIA_Nemotron/src/icb_copilot/report.py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skill is an inference-time instruction package, not model fine-tuning. prompts.py loads shared rules and one task-specific section per report part. Six worked examples cover agreement, disagreement, uneven support and incomplete evidence. The feature literature file has eleven cited sources. project-context.md is maintainer documentation; the full file is deliberately excluded from the prompt. Version 2.0 and a SHA-256 identify the active prompt.</a:t>
            </a:r>
          </a:p>
          <a:p xmlns:a="http://schemas.openxmlformats.org/drawingml/2006/main">
            <a:r>
              <a:t/>
            </a:r>
          </a:p>
          <a:p xmlns:a="http://schemas.openxmlformats.org/drawingml/2006/main">
            <a:r>
              <a:t>Sources:</a:t>
            </a:r>
          </a:p>
          <a:p xmlns:a="http://schemas.openxmlformats.org/drawingml/2006/main">
            <a:r>
              <a:t>https://github.com/paulocilasjr/MyStudies_AppliedScripts/blob/336080c/NVIDIA_Nemotron/src/icb_copilot/prompts.py</a:t>
            </a:r>
          </a:p>
          <a:p xmlns:a="http://schemas.openxmlformats.org/drawingml/2006/main">
            <a:r>
              <a:t>https://github.com/paulocilasjr/MyStudies_AppliedScripts/blob/336080c/NVIDIA_Nemotron/src/icb_copilot/skills/icb-interpretation/SKILL.md</a:t>
            </a:r>
          </a:p>
          <a:p xmlns:a="http://schemas.openxmlformats.org/drawingml/2006/main">
            <a:r>
              <a:t>https://github.com/paulocilasjr/MyStudies_AppliedScripts/blob/336080c/NVIDIA_Nemotron/src/icb_copilot/skills/icb-interpretation/references/project-context.md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Pybus et al., npj Precision Oncology 10,56 (2026), doi:10.1038/s41698-025-01250-8. The foundation study analyzed twelve patients and more than eight million cells. Its findings motivate multimarker spatial evidence and caution about heterogeneous responders. This paper’s cohort and evaluation are distinct from the hackathon cohort and five synthetic demo cases. It does not validate the copilot.</a:t>
            </a:r>
          </a:p>
          <a:p xmlns:a="http://schemas.openxmlformats.org/drawingml/2006/main">
            <a:r>
              <a:t/>
            </a:r>
          </a:p>
          <a:p xmlns:a="http://schemas.openxmlformats.org/drawingml/2006/main">
            <a:r>
              <a:t>Sources:</a:t>
            </a:r>
          </a:p>
          <a:p xmlns:a="http://schemas.openxmlformats.org/drawingml/2006/main">
            <a:r>
              <a:t>https://doi.org/10.1038/s41698-025-01250-8</a:t>
            </a:r>
          </a:p>
          <a:p xmlns:a="http://schemas.openxmlformats.org/drawingml/2006/main">
            <a:r>
              <a:t>https://github.com/paulocilasjr/MyStudies_AppliedScripts/blob/336080c/NVIDIA_Nemotron/src/icb_copilot/skills/icb-interpretation/references/project-context.md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source SHAP sign determines how a clinical feature contributes to the supplied model score. A curated literature lookup supplies a short gist for the clinical prompt and full citations for deterministic report text. The prompt explicitly avoids claiming that the model direction agrees with the literature because feature coding is not independently verified. mIF notes and their literature classifications are deterministic. Unknown features receive an explicit no-curated-note message. There is no live retrieval pipeline today.</a:t>
            </a:r>
          </a:p>
          <a:p xmlns:a="http://schemas.openxmlformats.org/drawingml/2006/main">
            <a:r>
              <a:t/>
            </a:r>
          </a:p>
          <a:p xmlns:a="http://schemas.openxmlformats.org/drawingml/2006/main">
            <a:r>
              <a:t>Sources:</a:t>
            </a:r>
          </a:p>
          <a:p xmlns:a="http://schemas.openxmlformats.org/drawingml/2006/main">
            <a:r>
              <a:t>https://github.com/paulocilasjr/MyStudies_AppliedScripts/blob/336080c/NVIDIA_Nemotron/src/icb_copilot/report.py</a:t>
            </a:r>
          </a:p>
          <a:p xmlns:a="http://schemas.openxmlformats.org/drawingml/2006/main">
            <a:r>
              <a:t>https://github.com/paulocilasjr/MyStudies_AppliedScripts/blob/336080c/NVIDIA_Nemotron/src/icb_copilot/skills/icb-interpretation/references/feature-literature.json</a:t>
            </a:r>
          </a:p>
          <a:p xmlns:a="http://schemas.openxmlformats.org/drawingml/2006/main">
            <a:r>
              <a:t>https://github.com/paulocilasjr/MyStudies_AppliedScripts/blob/336080c/NVIDIA_Nemotron/src/icb_copilot/skills/icb-interpretation/SKILL.md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report.model_payload converts threshold comparisons and attribution directions into words without numeric data. The prediction_summary and conclusion prompts receive situation and hypothesis. The clinical_interpretation prompt receives the three strongest clinical features with push direction and curated gist. The application computes the hypothesis itself. Raw patient context, labels and images are excluded. mIF literature remains deterministic report content.</a:t>
            </a:r>
          </a:p>
          <a:p xmlns:a="http://schemas.openxmlformats.org/drawingml/2006/main">
            <a:r>
              <a:t/>
            </a:r>
          </a:p>
          <a:p xmlns:a="http://schemas.openxmlformats.org/drawingml/2006/main">
            <a:r>
              <a:t>Sources:</a:t>
            </a:r>
          </a:p>
          <a:p xmlns:a="http://schemas.openxmlformats.org/drawingml/2006/main">
            <a:r>
              <a:t>https://github.com/paulocilasjr/MyStudies_AppliedScripts/blob/336080c/NVIDIA_Nemotron/src/icb_copilot/report.py</a:t>
            </a:r>
          </a:p>
          <a:p xmlns:a="http://schemas.openxmlformats.org/drawingml/2006/main">
            <a:r>
              <a:t>https://github.com/paulocilasjr/MyStudies_AppliedScripts/blob/336080c/NVIDIA_Nemotron/src/icb_copilot/backends.py</a:t>
            </a:r>
          </a:p>
          <a:p xmlns:a="http://schemas.openxmlformats.org/drawingml/2006/main">
            <a:r>
              <a:t>https://github.com/paulocilasjr/MyStudies_AppliedScripts/blob/336080c/NVIDIA_Nemotron/src/icb_copilot/prompts.py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verified execution uses NVIDIA Nemotron-Mini-4B-Instruct via Hugging Face Transformers on Apple MPS. The pinned revision begins 791833e. A local HTTP API has already regenerated S01 and matched batch output. The Linux vLLM runner and A30 SLURM path are implemented, but this deck has no completed A30 run evidence. NVIDIA NIM integration is proposed, with a backend adapter and compatibility qualification still needed. Local use of NVIDIA weights is not itself a NIM deployment.</a:t>
            </a:r>
          </a:p>
          <a:p xmlns:a="http://schemas.openxmlformats.org/drawingml/2006/main">
            <a:r>
              <a:t/>
            </a:r>
          </a:p>
          <a:p xmlns:a="http://schemas.openxmlformats.org/drawingml/2006/main">
            <a:r>
              <a:t>Sources:</a:t>
            </a:r>
          </a:p>
          <a:p xmlns:a="http://schemas.openxmlformats.org/drawingml/2006/main">
            <a:r>
              <a:t>https://github.com/paulocilasjr/MyStudies_AppliedScripts/blob/336080c/NVIDIA_Nemotron/README.md</a:t>
            </a:r>
          </a:p>
          <a:p xmlns:a="http://schemas.openxmlformats.org/drawingml/2006/main">
            <a:r>
              <a:t>https://github.com/paulocilasjr/MyStudies_AppliedScripts/blob/336080c/NVIDIA_Nemotron/src/icb_copilot/backends.py</a:t>
            </a:r>
          </a:p>
          <a:p xmlns:a="http://schemas.openxmlformats.org/drawingml/2006/main">
            <a:r>
              <a:t>https://github.com/paulocilasjr/MyStudies_AppliedScripts/blob/336080c/NVIDIA_Nemotron/src/icb_copilot/server.py</a:t>
            </a:r>
          </a:p>
          <a:p xmlns:a="http://schemas.openxmlformats.org/drawingml/2006/main">
            <a:r>
              <a:t>Local evidence: results/local-mvp-20261014T050421Z/experiment/manifest.json and live_api_check.json</a:t>
            </a:r>
          </a:p>
          <a:p xmlns:a="http://schemas.openxmlformats.org/drawingml/2006/main">
            <a:r>
              <a:t>https://docs.api.nvidia.com/nim/docs/introduction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three conversations per patient, each returning only {"text":"..."}. The reply fields are prediction_summary, clinical_interpretation and conclusion. Six part-specific examples guide each task. The backend applies the model chat template. Current generation uses greedy temperature zero, seed42 and at most200 new tokens per part within a4096-token context. Five demo patients therefore cause15 generated records. This is task decomposition, not three different models.</a:t>
            </a:r>
          </a:p>
          <a:p xmlns:a="http://schemas.openxmlformats.org/drawingml/2006/main">
            <a:r>
              <a:t/>
            </a:r>
          </a:p>
          <a:p xmlns:a="http://schemas.openxmlformats.org/drawingml/2006/main">
            <a:r>
              <a:t>Sources:</a:t>
            </a:r>
          </a:p>
          <a:p xmlns:a="http://schemas.openxmlformats.org/drawingml/2006/main">
            <a:r>
              <a:t>https://github.com/paulocilasjr/MyStudies_AppliedScripts/blob/336080c/NVIDIA_Nemotron/src/icb_copilot/prompts.py</a:t>
            </a:r>
          </a:p>
          <a:p xmlns:a="http://schemas.openxmlformats.org/drawingml/2006/main">
            <a:r>
              <a:t>https://github.com/paulocilasjr/MyStudies_AppliedScripts/blob/336080c/NVIDIA_Nemotron/src/icb_copilot/backends.py</a:t>
            </a:r>
          </a:p>
          <a:p xmlns:a="http://schemas.openxmlformats.org/drawingml/2006/main">
            <a:r>
              <a:t>https://github.com/paulocilasjr/MyStudies_AppliedScripts/blob/336080c/NVIDIA_Nemotron/src/icb_copilot/copilot.py</a:t>
            </a:r>
          </a:p>
          <a:p xmlns:a="http://schemas.openxmlformats.org/drawingml/2006/main">
            <a:r>
              <a:t>https://huggingface.co/nvidia/Nemotron-Mini-4B-Instruct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Transformers backend forces a JSON string prefix and closes a completed string; vLLM instead requests a one-key JSON schema through guided decoding. The screen checks schema, length, generated numeric claims, unsupported certainty or treatment language, modality disagreements, missing modalities and contradictions against calculated facts. If any of the three parts fails, all three prose parts use deterministic fallback and the source becomes fallback. Model loading/runtime errors remain errors, rather than silently becoming mock. Passing the screen is not clinical verification.</a:t>
            </a:r>
          </a:p>
          <a:p xmlns:a="http://schemas.openxmlformats.org/drawingml/2006/main">
            <a:r>
              <a:t/>
            </a:r>
          </a:p>
          <a:p xmlns:a="http://schemas.openxmlformats.org/drawingml/2006/main">
            <a:r>
              <a:t>Sources:</a:t>
            </a:r>
          </a:p>
          <a:p xmlns:a="http://schemas.openxmlformats.org/drawingml/2006/main">
            <a:r>
              <a:t>https://github.com/paulocilasjr/MyStudies_AppliedScripts/blob/336080c/NVIDIA_Nemotron/src/icb_copilot/backends.py</a:t>
            </a:r>
          </a:p>
          <a:p xmlns:a="http://schemas.openxmlformats.org/drawingml/2006/main">
            <a:r>
              <a:t>https://github.com/paulocilasjr/MyStudies_AppliedScripts/blob/336080c/NVIDIA_Nemotron/src/icb_copilot/copilot.py</a:t>
            </a:r>
          </a:p>
          <a:p xmlns:a="http://schemas.openxmlformats.org/drawingml/2006/main">
            <a:r>
              <a:t>https://github.com/paulocilasjr/MyStudies_AppliedScripts/blob/336080c/NVIDIA_Nemotron/src/icb_copilot/report.py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Observed run local-mvp-20261014T050421Z used the pinned NVIDIA model through Transformers on MPS. Its manifest reports5 patients,15 generated records, all five reports with transformers source and passed quality, and159.185seconds including model loading. The S01 live API check took36.1seconds and matched batch output. These are observations from one local synthetic run, not a throughput benchmark or a clinical accuracy estimate. Short targeted prompts, deterministic facts and output screening made the model useful for this narrow interpretation task.</a:t>
            </a:r>
          </a:p>
          <a:p xmlns:a="http://schemas.openxmlformats.org/drawingml/2006/main">
            <a:r>
              <a:t/>
            </a:r>
          </a:p>
          <a:p xmlns:a="http://schemas.openxmlformats.org/drawingml/2006/main">
            <a:r>
              <a:t>Sources:</a:t>
            </a:r>
          </a:p>
          <a:p xmlns:a="http://schemas.openxmlformats.org/drawingml/2006/main">
            <a:r>
              <a:t>Local evidence: results/local-mvp-20261014T050421Z/experiment/manifest.json</a:t>
            </a:r>
          </a:p>
          <a:p xmlns:a="http://schemas.openxmlformats.org/drawingml/2006/main">
            <a:r>
              <a:t>Local evidence: results/local-mvp-20261014T050421Z/experiment/verification.json</a:t>
            </a:r>
          </a:p>
          <a:p xmlns:a="http://schemas.openxmlformats.org/drawingml/2006/main">
            <a:r>
              <a:t>Local evidence: results/local-mvp-20261014T050421Z/live_api_check.json</a:t>
            </a:r>
          </a:p>
          <a:p xmlns:a="http://schemas.openxmlformats.org/drawingml/2006/main">
            <a:r>
              <a:t>https://github.com/paulocilasjr/MyStudies_AppliedScripts/blob/336080c/NVIDIA_Nemotron/docs/prompt_review.md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already uses NVIDIA Nemotron weights and has a CUDA/vLLM HPC backend ready for qualification. NIM offers containerized inference with standard APIs and optimized execution engines. NVIDIA documents GPU-specific profiles, observability and Kubernetes/Helm deployment. Optional future extensions include retrieval for a growing approved literature corpus and vision-language services for additional modalities such as H&amp;E. These are proposed capabilities, not implemented project features, and each model and GPU combination must be qualified.</a:t>
            </a:r>
          </a:p>
          <a:p xmlns:a="http://schemas.openxmlformats.org/drawingml/2006/main">
            <a:r>
              <a:t/>
            </a:r>
          </a:p>
          <a:p xmlns:a="http://schemas.openxmlformats.org/drawingml/2006/main">
            <a:r>
              <a:t>Sources:</a:t>
            </a:r>
          </a:p>
          <a:p xmlns:a="http://schemas.openxmlformats.org/drawingml/2006/main">
            <a:r>
              <a:t>https://huggingface.co/nvidia/Nemotron-Mini-4B-Instruct</a:t>
            </a:r>
          </a:p>
          <a:p xmlns:a="http://schemas.openxmlformats.org/drawingml/2006/main">
            <a:r>
              <a:t>https://docs.api.nvidia.com/nim/docs/introduction</a:t>
            </a:r>
          </a:p>
          <a:p xmlns:a="http://schemas.openxmlformats.org/drawingml/2006/main">
            <a:r>
              <a:t>https://developer.nvidia.com/nim</a:t>
            </a:r>
          </a:p>
          <a:p xmlns:a="http://schemas.openxmlformats.org/drawingml/2006/main">
            <a:r>
              <a:t>https://docs.nvidia.com/nim/large-language-models/latest/reference/support-matrix.html</a:t>
            </a:r>
          </a:p>
          <a:p xmlns:a="http://schemas.openxmlformats.org/drawingml/2006/main">
            <a:r>
              <a:t>https://docs.api.nvidia.com/nim/re/reference/retrieval-apis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NVIDIA NIM packages inference behind standard APIs in portable containers. NVIDIA documents optimized inference engines and model/GPU-specific profiles, along with monitoring and Helm/Kubernetes deployment. The project would retain its prompt, checks and report renderer around that service. These capabilities simplify a deployment path but do not establish the performance or compatibility of Nemotron-Mini-4B on an A30. Confirm the chosen model and GPU profile, then benchmark end-to-end latency and quality. NIM is not deployed in this project today.</a:t>
            </a:r>
          </a:p>
          <a:p xmlns:a="http://schemas.openxmlformats.org/drawingml/2006/main">
            <a:r>
              <a:t/>
            </a:r>
          </a:p>
          <a:p xmlns:a="http://schemas.openxmlformats.org/drawingml/2006/main">
            <a:r>
              <a:t>Sources:</a:t>
            </a:r>
          </a:p>
          <a:p xmlns:a="http://schemas.openxmlformats.org/drawingml/2006/main">
            <a:r>
              <a:t>https://docs.api.nvidia.com/nim/docs/introduction</a:t>
            </a:r>
          </a:p>
          <a:p xmlns:a="http://schemas.openxmlformats.org/drawingml/2006/main">
            <a:r>
              <a:t>https://developer.nvidia.com/nim</a:t>
            </a:r>
          </a:p>
          <a:p xmlns:a="http://schemas.openxmlformats.org/drawingml/2006/main">
            <a:r>
              <a:t>https://docs.nvidia.com/nim/large-language-models/latest/reference/support-matrix.html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existing domain endpoint is POST /v1/interpret, with a batch endpoint beside it. The next adapter would translate the three internal conversations into OpenAI-compatible chat-completions requests against a qualified NIM endpoint and return raw JSON text to the existing screen. This is not just a change of URL: verify tokenizer/chat behavior, model identity, structured output support, timeouts and error handling. Keep the endpoint on approved infrastructure if the data boundary requires it. The custom domain API and the NIM inference API are different interfaces.</a:t>
            </a:r>
          </a:p>
          <a:p xmlns:a="http://schemas.openxmlformats.org/drawingml/2006/main">
            <a:r>
              <a:t/>
            </a:r>
          </a:p>
          <a:p xmlns:a="http://schemas.openxmlformats.org/drawingml/2006/main">
            <a:r>
              <a:t>Sources:</a:t>
            </a:r>
          </a:p>
          <a:p xmlns:a="http://schemas.openxmlformats.org/drawingml/2006/main">
            <a:r>
              <a:t>https://github.com/paulocilasjr/MyStudies_AppliedScripts/blob/336080c/NVIDIA_Nemotron/src/icb_copilot/server.py</a:t>
            </a:r>
          </a:p>
          <a:p xmlns:a="http://schemas.openxmlformats.org/drawingml/2006/main">
            <a:r>
              <a:t>https://github.com/paulocilasjr/MyStudies_AppliedScripts/blob/336080c/NVIDIA_Nemotron/src/icb_copilot/backends.py</a:t>
            </a:r>
          </a:p>
          <a:p xmlns:a="http://schemas.openxmlformats.org/drawingml/2006/main">
            <a:r>
              <a:t>https://docs.api.nvidia.com/nim/docs/introduction</a:t>
            </a:r>
          </a:p>
          <a:p xmlns:a="http://schemas.openxmlformats.org/drawingml/2006/main">
            <a:r>
              <a:t>https://docs.api.nvidia.com/nim/reference/llm-apis</a:t>
            </a:r>
          </a:p>
          <a:p xmlns:a="http://schemas.openxmlformats.org/drawingml/2006/main">
            <a:r>
              <a:t>https://docs.nvidia.com/nim/large-language-models/latest/reference/support-matrix.html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future topology: authenticated clients call the copilot application, which queues requests and routes generation to managed NIM replicas. A model/prompt/input keyed cache can reuse accepted reports. Metrics should include latency, queue depth, fallback rate and GPU memory, not just token throughput. NIM documentation describes Helm/Kubernetes and observability support, but autoscaling and access control need project-specific implementation and load testing. No replica count or throughput is promised here.</a:t>
            </a:r>
          </a:p>
          <a:p xmlns:a="http://schemas.openxmlformats.org/drawingml/2006/main">
            <a:r>
              <a:t/>
            </a:r>
          </a:p>
          <a:p xmlns:a="http://schemas.openxmlformats.org/drawingml/2006/main">
            <a:r>
              <a:t>Sources:</a:t>
            </a:r>
          </a:p>
          <a:p xmlns:a="http://schemas.openxmlformats.org/drawingml/2006/main">
            <a:r>
              <a:t>https://developer.nvidia.com/nim</a:t>
            </a:r>
          </a:p>
          <a:p xmlns:a="http://schemas.openxmlformats.org/drawingml/2006/main">
            <a:r>
              <a:t>https://docs.api.nvidia.com/nim/docs/introduction</a:t>
            </a:r>
          </a:p>
          <a:p xmlns:a="http://schemas.openxmlformats.org/drawingml/2006/main">
            <a:r>
              <a:t>https://docs.nvidia.com/nim/large-language-models/latest/reference/support-matrix.html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Nemotron emits one small JSON object per generated part. Copilot then creates the application result with unchanged predictions and complete narrative plus source, quality and provenance. This distinction prevents the UI from depending on raw model text. narratives.jsonl is the full result store, while narratives.json is a patient-ID-to-text mapping for the file-based viewer. The exact output record has additional fields beyond this compact schema.</a:t>
            </a:r>
          </a:p>
          <a:p xmlns:a="http://schemas.openxmlformats.org/drawingml/2006/main">
            <a:r>
              <a:t/>
            </a:r>
          </a:p>
          <a:p xmlns:a="http://schemas.openxmlformats.org/drawingml/2006/main">
            <a:r>
              <a:t>Sources:</a:t>
            </a:r>
          </a:p>
          <a:p xmlns:a="http://schemas.openxmlformats.org/drawingml/2006/main">
            <a:r>
              <a:t>https://github.com/paulocilasjr/MyStudies_AppliedScripts/blob/336080c/NVIDIA_Nemotron/src/icb_copilot/backends.py</a:t>
            </a:r>
          </a:p>
          <a:p xmlns:a="http://schemas.openxmlformats.org/drawingml/2006/main">
            <a:r>
              <a:t>https://github.com/paulocilasjr/MyStudies_AppliedScripts/blob/336080c/NVIDIA_Nemotron/src/icb_copilot/copilot.py</a:t>
            </a:r>
          </a:p>
          <a:p xmlns:a="http://schemas.openxmlformats.org/drawingml/2006/main">
            <a:r>
              <a:t>https://github.com/paulocilasjr/MyStudies_AppliedScripts/blob/336080c/NVIDIA_Nemotron/src/icb_copilot/ui_export.py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render_report constructs four numbered sections. Model evaluation contains exact scores plus generated prediction_summary. Clinical evaluation contains complete deterministic groups and literature notes plus generated clinical_interpretation. Immune evaluation contains supplied mIF measurements and curated feature notes entirely from application logic. Conclusions use the generated conclusion. The report keeps the research-review notice. The screenshot-free diagram is an editable report schema, not a fabricated UI capture.</a:t>
            </a:r>
          </a:p>
          <a:p xmlns:a="http://schemas.openxmlformats.org/drawingml/2006/main">
            <a:r>
              <a:t/>
            </a:r>
          </a:p>
          <a:p xmlns:a="http://schemas.openxmlformats.org/drawingml/2006/main">
            <a:r>
              <a:t>Sources:</a:t>
            </a:r>
          </a:p>
          <a:p xmlns:a="http://schemas.openxmlformats.org/drawingml/2006/main">
            <a:r>
              <a:t>https://github.com/paulocilasjr/MyStudies_AppliedScripts/blob/336080c/NVIDIA_Nemotron/src/icb_copilot/report.py</a:t>
            </a:r>
          </a:p>
          <a:p xmlns:a="http://schemas.openxmlformats.org/drawingml/2006/main">
            <a:r>
              <a:t>https://github.com/paulocilasjr/MyStudies_AppliedScripts/blob/336080c/NVIDIA_Nemotron/demo/handoff_app.py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synthetic handoff S03 has clinical0.1142, mIF0.7966 and fused0.3355. At threshold0.5 the clinical and mIF sides conflict. The application chooses no strong hypothesis with a non-responder tendency from the fused side. The simulated label is1 but remains excluded from the generation prompt. This example illustrates report framing, not correctness of the prediction. The chart displays supplied scores without recomputation.</a:t>
            </a:r>
          </a:p>
          <a:p xmlns:a="http://schemas.openxmlformats.org/drawingml/2006/main">
            <a:r>
              <a:t/>
            </a:r>
          </a:p>
          <a:p xmlns:a="http://schemas.openxmlformats.org/drawingml/2006/main">
            <a:r>
              <a:t>Sources:</a:t>
            </a:r>
          </a:p>
          <a:p xmlns:a="http://schemas.openxmlformats.org/drawingml/2006/main">
            <a:r>
              <a:t>https://github.com/paulocilasjr/MyStudies_AppliedScripts/blob/336080c/NVIDIA_Nemotron/examples/paulo_handoff/predictions/patient_predictions.csv</a:t>
            </a:r>
          </a:p>
          <a:p xmlns:a="http://schemas.openxmlformats.org/drawingml/2006/main">
            <a:r>
              <a:t>https://github.com/paulocilasjr/MyStudies_AppliedScripts/blob/336080c/NVIDIA_Nemotron/src/icb_copilot/report.py</a:t>
            </a:r>
          </a:p>
          <a:p xmlns:a="http://schemas.openxmlformats.org/drawingml/2006/main">
            <a:r>
              <a:t>Local evidence: results/local-mvp-20261014T050421Z/experiment/narratives.jsonl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 saves structured JSONL, CSV, manifest, raw generation review and a human-readable report. export-handoff-ui converts results into narratives.json and patient_predictions.csv plus original plots and audit metadata. The Streamlit companion can call the loopback API for regeneration. The standalone HTML bundles all five saved reports, images and PDFs and supports a local dropdown with no server or model. Its JavaScript presents report sections while preserving the text. Clinical figure discrepancies and alternate mIF-score warnings stay visible.</a:t>
            </a:r>
          </a:p>
          <a:p xmlns:a="http://schemas.openxmlformats.org/drawingml/2006/main">
            <a:r>
              <a:t/>
            </a:r>
          </a:p>
          <a:p xmlns:a="http://schemas.openxmlformats.org/drawingml/2006/main">
            <a:r>
              <a:t>Sources:</a:t>
            </a:r>
          </a:p>
          <a:p xmlns:a="http://schemas.openxmlformats.org/drawingml/2006/main">
            <a:r>
              <a:t>https://github.com/paulocilasjr/MyStudies_AppliedScripts/blob/336080c/NVIDIA_Nemotron/src/icb_copilot/experiment.py</a:t>
            </a:r>
          </a:p>
          <a:p xmlns:a="http://schemas.openxmlformats.org/drawingml/2006/main">
            <a:r>
              <a:t>https://github.com/paulocilasjr/MyStudies_AppliedScripts/blob/336080c/NVIDIA_Nemotron/src/icb_copilot/handoff_export.py</a:t>
            </a:r>
          </a:p>
          <a:p xmlns:a="http://schemas.openxmlformats.org/drawingml/2006/main">
            <a:r>
              <a:t>https://github.com/paulocilasjr/MyStudies_AppliedScripts/blob/336080c/NVIDIA_Nemotron/src/icb_copilot/ui_export.py</a:t>
            </a:r>
          </a:p>
          <a:p xmlns:a="http://schemas.openxmlformats.org/drawingml/2006/main">
            <a:r>
              <a:t>https://github.com/paulocilasjr/MyStudies_AppliedScripts/blob/336080c/NVIDIA_Nemotron/demo/handoff_app.py</a:t>
            </a:r>
          </a:p>
          <a:p xmlns:a="http://schemas.openxmlformats.org/drawingml/2006/main">
            <a:r>
              <a:t>https://github.com/paulocilasjr/MyStudies_AppliedScripts/blob/336080c/NVIDIA_Nemotron/scripts/export_standalone_demo.py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project gates rather than reasons to block the synthetic demo. First settle the response endpoint, score provenance and corrected figure alignment. Then review clinical narrative quality on appropriate held-out cases. For serving, choose an approved supported NIM model/GPU profile, verify licensing and site container requirements, add the backend adapter and benchmark the same contract. Finally implement access control, audit logging and load policy. The current synthetic reports do not establish patient benefit or clinically improved decision-making.</a:t>
            </a:r>
          </a:p>
          <a:p xmlns:a="http://schemas.openxmlformats.org/drawingml/2006/main">
            <a:r>
              <a:t/>
            </a:r>
          </a:p>
          <a:p xmlns:a="http://schemas.openxmlformats.org/drawingml/2006/main">
            <a:r>
              <a:t>Sources:</a:t>
            </a:r>
          </a:p>
          <a:p xmlns:a="http://schemas.openxmlformats.org/drawingml/2006/main">
            <a:r>
              <a:t>https://github.com/paulocilasjr/MyStudies_AppliedScripts/blob/336080c/NVIDIA_Nemotron/docs/handoff.md</a:t>
            </a:r>
          </a:p>
          <a:p xmlns:a="http://schemas.openxmlformats.org/drawingml/2006/main">
            <a:r>
              <a:t>https://github.com/paulocilasjr/MyStudies_AppliedScripts/blob/336080c/NVIDIA_Nemotron/docs/research_review.md</a:t>
            </a:r>
          </a:p>
          <a:p xmlns:a="http://schemas.openxmlformats.org/drawingml/2006/main">
            <a:r>
              <a:t>https://docs.nvidia.com/nim/large-language-models/latest/reference/support-matrix.html</a:t>
            </a:r>
          </a:p>
          <a:p xmlns:a="http://schemas.openxmlformats.org/drawingml/2006/main">
            <a:r>
              <a:t>https://docs.api.nvidia.com/nim/docs/introduction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external references and the current repository are listed here. Each relevant slide carries more specific source links in its speaker notes. NVIDIA documentation was checked on14October2026. The local execution claims refer to saved run artifacts, not vendor benchmarks.</a:t>
            </a:r>
          </a:p>
          <a:p xmlns:a="http://schemas.openxmlformats.org/drawingml/2006/main">
            <a:r>
              <a:t/>
            </a:r>
          </a:p>
          <a:p xmlns:a="http://schemas.openxmlformats.org/drawingml/2006/main">
            <a:r>
              <a:t>Sources:</a:t>
            </a:r>
          </a:p>
          <a:p xmlns:a="http://schemas.openxmlformats.org/drawingml/2006/main">
            <a:r>
              <a:t>https://doi.org/10.1038/s41698-025-01250-8</a:t>
            </a:r>
          </a:p>
          <a:p xmlns:a="http://schemas.openxmlformats.org/drawingml/2006/main">
            <a:r>
              <a:t>https://huggingface.co/nvidia/Nemotron-Mini-4B-Instruct</a:t>
            </a:r>
          </a:p>
          <a:p xmlns:a="http://schemas.openxmlformats.org/drawingml/2006/main">
            <a:r>
              <a:t>https://docs.api.nvidia.com/nim/docs/introduction</a:t>
            </a:r>
          </a:p>
          <a:p xmlns:a="http://schemas.openxmlformats.org/drawingml/2006/main">
            <a:r>
              <a:t>https://developer.nvidia.com/nim</a:t>
            </a:r>
          </a:p>
          <a:p xmlns:a="http://schemas.openxmlformats.org/drawingml/2006/main">
            <a:r>
              <a:t>https://docs.nvidia.com/nim/large-language-models/latest/reference/support-matrix.html</a:t>
            </a:r>
          </a:p>
          <a:p xmlns:a="http://schemas.openxmlformats.org/drawingml/2006/main">
            <a:r>
              <a:t>https://github.com/paulocilasjr/MyStudies_AppliedScripts/blob/336080c/NVIDIA_Nemotron/src/icb_copilot/skills/icb-interpretation/SKILL.md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445dc6e03349a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cdcc4f0418242e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112bd07fe214f2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2606bb0e3fd4cd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9ee64d2ff154a5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37d9b5d0fd24ec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97F4188-7AC8-479E-99EF-20ECD6F420D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CBA60BB-CC42-4E70-9F26-2A3995F0D8D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6E337DA-82A1-4BAD-A981-5691C377BBC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C2073D-CAA2-42EE-A09A-8B7443C318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FB96645-1406-43DA-8BF5-7FCDD89B65C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19AB53F-9E77-4B6E-926E-033BF957A0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C56EF74-14A6-40EC-826F-C207643692C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2C5265F-AE05-4D7B-86B9-8C06588013E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DE3CDA-6CEE-4266-A9AD-86B916EBB9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D4B0DB2-25D7-45AF-8554-D07BA6C6A83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bd4f7b133147d7" /><Relationship Type="http://schemas.openxmlformats.org/officeDocument/2006/relationships/slideLayout" Target="/ppt/slideLayouts/slideLayout1.xml" Id="R1c28165e5e7544ec" /><Relationship Type="http://schemas.openxmlformats.org/officeDocument/2006/relationships/slideLayout" Target="/ppt/slideLayouts/slideLayout2.xml" Id="R50e3baba834f42ee" /><Relationship Type="http://schemas.openxmlformats.org/officeDocument/2006/relationships/slideLayout" Target="/ppt/slideLayouts/slideLayout3.xml" Id="R57a02dfde37b41bf" /><Relationship Type="http://schemas.openxmlformats.org/officeDocument/2006/relationships/slideLayout" Target="/ppt/slideLayouts/slideLayout4.xml" Id="Rd9b1d327e0f94944" /><Relationship Type="http://schemas.openxmlformats.org/officeDocument/2006/relationships/slideLayout" Target="/ppt/slideLayouts/slideLayout5.xml" Id="R96d5017911c743d1" /><Relationship Type="http://schemas.openxmlformats.org/officeDocument/2006/relationships/slideLayout" Target="/ppt/slideLayouts/slideLayout6.xml" Id="Rd11f347b1ec44f1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28165e5e7544ec"/>
    <p:sldLayoutId xmlns:r="http://schemas.openxmlformats.org/officeDocument/2006/relationships" id="2147483650" r:id="R50e3baba834f42ee"/>
    <p:sldLayoutId xmlns:r="http://schemas.openxmlformats.org/officeDocument/2006/relationships" id="2147483651" r:id="R57a02dfde37b41bf"/>
    <p:sldLayoutId xmlns:r="http://schemas.openxmlformats.org/officeDocument/2006/relationships" id="2147483652" r:id="Rd9b1d327e0f94944"/>
    <p:sldLayoutId xmlns:r="http://schemas.openxmlformats.org/officeDocument/2006/relationships" id="2147483653" r:id="R96d5017911c743d1"/>
    <p:sldLayoutId xmlns:r="http://schemas.openxmlformats.org/officeDocument/2006/relationships" id="2147483654" r:id="Rd11f347b1ec44f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c0fb5994a284ac0" /><Relationship Type="http://schemas.openxmlformats.org/officeDocument/2006/relationships/notesSlide" Target="/ppt/notesSlides/notesSlide1.xml" Id="Rb2bd0f8369ad460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8a3952dadfb4caa" /><Relationship Type="http://schemas.openxmlformats.org/officeDocument/2006/relationships/notesSlide" Target="/ppt/notesSlides/notesSlide2.xml" Id="Rb4a7fe76c34a4ba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6a53896947f4a7b" /><Relationship Type="http://schemas.openxmlformats.org/officeDocument/2006/relationships/notesSlide" Target="/ppt/notesSlides/notesSlide3.xml" Id="Rb46aeed7cbe046c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7bf5880bc2946a2" /><Relationship Type="http://schemas.openxmlformats.org/officeDocument/2006/relationships/notesSlide" Target="/ppt/notesSlides/notesSlide4.xml" Id="R82e3235f459f48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bb9a9bbb9d547c8" /><Relationship Type="http://schemas.openxmlformats.org/officeDocument/2006/relationships/notesSlide" Target="/ppt/notesSlides/notesSlide5.xml" Id="R3b1612b959b040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ffe2a1dda1b4f94" /><Relationship Type="http://schemas.openxmlformats.org/officeDocument/2006/relationships/notesSlide" Target="/ppt/notesSlides/notesSlide6.xml" Id="Rb754d93b54e042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9407b72657b4817" /><Relationship Type="http://schemas.openxmlformats.org/officeDocument/2006/relationships/notesSlide" Target="/ppt/notesSlides/notesSlide7.xml" Id="Rd604d48642e8428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d624ead6da542d9" /><Relationship Type="http://schemas.openxmlformats.org/officeDocument/2006/relationships/notesSlide" Target="/ppt/notesSlides/notesSlide8.xml" Id="Rfc89676d260243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603abf38ec843a6" /><Relationship Type="http://schemas.openxmlformats.org/officeDocument/2006/relationships/notesSlide" Target="/ppt/notesSlides/notesSlide9.xml" Id="R1a7fb33ec3074d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281833a71ab4ddd" /><Relationship Type="http://schemas.openxmlformats.org/officeDocument/2006/relationships/notesSlide" Target="/ppt/notesSlides/notesSlide10.xml" Id="R88e239e9b61b45f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8188094c9bd422e" /><Relationship Type="http://schemas.openxmlformats.org/officeDocument/2006/relationships/notesSlide" Target="/ppt/notesSlides/notesSlide11.xml" Id="R9c7d175794bd4c6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d2c61da7fb54947" /><Relationship Type="http://schemas.openxmlformats.org/officeDocument/2006/relationships/notesSlide" Target="/ppt/notesSlides/notesSlide12.xml" Id="Rf0fc0720f28e4fa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7028c67ec9e4981" /><Relationship Type="http://schemas.openxmlformats.org/officeDocument/2006/relationships/notesSlide" Target="/ppt/notesSlides/notesSlide13.xml" Id="R021c304cfab74d3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88f64ee432b4a3e" /><Relationship Type="http://schemas.openxmlformats.org/officeDocument/2006/relationships/notesSlide" Target="/ppt/notesSlides/notesSlide14.xml" Id="R668f44f8d8ed43a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591bf27131e4003" /><Relationship Type="http://schemas.openxmlformats.org/officeDocument/2006/relationships/notesSlide" Target="/ppt/notesSlides/notesSlide15.xml" Id="Rcd5b5c6dace3441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d33ac97fb9347a9" /><Relationship Type="http://schemas.openxmlformats.org/officeDocument/2006/relationships/notesSlide" Target="/ppt/notesSlides/notesSlide16.xml" Id="R31ebe3019f604ed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f8f8c7060d44a49" /><Relationship Type="http://schemas.openxmlformats.org/officeDocument/2006/relationships/notesSlide" Target="/ppt/notesSlides/notesSlide17.xml" Id="Rf138ea36e767478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306170adf104b8c" /><Relationship Type="http://schemas.openxmlformats.org/officeDocument/2006/relationships/notesSlide" Target="/ppt/notesSlides/notesSlide18.xml" Id="Rb775b2c91ddf4e5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fc18653fe104cec" /><Relationship Type="http://schemas.openxmlformats.org/officeDocument/2006/relationships/notesSlide" Target="/ppt/notesSlides/notesSlide19.xml" Id="R0c0557bfa498414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c456bf023b549df" /><Relationship Type="http://schemas.openxmlformats.org/officeDocument/2006/relationships/chart" Target="/ppt/slides/charts/chart1.xml" Id="R0886a5b0b9df4f35" /><Relationship Type="http://schemas.openxmlformats.org/officeDocument/2006/relationships/notesSlide" Target="/ppt/notesSlides/notesSlide20.xml" Id="R2ef292143a76464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68fffcf2e0b4b02" /><Relationship Type="http://schemas.openxmlformats.org/officeDocument/2006/relationships/notesSlide" Target="/ppt/notesSlides/notesSlide21.xml" Id="Rbb7e23fc01e4434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d60f518d7494a9f" /><Relationship Type="http://schemas.openxmlformats.org/officeDocument/2006/relationships/notesSlide" Target="/ppt/notesSlides/notesSlide22.xml" Id="R69f60df319ca497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127e5d904b94e79" /><Relationship Type="http://schemas.openxmlformats.org/officeDocument/2006/relationships/notesSlide" Target="/ppt/notesSlides/notesSlide23.xml" Id="Rd6b9ca901b0245e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Supplied score</c:v>
          </c:tx>
          <c:spPr>
            <a:solidFill xmlns:a="http://schemas.openxmlformats.org/drawingml/2006/main">
              <a:srgbClr val="007F7B"/>
            </a:solidFill>
          </c:spPr>
          <c:invertIfNegative val="0"/>
          <c:dPt>
            <c:idx val="0"/>
            <c:invertIfNegative val="0"/>
            <c:spPr>
              <a:solidFill xmlns:a="http://schemas.openxmlformats.org/drawingml/2006/main">
                <a:srgbClr val="152A2B"/>
              </a:solidFill>
            </c:spPr>
          </c:dPt>
          <c:dPt>
            <c:idx val="1"/>
            <c:invertIfNegative val="0"/>
            <c:spPr>
              <a:solidFill xmlns:a="http://schemas.openxmlformats.org/drawingml/2006/main">
                <a:srgbClr val="007F7B"/>
              </a:solidFill>
            </c:spPr>
          </c:dPt>
          <c:dPt>
            <c:idx val="2"/>
            <c:invertIfNegative val="0"/>
            <c:spPr>
              <a:solidFill xmlns:a="http://schemas.openxmlformats.org/drawingml/2006/main">
                <a:srgbClr val="76B900"/>
              </a:solidFill>
            </c:spPr>
          </c:dPt>
          <c:cat>
            <c:strRef>
              <c:f>'Chart Data'!$A$2:$A$4</c:f>
              <c:strCache>
                <c:ptCount val="3"/>
                <c:pt idx="0">
                  <c:v>Clinical</c:v>
                </c:pt>
                <c:pt idx="1">
                  <c:v>Spatial mIF</c:v>
                </c:pt>
                <c:pt idx="2">
                  <c:v>Fused</c:v>
                </c:pt>
              </c:strCache>
            </c:strRef>
          </c:cat>
          <c:val>
            <c:numRef>
              <c:f>'Chart Data'!$B$2:$B$4</c:f>
              <c:numCache>
                <c:formatCode>0.0000</c:formatCode>
                <c:ptCount val="3"/>
                <c:pt idx="0">
                  <c:v>0.1142</c:v>
                </c:pt>
                <c:pt idx="1">
                  <c:v>0.7966</c:v>
                </c:pt>
                <c:pt idx="2">
                  <c:v>0.3355</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2025" b="1">
                  <a:solidFill>
                    <a:srgbClr val="152A2B"/>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52A2B"/>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C7D3CD"/>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A6D6B"/>
                </a:solidFill>
                <a:latin typeface="Arial"/>
                <a:ea typeface="Arial"/>
                <a:cs typeface="Arial"/>
              </a:defRPr>
            </a:pPr>
          </a:p>
        </c:txPr>
        <c:crossAx val="48650112"/>
        <c:crossBetween val="between"/>
        <c:majorUnit val="0.2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A36D39C9-AF5B-47A4-954C-CC2F02FF3EEA}"/>
              </a:ext>
            </a:extLst>
          </p:cNvPr>
          <p:cNvCxnSpPr>
            <a:stCxn xmlns:a="http://schemas.openxmlformats.org/drawingml/2006/main" id="6" idx="3"/>
            <a:endCxn xmlns:a="http://schemas.openxmlformats.org/drawingml/2006/main" id="7" idx="1"/>
          </p:cNvCxnSpPr>
          <p:nvPr/>
        </p:nvCxnSpPr>
        <p:spPr>
          <a:xfrm xmlns:a="http://schemas.openxmlformats.org/drawingml/2006/main">
            <a:off x="7620000" y="4467225"/>
            <a:ext cx="914400"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F8DEFF6A-90DE-4370-8D1D-11A030997601}"/>
              </a:ext>
            </a:extLst>
          </p:cNvPr>
          <p:cNvCxnSpPr>
            <a:stCxn xmlns:a="http://schemas.openxmlformats.org/drawingml/2006/main" id="5" idx="3"/>
            <a:endCxn xmlns:a="http://schemas.openxmlformats.org/drawingml/2006/main" id="6" idx="1"/>
          </p:cNvCxnSpPr>
          <p:nvPr/>
        </p:nvCxnSpPr>
        <p:spPr>
          <a:xfrm xmlns:a="http://schemas.openxmlformats.org/drawingml/2006/main">
            <a:off x="3657600" y="4467225"/>
            <a:ext cx="914400"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sp>
        <p:nvSpPr>
          <p:cNvPr id="11" name="">
            <a:extLst xmlns:a="http://schemas.openxmlformats.org/drawingml/2006/main">
              <a:ext uri="{FF2B5EF4-FFF2-40B4-BE49-F238E27FC236}">
                <a16:creationId xmlns:a16="http://schemas.microsoft.com/office/drawing/2014/main" id="{CCD3DC5E-1E23-4BF3-8128-DA5CC6FD0CF8}"/>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F7B"/>
                </a:solidFill>
                <a:latin typeface="Arial"/>
                <a:ea typeface="Arial"/>
                <a:cs typeface="Arial"/>
              </a:defRPr>
            </a:defPPr>
          </a:lstStyle>
          <a:p xmlns:a="http://schemas.openxmlformats.org/drawingml/2006/main">
            <a:pPr algn="l">
              <a:defRPr sz="1350" b="1">
                <a:solidFill>
                  <a:srgbClr val="007F7B"/>
                </a:solidFill>
                <a:latin typeface="Arial"/>
                <a:ea typeface="Arial"/>
                <a:cs typeface="Arial"/>
              </a:defRPr>
            </a:pPr>
            <a:r>
              <a:rPr sz="1350" b="1">
                <a:solidFill>
                  <a:srgbClr val="007F7B"/>
                </a:solidFill>
                <a:latin typeface="Arial"/>
                <a:ea typeface="Arial"/>
                <a:cs typeface="Arial"/>
              </a:rPr>
              <a:t>PROJECT ARCHITECTURE</a:t>
            </a:r>
          </a:p>
        </p:txBody>
      </p:sp>
      <p:sp>
        <p:nvSpPr>
          <p:cNvPr id="2" name="">
            <a:extLst xmlns:a="http://schemas.openxmlformats.org/drawingml/2006/main">
              <a:ext uri="{FF2B5EF4-FFF2-40B4-BE49-F238E27FC236}">
                <a16:creationId xmlns:a16="http://schemas.microsoft.com/office/drawing/2014/main" id="{C035DB38-5C56-47C6-8B90-9CEC7D637545}"/>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A2B"/>
                </a:solidFill>
                <a:latin typeface="Arial"/>
                <a:ea typeface="Arial"/>
                <a:cs typeface="Arial"/>
              </a:defRPr>
            </a:defPPr>
          </a:lstStyle>
          <a:p xmlns:a="http://schemas.openxmlformats.org/drawingml/2006/main">
            <a:pPr algn="l">
              <a:defRPr sz="3300" b="1">
                <a:solidFill>
                  <a:srgbClr val="152A2B"/>
                </a:solidFill>
                <a:latin typeface="Arial"/>
                <a:ea typeface="Arial"/>
                <a:cs typeface="Arial"/>
              </a:defRPr>
            </a:pPr>
            <a:r>
              <a:rPr sz="3300" b="1">
                <a:solidFill>
                  <a:srgbClr val="152A2B"/>
                </a:solidFill>
                <a:latin typeface="Arial"/>
                <a:ea typeface="Arial"/>
                <a:cs typeface="Arial"/>
              </a:rPr>
              <a:t>Nemotron for ICB response interpretation</a:t>
            </a:r>
          </a:p>
        </p:txBody>
      </p:sp>
      <p:sp>
        <p:nvSpPr>
          <p:cNvPr id="3" name="">
            <a:extLst xmlns:a="http://schemas.openxmlformats.org/drawingml/2006/main">
              <a:ext uri="{FF2B5EF4-FFF2-40B4-BE49-F238E27FC236}">
                <a16:creationId xmlns:a16="http://schemas.microsoft.com/office/drawing/2014/main" id="{2AA10DDB-AFF3-4205-9E87-10EA2B371E68}"/>
              </a:ext>
            </a:extLst>
          </p:cNvPr>
          <p:cNvSpPr>
            <a:spLocks xmlns:a="http://schemas.openxmlformats.org/drawingml/2006/main" noGrp="1"/>
          </p:cNvSpPr>
          <p:nvPr/>
        </p:nvSpPr>
        <p:spPr>
          <a:xfrm xmlns:a="http://schemas.openxmlformats.org/drawingml/2006/main">
            <a:off x="11144250" y="64198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A6D6B"/>
                </a:solidFill>
                <a:latin typeface="Arial"/>
                <a:ea typeface="Arial"/>
                <a:cs typeface="Arial"/>
              </a:defRPr>
            </a:defPPr>
          </a:lstStyle>
          <a:p xmlns:a="http://schemas.openxmlformats.org/drawingml/2006/main">
            <a:pPr algn="r">
              <a:defRPr sz="1200" b="0">
                <a:solidFill>
                  <a:srgbClr val="5A6D6B"/>
                </a:solidFill>
                <a:latin typeface="Arial"/>
                <a:ea typeface="Arial"/>
                <a:cs typeface="Arial"/>
              </a:defRPr>
            </a:pPr>
            <a:r>
              <a:rPr sz="1200" b="0">
                <a:solidFill>
                  <a:srgbClr val="5A6D6B"/>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C596ED41-3C21-48C2-A969-931C50EB799D}"/>
              </a:ext>
            </a:extLst>
          </p:cNvPr>
          <p:cNvSpPr>
            <a:spLocks xmlns:a="http://schemas.openxmlformats.org/drawingml/2006/main" noGrp="1"/>
          </p:cNvSpPr>
          <p:nvPr/>
        </p:nvSpPr>
        <p:spPr>
          <a:xfrm xmlns:a="http://schemas.openxmlformats.org/drawingml/2006/main">
            <a:off x="609600" y="1819275"/>
            <a:ext cx="1066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152A2B"/>
                </a:solidFill>
                <a:latin typeface="Arial"/>
                <a:ea typeface="Arial"/>
                <a:cs typeface="Arial"/>
              </a:defRPr>
            </a:defPPr>
          </a:lstStyle>
          <a:p xmlns:a="http://schemas.openxmlformats.org/drawingml/2006/main">
            <a:pPr algn="l">
              <a:defRPr sz="3900" b="1">
                <a:solidFill>
                  <a:srgbClr val="152A2B"/>
                </a:solidFill>
                <a:latin typeface="Arial"/>
                <a:ea typeface="Arial"/>
                <a:cs typeface="Arial"/>
              </a:defRPr>
            </a:pPr>
            <a:r>
              <a:rPr sz="3900" b="1">
                <a:solidFill>
                  <a:srgbClr val="152A2B"/>
                </a:solidFill>
                <a:latin typeface="Arial"/>
                <a:ea typeface="Arial"/>
                <a:cs typeface="Arial"/>
              </a:rPr>
              <a:t>Scores and evidence become</a:t>
            </a:r>
          </a:p>
          <a:p xmlns:a="http://schemas.openxmlformats.org/drawingml/2006/main">
            <a:pPr algn="l">
              <a:defRPr sz="3900" b="1">
                <a:solidFill>
                  <a:srgbClr val="152A2B"/>
                </a:solidFill>
                <a:latin typeface="Arial"/>
                <a:ea typeface="Arial"/>
                <a:cs typeface="Arial"/>
              </a:defRPr>
            </a:pPr>
            <a:r>
              <a:rPr sz="3900" b="1">
                <a:solidFill>
                  <a:srgbClr val="152A2B"/>
                </a:solidFill>
                <a:latin typeface="Arial"/>
                <a:ea typeface="Arial"/>
                <a:cs typeface="Arial"/>
              </a:rPr>
              <a:t>a readable patient report</a:t>
            </a:r>
          </a:p>
        </p:txBody>
      </p:sp>
      <p:sp>
        <p:nvSpPr>
          <p:cNvPr id="5" name="">
            <a:extLst xmlns:a="http://schemas.openxmlformats.org/drawingml/2006/main">
              <a:ext uri="{FF2B5EF4-FFF2-40B4-BE49-F238E27FC236}">
                <a16:creationId xmlns:a16="http://schemas.microsoft.com/office/drawing/2014/main" id="{82BD5CDD-9C74-48B7-AD82-4DA8219F64E5}"/>
              </a:ext>
            </a:extLst>
          </p:cNvPr>
          <p:cNvSpPr>
            <a:spLocks xmlns:a="http://schemas.openxmlformats.org/drawingml/2006/main" noGrp="1"/>
          </p:cNvSpPr>
          <p:nvPr/>
        </p:nvSpPr>
        <p:spPr>
          <a:xfrm xmlns:a="http://schemas.openxmlformats.org/drawingml/2006/main">
            <a:off x="609600" y="3838575"/>
            <a:ext cx="30480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325" b="1">
                <a:solidFill>
                  <a:srgbClr val="152A2B"/>
                </a:solidFill>
                <a:latin typeface="Arial"/>
                <a:ea typeface="Arial"/>
                <a:cs typeface="Arial"/>
              </a:defRPr>
            </a:defPPr>
          </a:lstStyle>
          <a:p xmlns:a="http://schemas.openxmlformats.org/drawingml/2006/main">
            <a:pPr algn="ctr">
              <a:defRPr sz="2325" b="1">
                <a:solidFill>
                  <a:srgbClr val="152A2B"/>
                </a:solidFill>
                <a:latin typeface="Arial"/>
                <a:ea typeface="Arial"/>
                <a:cs typeface="Arial"/>
              </a:defRPr>
            </a:pPr>
            <a:r>
              <a:rPr sz="2325" b="1">
                <a:solidFill>
                  <a:srgbClr val="152A2B"/>
                </a:solidFill>
                <a:latin typeface="Arial"/>
                <a:ea typeface="Arial"/>
                <a:cs typeface="Arial"/>
              </a:rPr>
              <a:t>01</a:t>
            </a:r>
          </a:p>
          <a:p xmlns:a="http://schemas.openxmlformats.org/drawingml/2006/main">
            <a:pPr algn="ctr">
              <a:defRPr sz="2325" b="1">
                <a:solidFill>
                  <a:srgbClr val="152A2B"/>
                </a:solidFill>
                <a:latin typeface="Arial"/>
                <a:ea typeface="Arial"/>
                <a:cs typeface="Arial"/>
              </a:defRPr>
            </a:pPr>
            <a:r>
              <a:rPr sz="2325" b="1">
                <a:solidFill>
                  <a:srgbClr val="152A2B"/>
                </a:solidFill>
                <a:latin typeface="Arial"/>
                <a:ea typeface="Arial"/>
                <a:cs typeface="Arial"/>
              </a:rPr>
              <a:t>Inputs + skill</a:t>
            </a:r>
          </a:p>
        </p:txBody>
      </p:sp>
      <p:sp>
        <p:nvSpPr>
          <p:cNvPr id="6" name="">
            <a:extLst xmlns:a="http://schemas.openxmlformats.org/drawingml/2006/main">
              <a:ext uri="{FF2B5EF4-FFF2-40B4-BE49-F238E27FC236}">
                <a16:creationId xmlns:a16="http://schemas.microsoft.com/office/drawing/2014/main" id="{E7FF4F65-AC3A-4DB4-B268-6053E6757DEB}"/>
              </a:ext>
            </a:extLst>
          </p:cNvPr>
          <p:cNvSpPr>
            <a:spLocks xmlns:a="http://schemas.openxmlformats.org/drawingml/2006/main" noGrp="1"/>
          </p:cNvSpPr>
          <p:nvPr/>
        </p:nvSpPr>
        <p:spPr>
          <a:xfrm xmlns:a="http://schemas.openxmlformats.org/drawingml/2006/main">
            <a:off x="4572000" y="3838575"/>
            <a:ext cx="3048000" cy="1257300"/>
          </a:xfrm>
          <a:prstGeom xmlns:a="http://schemas.openxmlformats.org/drawingml/2006/main" prst="rect">
            <a:avLst/>
          </a:prstGeom>
          <a:solidFill xmlns:a="http://schemas.openxmlformats.org/drawingml/2006/main">
            <a:srgbClr val="E8F2D9"/>
          </a:solidFill>
          <a:ln xmlns:a="http://schemas.openxmlformats.org/drawingml/2006/main" w="14288">
            <a:solidFill>
              <a:srgbClr val="76B900"/>
            </a:solidFill>
          </a:ln>
        </p:spPr>
        <p:txBody>
          <a:bodyPr xmlns:a="http://schemas.openxmlformats.org/drawingml/2006/main" wrap="square" lIns="114300" tIns="114300" rIns="114300" bIns="114300" anchor="ctr">
            <a:noAutofit/>
          </a:bodyPr>
          <a:lstStyle xmlns:a="http://schemas.openxmlformats.org/drawingml/2006/main">
            <a:defPPr algn="ctr">
              <a:defRPr sz="2325" b="1">
                <a:solidFill>
                  <a:srgbClr val="152A2B"/>
                </a:solidFill>
                <a:latin typeface="Arial"/>
                <a:ea typeface="Arial"/>
                <a:cs typeface="Arial"/>
              </a:defRPr>
            </a:defPPr>
          </a:lstStyle>
          <a:p xmlns:a="http://schemas.openxmlformats.org/drawingml/2006/main">
            <a:pPr algn="ctr">
              <a:defRPr sz="2325" b="1">
                <a:solidFill>
                  <a:srgbClr val="152A2B"/>
                </a:solidFill>
                <a:latin typeface="Arial"/>
                <a:ea typeface="Arial"/>
                <a:cs typeface="Arial"/>
              </a:defRPr>
            </a:pPr>
            <a:r>
              <a:rPr sz="2325" b="1">
                <a:solidFill>
                  <a:srgbClr val="152A2B"/>
                </a:solidFill>
                <a:latin typeface="Arial"/>
                <a:ea typeface="Arial"/>
                <a:cs typeface="Arial"/>
              </a:rPr>
              <a:t>02</a:t>
            </a:r>
          </a:p>
          <a:p xmlns:a="http://schemas.openxmlformats.org/drawingml/2006/main">
            <a:pPr algn="ctr">
              <a:defRPr sz="2325" b="1">
                <a:solidFill>
                  <a:srgbClr val="152A2B"/>
                </a:solidFill>
                <a:latin typeface="Arial"/>
                <a:ea typeface="Arial"/>
                <a:cs typeface="Arial"/>
              </a:defRPr>
            </a:pPr>
            <a:r>
              <a:rPr sz="2325" b="1">
                <a:solidFill>
                  <a:srgbClr val="152A2B"/>
                </a:solidFill>
                <a:latin typeface="Arial"/>
                <a:ea typeface="Arial"/>
                <a:cs typeface="Arial"/>
              </a:rPr>
              <a:t>Nemotron generation</a:t>
            </a:r>
          </a:p>
        </p:txBody>
      </p:sp>
      <p:sp>
        <p:nvSpPr>
          <p:cNvPr id="7" name="">
            <a:extLst xmlns:a="http://schemas.openxmlformats.org/drawingml/2006/main">
              <a:ext uri="{FF2B5EF4-FFF2-40B4-BE49-F238E27FC236}">
                <a16:creationId xmlns:a16="http://schemas.microsoft.com/office/drawing/2014/main" id="{2A837EA5-65A8-434E-8A5B-B3B05393F4A5}"/>
              </a:ext>
            </a:extLst>
          </p:cNvPr>
          <p:cNvSpPr>
            <a:spLocks xmlns:a="http://schemas.openxmlformats.org/drawingml/2006/main" noGrp="1"/>
          </p:cNvSpPr>
          <p:nvPr/>
        </p:nvSpPr>
        <p:spPr>
          <a:xfrm xmlns:a="http://schemas.openxmlformats.org/drawingml/2006/main">
            <a:off x="8534400" y="3838575"/>
            <a:ext cx="30480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325" b="1">
                <a:solidFill>
                  <a:srgbClr val="152A2B"/>
                </a:solidFill>
                <a:latin typeface="Arial"/>
                <a:ea typeface="Arial"/>
                <a:cs typeface="Arial"/>
              </a:defRPr>
            </a:defPPr>
          </a:lstStyle>
          <a:p xmlns:a="http://schemas.openxmlformats.org/drawingml/2006/main">
            <a:pPr algn="ctr">
              <a:defRPr sz="2325" b="1">
                <a:solidFill>
                  <a:srgbClr val="152A2B"/>
                </a:solidFill>
                <a:latin typeface="Arial"/>
                <a:ea typeface="Arial"/>
                <a:cs typeface="Arial"/>
              </a:defRPr>
            </a:pPr>
            <a:r>
              <a:rPr sz="2325" b="1">
                <a:solidFill>
                  <a:srgbClr val="152A2B"/>
                </a:solidFill>
                <a:latin typeface="Arial"/>
                <a:ea typeface="Arial"/>
                <a:cs typeface="Arial"/>
              </a:rPr>
              <a:t>03</a:t>
            </a:r>
          </a:p>
          <a:p xmlns:a="http://schemas.openxmlformats.org/drawingml/2006/main">
            <a:pPr algn="ctr">
              <a:defRPr sz="2325" b="1">
                <a:solidFill>
                  <a:srgbClr val="152A2B"/>
                </a:solidFill>
                <a:latin typeface="Arial"/>
                <a:ea typeface="Arial"/>
                <a:cs typeface="Arial"/>
              </a:defRPr>
            </a:pPr>
            <a:r>
              <a:rPr sz="2325" b="1">
                <a:solidFill>
                  <a:srgbClr val="152A2B"/>
                </a:solidFill>
                <a:latin typeface="Arial"/>
                <a:ea typeface="Arial"/>
                <a:cs typeface="Arial"/>
              </a:rPr>
              <a:t>Report + UI</a:t>
            </a:r>
          </a:p>
        </p:txBody>
      </p:sp>
      <p:sp>
        <p:nvSpPr>
          <p:cNvPr id="10" name="">
            <a:extLst xmlns:a="http://schemas.openxmlformats.org/drawingml/2006/main">
              <a:ext uri="{FF2B5EF4-FFF2-40B4-BE49-F238E27FC236}">
                <a16:creationId xmlns:a16="http://schemas.microsoft.com/office/drawing/2014/main" id="{6A93131A-6C4A-4A8A-A278-5894CD29B5D0}"/>
              </a:ext>
            </a:extLst>
          </p:cNvPr>
          <p:cNvSpPr>
            <a:spLocks xmlns:a="http://schemas.openxmlformats.org/drawingml/2006/main" noGrp="1"/>
          </p:cNvSpPr>
          <p:nvPr/>
        </p:nvSpPr>
        <p:spPr>
          <a:xfrm xmlns:a="http://schemas.openxmlformats.org/drawingml/2006/main">
            <a:off x="609600" y="60102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A6D6B"/>
                </a:solidFill>
                <a:latin typeface="Arial"/>
                <a:ea typeface="Arial"/>
                <a:cs typeface="Arial"/>
              </a:defRPr>
            </a:defPPr>
          </a:lstStyle>
          <a:p xmlns:a="http://schemas.openxmlformats.org/drawingml/2006/main">
            <a:pPr algn="l">
              <a:defRPr sz="1575" b="0">
                <a:solidFill>
                  <a:srgbClr val="5A6D6B"/>
                </a:solidFill>
                <a:latin typeface="Arial"/>
                <a:ea typeface="Arial"/>
                <a:cs typeface="Arial"/>
              </a:defRPr>
            </a:pPr>
            <a:r>
              <a:rPr sz="1575" b="0">
                <a:solidFill>
                  <a:srgbClr val="5A6D6B"/>
                </a:solidFill>
                <a:latin typeface="Arial"/>
                <a:ea typeface="Arial"/>
                <a:cs typeface="Arial"/>
              </a:rPr>
              <a:t>Nemotron-Mini-4B-Instruct  /  Synthetic demonstration  /  October 2026</a:t>
            </a:r>
          </a:p>
        </p:txBody>
      </p:sp>
    </p:spTree>
    <p:extLst>
      <p:ext uri="{BB962C8B-B14F-4D97-AF65-F5344CB8AC3E}">
        <p14:creationId xmlns:p14="http://schemas.microsoft.com/office/powerpoint/2010/main" val="100521052"/>
      </p:ext>
    </p:extLst>
  </p:cSld>
</p:sld>
</file>

<file path=ppt/slides/slide2.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739587FB-71D6-4450-BA71-19180DC60FF0}"/>
              </a:ext>
            </a:extLst>
          </p:cNvPr>
          <p:cNvCxnSpPr>
            <a:stCxn xmlns:a="http://schemas.openxmlformats.org/drawingml/2006/main" id="11" idx="2"/>
            <a:endCxn xmlns:a="http://schemas.openxmlformats.org/drawingml/2006/main" id="14" idx="0"/>
          </p:cNvCxnSpPr>
          <p:nvPr/>
        </p:nvCxnSpPr>
        <p:spPr>
          <a:xfrm xmlns:a="http://schemas.openxmlformats.org/drawingml/2006/main">
            <a:off x="10153650" y="4238625"/>
            <a:ext cx="0" cy="66675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12" name="">
            <a:extLst xmlns:a="http://schemas.openxmlformats.org/drawingml/2006/main">
              <a:ext uri="{FF2B5EF4-FFF2-40B4-BE49-F238E27FC236}">
                <a16:creationId xmlns:a16="http://schemas.microsoft.com/office/drawing/2014/main" id="{99E81F29-98A2-45F0-9A8C-FA4DFE598663}"/>
              </a:ext>
            </a:extLst>
          </p:cNvPr>
          <p:cNvCxnSpPr>
            <a:stCxn xmlns:a="http://schemas.openxmlformats.org/drawingml/2006/main" id="7" idx="3"/>
            <a:endCxn xmlns:a="http://schemas.openxmlformats.org/drawingml/2006/main" id="11" idx="1"/>
          </p:cNvCxnSpPr>
          <p:nvPr/>
        </p:nvCxnSpPr>
        <p:spPr>
          <a:xfrm xmlns:a="http://schemas.openxmlformats.org/drawingml/2006/main">
            <a:off x="7429500" y="3810000"/>
            <a:ext cx="1295400"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83DC57C6-4601-4E24-A855-900B27AE251F}"/>
              </a:ext>
            </a:extLst>
          </p:cNvPr>
          <p:cNvCxnSpPr>
            <a:stCxn xmlns:a="http://schemas.openxmlformats.org/drawingml/2006/main" id="6" idx="3"/>
            <a:endCxn xmlns:a="http://schemas.openxmlformats.org/drawingml/2006/main" id="7" idx="1"/>
          </p:cNvCxnSpPr>
          <p:nvPr/>
        </p:nvCxnSpPr>
        <p:spPr>
          <a:xfrm xmlns:a="http://schemas.openxmlformats.org/drawingml/2006/main" flipV="1">
            <a:off x="3467100" y="3810000"/>
            <a:ext cx="1104900" cy="1571625"/>
          </a:xfrm>
          <a:prstGeom xmlns:a="http://schemas.openxmlformats.org/drawingml/2006/main" prst="bentConnector3">
            <a:avLst>
              <a:gd name="adj1" fmla="val 50000"/>
            </a:avLst>
          </a:prstGeom>
          <a:ln xmlns:a="http://schemas.openxmlformats.org/drawingml/2006/main" w="23813">
            <a:solidFill>
              <a:srgbClr val="5A6D6B"/>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B1279C1D-C7DA-4A96-BCD6-AA2C987064EE}"/>
              </a:ext>
            </a:extLst>
          </p:cNvPr>
          <p:cNvCxnSpPr>
            <a:stCxn xmlns:a="http://schemas.openxmlformats.org/drawingml/2006/main" id="5" idx="3"/>
            <a:endCxn xmlns:a="http://schemas.openxmlformats.org/drawingml/2006/main" id="7" idx="1"/>
          </p:cNvCxnSpPr>
          <p:nvPr/>
        </p:nvCxnSpPr>
        <p:spPr>
          <a:xfrm xmlns:a="http://schemas.openxmlformats.org/drawingml/2006/main">
            <a:off x="3467100" y="3810000"/>
            <a:ext cx="1104900"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F3FD69D7-A778-47DB-9B7C-D18E8DBA0ED9}"/>
              </a:ext>
            </a:extLst>
          </p:cNvPr>
          <p:cNvCxnSpPr>
            <a:stCxn xmlns:a="http://schemas.openxmlformats.org/drawingml/2006/main" id="4" idx="3"/>
            <a:endCxn xmlns:a="http://schemas.openxmlformats.org/drawingml/2006/main" id="7" idx="1"/>
          </p:cNvCxnSpPr>
          <p:nvPr/>
        </p:nvCxnSpPr>
        <p:spPr>
          <a:xfrm xmlns:a="http://schemas.openxmlformats.org/drawingml/2006/main">
            <a:off x="3467100" y="2238375"/>
            <a:ext cx="1104900" cy="1571625"/>
          </a:xfrm>
          <a:prstGeom xmlns:a="http://schemas.openxmlformats.org/drawingml/2006/main" prst="bentConnector3">
            <a:avLst>
              <a:gd name="adj1" fmla="val 50000"/>
            </a:avLst>
          </a:prstGeom>
          <a:ln xmlns:a="http://schemas.openxmlformats.org/drawingml/2006/main" w="23813">
            <a:solidFill>
              <a:srgbClr val="5A6D6B"/>
            </a:solidFill>
            <a:prstDash val="solid"/>
            <a:tailEnd type="arrow" w="med" len="med"/>
          </a:ln>
        </p:spPr>
      </p:cxnSp>
      <p:sp>
        <p:nvSpPr>
          <p:cNvPr id="17" name="">
            <a:extLst xmlns:a="http://schemas.openxmlformats.org/drawingml/2006/main">
              <a:ext uri="{FF2B5EF4-FFF2-40B4-BE49-F238E27FC236}">
                <a16:creationId xmlns:a16="http://schemas.microsoft.com/office/drawing/2014/main" id="{AE903424-C1F6-4EF6-94CE-EBA54276D153}"/>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F7B"/>
                </a:solidFill>
                <a:latin typeface="Arial"/>
                <a:ea typeface="Arial"/>
                <a:cs typeface="Arial"/>
              </a:defRPr>
            </a:defPPr>
          </a:lstStyle>
          <a:p xmlns:a="http://schemas.openxmlformats.org/drawingml/2006/main">
            <a:pPr algn="l">
              <a:defRPr sz="1350" b="1">
                <a:solidFill>
                  <a:srgbClr val="007F7B"/>
                </a:solidFill>
                <a:latin typeface="Arial"/>
                <a:ea typeface="Arial"/>
                <a:cs typeface="Arial"/>
              </a:defRPr>
            </a:pPr>
            <a:r>
              <a:rPr sz="1350" b="1">
                <a:solidFill>
                  <a:srgbClr val="007F7B"/>
                </a:solidFill>
                <a:latin typeface="Arial"/>
                <a:ea typeface="Arial"/>
                <a:cs typeface="Arial"/>
              </a:rPr>
              <a:t>SYSTEM OVERVIEW</a:t>
            </a:r>
          </a:p>
        </p:txBody>
      </p:sp>
      <p:sp>
        <p:nvSpPr>
          <p:cNvPr id="2" name="">
            <a:extLst xmlns:a="http://schemas.openxmlformats.org/drawingml/2006/main">
              <a:ext uri="{FF2B5EF4-FFF2-40B4-BE49-F238E27FC236}">
                <a16:creationId xmlns:a16="http://schemas.microsoft.com/office/drawing/2014/main" id="{94D289A7-60E1-43DF-A36D-8EB21A748E9F}"/>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A2B"/>
                </a:solidFill>
                <a:latin typeface="Arial"/>
                <a:ea typeface="Arial"/>
                <a:cs typeface="Arial"/>
              </a:defRPr>
            </a:defPPr>
          </a:lstStyle>
          <a:p xmlns:a="http://schemas.openxmlformats.org/drawingml/2006/main">
            <a:pPr algn="l">
              <a:defRPr sz="3300" b="1">
                <a:solidFill>
                  <a:srgbClr val="152A2B"/>
                </a:solidFill>
                <a:latin typeface="Arial"/>
                <a:ea typeface="Arial"/>
                <a:cs typeface="Arial"/>
              </a:defRPr>
            </a:pPr>
            <a:r>
              <a:rPr sz="3300" b="1">
                <a:solidFill>
                  <a:srgbClr val="152A2B"/>
                </a:solidFill>
                <a:latin typeface="Arial"/>
                <a:ea typeface="Arial"/>
                <a:cs typeface="Arial"/>
              </a:rPr>
              <a:t>The copilot sits after the prediction models</a:t>
            </a:r>
          </a:p>
        </p:txBody>
      </p:sp>
      <p:sp>
        <p:nvSpPr>
          <p:cNvPr id="3" name="">
            <a:extLst xmlns:a="http://schemas.openxmlformats.org/drawingml/2006/main">
              <a:ext uri="{FF2B5EF4-FFF2-40B4-BE49-F238E27FC236}">
                <a16:creationId xmlns:a16="http://schemas.microsoft.com/office/drawing/2014/main" id="{53953883-D164-49DD-B857-78381B98969F}"/>
              </a:ext>
            </a:extLst>
          </p:cNvPr>
          <p:cNvSpPr>
            <a:spLocks xmlns:a="http://schemas.openxmlformats.org/drawingml/2006/main" noGrp="1"/>
          </p:cNvSpPr>
          <p:nvPr/>
        </p:nvSpPr>
        <p:spPr>
          <a:xfrm xmlns:a="http://schemas.openxmlformats.org/drawingml/2006/main">
            <a:off x="11144250" y="64198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A6D6B"/>
                </a:solidFill>
                <a:latin typeface="Arial"/>
                <a:ea typeface="Arial"/>
                <a:cs typeface="Arial"/>
              </a:defRPr>
            </a:defPPr>
          </a:lstStyle>
          <a:p xmlns:a="http://schemas.openxmlformats.org/drawingml/2006/main">
            <a:pPr algn="r">
              <a:defRPr sz="1200" b="0">
                <a:solidFill>
                  <a:srgbClr val="5A6D6B"/>
                </a:solidFill>
                <a:latin typeface="Arial"/>
                <a:ea typeface="Arial"/>
                <a:cs typeface="Arial"/>
              </a:defRPr>
            </a:pPr>
            <a:r>
              <a:rPr sz="1200" b="0">
                <a:solidFill>
                  <a:srgbClr val="5A6D6B"/>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E8420B3D-69DC-4FCE-9DFE-41B307D1DBC5}"/>
              </a:ext>
            </a:extLst>
          </p:cNvPr>
          <p:cNvSpPr>
            <a:spLocks xmlns:a="http://schemas.openxmlformats.org/drawingml/2006/main" noGrp="1"/>
          </p:cNvSpPr>
          <p:nvPr/>
        </p:nvSpPr>
        <p:spPr>
          <a:xfrm xmlns:a="http://schemas.openxmlformats.org/drawingml/2006/main">
            <a:off x="609600" y="1809750"/>
            <a:ext cx="28575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Clinical model / Isis</a:t>
            </a:r>
          </a:p>
        </p:txBody>
      </p:sp>
      <p:sp>
        <p:nvSpPr>
          <p:cNvPr id="5" name="">
            <a:extLst xmlns:a="http://schemas.openxmlformats.org/drawingml/2006/main">
              <a:ext uri="{FF2B5EF4-FFF2-40B4-BE49-F238E27FC236}">
                <a16:creationId xmlns:a16="http://schemas.microsoft.com/office/drawing/2014/main" id="{9310ACF8-3397-436C-8460-F0527DE13C6E}"/>
              </a:ext>
            </a:extLst>
          </p:cNvPr>
          <p:cNvSpPr>
            <a:spLocks xmlns:a="http://schemas.openxmlformats.org/drawingml/2006/main" noGrp="1"/>
          </p:cNvSpPr>
          <p:nvPr/>
        </p:nvSpPr>
        <p:spPr>
          <a:xfrm xmlns:a="http://schemas.openxmlformats.org/drawingml/2006/main">
            <a:off x="609600" y="3381375"/>
            <a:ext cx="28575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mIF model / Alyssa</a:t>
            </a:r>
          </a:p>
        </p:txBody>
      </p:sp>
      <p:sp>
        <p:nvSpPr>
          <p:cNvPr id="6" name="">
            <a:extLst xmlns:a="http://schemas.openxmlformats.org/drawingml/2006/main">
              <a:ext uri="{FF2B5EF4-FFF2-40B4-BE49-F238E27FC236}">
                <a16:creationId xmlns:a16="http://schemas.microsoft.com/office/drawing/2014/main" id="{70BE9E5A-DB21-4139-A571-D67AB6BB5AAE}"/>
              </a:ext>
            </a:extLst>
          </p:cNvPr>
          <p:cNvSpPr>
            <a:spLocks xmlns:a="http://schemas.openxmlformats.org/drawingml/2006/main" noGrp="1"/>
          </p:cNvSpPr>
          <p:nvPr/>
        </p:nvSpPr>
        <p:spPr>
          <a:xfrm xmlns:a="http://schemas.openxmlformats.org/drawingml/2006/main">
            <a:off x="609600" y="4953000"/>
            <a:ext cx="28575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Late-fusion model</a:t>
            </a:r>
          </a:p>
        </p:txBody>
      </p:sp>
      <p:sp>
        <p:nvSpPr>
          <p:cNvPr id="7" name="">
            <a:extLst xmlns:a="http://schemas.openxmlformats.org/drawingml/2006/main">
              <a:ext uri="{FF2B5EF4-FFF2-40B4-BE49-F238E27FC236}">
                <a16:creationId xmlns:a16="http://schemas.microsoft.com/office/drawing/2014/main" id="{62B5A26B-8637-4E7D-8D08-06257EB4BF0B}"/>
              </a:ext>
            </a:extLst>
          </p:cNvPr>
          <p:cNvSpPr>
            <a:spLocks xmlns:a="http://schemas.openxmlformats.org/drawingml/2006/main" noGrp="1"/>
          </p:cNvSpPr>
          <p:nvPr/>
        </p:nvSpPr>
        <p:spPr>
          <a:xfrm xmlns:a="http://schemas.openxmlformats.org/drawingml/2006/main">
            <a:off x="4572000" y="3381375"/>
            <a:ext cx="28575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3 scores + features</a:t>
            </a:r>
          </a:p>
        </p:txBody>
      </p:sp>
      <p:sp>
        <p:nvSpPr>
          <p:cNvPr id="11" name="">
            <a:extLst xmlns:a="http://schemas.openxmlformats.org/drawingml/2006/main">
              <a:ext uri="{FF2B5EF4-FFF2-40B4-BE49-F238E27FC236}">
                <a16:creationId xmlns:a16="http://schemas.microsoft.com/office/drawing/2014/main" id="{E188E829-F842-4520-96DE-5D68C854D14F}"/>
              </a:ext>
            </a:extLst>
          </p:cNvPr>
          <p:cNvSpPr>
            <a:spLocks xmlns:a="http://schemas.openxmlformats.org/drawingml/2006/main" noGrp="1"/>
          </p:cNvSpPr>
          <p:nvPr/>
        </p:nvSpPr>
        <p:spPr>
          <a:xfrm xmlns:a="http://schemas.openxmlformats.org/drawingml/2006/main">
            <a:off x="8724900" y="3381375"/>
            <a:ext cx="2857500" cy="857250"/>
          </a:xfrm>
          <a:prstGeom xmlns:a="http://schemas.openxmlformats.org/drawingml/2006/main" prst="rect">
            <a:avLst/>
          </a:prstGeom>
          <a:solidFill xmlns:a="http://schemas.openxmlformats.org/drawingml/2006/main">
            <a:srgbClr val="E8F2D9"/>
          </a:solidFill>
          <a:ln xmlns:a="http://schemas.openxmlformats.org/drawingml/2006/main" w="14288">
            <a:solidFill>
              <a:srgbClr val="76B900"/>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Nemotron / Paulo</a:t>
            </a:r>
          </a:p>
        </p:txBody>
      </p:sp>
      <p:sp>
        <p:nvSpPr>
          <p:cNvPr id="13" name="">
            <a:extLst xmlns:a="http://schemas.openxmlformats.org/drawingml/2006/main">
              <a:ext uri="{FF2B5EF4-FFF2-40B4-BE49-F238E27FC236}">
                <a16:creationId xmlns:a16="http://schemas.microsoft.com/office/drawing/2014/main" id="{E2CD6D55-75B7-436B-9569-213E369046FD}"/>
              </a:ext>
            </a:extLst>
          </p:cNvPr>
          <p:cNvSpPr>
            <a:spLocks xmlns:a="http://schemas.openxmlformats.org/drawingml/2006/main" noGrp="1"/>
          </p:cNvSpPr>
          <p:nvPr/>
        </p:nvSpPr>
        <p:spPr>
          <a:xfrm xmlns:a="http://schemas.openxmlformats.org/drawingml/2006/main">
            <a:off x="4572000" y="2524125"/>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07F7B"/>
                </a:solidFill>
                <a:latin typeface="Arial"/>
                <a:ea typeface="Arial"/>
                <a:cs typeface="Arial"/>
              </a:defRPr>
            </a:defPPr>
          </a:lstStyle>
          <a:p xmlns:a="http://schemas.openxmlformats.org/drawingml/2006/main">
            <a:pPr algn="l">
              <a:defRPr sz="1950" b="0">
                <a:solidFill>
                  <a:srgbClr val="007F7B"/>
                </a:solidFill>
                <a:latin typeface="Arial"/>
                <a:ea typeface="Arial"/>
                <a:cs typeface="Arial"/>
              </a:defRPr>
            </a:pPr>
            <a:r>
              <a:rPr sz="1950" b="0">
                <a:solidFill>
                  <a:srgbClr val="007F7B"/>
                </a:solidFill>
                <a:latin typeface="Arial"/>
                <a:ea typeface="Arial"/>
                <a:cs typeface="Arial"/>
              </a:rPr>
              <a:t>Precomputed predictions</a:t>
            </a:r>
          </a:p>
        </p:txBody>
      </p:sp>
      <p:sp>
        <p:nvSpPr>
          <p:cNvPr id="14" name="">
            <a:extLst xmlns:a="http://schemas.openxmlformats.org/drawingml/2006/main">
              <a:ext uri="{FF2B5EF4-FFF2-40B4-BE49-F238E27FC236}">
                <a16:creationId xmlns:a16="http://schemas.microsoft.com/office/drawing/2014/main" id="{490F9E02-ED0B-4A81-8566-CED0D1E50A6E}"/>
              </a:ext>
            </a:extLst>
          </p:cNvPr>
          <p:cNvSpPr>
            <a:spLocks xmlns:a="http://schemas.openxmlformats.org/drawingml/2006/main" noGrp="1"/>
          </p:cNvSpPr>
          <p:nvPr/>
        </p:nvSpPr>
        <p:spPr>
          <a:xfrm xmlns:a="http://schemas.openxmlformats.org/drawingml/2006/main">
            <a:off x="8724900" y="4905375"/>
            <a:ext cx="28575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Patient report + UI</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Junhao</a:t>
            </a:r>
          </a:p>
        </p:txBody>
      </p:sp>
      <p:sp>
        <p:nvSpPr>
          <p:cNvPr id="16" name="">
            <a:extLst xmlns:a="http://schemas.openxmlformats.org/drawingml/2006/main">
              <a:ext uri="{FF2B5EF4-FFF2-40B4-BE49-F238E27FC236}">
                <a16:creationId xmlns:a16="http://schemas.microsoft.com/office/drawing/2014/main" id="{73B8D202-7777-44FB-925C-EF1C769A86D3}"/>
              </a:ext>
            </a:extLst>
          </p:cNvPr>
          <p:cNvSpPr>
            <a:spLocks xmlns:a="http://schemas.openxmlformats.org/drawingml/2006/main" noGrp="1"/>
          </p:cNvSpPr>
          <p:nvPr/>
        </p:nvSpPr>
        <p:spPr>
          <a:xfrm xmlns:a="http://schemas.openxmlformats.org/drawingml/2006/main">
            <a:off x="609600" y="60102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A6D6B"/>
                </a:solidFill>
                <a:latin typeface="Arial"/>
                <a:ea typeface="Arial"/>
                <a:cs typeface="Arial"/>
              </a:defRPr>
            </a:defPPr>
          </a:lstStyle>
          <a:p xmlns:a="http://schemas.openxmlformats.org/drawingml/2006/main">
            <a:pPr algn="l">
              <a:defRPr sz="1575" b="0">
                <a:solidFill>
                  <a:srgbClr val="5A6D6B"/>
                </a:solidFill>
                <a:latin typeface="Arial"/>
                <a:ea typeface="Arial"/>
                <a:cs typeface="Arial"/>
              </a:defRPr>
            </a:pPr>
            <a:r>
              <a:rPr sz="1575" b="0">
                <a:solidFill>
                  <a:srgbClr val="5A6D6B"/>
                </a:solidFill>
                <a:latin typeface="Arial"/>
                <a:ea typeface="Arial"/>
                <a:cs typeface="Arial"/>
              </a:rPr>
              <a:t>The prediction pipeline estimates response. The copilot explains supplied evidence.</a:t>
            </a:r>
          </a:p>
        </p:txBody>
      </p:sp>
    </p:spTree>
    <p:extLst>
      <p:ext uri="{BB962C8B-B14F-4D97-AF65-F5344CB8AC3E}">
        <p14:creationId xmlns:p14="http://schemas.microsoft.com/office/powerpoint/2010/main" val="1491361032"/>
      </p:ext>
    </p:extLst>
  </p:cSld>
</p:sld>
</file>

<file path=ppt/slides/slide3.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A64FB1E-45CB-49D1-93E7-406209193ADA}"/>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F7B"/>
                </a:solidFill>
                <a:latin typeface="Arial"/>
                <a:ea typeface="Arial"/>
                <a:cs typeface="Arial"/>
              </a:defRPr>
            </a:defPPr>
          </a:lstStyle>
          <a:p xmlns:a="http://schemas.openxmlformats.org/drawingml/2006/main">
            <a:pPr algn="l">
              <a:defRPr sz="1350" b="1">
                <a:solidFill>
                  <a:srgbClr val="007F7B"/>
                </a:solidFill>
                <a:latin typeface="Arial"/>
                <a:ea typeface="Arial"/>
                <a:cs typeface="Arial"/>
              </a:defRPr>
            </a:pPr>
            <a:r>
              <a:rPr sz="1350" b="1">
                <a:solidFill>
                  <a:srgbClr val="007F7B"/>
                </a:solidFill>
                <a:latin typeface="Arial"/>
                <a:ea typeface="Arial"/>
                <a:cs typeface="Arial"/>
              </a:rPr>
              <a:t>01  INPUTS</a:t>
            </a:r>
          </a:p>
        </p:txBody>
      </p:sp>
      <p:sp>
        <p:nvSpPr>
          <p:cNvPr id="2" name="">
            <a:extLst xmlns:a="http://schemas.openxmlformats.org/drawingml/2006/main">
              <a:ext uri="{FF2B5EF4-FFF2-40B4-BE49-F238E27FC236}">
                <a16:creationId xmlns:a16="http://schemas.microsoft.com/office/drawing/2014/main" id="{7494960A-9A9D-43B9-B9DE-6A48DFF92D27}"/>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A2B"/>
                </a:solidFill>
                <a:latin typeface="Arial"/>
                <a:ea typeface="Arial"/>
                <a:cs typeface="Arial"/>
              </a:defRPr>
            </a:defPPr>
          </a:lstStyle>
          <a:p xmlns:a="http://schemas.openxmlformats.org/drawingml/2006/main">
            <a:pPr algn="l">
              <a:defRPr sz="3300" b="1">
                <a:solidFill>
                  <a:srgbClr val="152A2B"/>
                </a:solidFill>
                <a:latin typeface="Arial"/>
                <a:ea typeface="Arial"/>
                <a:cs typeface="Arial"/>
              </a:defRPr>
            </a:pPr>
            <a:r>
              <a:rPr sz="3300" b="1">
                <a:solidFill>
                  <a:srgbClr val="152A2B"/>
                </a:solidFill>
                <a:latin typeface="Arial"/>
                <a:ea typeface="Arial"/>
                <a:cs typeface="Arial"/>
              </a:rPr>
              <a:t>Patient coverage and the current demonstration</a:t>
            </a:r>
          </a:p>
        </p:txBody>
      </p:sp>
      <p:sp>
        <p:nvSpPr>
          <p:cNvPr id="3" name="">
            <a:extLst xmlns:a="http://schemas.openxmlformats.org/drawingml/2006/main">
              <a:ext uri="{FF2B5EF4-FFF2-40B4-BE49-F238E27FC236}">
                <a16:creationId xmlns:a16="http://schemas.microsoft.com/office/drawing/2014/main" id="{EF796BF7-3273-435E-837E-EB26EBB661E4}"/>
              </a:ext>
            </a:extLst>
          </p:cNvPr>
          <p:cNvSpPr>
            <a:spLocks xmlns:a="http://schemas.openxmlformats.org/drawingml/2006/main" noGrp="1"/>
          </p:cNvSpPr>
          <p:nvPr/>
        </p:nvSpPr>
        <p:spPr>
          <a:xfrm xmlns:a="http://schemas.openxmlformats.org/drawingml/2006/main">
            <a:off x="11144250" y="64198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A6D6B"/>
                </a:solidFill>
                <a:latin typeface="Arial"/>
                <a:ea typeface="Arial"/>
                <a:cs typeface="Arial"/>
              </a:defRPr>
            </a:defPPr>
          </a:lstStyle>
          <a:p xmlns:a="http://schemas.openxmlformats.org/drawingml/2006/main">
            <a:pPr algn="r">
              <a:defRPr sz="1200" b="0">
                <a:solidFill>
                  <a:srgbClr val="5A6D6B"/>
                </a:solidFill>
                <a:latin typeface="Arial"/>
                <a:ea typeface="Arial"/>
                <a:cs typeface="Arial"/>
              </a:defRPr>
            </a:pPr>
            <a:r>
              <a:rPr sz="1200" b="0">
                <a:solidFill>
                  <a:srgbClr val="5A6D6B"/>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C2A58338-C463-4116-853C-141199C48378}"/>
              </a:ext>
            </a:extLst>
          </p:cNvPr>
          <p:cNvSpPr>
            <a:spLocks xmlns:a="http://schemas.openxmlformats.org/drawingml/2006/main" noGrp="1"/>
          </p:cNvSpPr>
          <p:nvPr/>
        </p:nvSpPr>
        <p:spPr>
          <a:xfrm xmlns:a="http://schemas.openxmlformats.org/drawingml/2006/main">
            <a:off x="609600" y="1838325"/>
            <a:ext cx="6191250" cy="3095625"/>
          </a:xfrm>
          <a:prstGeom xmlns:a="http://schemas.openxmlformats.org/drawingml/2006/main" prst="rect">
            <a:avLst/>
          </a:prstGeom>
          <a:solidFill xmlns:a="http://schemas.openxmlformats.org/drawingml/2006/main">
            <a:srgbClr val="E4ECE7"/>
          </a:solidFill>
          <a:ln xmlns:a="http://schemas.openxmlformats.org/drawingml/2006/main" w="14288">
            <a:solidFill>
              <a:srgbClr val="C7D3CD"/>
            </a:solidFill>
          </a:ln>
        </p:spPr>
      </p:sp>
      <p:sp>
        <p:nvSpPr>
          <p:cNvPr id="5" name="">
            <a:extLst xmlns:a="http://schemas.openxmlformats.org/drawingml/2006/main">
              <a:ext uri="{FF2B5EF4-FFF2-40B4-BE49-F238E27FC236}">
                <a16:creationId xmlns:a16="http://schemas.microsoft.com/office/drawing/2014/main" id="{B12B3D53-CB25-40C1-A311-9B5916D2BA77}"/>
              </a:ext>
            </a:extLst>
          </p:cNvPr>
          <p:cNvSpPr>
            <a:spLocks xmlns:a="http://schemas.openxmlformats.org/drawingml/2006/main" noGrp="1"/>
          </p:cNvSpPr>
          <p:nvPr/>
        </p:nvSpPr>
        <p:spPr>
          <a:xfrm xmlns:a="http://schemas.openxmlformats.org/drawingml/2006/main">
            <a:off x="876300" y="2047875"/>
            <a:ext cx="161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150" b="1">
                <a:solidFill>
                  <a:srgbClr val="152A2B"/>
                </a:solidFill>
                <a:latin typeface="Arial"/>
                <a:ea typeface="Arial"/>
                <a:cs typeface="Arial"/>
              </a:defRPr>
            </a:defPPr>
          </a:lstStyle>
          <a:p xmlns:a="http://schemas.openxmlformats.org/drawingml/2006/main">
            <a:pPr algn="l">
              <a:defRPr sz="6150" b="1">
                <a:solidFill>
                  <a:srgbClr val="152A2B"/>
                </a:solidFill>
                <a:latin typeface="Arial"/>
                <a:ea typeface="Arial"/>
                <a:cs typeface="Arial"/>
              </a:defRPr>
            </a:pPr>
            <a:r>
              <a:rPr sz="6150" b="1">
                <a:solidFill>
                  <a:srgbClr val="152A2B"/>
                </a:solidFill>
                <a:latin typeface="Arial"/>
                <a:ea typeface="Arial"/>
                <a:cs typeface="Arial"/>
              </a:rPr>
              <a:t>48</a:t>
            </a:r>
          </a:p>
        </p:txBody>
      </p:sp>
      <p:sp>
        <p:nvSpPr>
          <p:cNvPr id="6" name="">
            <a:extLst xmlns:a="http://schemas.openxmlformats.org/drawingml/2006/main">
              <a:ext uri="{FF2B5EF4-FFF2-40B4-BE49-F238E27FC236}">
                <a16:creationId xmlns:a16="http://schemas.microsoft.com/office/drawing/2014/main" id="{80E3DB64-75F3-485A-A7B2-E2D6C3E654C4}"/>
              </a:ext>
            </a:extLst>
          </p:cNvPr>
          <p:cNvSpPr>
            <a:spLocks xmlns:a="http://schemas.openxmlformats.org/drawingml/2006/main" noGrp="1"/>
          </p:cNvSpPr>
          <p:nvPr/>
        </p:nvSpPr>
        <p:spPr>
          <a:xfrm xmlns:a="http://schemas.openxmlformats.org/drawingml/2006/main">
            <a:off x="2667000" y="2286000"/>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52A2B"/>
                </a:solidFill>
                <a:latin typeface="Arial"/>
                <a:ea typeface="Arial"/>
                <a:cs typeface="Arial"/>
              </a:defRPr>
            </a:defPPr>
          </a:lstStyle>
          <a:p xmlns:a="http://schemas.openxmlformats.org/drawingml/2006/main">
            <a:pPr algn="l">
              <a:defRPr sz="2400" b="0">
                <a:solidFill>
                  <a:srgbClr val="152A2B"/>
                </a:solidFill>
                <a:latin typeface="Arial"/>
                <a:ea typeface="Arial"/>
                <a:cs typeface="Arial"/>
              </a:defRPr>
            </a:pPr>
            <a:r>
              <a:rPr sz="2400" b="0">
                <a:solidFill>
                  <a:srgbClr val="152A2B"/>
                </a:solidFill>
                <a:latin typeface="Arial"/>
                <a:ea typeface="Arial"/>
                <a:cs typeface="Arial"/>
              </a:rPr>
              <a:t>clinical patients</a:t>
            </a:r>
          </a:p>
        </p:txBody>
      </p:sp>
      <p:sp>
        <p:nvSpPr>
          <p:cNvPr id="7" name="">
            <a:extLst xmlns:a="http://schemas.openxmlformats.org/drawingml/2006/main">
              <a:ext uri="{FF2B5EF4-FFF2-40B4-BE49-F238E27FC236}">
                <a16:creationId xmlns:a16="http://schemas.microsoft.com/office/drawing/2014/main" id="{869F69C6-EA8B-40DF-A825-B18F0FCB161C}"/>
              </a:ext>
            </a:extLst>
          </p:cNvPr>
          <p:cNvSpPr>
            <a:spLocks xmlns:a="http://schemas.openxmlformats.org/drawingml/2006/main" noGrp="1"/>
          </p:cNvSpPr>
          <p:nvPr/>
        </p:nvSpPr>
        <p:spPr>
          <a:xfrm xmlns:a="http://schemas.openxmlformats.org/drawingml/2006/main">
            <a:off x="876300" y="3333750"/>
            <a:ext cx="5619750" cy="1238250"/>
          </a:xfrm>
          <a:prstGeom xmlns:a="http://schemas.openxmlformats.org/drawingml/2006/main" prst="rect">
            <a:avLst/>
          </a:prstGeom>
          <a:solidFill xmlns:a="http://schemas.openxmlformats.org/drawingml/2006/main">
            <a:srgbClr val="CDE4DD"/>
          </a:solidFill>
          <a:ln xmlns:a="http://schemas.openxmlformats.org/drawingml/2006/main" w="14288">
            <a:solidFill>
              <a:srgbClr val="007F7B"/>
            </a:solidFill>
          </a:ln>
        </p:spPr>
      </p:sp>
      <p:sp>
        <p:nvSpPr>
          <p:cNvPr id="8" name="">
            <a:extLst xmlns:a="http://schemas.openxmlformats.org/drawingml/2006/main">
              <a:ext uri="{FF2B5EF4-FFF2-40B4-BE49-F238E27FC236}">
                <a16:creationId xmlns:a16="http://schemas.microsoft.com/office/drawing/2014/main" id="{93477965-746D-45FD-8E0B-4D560AA78630}"/>
              </a:ext>
            </a:extLst>
          </p:cNvPr>
          <p:cNvSpPr>
            <a:spLocks xmlns:a="http://schemas.openxmlformats.org/drawingml/2006/main" noGrp="1"/>
          </p:cNvSpPr>
          <p:nvPr/>
        </p:nvSpPr>
        <p:spPr>
          <a:xfrm xmlns:a="http://schemas.openxmlformats.org/drawingml/2006/main">
            <a:off x="1085850" y="3457575"/>
            <a:ext cx="142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00" b="1">
                <a:solidFill>
                  <a:srgbClr val="007F7B"/>
                </a:solidFill>
                <a:latin typeface="Arial"/>
                <a:ea typeface="Arial"/>
                <a:cs typeface="Arial"/>
              </a:defRPr>
            </a:defPPr>
          </a:lstStyle>
          <a:p xmlns:a="http://schemas.openxmlformats.org/drawingml/2006/main">
            <a:pPr algn="l">
              <a:defRPr sz="5100" b="1">
                <a:solidFill>
                  <a:srgbClr val="007F7B"/>
                </a:solidFill>
                <a:latin typeface="Arial"/>
                <a:ea typeface="Arial"/>
                <a:cs typeface="Arial"/>
              </a:defRPr>
            </a:pPr>
            <a:r>
              <a:rPr sz="5100" b="1">
                <a:solidFill>
                  <a:srgbClr val="007F7B"/>
                </a:solidFill>
                <a:latin typeface="Arial"/>
                <a:ea typeface="Arial"/>
                <a:cs typeface="Arial"/>
              </a:rPr>
              <a:t>29</a:t>
            </a:r>
          </a:p>
        </p:txBody>
      </p:sp>
      <p:sp>
        <p:nvSpPr>
          <p:cNvPr id="9" name="">
            <a:extLst xmlns:a="http://schemas.openxmlformats.org/drawingml/2006/main">
              <a:ext uri="{FF2B5EF4-FFF2-40B4-BE49-F238E27FC236}">
                <a16:creationId xmlns:a16="http://schemas.microsoft.com/office/drawing/2014/main" id="{F5AE9A7D-2D72-4B63-A35D-D218C6ADA538}"/>
              </a:ext>
            </a:extLst>
          </p:cNvPr>
          <p:cNvSpPr>
            <a:spLocks xmlns:a="http://schemas.openxmlformats.org/drawingml/2006/main" noGrp="1"/>
          </p:cNvSpPr>
          <p:nvPr/>
        </p:nvSpPr>
        <p:spPr>
          <a:xfrm xmlns:a="http://schemas.openxmlformats.org/drawingml/2006/main">
            <a:off x="2667000" y="37147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07F7B"/>
                </a:solidFill>
                <a:latin typeface="Arial"/>
                <a:ea typeface="Arial"/>
                <a:cs typeface="Arial"/>
              </a:defRPr>
            </a:defPPr>
          </a:lstStyle>
          <a:p xmlns:a="http://schemas.openxmlformats.org/drawingml/2006/main">
            <a:pPr algn="l">
              <a:defRPr sz="2250" b="0">
                <a:solidFill>
                  <a:srgbClr val="007F7B"/>
                </a:solidFill>
                <a:latin typeface="Arial"/>
                <a:ea typeface="Arial"/>
                <a:cs typeface="Arial"/>
              </a:defRPr>
            </a:pPr>
            <a:r>
              <a:rPr sz="2250" b="0">
                <a:solidFill>
                  <a:srgbClr val="007F7B"/>
                </a:solidFill>
                <a:latin typeface="Arial"/>
                <a:ea typeface="Arial"/>
                <a:cs typeface="Arial"/>
              </a:rPr>
              <a:t>also have mIF</a:t>
            </a:r>
          </a:p>
        </p:txBody>
      </p:sp>
      <p:sp>
        <p:nvSpPr>
          <p:cNvPr id="10" name="">
            <a:extLst xmlns:a="http://schemas.openxmlformats.org/drawingml/2006/main">
              <a:ext uri="{FF2B5EF4-FFF2-40B4-BE49-F238E27FC236}">
                <a16:creationId xmlns:a16="http://schemas.microsoft.com/office/drawing/2014/main" id="{B9F8D36F-A317-44E2-B880-B8AF021D586C}"/>
              </a:ext>
            </a:extLst>
          </p:cNvPr>
          <p:cNvSpPr>
            <a:spLocks xmlns:a="http://schemas.openxmlformats.org/drawingml/2006/main" noGrp="1"/>
          </p:cNvSpPr>
          <p:nvPr/>
        </p:nvSpPr>
        <p:spPr>
          <a:xfrm xmlns:a="http://schemas.openxmlformats.org/drawingml/2006/main">
            <a:off x="609600" y="5362575"/>
            <a:ext cx="10972800" cy="9525"/>
          </a:xfrm>
          <a:prstGeom xmlns:a="http://schemas.openxmlformats.org/drawingml/2006/main" prst="rect">
            <a:avLst/>
          </a:prstGeom>
          <a:solidFill xmlns:a="http://schemas.openxmlformats.org/drawingml/2006/main">
            <a:srgbClr val="C7D3CD"/>
          </a:solidFill>
          <a:ln xmlns:a="http://schemas.openxmlformats.org/drawingml/2006/main" w="14288">
            <a:solidFill>
              <a:srgbClr val="C7D3CD"/>
            </a:solidFill>
          </a:ln>
        </p:spPr>
      </p:sp>
      <p:sp>
        <p:nvSpPr>
          <p:cNvPr id="11" name="">
            <a:extLst xmlns:a="http://schemas.openxmlformats.org/drawingml/2006/main">
              <a:ext uri="{FF2B5EF4-FFF2-40B4-BE49-F238E27FC236}">
                <a16:creationId xmlns:a16="http://schemas.microsoft.com/office/drawing/2014/main" id="{199A7DEE-D71F-4196-8383-D17B0B58AC6A}"/>
              </a:ext>
            </a:extLst>
          </p:cNvPr>
          <p:cNvSpPr>
            <a:spLocks xmlns:a="http://schemas.openxmlformats.org/drawingml/2006/main" noGrp="1"/>
          </p:cNvSpPr>
          <p:nvPr/>
        </p:nvSpPr>
        <p:spPr>
          <a:xfrm xmlns:a="http://schemas.openxmlformats.org/drawingml/2006/main">
            <a:off x="609600" y="506730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A6D6B"/>
                </a:solidFill>
                <a:latin typeface="Arial"/>
                <a:ea typeface="Arial"/>
                <a:cs typeface="Arial"/>
              </a:defRPr>
            </a:defPPr>
          </a:lstStyle>
          <a:p xmlns:a="http://schemas.openxmlformats.org/drawingml/2006/main">
            <a:pPr algn="l">
              <a:defRPr sz="1725" b="0">
                <a:solidFill>
                  <a:srgbClr val="5A6D6B"/>
                </a:solidFill>
                <a:latin typeface="Arial"/>
                <a:ea typeface="Arial"/>
                <a:cs typeface="Arial"/>
              </a:defRPr>
            </a:pPr>
            <a:r>
              <a:rPr sz="1725" b="0">
                <a:solidFill>
                  <a:srgbClr val="5A6D6B"/>
                </a:solidFill>
                <a:latin typeface="Arial"/>
                <a:ea typeface="Arial"/>
                <a:cs typeface="Arial"/>
              </a:rPr>
              <a:t>Study cohort</a:t>
            </a:r>
          </a:p>
        </p:txBody>
      </p:sp>
      <p:sp>
        <p:nvSpPr>
          <p:cNvPr id="12" name="">
            <a:extLst xmlns:a="http://schemas.openxmlformats.org/drawingml/2006/main">
              <a:ext uri="{FF2B5EF4-FFF2-40B4-BE49-F238E27FC236}">
                <a16:creationId xmlns:a16="http://schemas.microsoft.com/office/drawing/2014/main" id="{0EF623D9-2046-4991-B177-B61F507B76F8}"/>
              </a:ext>
            </a:extLst>
          </p:cNvPr>
          <p:cNvSpPr>
            <a:spLocks xmlns:a="http://schemas.openxmlformats.org/drawingml/2006/main" noGrp="1"/>
          </p:cNvSpPr>
          <p:nvPr/>
        </p:nvSpPr>
        <p:spPr>
          <a:xfrm xmlns:a="http://schemas.openxmlformats.org/drawingml/2006/main">
            <a:off x="8096250" y="1838325"/>
            <a:ext cx="2286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8250" b="1">
                <a:solidFill>
                  <a:srgbClr val="76B900"/>
                </a:solidFill>
                <a:latin typeface="Arial"/>
                <a:ea typeface="Arial"/>
                <a:cs typeface="Arial"/>
              </a:defRPr>
            </a:defPPr>
          </a:lstStyle>
          <a:p xmlns:a="http://schemas.openxmlformats.org/drawingml/2006/main">
            <a:pPr algn="ctr">
              <a:defRPr sz="8250" b="1">
                <a:solidFill>
                  <a:srgbClr val="76B900"/>
                </a:solidFill>
                <a:latin typeface="Arial"/>
                <a:ea typeface="Arial"/>
                <a:cs typeface="Arial"/>
              </a:defRPr>
            </a:pPr>
            <a:r>
              <a:rPr sz="8250" b="1">
                <a:solidFill>
                  <a:srgbClr val="76B900"/>
                </a:solidFill>
                <a:latin typeface="Arial"/>
                <a:ea typeface="Arial"/>
                <a:cs typeface="Arial"/>
              </a:rPr>
              <a:t>5</a:t>
            </a:r>
          </a:p>
        </p:txBody>
      </p:sp>
      <p:sp>
        <p:nvSpPr>
          <p:cNvPr id="13" name="">
            <a:extLst xmlns:a="http://schemas.openxmlformats.org/drawingml/2006/main">
              <a:ext uri="{FF2B5EF4-FFF2-40B4-BE49-F238E27FC236}">
                <a16:creationId xmlns:a16="http://schemas.microsoft.com/office/drawing/2014/main" id="{0DEC8A2B-7CC3-44C7-8FE7-2AD21DBCEEF7}"/>
              </a:ext>
            </a:extLst>
          </p:cNvPr>
          <p:cNvSpPr>
            <a:spLocks xmlns:a="http://schemas.openxmlformats.org/drawingml/2006/main" noGrp="1"/>
          </p:cNvSpPr>
          <p:nvPr/>
        </p:nvSpPr>
        <p:spPr>
          <a:xfrm xmlns:a="http://schemas.openxmlformats.org/drawingml/2006/main">
            <a:off x="7429500" y="3076575"/>
            <a:ext cx="404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152A2B"/>
                </a:solidFill>
                <a:latin typeface="Arial"/>
                <a:ea typeface="Arial"/>
                <a:cs typeface="Arial"/>
              </a:defRPr>
            </a:defPPr>
          </a:lstStyle>
          <a:p xmlns:a="http://schemas.openxmlformats.org/drawingml/2006/main">
            <a:pPr algn="ctr">
              <a:defRPr sz="2325" b="1">
                <a:solidFill>
                  <a:srgbClr val="152A2B"/>
                </a:solidFill>
                <a:latin typeface="Arial"/>
                <a:ea typeface="Arial"/>
                <a:cs typeface="Arial"/>
              </a:defRPr>
            </a:pPr>
            <a:r>
              <a:rPr sz="2325" b="1">
                <a:solidFill>
                  <a:srgbClr val="152A2B"/>
                </a:solidFill>
                <a:latin typeface="Arial"/>
                <a:ea typeface="Arial"/>
                <a:cs typeface="Arial"/>
              </a:rPr>
              <a:t>synthetic patients</a:t>
            </a:r>
          </a:p>
        </p:txBody>
      </p:sp>
      <p:sp>
        <p:nvSpPr>
          <p:cNvPr id="14" name="">
            <a:extLst xmlns:a="http://schemas.openxmlformats.org/drawingml/2006/main">
              <a:ext uri="{FF2B5EF4-FFF2-40B4-BE49-F238E27FC236}">
                <a16:creationId xmlns:a16="http://schemas.microsoft.com/office/drawing/2014/main" id="{69A63EE9-F7E3-464A-B235-AD98925270CB}"/>
              </a:ext>
            </a:extLst>
          </p:cNvPr>
          <p:cNvSpPr>
            <a:spLocks xmlns:a="http://schemas.openxmlformats.org/drawingml/2006/main" noGrp="1"/>
          </p:cNvSpPr>
          <p:nvPr/>
        </p:nvSpPr>
        <p:spPr>
          <a:xfrm xmlns:a="http://schemas.openxmlformats.org/drawingml/2006/main">
            <a:off x="7429500" y="3695700"/>
            <a:ext cx="4048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0">
                <a:solidFill>
                  <a:srgbClr val="5A6D6B"/>
                </a:solidFill>
                <a:latin typeface="Arial"/>
                <a:ea typeface="Arial"/>
                <a:cs typeface="Arial"/>
              </a:defRPr>
            </a:defPPr>
          </a:lstStyle>
          <a:p xmlns:a="http://schemas.openxmlformats.org/drawingml/2006/main">
            <a:pPr algn="ctr">
              <a:defRPr sz="1875" b="0">
                <a:solidFill>
                  <a:srgbClr val="5A6D6B"/>
                </a:solidFill>
                <a:latin typeface="Arial"/>
                <a:ea typeface="Arial"/>
                <a:cs typeface="Arial"/>
              </a:defRPr>
            </a:pPr>
            <a:r>
              <a:rPr sz="1875" b="0">
                <a:solidFill>
                  <a:srgbClr val="5A6D6B"/>
                </a:solidFill>
                <a:latin typeface="Arial"/>
                <a:ea typeface="Arial"/>
                <a:cs typeface="Arial"/>
              </a:rPr>
              <a:t>S01   S02   S03   S04   S05</a:t>
            </a:r>
          </a:p>
        </p:txBody>
      </p:sp>
      <p:sp>
        <p:nvSpPr>
          <p:cNvPr id="15" name="">
            <a:extLst xmlns:a="http://schemas.openxmlformats.org/drawingml/2006/main">
              <a:ext uri="{FF2B5EF4-FFF2-40B4-BE49-F238E27FC236}">
                <a16:creationId xmlns:a16="http://schemas.microsoft.com/office/drawing/2014/main" id="{535D7774-317A-4DC8-8A89-6E009D4D8D4B}"/>
              </a:ext>
            </a:extLst>
          </p:cNvPr>
          <p:cNvSpPr>
            <a:spLocks xmlns:a="http://schemas.openxmlformats.org/drawingml/2006/main" noGrp="1"/>
          </p:cNvSpPr>
          <p:nvPr/>
        </p:nvSpPr>
        <p:spPr>
          <a:xfrm xmlns:a="http://schemas.openxmlformats.org/drawingml/2006/main">
            <a:off x="7486650" y="4343400"/>
            <a:ext cx="4000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00" b="0">
                <a:solidFill>
                  <a:srgbClr val="152A2B"/>
                </a:solidFill>
                <a:latin typeface="Arial"/>
                <a:ea typeface="Arial"/>
                <a:cs typeface="Arial"/>
              </a:defRPr>
            </a:defPPr>
          </a:lstStyle>
          <a:p xmlns:a="http://schemas.openxmlformats.org/drawingml/2006/main">
            <a:pPr algn="ctr">
              <a:defRPr sz="2100" b="0">
                <a:solidFill>
                  <a:srgbClr val="152A2B"/>
                </a:solidFill>
                <a:latin typeface="Arial"/>
                <a:ea typeface="Arial"/>
                <a:cs typeface="Arial"/>
              </a:defRPr>
            </a:pPr>
            <a:r>
              <a:rPr sz="2100" b="0">
                <a:solidFill>
                  <a:srgbClr val="152A2B"/>
                </a:solidFill>
                <a:latin typeface="Arial"/>
                <a:ea typeface="Arial"/>
                <a:cs typeface="Arial"/>
              </a:rPr>
              <a:t>3 scores per patient</a:t>
            </a:r>
          </a:p>
          <a:p xmlns:a="http://schemas.openxmlformats.org/drawingml/2006/main">
            <a:pPr algn="ctr">
              <a:defRPr sz="2100" b="0">
                <a:solidFill>
                  <a:srgbClr val="152A2B"/>
                </a:solidFill>
                <a:latin typeface="Arial"/>
                <a:ea typeface="Arial"/>
                <a:cs typeface="Arial"/>
              </a:defRPr>
            </a:pPr>
            <a:r>
              <a:rPr sz="2100" b="0">
                <a:solidFill>
                  <a:srgbClr val="152A2B"/>
                </a:solidFill>
                <a:latin typeface="Arial"/>
                <a:ea typeface="Arial"/>
                <a:cs typeface="Arial"/>
              </a:rPr>
              <a:t>5 clinical + 10 mIF features</a:t>
            </a:r>
          </a:p>
        </p:txBody>
      </p:sp>
      <p:sp>
        <p:nvSpPr>
          <p:cNvPr id="16" name="">
            <a:extLst xmlns:a="http://schemas.openxmlformats.org/drawingml/2006/main">
              <a:ext uri="{FF2B5EF4-FFF2-40B4-BE49-F238E27FC236}">
                <a16:creationId xmlns:a16="http://schemas.microsoft.com/office/drawing/2014/main" id="{3D85C268-DB78-4FC2-B1AC-DB7ED808A7C4}"/>
              </a:ext>
            </a:extLst>
          </p:cNvPr>
          <p:cNvSpPr>
            <a:spLocks xmlns:a="http://schemas.openxmlformats.org/drawingml/2006/main" noGrp="1"/>
          </p:cNvSpPr>
          <p:nvPr/>
        </p:nvSpPr>
        <p:spPr>
          <a:xfrm xmlns:a="http://schemas.openxmlformats.org/drawingml/2006/main">
            <a:off x="609600" y="60102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A6D6B"/>
                </a:solidFill>
                <a:latin typeface="Arial"/>
                <a:ea typeface="Arial"/>
                <a:cs typeface="Arial"/>
              </a:defRPr>
            </a:defPPr>
          </a:lstStyle>
          <a:p xmlns:a="http://schemas.openxmlformats.org/drawingml/2006/main">
            <a:pPr algn="l">
              <a:defRPr sz="1575" b="0">
                <a:solidFill>
                  <a:srgbClr val="5A6D6B"/>
                </a:solidFill>
                <a:latin typeface="Arial"/>
                <a:ea typeface="Arial"/>
                <a:cs typeface="Arial"/>
              </a:defRPr>
            </a:pPr>
            <a:r>
              <a:rPr sz="1575" b="0">
                <a:solidFill>
                  <a:srgbClr val="5A6D6B"/>
                </a:solidFill>
                <a:latin typeface="Arial"/>
                <a:ea typeface="Arial"/>
                <a:cs typeface="Arial"/>
              </a:rPr>
              <a:t>347 tile rows support inspection. They are not 347 patient prompts.</a:t>
            </a:r>
          </a:p>
        </p:txBody>
      </p:sp>
    </p:spTree>
    <p:extLst>
      <p:ext uri="{BB962C8B-B14F-4D97-AF65-F5344CB8AC3E}">
        <p14:creationId xmlns:p14="http://schemas.microsoft.com/office/powerpoint/2010/main" val="1419325714"/>
      </p:ext>
    </p:extLst>
  </p:cSld>
</p:sld>
</file>

<file path=ppt/slides/slide4.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0752F344-AB5D-46B3-AC96-C6D69FEE3680}"/>
              </a:ext>
            </a:extLst>
          </p:cNvPr>
          <p:cNvCxnSpPr>
            <a:stCxn xmlns:a="http://schemas.openxmlformats.org/drawingml/2006/main" id="11" idx="3"/>
            <a:endCxn xmlns:a="http://schemas.openxmlformats.org/drawingml/2006/main" id="12" idx="1"/>
          </p:cNvCxnSpPr>
          <p:nvPr/>
        </p:nvCxnSpPr>
        <p:spPr>
          <a:xfrm xmlns:a="http://schemas.openxmlformats.org/drawingml/2006/main">
            <a:off x="7181850" y="4838700"/>
            <a:ext cx="828675"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F2EB282E-8F46-4A05-9AE3-A6BD3A5D4A43}"/>
              </a:ext>
            </a:extLst>
          </p:cNvPr>
          <p:cNvCxnSpPr>
            <a:stCxn xmlns:a="http://schemas.openxmlformats.org/drawingml/2006/main" id="10" idx="2"/>
            <a:endCxn xmlns:a="http://schemas.openxmlformats.org/drawingml/2006/main" id="12" idx="2"/>
          </p:cNvCxnSpPr>
          <p:nvPr/>
        </p:nvCxnSpPr>
        <p:spPr>
          <a:xfrm xmlns:a="http://schemas.openxmlformats.org/drawingml/2006/main">
            <a:off x="1943100" y="5314950"/>
            <a:ext cx="7853363" cy="228600"/>
          </a:xfrm>
          <a:prstGeom xmlns:a="http://schemas.openxmlformats.org/drawingml/2006/main" prst="bentConnector4">
            <a:avLst/>
          </a:prstGeom>
          <a:ln xmlns:a="http://schemas.openxmlformats.org/drawingml/2006/main" w="23813">
            <a:solidFill>
              <a:srgbClr val="5A6D6B"/>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36003FDC-A9B6-49A8-A4CE-8820C9A72344}"/>
              </a:ext>
            </a:extLst>
          </p:cNvPr>
          <p:cNvCxnSpPr>
            <a:stCxn xmlns:a="http://schemas.openxmlformats.org/drawingml/2006/main" id="5" idx="3"/>
            <a:endCxn xmlns:a="http://schemas.openxmlformats.org/drawingml/2006/main" id="6" idx="1"/>
          </p:cNvCxnSpPr>
          <p:nvPr/>
        </p:nvCxnSpPr>
        <p:spPr>
          <a:xfrm xmlns:a="http://schemas.openxmlformats.org/drawingml/2006/main">
            <a:off x="7181850" y="2514600"/>
            <a:ext cx="828675"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07EAF25A-481F-4A13-9414-5A4B2A0C12BF}"/>
              </a:ext>
            </a:extLst>
          </p:cNvPr>
          <p:cNvCxnSpPr>
            <a:stCxn xmlns:a="http://schemas.openxmlformats.org/drawingml/2006/main" id="4" idx="3"/>
            <a:endCxn xmlns:a="http://schemas.openxmlformats.org/drawingml/2006/main" id="5" idx="1"/>
          </p:cNvCxnSpPr>
          <p:nvPr/>
        </p:nvCxnSpPr>
        <p:spPr>
          <a:xfrm xmlns:a="http://schemas.openxmlformats.org/drawingml/2006/main">
            <a:off x="3276600" y="2514600"/>
            <a:ext cx="762000"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sp>
        <p:nvSpPr>
          <p:cNvPr id="16" name="">
            <a:extLst xmlns:a="http://schemas.openxmlformats.org/drawingml/2006/main">
              <a:ext uri="{FF2B5EF4-FFF2-40B4-BE49-F238E27FC236}">
                <a16:creationId xmlns:a16="http://schemas.microsoft.com/office/drawing/2014/main" id="{915EECEA-EDCB-4FF2-93E9-14B5323F9034}"/>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F7B"/>
                </a:solidFill>
                <a:latin typeface="Arial"/>
                <a:ea typeface="Arial"/>
                <a:cs typeface="Arial"/>
              </a:defRPr>
            </a:defPPr>
          </a:lstStyle>
          <a:p xmlns:a="http://schemas.openxmlformats.org/drawingml/2006/main">
            <a:pPr algn="l">
              <a:defRPr sz="1350" b="1">
                <a:solidFill>
                  <a:srgbClr val="007F7B"/>
                </a:solidFill>
                <a:latin typeface="Arial"/>
                <a:ea typeface="Arial"/>
                <a:cs typeface="Arial"/>
              </a:defRPr>
            </a:pPr>
            <a:r>
              <a:rPr sz="1350" b="1">
                <a:solidFill>
                  <a:srgbClr val="007F7B"/>
                </a:solidFill>
                <a:latin typeface="Arial"/>
                <a:ea typeface="Arial"/>
                <a:cs typeface="Arial"/>
              </a:rPr>
              <a:t>01  INPUTS</a:t>
            </a:r>
          </a:p>
        </p:txBody>
      </p:sp>
      <p:sp>
        <p:nvSpPr>
          <p:cNvPr id="2" name="">
            <a:extLst xmlns:a="http://schemas.openxmlformats.org/drawingml/2006/main">
              <a:ext uri="{FF2B5EF4-FFF2-40B4-BE49-F238E27FC236}">
                <a16:creationId xmlns:a16="http://schemas.microsoft.com/office/drawing/2014/main" id="{F3C199FE-4908-4A70-BDE4-58040CC1D659}"/>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A2B"/>
                </a:solidFill>
                <a:latin typeface="Arial"/>
                <a:ea typeface="Arial"/>
                <a:cs typeface="Arial"/>
              </a:defRPr>
            </a:defPPr>
          </a:lstStyle>
          <a:p xmlns:a="http://schemas.openxmlformats.org/drawingml/2006/main">
            <a:pPr algn="l">
              <a:defRPr sz="3300" b="1">
                <a:solidFill>
                  <a:srgbClr val="152A2B"/>
                </a:solidFill>
                <a:latin typeface="Arial"/>
                <a:ea typeface="Arial"/>
                <a:cs typeface="Arial"/>
              </a:defRPr>
            </a:pPr>
            <a:r>
              <a:rPr sz="3300" b="1">
                <a:solidFill>
                  <a:srgbClr val="152A2B"/>
                </a:solidFill>
                <a:latin typeface="Arial"/>
                <a:ea typeface="Arial"/>
                <a:cs typeface="Arial"/>
              </a:rPr>
              <a:t>Preparation produces one canonical record per patient</a:t>
            </a:r>
          </a:p>
        </p:txBody>
      </p:sp>
      <p:sp>
        <p:nvSpPr>
          <p:cNvPr id="3" name="">
            <a:extLst xmlns:a="http://schemas.openxmlformats.org/drawingml/2006/main">
              <a:ext uri="{FF2B5EF4-FFF2-40B4-BE49-F238E27FC236}">
                <a16:creationId xmlns:a16="http://schemas.microsoft.com/office/drawing/2014/main" id="{DD0C487F-1A9C-4012-8CCE-9AAE5CE1FEFA}"/>
              </a:ext>
            </a:extLst>
          </p:cNvPr>
          <p:cNvSpPr>
            <a:spLocks xmlns:a="http://schemas.openxmlformats.org/drawingml/2006/main" noGrp="1"/>
          </p:cNvSpPr>
          <p:nvPr/>
        </p:nvSpPr>
        <p:spPr>
          <a:xfrm xmlns:a="http://schemas.openxmlformats.org/drawingml/2006/main">
            <a:off x="11144250" y="64198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A6D6B"/>
                </a:solidFill>
                <a:latin typeface="Arial"/>
                <a:ea typeface="Arial"/>
                <a:cs typeface="Arial"/>
              </a:defRPr>
            </a:defPPr>
          </a:lstStyle>
          <a:p xmlns:a="http://schemas.openxmlformats.org/drawingml/2006/main">
            <a:pPr algn="r">
              <a:defRPr sz="1200" b="0">
                <a:solidFill>
                  <a:srgbClr val="5A6D6B"/>
                </a:solidFill>
                <a:latin typeface="Arial"/>
                <a:ea typeface="Arial"/>
                <a:cs typeface="Arial"/>
              </a:defRPr>
            </a:pPr>
            <a:r>
              <a:rPr sz="1200" b="0">
                <a:solidFill>
                  <a:srgbClr val="5A6D6B"/>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0D06DEC9-19A8-48A4-848A-98EF6DBA4F85}"/>
              </a:ext>
            </a:extLst>
          </p:cNvPr>
          <p:cNvSpPr>
            <a:spLocks xmlns:a="http://schemas.openxmlformats.org/drawingml/2006/main" noGrp="1"/>
          </p:cNvSpPr>
          <p:nvPr/>
        </p:nvSpPr>
        <p:spPr>
          <a:xfrm xmlns:a="http://schemas.openxmlformats.org/drawingml/2006/main">
            <a:off x="609600" y="1990725"/>
            <a:ext cx="266700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CSV predictions</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JSON features</a:t>
            </a:r>
          </a:p>
        </p:txBody>
      </p:sp>
      <p:sp>
        <p:nvSpPr>
          <p:cNvPr id="5" name="">
            <a:extLst xmlns:a="http://schemas.openxmlformats.org/drawingml/2006/main">
              <a:ext uri="{FF2B5EF4-FFF2-40B4-BE49-F238E27FC236}">
                <a16:creationId xmlns:a16="http://schemas.microsoft.com/office/drawing/2014/main" id="{E0CC92B5-CFE4-4CA9-BF00-E70F4406C847}"/>
              </a:ext>
            </a:extLst>
          </p:cNvPr>
          <p:cNvSpPr>
            <a:spLocks xmlns:a="http://schemas.openxmlformats.org/drawingml/2006/main" noGrp="1"/>
          </p:cNvSpPr>
          <p:nvPr/>
        </p:nvSpPr>
        <p:spPr>
          <a:xfrm xmlns:a="http://schemas.openxmlformats.org/drawingml/2006/main">
            <a:off x="4038600" y="1990725"/>
            <a:ext cx="3143250" cy="1047750"/>
          </a:xfrm>
          <a:prstGeom xmlns:a="http://schemas.openxmlformats.org/drawingml/2006/main" prst="rect">
            <a:avLst/>
          </a:prstGeom>
          <a:solidFill xmlns:a="http://schemas.openxmlformats.org/drawingml/2006/main">
            <a:srgbClr val="E8F2D9"/>
          </a:solidFill>
          <a:ln xmlns:a="http://schemas.openxmlformats.org/drawingml/2006/main" w="14288">
            <a:solidFill>
              <a:srgbClr val="76B900"/>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Validate + audit</a:t>
            </a:r>
          </a:p>
        </p:txBody>
      </p:sp>
      <p:sp>
        <p:nvSpPr>
          <p:cNvPr id="6" name="">
            <a:extLst xmlns:a="http://schemas.openxmlformats.org/drawingml/2006/main">
              <a:ext uri="{FF2B5EF4-FFF2-40B4-BE49-F238E27FC236}">
                <a16:creationId xmlns:a16="http://schemas.microsoft.com/office/drawing/2014/main" id="{BA8A1725-D04F-4B32-ABDB-C33CA2F56738}"/>
              </a:ext>
            </a:extLst>
          </p:cNvPr>
          <p:cNvSpPr>
            <a:spLocks xmlns:a="http://schemas.openxmlformats.org/drawingml/2006/main" noGrp="1"/>
          </p:cNvSpPr>
          <p:nvPr/>
        </p:nvSpPr>
        <p:spPr>
          <a:xfrm xmlns:a="http://schemas.openxmlformats.org/drawingml/2006/main">
            <a:off x="8010525" y="1990725"/>
            <a:ext cx="3571875"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patients.jsonl</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5 records</a:t>
            </a:r>
          </a:p>
        </p:txBody>
      </p:sp>
      <p:sp>
        <p:nvSpPr>
          <p:cNvPr id="9" name="">
            <a:extLst xmlns:a="http://schemas.openxmlformats.org/drawingml/2006/main">
              <a:ext uri="{FF2B5EF4-FFF2-40B4-BE49-F238E27FC236}">
                <a16:creationId xmlns:a16="http://schemas.microsoft.com/office/drawing/2014/main" id="{6D5C900E-A08E-4E85-9C91-9FE37AE43D0C}"/>
              </a:ext>
            </a:extLst>
          </p:cNvPr>
          <p:cNvSpPr>
            <a:spLocks xmlns:a="http://schemas.openxmlformats.org/drawingml/2006/main" noGrp="1"/>
          </p:cNvSpPr>
          <p:nvPr/>
        </p:nvSpPr>
        <p:spPr>
          <a:xfrm xmlns:a="http://schemas.openxmlformats.org/drawingml/2006/main">
            <a:off x="4229100" y="338137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52A2B"/>
                </a:solidFill>
                <a:latin typeface="Arial"/>
                <a:ea typeface="Arial"/>
                <a:cs typeface="Arial"/>
              </a:defRPr>
            </a:defPPr>
          </a:lstStyle>
          <a:p xmlns:a="http://schemas.openxmlformats.org/drawingml/2006/main">
            <a:pPr algn="l">
              <a:defRPr sz="2025" b="0">
                <a:solidFill>
                  <a:srgbClr val="152A2B"/>
                </a:solidFill>
                <a:latin typeface="Arial"/>
                <a:ea typeface="Arial"/>
                <a:cs typeface="Arial"/>
              </a:defRPr>
            </a:pPr>
            <a:r>
              <a:rPr sz="2025" b="0">
                <a:solidFill>
                  <a:srgbClr val="152A2B"/>
                </a:solidFill>
                <a:latin typeface="Arial"/>
                <a:ea typeface="Arial"/>
                <a:cs typeface="Arial"/>
              </a:rPr>
              <a:t>Patient IDs</a:t>
            </a:r>
          </a:p>
          <a:p xmlns:a="http://schemas.openxmlformats.org/drawingml/2006/main">
            <a:pPr algn="l">
              <a:defRPr sz="2025" b="0">
                <a:solidFill>
                  <a:srgbClr val="152A2B"/>
                </a:solidFill>
                <a:latin typeface="Arial"/>
                <a:ea typeface="Arial"/>
                <a:cs typeface="Arial"/>
              </a:defRPr>
            </a:pPr>
            <a:r>
              <a:rPr sz="2025" b="0">
                <a:solidFill>
                  <a:srgbClr val="152A2B"/>
                </a:solidFill>
                <a:latin typeface="Arial"/>
                <a:ea typeface="Arial"/>
                <a:cs typeface="Arial"/>
              </a:rPr>
              <a:t>Finite scores</a:t>
            </a:r>
          </a:p>
          <a:p xmlns:a="http://schemas.openxmlformats.org/drawingml/2006/main">
            <a:pPr algn="l">
              <a:defRPr sz="2025" b="0">
                <a:solidFill>
                  <a:srgbClr val="152A2B"/>
                </a:solidFill>
                <a:latin typeface="Arial"/>
                <a:ea typeface="Arial"/>
                <a:cs typeface="Arial"/>
              </a:defRPr>
            </a:pPr>
            <a:r>
              <a:rPr sz="2025" b="0">
                <a:solidFill>
                  <a:srgbClr val="152A2B"/>
                </a:solidFill>
                <a:latin typeface="Arial"/>
                <a:ea typeface="Arial"/>
                <a:cs typeface="Arial"/>
              </a:rPr>
              <a:t>SHAP consistency</a:t>
            </a:r>
          </a:p>
        </p:txBody>
      </p:sp>
      <p:sp>
        <p:nvSpPr>
          <p:cNvPr id="10" name="">
            <a:extLst xmlns:a="http://schemas.openxmlformats.org/drawingml/2006/main">
              <a:ext uri="{FF2B5EF4-FFF2-40B4-BE49-F238E27FC236}">
                <a16:creationId xmlns:a16="http://schemas.microsoft.com/office/drawing/2014/main" id="{A5417117-595F-4427-9D62-85452F50F775}"/>
              </a:ext>
            </a:extLst>
          </p:cNvPr>
          <p:cNvSpPr>
            <a:spLocks xmlns:a="http://schemas.openxmlformats.org/drawingml/2006/main" noGrp="1"/>
          </p:cNvSpPr>
          <p:nvPr/>
        </p:nvSpPr>
        <p:spPr>
          <a:xfrm xmlns:a="http://schemas.openxmlformats.org/drawingml/2006/main">
            <a:off x="609600" y="4362450"/>
            <a:ext cx="266700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Original PNG / PDF</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20 plot files</a:t>
            </a:r>
          </a:p>
        </p:txBody>
      </p:sp>
      <p:sp>
        <p:nvSpPr>
          <p:cNvPr id="11" name="">
            <a:extLst xmlns:a="http://schemas.openxmlformats.org/drawingml/2006/main">
              <a:ext uri="{FF2B5EF4-FFF2-40B4-BE49-F238E27FC236}">
                <a16:creationId xmlns:a16="http://schemas.microsoft.com/office/drawing/2014/main" id="{39111919-3EAB-47EA-A297-F9C74CDCE124}"/>
              </a:ext>
            </a:extLst>
          </p:cNvPr>
          <p:cNvSpPr>
            <a:spLocks xmlns:a="http://schemas.openxmlformats.org/drawingml/2006/main" noGrp="1"/>
          </p:cNvSpPr>
          <p:nvPr/>
        </p:nvSpPr>
        <p:spPr>
          <a:xfrm xmlns:a="http://schemas.openxmlformats.org/drawingml/2006/main">
            <a:off x="4038600" y="4362450"/>
            <a:ext cx="31432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Tile CSVs</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347 paired rows</a:t>
            </a:r>
          </a:p>
        </p:txBody>
      </p:sp>
      <p:sp>
        <p:nvSpPr>
          <p:cNvPr id="12" name="">
            <a:extLst xmlns:a="http://schemas.openxmlformats.org/drawingml/2006/main">
              <a:ext uri="{FF2B5EF4-FFF2-40B4-BE49-F238E27FC236}">
                <a16:creationId xmlns:a16="http://schemas.microsoft.com/office/drawing/2014/main" id="{75BE4899-7E1D-4F6C-B54F-96121CDEF4B7}"/>
              </a:ext>
            </a:extLst>
          </p:cNvPr>
          <p:cNvSpPr>
            <a:spLocks xmlns:a="http://schemas.openxmlformats.org/drawingml/2006/main" noGrp="1"/>
          </p:cNvSpPr>
          <p:nvPr/>
        </p:nvSpPr>
        <p:spPr>
          <a:xfrm xmlns:a="http://schemas.openxmlformats.org/drawingml/2006/main">
            <a:off x="8010525" y="4362450"/>
            <a:ext cx="3571875"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UI assets + audits</a:t>
            </a:r>
          </a:p>
        </p:txBody>
      </p:sp>
      <p:sp>
        <p:nvSpPr>
          <p:cNvPr id="15" name="">
            <a:extLst xmlns:a="http://schemas.openxmlformats.org/drawingml/2006/main">
              <a:ext uri="{FF2B5EF4-FFF2-40B4-BE49-F238E27FC236}">
                <a16:creationId xmlns:a16="http://schemas.microsoft.com/office/drawing/2014/main" id="{A52CE596-180E-4581-9D83-02EE4330F25F}"/>
              </a:ext>
            </a:extLst>
          </p:cNvPr>
          <p:cNvSpPr>
            <a:spLocks xmlns:a="http://schemas.openxmlformats.org/drawingml/2006/main" noGrp="1"/>
          </p:cNvSpPr>
          <p:nvPr/>
        </p:nvSpPr>
        <p:spPr>
          <a:xfrm xmlns:a="http://schemas.openxmlformats.org/drawingml/2006/main">
            <a:off x="609600" y="60102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A6D6B"/>
                </a:solidFill>
                <a:latin typeface="Arial"/>
                <a:ea typeface="Arial"/>
                <a:cs typeface="Arial"/>
              </a:defRPr>
            </a:defPPr>
          </a:lstStyle>
          <a:p xmlns:a="http://schemas.openxmlformats.org/drawingml/2006/main">
            <a:pPr algn="l">
              <a:defRPr sz="1575" b="0">
                <a:solidFill>
                  <a:srgbClr val="5A6D6B"/>
                </a:solidFill>
                <a:latin typeface="Arial"/>
                <a:ea typeface="Arial"/>
                <a:cs typeface="Arial"/>
              </a:defRPr>
            </a:pPr>
            <a:r>
              <a:rPr sz="1575" b="0">
                <a:solidFill>
                  <a:srgbClr val="5A6D6B"/>
                </a:solidFill>
                <a:latin typeface="Arial"/>
                <a:ea typeface="Arial"/>
                <a:cs typeface="Arial"/>
              </a:rPr>
              <a:t>Scores remain unchanged. Images and tile tables stay outside the text-generation prompt.</a:t>
            </a:r>
          </a:p>
        </p:txBody>
      </p:sp>
    </p:spTree>
    <p:extLst>
      <p:ext uri="{BB962C8B-B14F-4D97-AF65-F5344CB8AC3E}">
        <p14:creationId xmlns:p14="http://schemas.microsoft.com/office/powerpoint/2010/main" val="994815341"/>
      </p:ext>
    </p:extLst>
  </p:cSld>
</p:sld>
</file>

<file path=ppt/slides/slide5.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5E2D962-DB72-485E-8125-E0E8741F217A}"/>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F7B"/>
                </a:solidFill>
                <a:latin typeface="Arial"/>
                <a:ea typeface="Arial"/>
                <a:cs typeface="Arial"/>
              </a:defRPr>
            </a:defPPr>
          </a:lstStyle>
          <a:p xmlns:a="http://schemas.openxmlformats.org/drawingml/2006/main">
            <a:pPr algn="l">
              <a:defRPr sz="1350" b="1">
                <a:solidFill>
                  <a:srgbClr val="007F7B"/>
                </a:solidFill>
                <a:latin typeface="Arial"/>
                <a:ea typeface="Arial"/>
                <a:cs typeface="Arial"/>
              </a:defRPr>
            </a:pPr>
            <a:r>
              <a:rPr sz="1350" b="1">
                <a:solidFill>
                  <a:srgbClr val="007F7B"/>
                </a:solidFill>
                <a:latin typeface="Arial"/>
                <a:ea typeface="Arial"/>
                <a:cs typeface="Arial"/>
              </a:rPr>
              <a:t>01  INPUTS</a:t>
            </a:r>
          </a:p>
        </p:txBody>
      </p:sp>
      <p:sp>
        <p:nvSpPr>
          <p:cNvPr id="2" name="">
            <a:extLst xmlns:a="http://schemas.openxmlformats.org/drawingml/2006/main">
              <a:ext uri="{FF2B5EF4-FFF2-40B4-BE49-F238E27FC236}">
                <a16:creationId xmlns:a16="http://schemas.microsoft.com/office/drawing/2014/main" id="{4FD04B6C-5F17-42B9-98E3-2419231801A7}"/>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A2B"/>
                </a:solidFill>
                <a:latin typeface="Arial"/>
                <a:ea typeface="Arial"/>
                <a:cs typeface="Arial"/>
              </a:defRPr>
            </a:defPPr>
          </a:lstStyle>
          <a:p xmlns:a="http://schemas.openxmlformats.org/drawingml/2006/main">
            <a:pPr algn="l">
              <a:defRPr sz="3300" b="1">
                <a:solidFill>
                  <a:srgbClr val="152A2B"/>
                </a:solidFill>
                <a:latin typeface="Arial"/>
                <a:ea typeface="Arial"/>
                <a:cs typeface="Arial"/>
              </a:defRPr>
            </a:pPr>
            <a:r>
              <a:rPr sz="3300" b="1">
                <a:solidFill>
                  <a:srgbClr val="152A2B"/>
                </a:solidFill>
                <a:latin typeface="Arial"/>
                <a:ea typeface="Arial"/>
                <a:cs typeface="Arial"/>
              </a:rPr>
              <a:t>The input contract separates evidence from labels</a:t>
            </a:r>
          </a:p>
        </p:txBody>
      </p:sp>
      <p:sp>
        <p:nvSpPr>
          <p:cNvPr id="3" name="">
            <a:extLst xmlns:a="http://schemas.openxmlformats.org/drawingml/2006/main">
              <a:ext uri="{FF2B5EF4-FFF2-40B4-BE49-F238E27FC236}">
                <a16:creationId xmlns:a16="http://schemas.microsoft.com/office/drawing/2014/main" id="{A6AE44F6-CA67-4AD9-A9E3-92A6D6DAF1F4}"/>
              </a:ext>
            </a:extLst>
          </p:cNvPr>
          <p:cNvSpPr>
            <a:spLocks xmlns:a="http://schemas.openxmlformats.org/drawingml/2006/main" noGrp="1"/>
          </p:cNvSpPr>
          <p:nvPr/>
        </p:nvSpPr>
        <p:spPr>
          <a:xfrm xmlns:a="http://schemas.openxmlformats.org/drawingml/2006/main">
            <a:off x="11144250" y="64198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A6D6B"/>
                </a:solidFill>
                <a:latin typeface="Arial"/>
                <a:ea typeface="Arial"/>
                <a:cs typeface="Arial"/>
              </a:defRPr>
            </a:defPPr>
          </a:lstStyle>
          <a:p xmlns:a="http://schemas.openxmlformats.org/drawingml/2006/main">
            <a:pPr algn="r">
              <a:defRPr sz="1200" b="0">
                <a:solidFill>
                  <a:srgbClr val="5A6D6B"/>
                </a:solidFill>
                <a:latin typeface="Arial"/>
                <a:ea typeface="Arial"/>
                <a:cs typeface="Arial"/>
              </a:defRPr>
            </a:pPr>
            <a:r>
              <a:rPr sz="1200" b="0">
                <a:solidFill>
                  <a:srgbClr val="5A6D6B"/>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8DF04DF8-9CD7-4237-9718-94F28343C2F1}"/>
              </a:ext>
            </a:extLst>
          </p:cNvPr>
          <p:cNvSpPr>
            <a:spLocks xmlns:a="http://schemas.openxmlformats.org/drawingml/2006/main" noGrp="1"/>
          </p:cNvSpPr>
          <p:nvPr/>
        </p:nvSpPr>
        <p:spPr>
          <a:xfrm xmlns:a="http://schemas.openxmlformats.org/drawingml/2006/main">
            <a:off x="609600" y="1724025"/>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7F7B"/>
                </a:solidFill>
                <a:latin typeface="Arial"/>
                <a:ea typeface="Arial"/>
                <a:cs typeface="Arial"/>
              </a:defRPr>
            </a:defPPr>
          </a:lstStyle>
          <a:p xmlns:a="http://schemas.openxmlformats.org/drawingml/2006/main">
            <a:pPr algn="l">
              <a:defRPr sz="2175" b="1">
                <a:solidFill>
                  <a:srgbClr val="007F7B"/>
                </a:solidFill>
                <a:latin typeface="Arial"/>
                <a:ea typeface="Arial"/>
                <a:cs typeface="Arial"/>
              </a:defRPr>
            </a:pPr>
            <a:r>
              <a:rPr sz="2175" b="1">
                <a:solidFill>
                  <a:srgbClr val="007F7B"/>
                </a:solidFill>
                <a:latin typeface="Arial"/>
                <a:ea typeface="Arial"/>
                <a:cs typeface="Arial"/>
              </a:rPr>
              <a:t>Canonical JSONL</a:t>
            </a:r>
          </a:p>
        </p:txBody>
      </p:sp>
      <p:sp>
        <p:nvSpPr>
          <p:cNvPr id="5" name="">
            <a:extLst xmlns:a="http://schemas.openxmlformats.org/drawingml/2006/main">
              <a:ext uri="{FF2B5EF4-FFF2-40B4-BE49-F238E27FC236}">
                <a16:creationId xmlns:a16="http://schemas.microsoft.com/office/drawing/2014/main" id="{736D7030-2A2B-424A-84A7-15BBE2F90E5C}"/>
              </a:ext>
            </a:extLst>
          </p:cNvPr>
          <p:cNvSpPr>
            <a:spLocks xmlns:a="http://schemas.openxmlformats.org/drawingml/2006/main" noGrp="1"/>
          </p:cNvSpPr>
          <p:nvPr/>
        </p:nvSpPr>
        <p:spPr>
          <a:xfrm xmlns:a="http://schemas.openxmlformats.org/drawingml/2006/main">
            <a:off x="609600" y="2333625"/>
            <a:ext cx="5048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52A2B"/>
                </a:solidFill>
                <a:latin typeface="Arial"/>
                <a:ea typeface="Arial"/>
                <a:cs typeface="Arial"/>
              </a:defRPr>
            </a:defPPr>
          </a:lstStyle>
          <a:p xmlns:a="http://schemas.openxmlformats.org/drawingml/2006/main">
            <a:pPr algn="l">
              <a:defRPr sz="2025" b="0">
                <a:solidFill>
                  <a:srgbClr val="152A2B"/>
                </a:solidFill>
                <a:latin typeface="Arial"/>
                <a:ea typeface="Arial"/>
                <a:cs typeface="Arial"/>
              </a:defRPr>
            </a:pPr>
            <a:r>
              <a:rPr sz="2025" b="0">
                <a:solidFill>
                  <a:srgbClr val="152A2B"/>
                </a:solidFill>
                <a:latin typeface="Arial"/>
                <a:ea typeface="Arial"/>
                <a:cs typeface="Arial"/>
              </a:rPr>
              <a:t>patient_id: "S03"</a:t>
            </a:r>
          </a:p>
          <a:p xmlns:a="http://schemas.openxmlformats.org/drawingml/2006/main">
            <a:pPr algn="l">
              <a:defRPr sz="2025" b="0">
                <a:solidFill>
                  <a:srgbClr val="152A2B"/>
                </a:solidFill>
                <a:latin typeface="Arial"/>
                <a:ea typeface="Arial"/>
                <a:cs typeface="Arial"/>
              </a:defRPr>
            </a:pPr>
            <a:r>
              <a:rPr sz="2025" b="0">
                <a:solidFill>
                  <a:srgbClr val="152A2B"/>
                </a:solidFill>
                <a:latin typeface="Arial"/>
                <a:ea typeface="Arial"/>
                <a:cs typeface="Arial"/>
              </a:rPr>
              <a:t>schema_version: "1.0"</a:t>
            </a:r>
          </a:p>
          <a:p xmlns:a="http://schemas.openxmlformats.org/drawingml/2006/main">
            <a:r>
              <a:t/>
            </a:r>
          </a:p>
          <a:p xmlns:a="http://schemas.openxmlformats.org/drawingml/2006/main">
            <a:pPr algn="l">
              <a:defRPr sz="2025" b="0">
                <a:solidFill>
                  <a:srgbClr val="152A2B"/>
                </a:solidFill>
                <a:latin typeface="Arial"/>
                <a:ea typeface="Arial"/>
                <a:cs typeface="Arial"/>
              </a:defRPr>
            </a:pPr>
            <a:r>
              <a:rPr sz="2025" b="0">
                <a:solidFill>
                  <a:srgbClr val="152A2B"/>
                </a:solidFill>
                <a:latin typeface="Arial"/>
                <a:ea typeface="Arial"/>
                <a:cs typeface="Arial"/>
              </a:rPr>
              <a:t>predictions</a:t>
            </a:r>
          </a:p>
          <a:p xmlns:a="http://schemas.openxmlformats.org/drawingml/2006/main">
            <a:pPr algn="l">
              <a:defRPr sz="2025" b="0">
                <a:solidFill>
                  <a:srgbClr val="152A2B"/>
                </a:solidFill>
                <a:latin typeface="Arial"/>
                <a:ea typeface="Arial"/>
                <a:cs typeface="Arial"/>
              </a:defRPr>
            </a:pPr>
            <a:r>
              <a:rPr sz="2025" b="0">
                <a:solidFill>
                  <a:srgbClr val="152A2B"/>
                </a:solidFill>
                <a:latin typeface="Arial"/>
                <a:ea typeface="Arial"/>
                <a:cs typeface="Arial"/>
              </a:rPr>
              <a:t>  clinical: 0.1142</a:t>
            </a:r>
          </a:p>
          <a:p xmlns:a="http://schemas.openxmlformats.org/drawingml/2006/main">
            <a:pPr algn="l">
              <a:defRPr sz="2025" b="0">
                <a:solidFill>
                  <a:srgbClr val="152A2B"/>
                </a:solidFill>
                <a:latin typeface="Arial"/>
                <a:ea typeface="Arial"/>
                <a:cs typeface="Arial"/>
              </a:defRPr>
            </a:pPr>
            <a:r>
              <a:rPr sz="2025" b="0">
                <a:solidFill>
                  <a:srgbClr val="152A2B"/>
                </a:solidFill>
                <a:latin typeface="Arial"/>
                <a:ea typeface="Arial"/>
                <a:cs typeface="Arial"/>
              </a:rPr>
              <a:t>  mif:       0.7966</a:t>
            </a:r>
          </a:p>
          <a:p xmlns:a="http://schemas.openxmlformats.org/drawingml/2006/main">
            <a:pPr algn="l">
              <a:defRPr sz="2025" b="0">
                <a:solidFill>
                  <a:srgbClr val="152A2B"/>
                </a:solidFill>
                <a:latin typeface="Arial"/>
                <a:ea typeface="Arial"/>
                <a:cs typeface="Arial"/>
              </a:defRPr>
            </a:pPr>
            <a:r>
              <a:rPr sz="2025" b="0">
                <a:solidFill>
                  <a:srgbClr val="152A2B"/>
                </a:solidFill>
                <a:latin typeface="Arial"/>
                <a:ea typeface="Arial"/>
                <a:cs typeface="Arial"/>
              </a:rPr>
              <a:t>  fused:    0.3355</a:t>
            </a:r>
          </a:p>
          <a:p xmlns:a="http://schemas.openxmlformats.org/drawingml/2006/main">
            <a:r>
              <a:t/>
            </a:r>
          </a:p>
          <a:p xmlns:a="http://schemas.openxmlformats.org/drawingml/2006/main">
            <a:pPr algn="l">
              <a:defRPr sz="2025" b="0">
                <a:solidFill>
                  <a:srgbClr val="152A2B"/>
                </a:solidFill>
                <a:latin typeface="Arial"/>
                <a:ea typeface="Arial"/>
                <a:cs typeface="Arial"/>
              </a:defRPr>
            </a:pPr>
            <a:r>
              <a:rPr sz="2025" b="0">
                <a:solidFill>
                  <a:srgbClr val="152A2B"/>
                </a:solidFill>
                <a:latin typeface="Arial"/>
                <a:ea typeface="Arial"/>
                <a:cs typeface="Arial"/>
              </a:rPr>
              <a:t>response_definition: "Not specified"</a:t>
            </a:r>
          </a:p>
        </p:txBody>
      </p:sp>
      <p:sp>
        <p:nvSpPr>
          <p:cNvPr id="6" name="">
            <a:extLst xmlns:a="http://schemas.openxmlformats.org/drawingml/2006/main">
              <a:ext uri="{FF2B5EF4-FFF2-40B4-BE49-F238E27FC236}">
                <a16:creationId xmlns:a16="http://schemas.microsoft.com/office/drawing/2014/main" id="{E76D05AB-0F76-4F0B-86E9-C5E33D11DB54}"/>
              </a:ext>
            </a:extLst>
          </p:cNvPr>
          <p:cNvSpPr>
            <a:spLocks xmlns:a="http://schemas.openxmlformats.org/drawingml/2006/main" noGrp="1"/>
          </p:cNvSpPr>
          <p:nvPr/>
        </p:nvSpPr>
        <p:spPr>
          <a:xfrm xmlns:a="http://schemas.openxmlformats.org/drawingml/2006/main">
            <a:off x="6667500" y="1857375"/>
            <a:ext cx="4914900" cy="809625"/>
          </a:xfrm>
          <a:prstGeom xmlns:a="http://schemas.openxmlformats.org/drawingml/2006/main" prst="rect">
            <a:avLst/>
          </a:prstGeom>
          <a:solidFill xmlns:a="http://schemas.openxmlformats.org/drawingml/2006/main">
            <a:srgbClr val="E8F2D9"/>
          </a:solidFill>
          <a:ln xmlns:a="http://schemas.openxmlformats.org/drawingml/2006/main" w="14288">
            <a:solidFill>
              <a:srgbClr val="76B900"/>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Feature evidence</a:t>
            </a:r>
          </a:p>
        </p:txBody>
      </p:sp>
      <p:sp>
        <p:nvSpPr>
          <p:cNvPr id="7" name="">
            <a:extLst xmlns:a="http://schemas.openxmlformats.org/drawingml/2006/main">
              <a:ext uri="{FF2B5EF4-FFF2-40B4-BE49-F238E27FC236}">
                <a16:creationId xmlns:a16="http://schemas.microsoft.com/office/drawing/2014/main" id="{8A5B49B3-DFCF-4068-A3E0-3758811EE2AC}"/>
              </a:ext>
            </a:extLst>
          </p:cNvPr>
          <p:cNvSpPr>
            <a:spLocks xmlns:a="http://schemas.openxmlformats.org/drawingml/2006/main" noGrp="1"/>
          </p:cNvSpPr>
          <p:nvPr/>
        </p:nvSpPr>
        <p:spPr>
          <a:xfrm xmlns:a="http://schemas.openxmlformats.org/drawingml/2006/main">
            <a:off x="6915150" y="2924175"/>
            <a:ext cx="4552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52A2B"/>
                </a:solidFill>
                <a:latin typeface="Arial"/>
                <a:ea typeface="Arial"/>
                <a:cs typeface="Arial"/>
              </a:defRPr>
            </a:defPPr>
          </a:lstStyle>
          <a:p xmlns:a="http://schemas.openxmlformats.org/drawingml/2006/main">
            <a:pPr algn="l">
              <a:defRPr sz="2100" b="0">
                <a:solidFill>
                  <a:srgbClr val="152A2B"/>
                </a:solidFill>
                <a:latin typeface="Arial"/>
                <a:ea typeface="Arial"/>
                <a:cs typeface="Arial"/>
              </a:defRPr>
            </a:pPr>
            <a:r>
              <a:rPr sz="2100" b="0">
                <a:solidFill>
                  <a:srgbClr val="152A2B"/>
                </a:solidFill>
                <a:latin typeface="Arial"/>
                <a:ea typeface="Arial"/>
                <a:cs typeface="Arial"/>
              </a:rPr>
              <a:t>Clinical: value + signed SHAP</a:t>
            </a:r>
          </a:p>
        </p:txBody>
      </p:sp>
      <p:sp>
        <p:nvSpPr>
          <p:cNvPr id="8" name="">
            <a:extLst xmlns:a="http://schemas.openxmlformats.org/drawingml/2006/main">
              <a:ext uri="{FF2B5EF4-FFF2-40B4-BE49-F238E27FC236}">
                <a16:creationId xmlns:a16="http://schemas.microsoft.com/office/drawing/2014/main" id="{69E52274-A085-476D-9EF7-93EB08189192}"/>
              </a:ext>
            </a:extLst>
          </p:cNvPr>
          <p:cNvSpPr>
            <a:spLocks xmlns:a="http://schemas.openxmlformats.org/drawingml/2006/main" noGrp="1"/>
          </p:cNvSpPr>
          <p:nvPr/>
        </p:nvSpPr>
        <p:spPr>
          <a:xfrm xmlns:a="http://schemas.openxmlformats.org/drawingml/2006/main">
            <a:off x="6915150" y="3571875"/>
            <a:ext cx="4552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52A2B"/>
                </a:solidFill>
                <a:latin typeface="Arial"/>
                <a:ea typeface="Arial"/>
                <a:cs typeface="Arial"/>
              </a:defRPr>
            </a:defPPr>
          </a:lstStyle>
          <a:p xmlns:a="http://schemas.openxmlformats.org/drawingml/2006/main">
            <a:pPr algn="l">
              <a:defRPr sz="2100" b="0">
                <a:solidFill>
                  <a:srgbClr val="152A2B"/>
                </a:solidFill>
                <a:latin typeface="Arial"/>
                <a:ea typeface="Arial"/>
                <a:cs typeface="Arial"/>
              </a:defRPr>
            </a:pPr>
            <a:r>
              <a:rPr sz="2100" b="0">
                <a:solidFill>
                  <a:srgbClr val="152A2B"/>
                </a:solidFill>
                <a:latin typeface="Arial"/>
                <a:ea typeface="Arial"/>
                <a:cs typeface="Arial"/>
              </a:rPr>
              <a:t>mIF: value + attention contrast</a:t>
            </a:r>
          </a:p>
        </p:txBody>
      </p:sp>
      <p:sp>
        <p:nvSpPr>
          <p:cNvPr id="9" name="">
            <a:extLst xmlns:a="http://schemas.openxmlformats.org/drawingml/2006/main">
              <a:ext uri="{FF2B5EF4-FFF2-40B4-BE49-F238E27FC236}">
                <a16:creationId xmlns:a16="http://schemas.microsoft.com/office/drawing/2014/main" id="{C8DCA59C-1CAA-4314-8804-9F85D212E0F6}"/>
              </a:ext>
            </a:extLst>
          </p:cNvPr>
          <p:cNvSpPr>
            <a:spLocks xmlns:a="http://schemas.openxmlformats.org/drawingml/2006/main" noGrp="1"/>
          </p:cNvSpPr>
          <p:nvPr/>
        </p:nvSpPr>
        <p:spPr>
          <a:xfrm xmlns:a="http://schemas.openxmlformats.org/drawingml/2006/main">
            <a:off x="6667500" y="4572000"/>
            <a:ext cx="4914900" cy="666750"/>
          </a:xfrm>
          <a:prstGeom xmlns:a="http://schemas.openxmlformats.org/drawingml/2006/main" prst="rect">
            <a:avLst/>
          </a:prstGeom>
          <a:solidFill xmlns:a="http://schemas.openxmlformats.org/drawingml/2006/main">
            <a:srgbClr val="FFF1D9"/>
          </a:solidFill>
          <a:ln xmlns:a="http://schemas.openxmlformats.org/drawingml/2006/main" w="14288">
            <a:solidFill>
              <a:srgbClr val="D6B780"/>
            </a:solidFill>
          </a:ln>
        </p:spPr>
        <p:txBody>
          <a:bodyPr xmlns:a="http://schemas.openxmlformats.org/drawingml/2006/main" wrap="square" lIns="114300" tIns="114300" rIns="114300" bIns="114300" anchor="ctr">
            <a:noAutofit/>
          </a:bodyPr>
          <a:lstStyle xmlns:a="http://schemas.openxmlformats.org/drawingml/2006/main">
            <a:defPPr algn="ctr">
              <a:defRPr sz="1875" b="1">
                <a:solidFill>
                  <a:srgbClr val="152A2B"/>
                </a:solidFill>
                <a:latin typeface="Arial"/>
                <a:ea typeface="Arial"/>
                <a:cs typeface="Arial"/>
              </a:defRPr>
            </a:defPPr>
          </a:lstStyle>
          <a:p xmlns:a="http://schemas.openxmlformats.org/drawingml/2006/main">
            <a:pPr algn="ctr">
              <a:defRPr sz="1875" b="1">
                <a:solidFill>
                  <a:srgbClr val="152A2B"/>
                </a:solidFill>
                <a:latin typeface="Arial"/>
                <a:ea typeface="Arial"/>
                <a:cs typeface="Arial"/>
              </a:defRPr>
            </a:pPr>
            <a:r>
              <a:rPr sz="1875" b="1">
                <a:solidFill>
                  <a:srgbClr val="152A2B"/>
                </a:solidFill>
                <a:latin typeface="Arial"/>
                <a:ea typeface="Arial"/>
                <a:cs typeface="Arial"/>
              </a:rPr>
              <a:t>Label + ID + free-text context</a:t>
            </a:r>
          </a:p>
        </p:txBody>
      </p:sp>
      <p:sp>
        <p:nvSpPr>
          <p:cNvPr id="10" name="">
            <a:extLst xmlns:a="http://schemas.openxmlformats.org/drawingml/2006/main">
              <a:ext uri="{FF2B5EF4-FFF2-40B4-BE49-F238E27FC236}">
                <a16:creationId xmlns:a16="http://schemas.microsoft.com/office/drawing/2014/main" id="{EF3AB861-2C81-41D4-BD0C-146A44E98BA7}"/>
              </a:ext>
            </a:extLst>
          </p:cNvPr>
          <p:cNvSpPr>
            <a:spLocks xmlns:a="http://schemas.openxmlformats.org/drawingml/2006/main" noGrp="1"/>
          </p:cNvSpPr>
          <p:nvPr/>
        </p:nvSpPr>
        <p:spPr>
          <a:xfrm xmlns:a="http://schemas.openxmlformats.org/drawingml/2006/main">
            <a:off x="6896100" y="5372100"/>
            <a:ext cx="4619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9B6523"/>
                </a:solidFill>
                <a:latin typeface="Arial"/>
                <a:ea typeface="Arial"/>
                <a:cs typeface="Arial"/>
              </a:defRPr>
            </a:defPPr>
          </a:lstStyle>
          <a:p xmlns:a="http://schemas.openxmlformats.org/drawingml/2006/main">
            <a:pPr algn="l">
              <a:defRPr sz="1800" b="0">
                <a:solidFill>
                  <a:srgbClr val="9B6523"/>
                </a:solidFill>
                <a:latin typeface="Arial"/>
                <a:ea typeface="Arial"/>
                <a:cs typeface="Arial"/>
              </a:defRPr>
            </a:pPr>
            <a:r>
              <a:rPr sz="1800" b="0">
                <a:solidFill>
                  <a:srgbClr val="9B6523"/>
                </a:solidFill>
                <a:latin typeface="Arial"/>
                <a:ea typeface="Arial"/>
                <a:cs typeface="Arial"/>
              </a:rPr>
              <a:t>Retained in records</a:t>
            </a:r>
          </a:p>
          <a:p xmlns:a="http://schemas.openxmlformats.org/drawingml/2006/main">
            <a:pPr algn="l">
              <a:defRPr sz="1800" b="0">
                <a:solidFill>
                  <a:srgbClr val="9B6523"/>
                </a:solidFill>
                <a:latin typeface="Arial"/>
                <a:ea typeface="Arial"/>
                <a:cs typeface="Arial"/>
              </a:defRPr>
            </a:pPr>
            <a:r>
              <a:rPr sz="1800" b="0">
                <a:solidFill>
                  <a:srgbClr val="9B6523"/>
                </a:solidFill>
                <a:latin typeface="Arial"/>
                <a:ea typeface="Arial"/>
                <a:cs typeface="Arial"/>
              </a:rPr>
              <a:t>Excluded from current LLM prompts</a:t>
            </a:r>
          </a:p>
        </p:txBody>
      </p:sp>
    </p:spTree>
    <p:extLst>
      <p:ext uri="{BB962C8B-B14F-4D97-AF65-F5344CB8AC3E}">
        <p14:creationId xmlns:p14="http://schemas.microsoft.com/office/powerpoint/2010/main" val="1754851597"/>
      </p:ext>
    </p:extLst>
  </p:cSld>
</p:sld>
</file>

<file path=ppt/slides/slide6.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95E92D9D-72DC-4F19-B7F3-8B24067B163C}"/>
              </a:ext>
            </a:extLst>
          </p:cNvPr>
          <p:cNvCxnSpPr>
            <a:stCxn xmlns:a="http://schemas.openxmlformats.org/drawingml/2006/main" id="6" idx="3"/>
            <a:endCxn xmlns:a="http://schemas.openxmlformats.org/drawingml/2006/main" id="9" idx="1"/>
          </p:cNvCxnSpPr>
          <p:nvPr/>
        </p:nvCxnSpPr>
        <p:spPr>
          <a:xfrm xmlns:a="http://schemas.openxmlformats.org/drawingml/2006/main">
            <a:off x="7924800" y="3295650"/>
            <a:ext cx="971550"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D62C49B3-37EE-4CEA-9619-5C100FD0C69A}"/>
              </a:ext>
            </a:extLst>
          </p:cNvPr>
          <p:cNvCxnSpPr>
            <a:stCxn xmlns:a="http://schemas.openxmlformats.org/drawingml/2006/main" id="5" idx="3"/>
            <a:endCxn xmlns:a="http://schemas.openxmlformats.org/drawingml/2006/main" id="6" idx="1"/>
          </p:cNvCxnSpPr>
          <p:nvPr/>
        </p:nvCxnSpPr>
        <p:spPr>
          <a:xfrm xmlns:a="http://schemas.openxmlformats.org/drawingml/2006/main" flipV="1">
            <a:off x="3800475" y="3295650"/>
            <a:ext cx="981075" cy="771525"/>
          </a:xfrm>
          <a:prstGeom xmlns:a="http://schemas.openxmlformats.org/drawingml/2006/main" prst="bentConnector3">
            <a:avLst>
              <a:gd name="adj1" fmla="val 50000"/>
            </a:avLst>
          </a:prstGeom>
          <a:ln xmlns:a="http://schemas.openxmlformats.org/drawingml/2006/main" w="23813">
            <a:solidFill>
              <a:srgbClr val="5A6D6B"/>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971CBE27-208B-4928-875E-8B0C3D3C5FAC}"/>
              </a:ext>
            </a:extLst>
          </p:cNvPr>
          <p:cNvCxnSpPr>
            <a:stCxn xmlns:a="http://schemas.openxmlformats.org/drawingml/2006/main" id="4" idx="3"/>
            <a:endCxn xmlns:a="http://schemas.openxmlformats.org/drawingml/2006/main" id="6" idx="1"/>
          </p:cNvCxnSpPr>
          <p:nvPr/>
        </p:nvCxnSpPr>
        <p:spPr>
          <a:xfrm xmlns:a="http://schemas.openxmlformats.org/drawingml/2006/main">
            <a:off x="3800475" y="2419350"/>
            <a:ext cx="981075" cy="876300"/>
          </a:xfrm>
          <a:prstGeom xmlns:a="http://schemas.openxmlformats.org/drawingml/2006/main" prst="bentConnector3">
            <a:avLst>
              <a:gd name="adj1" fmla="val 50000"/>
            </a:avLst>
          </a:prstGeom>
          <a:ln xmlns:a="http://schemas.openxmlformats.org/drawingml/2006/main" w="23813">
            <a:solidFill>
              <a:srgbClr val="5A6D6B"/>
            </a:solidFill>
            <a:prstDash val="solid"/>
            <a:tailEnd type="arrow" w="med" len="med"/>
          </a:ln>
        </p:spPr>
      </p:cxnSp>
      <p:sp>
        <p:nvSpPr>
          <p:cNvPr id="13" name="">
            <a:extLst xmlns:a="http://schemas.openxmlformats.org/drawingml/2006/main">
              <a:ext uri="{FF2B5EF4-FFF2-40B4-BE49-F238E27FC236}">
                <a16:creationId xmlns:a16="http://schemas.microsoft.com/office/drawing/2014/main" id="{A6C76793-642D-4AE5-8386-4D02FF8D1CD6}"/>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F7B"/>
                </a:solidFill>
                <a:latin typeface="Arial"/>
                <a:ea typeface="Arial"/>
                <a:cs typeface="Arial"/>
              </a:defRPr>
            </a:defPPr>
          </a:lstStyle>
          <a:p xmlns:a="http://schemas.openxmlformats.org/drawingml/2006/main">
            <a:pPr algn="l">
              <a:defRPr sz="1350" b="1">
                <a:solidFill>
                  <a:srgbClr val="007F7B"/>
                </a:solidFill>
                <a:latin typeface="Arial"/>
                <a:ea typeface="Arial"/>
                <a:cs typeface="Arial"/>
              </a:defRPr>
            </a:pPr>
            <a:r>
              <a:rPr sz="1350" b="1">
                <a:solidFill>
                  <a:srgbClr val="007F7B"/>
                </a:solidFill>
                <a:latin typeface="Arial"/>
                <a:ea typeface="Arial"/>
                <a:cs typeface="Arial"/>
              </a:rPr>
              <a:t>01  INPUTS AND GROUNDING</a:t>
            </a:r>
          </a:p>
        </p:txBody>
      </p:sp>
      <p:sp>
        <p:nvSpPr>
          <p:cNvPr id="2" name="">
            <a:extLst xmlns:a="http://schemas.openxmlformats.org/drawingml/2006/main">
              <a:ext uri="{FF2B5EF4-FFF2-40B4-BE49-F238E27FC236}">
                <a16:creationId xmlns:a16="http://schemas.microsoft.com/office/drawing/2014/main" id="{63DA5BA9-ABB7-4D2E-99F9-88CBCF7742AA}"/>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A2B"/>
                </a:solidFill>
                <a:latin typeface="Arial"/>
                <a:ea typeface="Arial"/>
                <a:cs typeface="Arial"/>
              </a:defRPr>
            </a:defPPr>
          </a:lstStyle>
          <a:p xmlns:a="http://schemas.openxmlformats.org/drawingml/2006/main">
            <a:pPr algn="l">
              <a:defRPr sz="3300" b="1">
                <a:solidFill>
                  <a:srgbClr val="152A2B"/>
                </a:solidFill>
                <a:latin typeface="Arial"/>
                <a:ea typeface="Arial"/>
                <a:cs typeface="Arial"/>
              </a:defRPr>
            </a:pPr>
            <a:r>
              <a:rPr sz="3300" b="1">
                <a:solidFill>
                  <a:srgbClr val="152A2B"/>
                </a:solidFill>
                <a:latin typeface="Arial"/>
                <a:ea typeface="Arial"/>
                <a:cs typeface="Arial"/>
              </a:rPr>
              <a:t>The skill packages the interpretation rules</a:t>
            </a:r>
          </a:p>
        </p:txBody>
      </p:sp>
      <p:sp>
        <p:nvSpPr>
          <p:cNvPr id="3" name="">
            <a:extLst xmlns:a="http://schemas.openxmlformats.org/drawingml/2006/main">
              <a:ext uri="{FF2B5EF4-FFF2-40B4-BE49-F238E27FC236}">
                <a16:creationId xmlns:a16="http://schemas.microsoft.com/office/drawing/2014/main" id="{F1428B66-47B2-4C4C-A9B5-561159702AE3}"/>
              </a:ext>
            </a:extLst>
          </p:cNvPr>
          <p:cNvSpPr>
            <a:spLocks xmlns:a="http://schemas.openxmlformats.org/drawingml/2006/main" noGrp="1"/>
          </p:cNvSpPr>
          <p:nvPr/>
        </p:nvSpPr>
        <p:spPr>
          <a:xfrm xmlns:a="http://schemas.openxmlformats.org/drawingml/2006/main">
            <a:off x="11144250" y="64198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A6D6B"/>
                </a:solidFill>
                <a:latin typeface="Arial"/>
                <a:ea typeface="Arial"/>
                <a:cs typeface="Arial"/>
              </a:defRPr>
            </a:defPPr>
          </a:lstStyle>
          <a:p xmlns:a="http://schemas.openxmlformats.org/drawingml/2006/main">
            <a:pPr algn="r">
              <a:defRPr sz="1200" b="0">
                <a:solidFill>
                  <a:srgbClr val="5A6D6B"/>
                </a:solidFill>
                <a:latin typeface="Arial"/>
                <a:ea typeface="Arial"/>
                <a:cs typeface="Arial"/>
              </a:defRPr>
            </a:pPr>
            <a:r>
              <a:rPr sz="1200" b="0">
                <a:solidFill>
                  <a:srgbClr val="5A6D6B"/>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2933517C-FB70-4D30-A090-8F998E5C5107}"/>
              </a:ext>
            </a:extLst>
          </p:cNvPr>
          <p:cNvSpPr>
            <a:spLocks xmlns:a="http://schemas.openxmlformats.org/drawingml/2006/main" noGrp="1"/>
          </p:cNvSpPr>
          <p:nvPr/>
        </p:nvSpPr>
        <p:spPr>
          <a:xfrm xmlns:a="http://schemas.openxmlformats.org/drawingml/2006/main">
            <a:off x="609600" y="1885950"/>
            <a:ext cx="3190875" cy="10668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SKILL.md</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Role + task rules</a:t>
            </a:r>
          </a:p>
        </p:txBody>
      </p:sp>
      <p:sp>
        <p:nvSpPr>
          <p:cNvPr id="5" name="">
            <a:extLst xmlns:a="http://schemas.openxmlformats.org/drawingml/2006/main">
              <a:ext uri="{FF2B5EF4-FFF2-40B4-BE49-F238E27FC236}">
                <a16:creationId xmlns:a16="http://schemas.microsoft.com/office/drawing/2014/main" id="{4EDC1F00-9A87-4558-BF4B-4C215737808F}"/>
              </a:ext>
            </a:extLst>
          </p:cNvPr>
          <p:cNvSpPr>
            <a:spLocks xmlns:a="http://schemas.openxmlformats.org/drawingml/2006/main" noGrp="1"/>
          </p:cNvSpPr>
          <p:nvPr/>
        </p:nvSpPr>
        <p:spPr>
          <a:xfrm xmlns:a="http://schemas.openxmlformats.org/drawingml/2006/main">
            <a:off x="609600" y="3533775"/>
            <a:ext cx="3190875" cy="10668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6 worked examples</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Situation-specific prose</a:t>
            </a:r>
          </a:p>
        </p:txBody>
      </p:sp>
      <p:sp>
        <p:nvSpPr>
          <p:cNvPr id="6" name="">
            <a:extLst xmlns:a="http://schemas.openxmlformats.org/drawingml/2006/main">
              <a:ext uri="{FF2B5EF4-FFF2-40B4-BE49-F238E27FC236}">
                <a16:creationId xmlns:a16="http://schemas.microsoft.com/office/drawing/2014/main" id="{202B5261-5E93-4D00-AA06-0950406D0198}"/>
              </a:ext>
            </a:extLst>
          </p:cNvPr>
          <p:cNvSpPr>
            <a:spLocks xmlns:a="http://schemas.openxmlformats.org/drawingml/2006/main" noGrp="1"/>
          </p:cNvSpPr>
          <p:nvPr/>
        </p:nvSpPr>
        <p:spPr>
          <a:xfrm xmlns:a="http://schemas.openxmlformats.org/drawingml/2006/main">
            <a:off x="4781550" y="2667000"/>
            <a:ext cx="3143250" cy="1257300"/>
          </a:xfrm>
          <a:prstGeom xmlns:a="http://schemas.openxmlformats.org/drawingml/2006/main" prst="rect">
            <a:avLst/>
          </a:prstGeom>
          <a:solidFill xmlns:a="http://schemas.openxmlformats.org/drawingml/2006/main">
            <a:srgbClr val="E8F2D9"/>
          </a:solidFill>
          <a:ln xmlns:a="http://schemas.openxmlformats.org/drawingml/2006/main" w="14288">
            <a:solidFill>
              <a:srgbClr val="76B900"/>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Part-specific</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system prompt</a:t>
            </a:r>
          </a:p>
        </p:txBody>
      </p:sp>
      <p:sp>
        <p:nvSpPr>
          <p:cNvPr id="9" name="">
            <a:extLst xmlns:a="http://schemas.openxmlformats.org/drawingml/2006/main">
              <a:ext uri="{FF2B5EF4-FFF2-40B4-BE49-F238E27FC236}">
                <a16:creationId xmlns:a16="http://schemas.microsoft.com/office/drawing/2014/main" id="{7A1834A5-E5D3-4B78-8EC1-3D19F210AAEF}"/>
              </a:ext>
            </a:extLst>
          </p:cNvPr>
          <p:cNvSpPr>
            <a:spLocks xmlns:a="http://schemas.openxmlformats.org/drawingml/2006/main" noGrp="1"/>
          </p:cNvSpPr>
          <p:nvPr/>
        </p:nvSpPr>
        <p:spPr>
          <a:xfrm xmlns:a="http://schemas.openxmlformats.org/drawingml/2006/main">
            <a:off x="8896350" y="2667000"/>
            <a:ext cx="268605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Nemotron</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Fixed weights</a:t>
            </a:r>
          </a:p>
        </p:txBody>
      </p:sp>
      <p:sp>
        <p:nvSpPr>
          <p:cNvPr id="11" name="">
            <a:extLst xmlns:a="http://schemas.openxmlformats.org/drawingml/2006/main">
              <a:ext uri="{FF2B5EF4-FFF2-40B4-BE49-F238E27FC236}">
                <a16:creationId xmlns:a16="http://schemas.microsoft.com/office/drawing/2014/main" id="{D9548D7F-A67D-436D-B28D-1860C93EB310}"/>
              </a:ext>
            </a:extLst>
          </p:cNvPr>
          <p:cNvSpPr>
            <a:spLocks xmlns:a="http://schemas.openxmlformats.org/drawingml/2006/main" noGrp="1"/>
          </p:cNvSpPr>
          <p:nvPr/>
        </p:nvSpPr>
        <p:spPr>
          <a:xfrm xmlns:a="http://schemas.openxmlformats.org/drawingml/2006/main">
            <a:off x="4648200" y="458152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F7B"/>
                </a:solidFill>
                <a:latin typeface="Arial"/>
                <a:ea typeface="Arial"/>
                <a:cs typeface="Arial"/>
              </a:defRPr>
            </a:defPPr>
          </a:lstStyle>
          <a:p xmlns:a="http://schemas.openxmlformats.org/drawingml/2006/main">
            <a:pPr algn="l">
              <a:defRPr sz="2025" b="1">
                <a:solidFill>
                  <a:srgbClr val="007F7B"/>
                </a:solidFill>
                <a:latin typeface="Arial"/>
                <a:ea typeface="Arial"/>
                <a:cs typeface="Arial"/>
              </a:defRPr>
            </a:pPr>
            <a:r>
              <a:rPr sz="2025" b="1">
                <a:solidFill>
                  <a:srgbClr val="007F7B"/>
                </a:solidFill>
                <a:latin typeface="Arial"/>
                <a:ea typeface="Arial"/>
                <a:cs typeface="Arial"/>
              </a:rPr>
              <a:t>Version 2.0 + prompt SHA-256</a:t>
            </a:r>
          </a:p>
        </p:txBody>
      </p:sp>
      <p:sp>
        <p:nvSpPr>
          <p:cNvPr id="12" name="">
            <a:extLst xmlns:a="http://schemas.openxmlformats.org/drawingml/2006/main">
              <a:ext uri="{FF2B5EF4-FFF2-40B4-BE49-F238E27FC236}">
                <a16:creationId xmlns:a16="http://schemas.microsoft.com/office/drawing/2014/main" id="{769CBEF2-9F2D-4AE4-A56D-5F824C58F7F3}"/>
              </a:ext>
            </a:extLst>
          </p:cNvPr>
          <p:cNvSpPr>
            <a:spLocks xmlns:a="http://schemas.openxmlformats.org/drawingml/2006/main" noGrp="1"/>
          </p:cNvSpPr>
          <p:nvPr/>
        </p:nvSpPr>
        <p:spPr>
          <a:xfrm xmlns:a="http://schemas.openxmlformats.org/drawingml/2006/main">
            <a:off x="609600" y="60102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A6D6B"/>
                </a:solidFill>
                <a:latin typeface="Arial"/>
                <a:ea typeface="Arial"/>
                <a:cs typeface="Arial"/>
              </a:defRPr>
            </a:defPPr>
          </a:lstStyle>
          <a:p xmlns:a="http://schemas.openxmlformats.org/drawingml/2006/main">
            <a:pPr algn="l">
              <a:defRPr sz="1575" b="0">
                <a:solidFill>
                  <a:srgbClr val="5A6D6B"/>
                </a:solidFill>
                <a:latin typeface="Arial"/>
                <a:ea typeface="Arial"/>
                <a:cs typeface="Arial"/>
              </a:defRPr>
            </a:pPr>
            <a:r>
              <a:rPr sz="1575" b="0">
                <a:solidFill>
                  <a:srgbClr val="5A6D6B"/>
                </a:solidFill>
                <a:latin typeface="Arial"/>
                <a:ea typeface="Arial"/>
                <a:cs typeface="Arial"/>
              </a:rPr>
              <a:t>Full paper context stays in reference files. Short instructions and selected evidence enter the model.</a:t>
            </a:r>
          </a:p>
        </p:txBody>
      </p:sp>
    </p:spTree>
    <p:extLst>
      <p:ext uri="{BB962C8B-B14F-4D97-AF65-F5344CB8AC3E}">
        <p14:creationId xmlns:p14="http://schemas.microsoft.com/office/powerpoint/2010/main" val="44880290"/>
      </p:ext>
    </p:extLst>
  </p:cSld>
</p:sld>
</file>

<file path=ppt/slides/slide7.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873B55E7-4F8A-4171-8F68-025862BFA673}"/>
              </a:ext>
            </a:extLst>
          </p:cNvPr>
          <p:cNvCxnSpPr>
            <a:stCxn xmlns:a="http://schemas.openxmlformats.org/drawingml/2006/main" id="8" idx="3"/>
            <a:endCxn xmlns:a="http://schemas.openxmlformats.org/drawingml/2006/main" id="9" idx="1"/>
          </p:cNvCxnSpPr>
          <p:nvPr/>
        </p:nvCxnSpPr>
        <p:spPr>
          <a:xfrm xmlns:a="http://schemas.openxmlformats.org/drawingml/2006/main">
            <a:off x="8867775" y="4138613"/>
            <a:ext cx="495300"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96B5AA78-4BF5-4EAE-B550-7450F215AEAE}"/>
              </a:ext>
            </a:extLst>
          </p:cNvPr>
          <p:cNvCxnSpPr>
            <a:stCxn xmlns:a="http://schemas.openxmlformats.org/drawingml/2006/main" id="7" idx="3"/>
            <a:endCxn xmlns:a="http://schemas.openxmlformats.org/drawingml/2006/main" id="8" idx="1"/>
          </p:cNvCxnSpPr>
          <p:nvPr/>
        </p:nvCxnSpPr>
        <p:spPr>
          <a:xfrm xmlns:a="http://schemas.openxmlformats.org/drawingml/2006/main">
            <a:off x="6191250" y="4138613"/>
            <a:ext cx="485775"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5293EA46-21C8-47E4-A53C-1795D898893D}"/>
              </a:ext>
            </a:extLst>
          </p:cNvPr>
          <p:cNvCxnSpPr>
            <a:stCxn xmlns:a="http://schemas.openxmlformats.org/drawingml/2006/main" id="6" idx="3"/>
            <a:endCxn xmlns:a="http://schemas.openxmlformats.org/drawingml/2006/main" id="7" idx="1"/>
          </p:cNvCxnSpPr>
          <p:nvPr/>
        </p:nvCxnSpPr>
        <p:spPr>
          <a:xfrm xmlns:a="http://schemas.openxmlformats.org/drawingml/2006/main">
            <a:off x="2990850" y="4138613"/>
            <a:ext cx="485775"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sp>
        <p:nvSpPr>
          <p:cNvPr id="15" name="">
            <a:extLst xmlns:a="http://schemas.openxmlformats.org/drawingml/2006/main">
              <a:ext uri="{FF2B5EF4-FFF2-40B4-BE49-F238E27FC236}">
                <a16:creationId xmlns:a16="http://schemas.microsoft.com/office/drawing/2014/main" id="{AEE8A223-8614-4E1F-A550-E3D0560D1DE7}"/>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F7B"/>
                </a:solidFill>
                <a:latin typeface="Arial"/>
                <a:ea typeface="Arial"/>
                <a:cs typeface="Arial"/>
              </a:defRPr>
            </a:defPPr>
          </a:lstStyle>
          <a:p xmlns:a="http://schemas.openxmlformats.org/drawingml/2006/main">
            <a:pPr algn="l">
              <a:defRPr sz="1350" b="1">
                <a:solidFill>
                  <a:srgbClr val="007F7B"/>
                </a:solidFill>
                <a:latin typeface="Arial"/>
                <a:ea typeface="Arial"/>
                <a:cs typeface="Arial"/>
              </a:defRPr>
            </a:pPr>
            <a:r>
              <a:rPr sz="1350" b="1">
                <a:solidFill>
                  <a:srgbClr val="007F7B"/>
                </a:solidFill>
                <a:latin typeface="Arial"/>
                <a:ea typeface="Arial"/>
                <a:cs typeface="Arial"/>
              </a:rPr>
              <a:t>01  INPUTS AND GROUNDING</a:t>
            </a:r>
          </a:p>
        </p:txBody>
      </p:sp>
      <p:sp>
        <p:nvSpPr>
          <p:cNvPr id="2" name="">
            <a:extLst xmlns:a="http://schemas.openxmlformats.org/drawingml/2006/main">
              <a:ext uri="{FF2B5EF4-FFF2-40B4-BE49-F238E27FC236}">
                <a16:creationId xmlns:a16="http://schemas.microsoft.com/office/drawing/2014/main" id="{09A6D183-C5DC-4CE9-81EF-419F36E7967E}"/>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A2B"/>
                </a:solidFill>
                <a:latin typeface="Arial"/>
                <a:ea typeface="Arial"/>
                <a:cs typeface="Arial"/>
              </a:defRPr>
            </a:defPPr>
          </a:lstStyle>
          <a:p xmlns:a="http://schemas.openxmlformats.org/drawingml/2006/main">
            <a:pPr algn="l">
              <a:defRPr sz="3300" b="1">
                <a:solidFill>
                  <a:srgbClr val="152A2B"/>
                </a:solidFill>
                <a:latin typeface="Arial"/>
                <a:ea typeface="Arial"/>
                <a:cs typeface="Arial"/>
              </a:defRPr>
            </a:pPr>
            <a:r>
              <a:rPr sz="3300" b="1">
                <a:solidFill>
                  <a:srgbClr val="152A2B"/>
                </a:solidFill>
                <a:latin typeface="Arial"/>
                <a:ea typeface="Arial"/>
                <a:cs typeface="Arial"/>
              </a:rPr>
              <a:t>The foundation paper motivates spatial context</a:t>
            </a:r>
          </a:p>
        </p:txBody>
      </p:sp>
      <p:sp>
        <p:nvSpPr>
          <p:cNvPr id="3" name="">
            <a:extLst xmlns:a="http://schemas.openxmlformats.org/drawingml/2006/main">
              <a:ext uri="{FF2B5EF4-FFF2-40B4-BE49-F238E27FC236}">
                <a16:creationId xmlns:a16="http://schemas.microsoft.com/office/drawing/2014/main" id="{EF3B8CCE-1E43-45A3-A594-0CBCB61313CE}"/>
              </a:ext>
            </a:extLst>
          </p:cNvPr>
          <p:cNvSpPr>
            <a:spLocks xmlns:a="http://schemas.openxmlformats.org/drawingml/2006/main" noGrp="1"/>
          </p:cNvSpPr>
          <p:nvPr/>
        </p:nvSpPr>
        <p:spPr>
          <a:xfrm xmlns:a="http://schemas.openxmlformats.org/drawingml/2006/main">
            <a:off x="11144250" y="64198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A6D6B"/>
                </a:solidFill>
                <a:latin typeface="Arial"/>
                <a:ea typeface="Arial"/>
                <a:cs typeface="Arial"/>
              </a:defRPr>
            </a:defPPr>
          </a:lstStyle>
          <a:p xmlns:a="http://schemas.openxmlformats.org/drawingml/2006/main">
            <a:pPr algn="r">
              <a:defRPr sz="1200" b="0">
                <a:solidFill>
                  <a:srgbClr val="5A6D6B"/>
                </a:solidFill>
                <a:latin typeface="Arial"/>
                <a:ea typeface="Arial"/>
                <a:cs typeface="Arial"/>
              </a:defRPr>
            </a:pPr>
            <a:r>
              <a:rPr sz="1200" b="0">
                <a:solidFill>
                  <a:srgbClr val="5A6D6B"/>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500D92BC-4B4F-4975-B084-042498AC4927}"/>
              </a:ext>
            </a:extLst>
          </p:cNvPr>
          <p:cNvSpPr>
            <a:spLocks xmlns:a="http://schemas.openxmlformats.org/drawingml/2006/main" noGrp="1"/>
          </p:cNvSpPr>
          <p:nvPr/>
        </p:nvSpPr>
        <p:spPr>
          <a:xfrm xmlns:a="http://schemas.openxmlformats.org/drawingml/2006/main">
            <a:off x="609600" y="1695450"/>
            <a:ext cx="857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7F7B"/>
                </a:solidFill>
                <a:latin typeface="Arial"/>
                <a:ea typeface="Arial"/>
                <a:cs typeface="Arial"/>
              </a:defRPr>
            </a:defPPr>
          </a:lstStyle>
          <a:p xmlns:a="http://schemas.openxmlformats.org/drawingml/2006/main">
            <a:pPr algn="l">
              <a:defRPr sz="2400" b="1">
                <a:solidFill>
                  <a:srgbClr val="007F7B"/>
                </a:solidFill>
                <a:latin typeface="Arial"/>
                <a:ea typeface="Arial"/>
                <a:cs typeface="Arial"/>
              </a:defRPr>
            </a:pPr>
            <a:r>
              <a:rPr sz="2400" b="1">
                <a:solidFill>
                  <a:srgbClr val="007F7B"/>
                </a:solidFill>
                <a:latin typeface="Arial"/>
                <a:ea typeface="Arial"/>
                <a:cs typeface="Arial"/>
              </a:rPr>
              <a:t>Pybus et al. 2026</a:t>
            </a:r>
          </a:p>
        </p:txBody>
      </p:sp>
      <p:sp>
        <p:nvSpPr>
          <p:cNvPr id="5" name="">
            <a:extLst xmlns:a="http://schemas.openxmlformats.org/drawingml/2006/main">
              <a:ext uri="{FF2B5EF4-FFF2-40B4-BE49-F238E27FC236}">
                <a16:creationId xmlns:a16="http://schemas.microsoft.com/office/drawing/2014/main" id="{E223084C-212D-4ABB-8933-A163A18BE628}"/>
              </a:ext>
            </a:extLst>
          </p:cNvPr>
          <p:cNvSpPr>
            <a:spLocks xmlns:a="http://schemas.openxmlformats.org/drawingml/2006/main" noGrp="1"/>
          </p:cNvSpPr>
          <p:nvPr/>
        </p:nvSpPr>
        <p:spPr>
          <a:xfrm xmlns:a="http://schemas.openxmlformats.org/drawingml/2006/main">
            <a:off x="609600" y="2257425"/>
            <a:ext cx="10953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52A2B"/>
                </a:solidFill>
                <a:latin typeface="Arial"/>
                <a:ea typeface="Arial"/>
                <a:cs typeface="Arial"/>
              </a:defRPr>
            </a:defPPr>
          </a:lstStyle>
          <a:p xmlns:a="http://schemas.openxmlformats.org/drawingml/2006/main">
            <a:pPr algn="l">
              <a:defRPr sz="2025" b="0">
                <a:solidFill>
                  <a:srgbClr val="152A2B"/>
                </a:solidFill>
                <a:latin typeface="Arial"/>
                <a:ea typeface="Arial"/>
                <a:cs typeface="Arial"/>
              </a:defRPr>
            </a:pPr>
            <a:r>
              <a:rPr sz="2025" b="0">
                <a:solidFill>
                  <a:srgbClr val="152A2B"/>
                </a:solidFill>
                <a:latin typeface="Arial"/>
                <a:ea typeface="Arial"/>
                <a:cs typeface="Arial"/>
              </a:rPr>
              <a:t>Predicting anti-PD-1 immune checkpoint blockade response in melanoma</a:t>
            </a:r>
          </a:p>
          <a:p xmlns:a="http://schemas.openxmlformats.org/drawingml/2006/main">
            <a:pPr algn="l">
              <a:defRPr sz="2025" b="0">
                <a:solidFill>
                  <a:srgbClr val="152A2B"/>
                </a:solidFill>
                <a:latin typeface="Arial"/>
                <a:ea typeface="Arial"/>
                <a:cs typeface="Arial"/>
              </a:defRPr>
            </a:pPr>
            <a:r>
              <a:rPr sz="2025" b="0">
                <a:solidFill>
                  <a:srgbClr val="152A2B"/>
                </a:solidFill>
                <a:latin typeface="Arial"/>
                <a:ea typeface="Arial"/>
                <a:cs typeface="Arial"/>
              </a:rPr>
              <a:t>patients with spatially aware machine learning models</a:t>
            </a:r>
          </a:p>
        </p:txBody>
      </p:sp>
      <p:sp>
        <p:nvSpPr>
          <p:cNvPr id="6" name="">
            <a:extLst xmlns:a="http://schemas.openxmlformats.org/drawingml/2006/main">
              <a:ext uri="{FF2B5EF4-FFF2-40B4-BE49-F238E27FC236}">
                <a16:creationId xmlns:a16="http://schemas.microsoft.com/office/drawing/2014/main" id="{F742B9D9-6027-49BD-8871-B6477E94227E}"/>
              </a:ext>
            </a:extLst>
          </p:cNvPr>
          <p:cNvSpPr>
            <a:spLocks xmlns:a="http://schemas.openxmlformats.org/drawingml/2006/main" noGrp="1"/>
          </p:cNvSpPr>
          <p:nvPr/>
        </p:nvSpPr>
        <p:spPr>
          <a:xfrm xmlns:a="http://schemas.openxmlformats.org/drawingml/2006/main">
            <a:off x="609600" y="3609975"/>
            <a:ext cx="2381250" cy="1057275"/>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12 patients</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Pretreatment tissue</a:t>
            </a:r>
          </a:p>
        </p:txBody>
      </p:sp>
      <p:sp>
        <p:nvSpPr>
          <p:cNvPr id="7" name="">
            <a:extLst xmlns:a="http://schemas.openxmlformats.org/drawingml/2006/main">
              <a:ext uri="{FF2B5EF4-FFF2-40B4-BE49-F238E27FC236}">
                <a16:creationId xmlns:a16="http://schemas.microsoft.com/office/drawing/2014/main" id="{CE78D377-2EF3-47B2-ADDC-612D6333CA79}"/>
              </a:ext>
            </a:extLst>
          </p:cNvPr>
          <p:cNvSpPr>
            <a:spLocks xmlns:a="http://schemas.openxmlformats.org/drawingml/2006/main" noGrp="1"/>
          </p:cNvSpPr>
          <p:nvPr/>
        </p:nvSpPr>
        <p:spPr>
          <a:xfrm xmlns:a="http://schemas.openxmlformats.org/drawingml/2006/main">
            <a:off x="3476625" y="3609975"/>
            <a:ext cx="2714625" cy="1057275"/>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&gt;8 million cells</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Spatial proteomics</a:t>
            </a:r>
          </a:p>
        </p:txBody>
      </p:sp>
      <p:sp>
        <p:nvSpPr>
          <p:cNvPr id="8" name="">
            <a:extLst xmlns:a="http://schemas.openxmlformats.org/drawingml/2006/main">
              <a:ext uri="{FF2B5EF4-FFF2-40B4-BE49-F238E27FC236}">
                <a16:creationId xmlns:a16="http://schemas.microsoft.com/office/drawing/2014/main" id="{A8AEED76-A729-46C4-9D65-C2892136D739}"/>
              </a:ext>
            </a:extLst>
          </p:cNvPr>
          <p:cNvSpPr>
            <a:spLocks xmlns:a="http://schemas.openxmlformats.org/drawingml/2006/main" noGrp="1"/>
          </p:cNvSpPr>
          <p:nvPr/>
        </p:nvSpPr>
        <p:spPr>
          <a:xfrm xmlns:a="http://schemas.openxmlformats.org/drawingml/2006/main">
            <a:off x="6677025" y="3609975"/>
            <a:ext cx="2190750" cy="1057275"/>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Spatial features</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 ML</a:t>
            </a:r>
          </a:p>
        </p:txBody>
      </p:sp>
      <p:sp>
        <p:nvSpPr>
          <p:cNvPr id="9" name="">
            <a:extLst xmlns:a="http://schemas.openxmlformats.org/drawingml/2006/main">
              <a:ext uri="{FF2B5EF4-FFF2-40B4-BE49-F238E27FC236}">
                <a16:creationId xmlns:a16="http://schemas.microsoft.com/office/drawing/2014/main" id="{E48A7754-BA8F-48EA-94B0-58526A4D2E37}"/>
              </a:ext>
            </a:extLst>
          </p:cNvPr>
          <p:cNvSpPr>
            <a:spLocks xmlns:a="http://schemas.openxmlformats.org/drawingml/2006/main" noGrp="1"/>
          </p:cNvSpPr>
          <p:nvPr/>
        </p:nvSpPr>
        <p:spPr>
          <a:xfrm xmlns:a="http://schemas.openxmlformats.org/drawingml/2006/main">
            <a:off x="9363075" y="3609975"/>
            <a:ext cx="2219325" cy="1057275"/>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ICB response</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patterns</a:t>
            </a:r>
          </a:p>
        </p:txBody>
      </p:sp>
      <p:sp>
        <p:nvSpPr>
          <p:cNvPr id="13" name="">
            <a:extLst xmlns:a="http://schemas.openxmlformats.org/drawingml/2006/main">
              <a:ext uri="{FF2B5EF4-FFF2-40B4-BE49-F238E27FC236}">
                <a16:creationId xmlns:a16="http://schemas.microsoft.com/office/drawing/2014/main" id="{A8DE9C73-B58F-473C-9003-CF58E90390B6}"/>
              </a:ext>
            </a:extLst>
          </p:cNvPr>
          <p:cNvSpPr>
            <a:spLocks xmlns:a="http://schemas.openxmlformats.org/drawingml/2006/main" noGrp="1"/>
          </p:cNvSpPr>
          <p:nvPr/>
        </p:nvSpPr>
        <p:spPr>
          <a:xfrm xmlns:a="http://schemas.openxmlformats.org/drawingml/2006/main">
            <a:off x="609600" y="5238750"/>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7F7B"/>
                </a:solidFill>
                <a:latin typeface="Arial"/>
                <a:ea typeface="Arial"/>
                <a:cs typeface="Arial"/>
              </a:defRPr>
            </a:defPPr>
          </a:lstStyle>
          <a:p xmlns:a="http://schemas.openxmlformats.org/drawingml/2006/main">
            <a:pPr algn="l">
              <a:defRPr sz="2400" b="1">
                <a:solidFill>
                  <a:srgbClr val="007F7B"/>
                </a:solidFill>
                <a:latin typeface="Arial"/>
                <a:ea typeface="Arial"/>
                <a:cs typeface="Arial"/>
              </a:defRPr>
            </a:pPr>
            <a:r>
              <a:rPr sz="2400" b="1">
                <a:solidFill>
                  <a:srgbClr val="007F7B"/>
                </a:solidFill>
                <a:latin typeface="Arial"/>
                <a:ea typeface="Arial"/>
                <a:cs typeface="Arial"/>
              </a:rPr>
              <a:t>No single marker separated the response groups</a:t>
            </a:r>
          </a:p>
        </p:txBody>
      </p:sp>
      <p:sp>
        <p:nvSpPr>
          <p:cNvPr id="14" name="">
            <a:extLst xmlns:a="http://schemas.openxmlformats.org/drawingml/2006/main">
              <a:ext uri="{FF2B5EF4-FFF2-40B4-BE49-F238E27FC236}">
                <a16:creationId xmlns:a16="http://schemas.microsoft.com/office/drawing/2014/main" id="{D7C9A190-E15A-485A-8613-455430B04BBE}"/>
              </a:ext>
            </a:extLst>
          </p:cNvPr>
          <p:cNvSpPr>
            <a:spLocks xmlns:a="http://schemas.openxmlformats.org/drawingml/2006/main" noGrp="1"/>
          </p:cNvSpPr>
          <p:nvPr/>
        </p:nvSpPr>
        <p:spPr>
          <a:xfrm xmlns:a="http://schemas.openxmlformats.org/drawingml/2006/main">
            <a:off x="609600" y="60102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A6D6B"/>
                </a:solidFill>
                <a:latin typeface="Arial"/>
                <a:ea typeface="Arial"/>
                <a:cs typeface="Arial"/>
              </a:defRPr>
            </a:defPPr>
          </a:lstStyle>
          <a:p xmlns:a="http://schemas.openxmlformats.org/drawingml/2006/main">
            <a:pPr algn="l">
              <a:defRPr sz="1575" b="0">
                <a:solidFill>
                  <a:srgbClr val="5A6D6B"/>
                </a:solidFill>
                <a:latin typeface="Arial"/>
                <a:ea typeface="Arial"/>
                <a:cs typeface="Arial"/>
              </a:defRPr>
            </a:pPr>
            <a:r>
              <a:rPr sz="1575" b="0">
                <a:solidFill>
                  <a:srgbClr val="5A6D6B"/>
                </a:solidFill>
                <a:latin typeface="Arial"/>
                <a:ea typeface="Arial"/>
                <a:cs typeface="Arial"/>
              </a:rPr>
              <a:t>Published cohort evidence guides interpretation. Copilot validation remains a separate task.</a:t>
            </a:r>
          </a:p>
        </p:txBody>
      </p:sp>
    </p:spTree>
    <p:extLst>
      <p:ext uri="{BB962C8B-B14F-4D97-AF65-F5344CB8AC3E}">
        <p14:creationId xmlns:p14="http://schemas.microsoft.com/office/powerpoint/2010/main" val="558785686"/>
      </p:ext>
    </p:extLst>
  </p:cSld>
</p:sld>
</file>

<file path=ppt/slides/slide8.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91A8FD4F-0559-4CF7-AA38-5730CA653ACA}"/>
              </a:ext>
            </a:extLst>
          </p:cNvPr>
          <p:cNvCxnSpPr>
            <a:stCxn xmlns:a="http://schemas.openxmlformats.org/drawingml/2006/main" id="7" idx="3"/>
            <a:endCxn xmlns:a="http://schemas.openxmlformats.org/drawingml/2006/main" id="10" idx="1"/>
          </p:cNvCxnSpPr>
          <p:nvPr/>
        </p:nvCxnSpPr>
        <p:spPr>
          <a:xfrm xmlns:a="http://schemas.openxmlformats.org/drawingml/2006/main" flipV="1">
            <a:off x="7620000" y="3405188"/>
            <a:ext cx="942975" cy="1009650"/>
          </a:xfrm>
          <a:prstGeom xmlns:a="http://schemas.openxmlformats.org/drawingml/2006/main" prst="bentConnector3">
            <a:avLst>
              <a:gd name="adj1" fmla="val 50000"/>
            </a:avLst>
          </a:prstGeom>
          <a:ln xmlns:a="http://schemas.openxmlformats.org/drawingml/2006/main" w="23813">
            <a:solidFill>
              <a:srgbClr val="5A6D6B"/>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1B4C7564-A839-48EA-8366-D8B834BC202B}"/>
              </a:ext>
            </a:extLst>
          </p:cNvPr>
          <p:cNvCxnSpPr>
            <a:stCxn xmlns:a="http://schemas.openxmlformats.org/drawingml/2006/main" id="6" idx="3"/>
            <a:endCxn xmlns:a="http://schemas.openxmlformats.org/drawingml/2006/main" id="10" idx="1"/>
          </p:cNvCxnSpPr>
          <p:nvPr/>
        </p:nvCxnSpPr>
        <p:spPr>
          <a:xfrm xmlns:a="http://schemas.openxmlformats.org/drawingml/2006/main">
            <a:off x="7620000" y="2405063"/>
            <a:ext cx="942975" cy="1000125"/>
          </a:xfrm>
          <a:prstGeom xmlns:a="http://schemas.openxmlformats.org/drawingml/2006/main" prst="bentConnector3">
            <a:avLst>
              <a:gd name="adj1" fmla="val 50000"/>
            </a:avLst>
          </a:prstGeom>
          <a:ln xmlns:a="http://schemas.openxmlformats.org/drawingml/2006/main" w="23813">
            <a:solidFill>
              <a:srgbClr val="5A6D6B"/>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392DE0A4-204E-41D3-B096-DDE20F144608}"/>
              </a:ext>
            </a:extLst>
          </p:cNvPr>
          <p:cNvCxnSpPr>
            <a:stCxn xmlns:a="http://schemas.openxmlformats.org/drawingml/2006/main" id="5" idx="3"/>
            <a:endCxn xmlns:a="http://schemas.openxmlformats.org/drawingml/2006/main" id="7" idx="1"/>
          </p:cNvCxnSpPr>
          <p:nvPr/>
        </p:nvCxnSpPr>
        <p:spPr>
          <a:xfrm xmlns:a="http://schemas.openxmlformats.org/drawingml/2006/main">
            <a:off x="3752850" y="4414838"/>
            <a:ext cx="819150"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FC01EE96-DC87-46C3-B5B2-C54FB47035F6}"/>
              </a:ext>
            </a:extLst>
          </p:cNvPr>
          <p:cNvCxnSpPr>
            <a:stCxn xmlns:a="http://schemas.openxmlformats.org/drawingml/2006/main" id="4" idx="3"/>
            <a:endCxn xmlns:a="http://schemas.openxmlformats.org/drawingml/2006/main" id="6" idx="1"/>
          </p:cNvCxnSpPr>
          <p:nvPr/>
        </p:nvCxnSpPr>
        <p:spPr>
          <a:xfrm xmlns:a="http://schemas.openxmlformats.org/drawingml/2006/main">
            <a:off x="3752850" y="2405063"/>
            <a:ext cx="819150"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sp>
        <p:nvSpPr>
          <p:cNvPr id="14" name="">
            <a:extLst xmlns:a="http://schemas.openxmlformats.org/drawingml/2006/main">
              <a:ext uri="{FF2B5EF4-FFF2-40B4-BE49-F238E27FC236}">
                <a16:creationId xmlns:a16="http://schemas.microsoft.com/office/drawing/2014/main" id="{C819EE88-BB3A-4DCE-93C7-5F7574018428}"/>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F7B"/>
                </a:solidFill>
                <a:latin typeface="Arial"/>
                <a:ea typeface="Arial"/>
                <a:cs typeface="Arial"/>
              </a:defRPr>
            </a:defPPr>
          </a:lstStyle>
          <a:p xmlns:a="http://schemas.openxmlformats.org/drawingml/2006/main">
            <a:pPr algn="l">
              <a:defRPr sz="1350" b="1">
                <a:solidFill>
                  <a:srgbClr val="007F7B"/>
                </a:solidFill>
                <a:latin typeface="Arial"/>
                <a:ea typeface="Arial"/>
                <a:cs typeface="Arial"/>
              </a:defRPr>
            </a:pPr>
            <a:r>
              <a:rPr sz="1350" b="1">
                <a:solidFill>
                  <a:srgbClr val="007F7B"/>
                </a:solidFill>
                <a:latin typeface="Arial"/>
                <a:ea typeface="Arial"/>
                <a:cs typeface="Arial"/>
              </a:rPr>
              <a:t>01  INPUTS AND GROUNDING</a:t>
            </a:r>
          </a:p>
        </p:txBody>
      </p:sp>
      <p:sp>
        <p:nvSpPr>
          <p:cNvPr id="2" name="">
            <a:extLst xmlns:a="http://schemas.openxmlformats.org/drawingml/2006/main">
              <a:ext uri="{FF2B5EF4-FFF2-40B4-BE49-F238E27FC236}">
                <a16:creationId xmlns:a16="http://schemas.microsoft.com/office/drawing/2014/main" id="{9E669E92-7DC9-4C0A-A182-7A6F8B924CB1}"/>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A2B"/>
                </a:solidFill>
                <a:latin typeface="Arial"/>
                <a:ea typeface="Arial"/>
                <a:cs typeface="Arial"/>
              </a:defRPr>
            </a:defPPr>
          </a:lstStyle>
          <a:p xmlns:a="http://schemas.openxmlformats.org/drawingml/2006/main">
            <a:pPr algn="l">
              <a:defRPr sz="3300" b="1">
                <a:solidFill>
                  <a:srgbClr val="152A2B"/>
                </a:solidFill>
                <a:latin typeface="Arial"/>
                <a:ea typeface="Arial"/>
                <a:cs typeface="Arial"/>
              </a:defRPr>
            </a:pPr>
            <a:r>
              <a:rPr sz="3300" b="1">
                <a:solidFill>
                  <a:srgbClr val="152A2B"/>
                </a:solidFill>
                <a:latin typeface="Arial"/>
                <a:ea typeface="Arial"/>
                <a:cs typeface="Arial"/>
              </a:rPr>
              <a:t>Model contribution and literature remain separate</a:t>
            </a:r>
          </a:p>
        </p:txBody>
      </p:sp>
      <p:sp>
        <p:nvSpPr>
          <p:cNvPr id="3" name="">
            <a:extLst xmlns:a="http://schemas.openxmlformats.org/drawingml/2006/main">
              <a:ext uri="{FF2B5EF4-FFF2-40B4-BE49-F238E27FC236}">
                <a16:creationId xmlns:a16="http://schemas.microsoft.com/office/drawing/2014/main" id="{1CD6C2BE-52A5-403C-825D-CF946EF40999}"/>
              </a:ext>
            </a:extLst>
          </p:cNvPr>
          <p:cNvSpPr>
            <a:spLocks xmlns:a="http://schemas.openxmlformats.org/drawingml/2006/main" noGrp="1"/>
          </p:cNvSpPr>
          <p:nvPr/>
        </p:nvSpPr>
        <p:spPr>
          <a:xfrm xmlns:a="http://schemas.openxmlformats.org/drawingml/2006/main">
            <a:off x="11144250" y="64198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A6D6B"/>
                </a:solidFill>
                <a:latin typeface="Arial"/>
                <a:ea typeface="Arial"/>
                <a:cs typeface="Arial"/>
              </a:defRPr>
            </a:defPPr>
          </a:lstStyle>
          <a:p xmlns:a="http://schemas.openxmlformats.org/drawingml/2006/main">
            <a:pPr algn="r">
              <a:defRPr sz="1200" b="0">
                <a:solidFill>
                  <a:srgbClr val="5A6D6B"/>
                </a:solidFill>
                <a:latin typeface="Arial"/>
                <a:ea typeface="Arial"/>
                <a:cs typeface="Arial"/>
              </a:defRPr>
            </a:pPr>
            <a:r>
              <a:rPr sz="1200" b="0">
                <a:solidFill>
                  <a:srgbClr val="5A6D6B"/>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614227E7-3F47-435D-A9DA-B386EFB8B0FE}"/>
              </a:ext>
            </a:extLst>
          </p:cNvPr>
          <p:cNvSpPr>
            <a:spLocks xmlns:a="http://schemas.openxmlformats.org/drawingml/2006/main" noGrp="1"/>
          </p:cNvSpPr>
          <p:nvPr/>
        </p:nvSpPr>
        <p:spPr>
          <a:xfrm xmlns:a="http://schemas.openxmlformats.org/drawingml/2006/main">
            <a:off x="609600" y="1905000"/>
            <a:ext cx="314325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Patient feature</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Signed SHAP</a:t>
            </a:r>
          </a:p>
        </p:txBody>
      </p:sp>
      <p:sp>
        <p:nvSpPr>
          <p:cNvPr id="5" name="">
            <a:extLst xmlns:a="http://schemas.openxmlformats.org/drawingml/2006/main">
              <a:ext uri="{FF2B5EF4-FFF2-40B4-BE49-F238E27FC236}">
                <a16:creationId xmlns:a16="http://schemas.microsoft.com/office/drawing/2014/main" id="{469EB0CC-A72B-46D4-B186-8F4C5CB73E60}"/>
              </a:ext>
            </a:extLst>
          </p:cNvPr>
          <p:cNvSpPr>
            <a:spLocks xmlns:a="http://schemas.openxmlformats.org/drawingml/2006/main" noGrp="1"/>
          </p:cNvSpPr>
          <p:nvPr/>
        </p:nvSpPr>
        <p:spPr>
          <a:xfrm xmlns:a="http://schemas.openxmlformats.org/drawingml/2006/main">
            <a:off x="609600" y="3914775"/>
            <a:ext cx="314325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Curated literature</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11 cited sources</a:t>
            </a:r>
          </a:p>
        </p:txBody>
      </p:sp>
      <p:sp>
        <p:nvSpPr>
          <p:cNvPr id="6" name="">
            <a:extLst xmlns:a="http://schemas.openxmlformats.org/drawingml/2006/main">
              <a:ext uri="{FF2B5EF4-FFF2-40B4-BE49-F238E27FC236}">
                <a16:creationId xmlns:a16="http://schemas.microsoft.com/office/drawing/2014/main" id="{F7BC3DE7-39D2-42FA-A8B7-8940C220A86D}"/>
              </a:ext>
            </a:extLst>
          </p:cNvPr>
          <p:cNvSpPr>
            <a:spLocks xmlns:a="http://schemas.openxmlformats.org/drawingml/2006/main" noGrp="1"/>
          </p:cNvSpPr>
          <p:nvPr/>
        </p:nvSpPr>
        <p:spPr>
          <a:xfrm xmlns:a="http://schemas.openxmlformats.org/drawingml/2006/main">
            <a:off x="4572000" y="1905000"/>
            <a:ext cx="304800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Push direction</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For this model score</a:t>
            </a:r>
          </a:p>
        </p:txBody>
      </p:sp>
      <p:sp>
        <p:nvSpPr>
          <p:cNvPr id="7" name="">
            <a:extLst xmlns:a="http://schemas.openxmlformats.org/drawingml/2006/main">
              <a:ext uri="{FF2B5EF4-FFF2-40B4-BE49-F238E27FC236}">
                <a16:creationId xmlns:a16="http://schemas.microsoft.com/office/drawing/2014/main" id="{C41957FF-7BDB-4667-AF4A-E064EB9B34D9}"/>
              </a:ext>
            </a:extLst>
          </p:cNvPr>
          <p:cNvSpPr>
            <a:spLocks xmlns:a="http://schemas.openxmlformats.org/drawingml/2006/main" noGrp="1"/>
          </p:cNvSpPr>
          <p:nvPr/>
        </p:nvSpPr>
        <p:spPr>
          <a:xfrm xmlns:a="http://schemas.openxmlformats.org/drawingml/2006/main">
            <a:off x="4572000" y="3914775"/>
            <a:ext cx="304800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Biological context</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With source + caveat</a:t>
            </a:r>
          </a:p>
        </p:txBody>
      </p:sp>
      <p:sp>
        <p:nvSpPr>
          <p:cNvPr id="10" name="">
            <a:extLst xmlns:a="http://schemas.openxmlformats.org/drawingml/2006/main">
              <a:ext uri="{FF2B5EF4-FFF2-40B4-BE49-F238E27FC236}">
                <a16:creationId xmlns:a16="http://schemas.microsoft.com/office/drawing/2014/main" id="{4A1EF2A0-E13F-4A73-BA31-40DDE0C66436}"/>
              </a:ext>
            </a:extLst>
          </p:cNvPr>
          <p:cNvSpPr>
            <a:spLocks xmlns:a="http://schemas.openxmlformats.org/drawingml/2006/main" noGrp="1"/>
          </p:cNvSpPr>
          <p:nvPr/>
        </p:nvSpPr>
        <p:spPr>
          <a:xfrm xmlns:a="http://schemas.openxmlformats.org/drawingml/2006/main">
            <a:off x="8562975" y="2857500"/>
            <a:ext cx="3019425" cy="1095375"/>
          </a:xfrm>
          <a:prstGeom xmlns:a="http://schemas.openxmlformats.org/drawingml/2006/main" prst="rect">
            <a:avLst/>
          </a:prstGeom>
          <a:solidFill xmlns:a="http://schemas.openxmlformats.org/drawingml/2006/main">
            <a:srgbClr val="E8F2D9"/>
          </a:solidFill>
          <a:ln xmlns:a="http://schemas.openxmlformats.org/drawingml/2006/main" w="14288">
            <a:solidFill>
              <a:srgbClr val="76B900"/>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Clinical report</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Side-by-side meaning</a:t>
            </a:r>
          </a:p>
        </p:txBody>
      </p:sp>
      <p:sp>
        <p:nvSpPr>
          <p:cNvPr id="13" name="">
            <a:extLst xmlns:a="http://schemas.openxmlformats.org/drawingml/2006/main">
              <a:ext uri="{FF2B5EF4-FFF2-40B4-BE49-F238E27FC236}">
                <a16:creationId xmlns:a16="http://schemas.microsoft.com/office/drawing/2014/main" id="{483F39C7-30EC-4C43-B74B-2FDBBAEB1F45}"/>
              </a:ext>
            </a:extLst>
          </p:cNvPr>
          <p:cNvSpPr>
            <a:spLocks xmlns:a="http://schemas.openxmlformats.org/drawingml/2006/main" noGrp="1"/>
          </p:cNvSpPr>
          <p:nvPr/>
        </p:nvSpPr>
        <p:spPr>
          <a:xfrm xmlns:a="http://schemas.openxmlformats.org/drawingml/2006/main">
            <a:off x="609600" y="60102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A6D6B"/>
                </a:solidFill>
                <a:latin typeface="Arial"/>
                <a:ea typeface="Arial"/>
                <a:cs typeface="Arial"/>
              </a:defRPr>
            </a:defPPr>
          </a:lstStyle>
          <a:p xmlns:a="http://schemas.openxmlformats.org/drawingml/2006/main">
            <a:pPr algn="l">
              <a:defRPr sz="1575" b="0">
                <a:solidFill>
                  <a:srgbClr val="5A6D6B"/>
                </a:solidFill>
                <a:latin typeface="Arial"/>
                <a:ea typeface="Arial"/>
                <a:cs typeface="Arial"/>
              </a:defRPr>
            </a:pPr>
            <a:r>
              <a:rPr sz="1575" b="0">
                <a:solidFill>
                  <a:srgbClr val="5A6D6B"/>
                </a:solidFill>
                <a:latin typeface="Arial"/>
                <a:ea typeface="Arial"/>
                <a:cs typeface="Arial"/>
              </a:rPr>
              <a:t>SHAP describes a model contribution. Literature describes context, with no causal claim.</a:t>
            </a:r>
          </a:p>
        </p:txBody>
      </p:sp>
    </p:spTree>
    <p:extLst>
      <p:ext uri="{BB962C8B-B14F-4D97-AF65-F5344CB8AC3E}">
        <p14:creationId xmlns:p14="http://schemas.microsoft.com/office/powerpoint/2010/main" val="630214156"/>
      </p:ext>
    </p:extLst>
  </p:cSld>
</p:sld>
</file>

<file path=ppt/slides/slide9.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7489B6FD-30DC-47C7-B6A6-F1F699F68393}"/>
              </a:ext>
            </a:extLst>
          </p:cNvPr>
          <p:cNvCxnSpPr>
            <a:stCxn xmlns:a="http://schemas.openxmlformats.org/drawingml/2006/main" id="5" idx="3"/>
            <a:endCxn xmlns:a="http://schemas.openxmlformats.org/drawingml/2006/main" id="6" idx="1"/>
          </p:cNvCxnSpPr>
          <p:nvPr/>
        </p:nvCxnSpPr>
        <p:spPr>
          <a:xfrm xmlns:a="http://schemas.openxmlformats.org/drawingml/2006/main">
            <a:off x="7477125" y="2838450"/>
            <a:ext cx="809625"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76E87D3B-3159-48BD-BB7E-7AE58DE026AA}"/>
              </a:ext>
            </a:extLst>
          </p:cNvPr>
          <p:cNvCxnSpPr>
            <a:stCxn xmlns:a="http://schemas.openxmlformats.org/drawingml/2006/main" id="4" idx="3"/>
            <a:endCxn xmlns:a="http://schemas.openxmlformats.org/drawingml/2006/main" id="5" idx="1"/>
          </p:cNvCxnSpPr>
          <p:nvPr/>
        </p:nvCxnSpPr>
        <p:spPr>
          <a:xfrm xmlns:a="http://schemas.openxmlformats.org/drawingml/2006/main">
            <a:off x="3295650" y="2838450"/>
            <a:ext cx="790575"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sp>
        <p:nvSpPr>
          <p:cNvPr id="12" name="">
            <a:extLst xmlns:a="http://schemas.openxmlformats.org/drawingml/2006/main">
              <a:ext uri="{FF2B5EF4-FFF2-40B4-BE49-F238E27FC236}">
                <a16:creationId xmlns:a16="http://schemas.microsoft.com/office/drawing/2014/main" id="{425A2CA3-B239-4324-A24F-1494882D5C50}"/>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F7B"/>
                </a:solidFill>
                <a:latin typeface="Arial"/>
                <a:ea typeface="Arial"/>
                <a:cs typeface="Arial"/>
              </a:defRPr>
            </a:defPPr>
          </a:lstStyle>
          <a:p xmlns:a="http://schemas.openxmlformats.org/drawingml/2006/main">
            <a:pPr algn="l">
              <a:defRPr sz="1350" b="1">
                <a:solidFill>
                  <a:srgbClr val="007F7B"/>
                </a:solidFill>
                <a:latin typeface="Arial"/>
                <a:ea typeface="Arial"/>
                <a:cs typeface="Arial"/>
              </a:defRPr>
            </a:pPr>
            <a:r>
              <a:rPr sz="1350" b="1">
                <a:solidFill>
                  <a:srgbClr val="007F7B"/>
                </a:solidFill>
                <a:latin typeface="Arial"/>
                <a:ea typeface="Arial"/>
                <a:cs typeface="Arial"/>
              </a:rPr>
              <a:t>01  PREPARATION FOR GENERATION</a:t>
            </a:r>
          </a:p>
        </p:txBody>
      </p:sp>
      <p:sp>
        <p:nvSpPr>
          <p:cNvPr id="2" name="">
            <a:extLst xmlns:a="http://schemas.openxmlformats.org/drawingml/2006/main">
              <a:ext uri="{FF2B5EF4-FFF2-40B4-BE49-F238E27FC236}">
                <a16:creationId xmlns:a16="http://schemas.microsoft.com/office/drawing/2014/main" id="{4E36BC0F-689E-40D4-B8E4-CF4286C29D7A}"/>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A2B"/>
                </a:solidFill>
                <a:latin typeface="Arial"/>
                <a:ea typeface="Arial"/>
                <a:cs typeface="Arial"/>
              </a:defRPr>
            </a:defPPr>
          </a:lstStyle>
          <a:p xmlns:a="http://schemas.openxmlformats.org/drawingml/2006/main">
            <a:pPr algn="l">
              <a:defRPr sz="3300" b="1">
                <a:solidFill>
                  <a:srgbClr val="152A2B"/>
                </a:solidFill>
                <a:latin typeface="Arial"/>
                <a:ea typeface="Arial"/>
                <a:cs typeface="Arial"/>
              </a:defRPr>
            </a:pPr>
            <a:r>
              <a:rPr sz="3300" b="1">
                <a:solidFill>
                  <a:srgbClr val="152A2B"/>
                </a:solidFill>
                <a:latin typeface="Arial"/>
                <a:ea typeface="Arial"/>
                <a:cs typeface="Arial"/>
              </a:rPr>
              <a:t>A narrow payload keeps the 4B model focused</a:t>
            </a:r>
          </a:p>
        </p:txBody>
      </p:sp>
      <p:sp>
        <p:nvSpPr>
          <p:cNvPr id="3" name="">
            <a:extLst xmlns:a="http://schemas.openxmlformats.org/drawingml/2006/main">
              <a:ext uri="{FF2B5EF4-FFF2-40B4-BE49-F238E27FC236}">
                <a16:creationId xmlns:a16="http://schemas.microsoft.com/office/drawing/2014/main" id="{EAEF937F-6C56-4C33-BA43-893FBD263D05}"/>
              </a:ext>
            </a:extLst>
          </p:cNvPr>
          <p:cNvSpPr>
            <a:spLocks xmlns:a="http://schemas.openxmlformats.org/drawingml/2006/main" noGrp="1"/>
          </p:cNvSpPr>
          <p:nvPr/>
        </p:nvSpPr>
        <p:spPr>
          <a:xfrm xmlns:a="http://schemas.openxmlformats.org/drawingml/2006/main">
            <a:off x="11144250" y="64198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A6D6B"/>
                </a:solidFill>
                <a:latin typeface="Arial"/>
                <a:ea typeface="Arial"/>
                <a:cs typeface="Arial"/>
              </a:defRPr>
            </a:defPPr>
          </a:lstStyle>
          <a:p xmlns:a="http://schemas.openxmlformats.org/drawingml/2006/main">
            <a:pPr algn="r">
              <a:defRPr sz="1200" b="0">
                <a:solidFill>
                  <a:srgbClr val="5A6D6B"/>
                </a:solidFill>
                <a:latin typeface="Arial"/>
                <a:ea typeface="Arial"/>
                <a:cs typeface="Arial"/>
              </a:defRPr>
            </a:pPr>
            <a:r>
              <a:rPr sz="1200" b="0">
                <a:solidFill>
                  <a:srgbClr val="5A6D6B"/>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5D504B06-CC8E-49C4-837F-85F991B79339}"/>
              </a:ext>
            </a:extLst>
          </p:cNvPr>
          <p:cNvSpPr>
            <a:spLocks xmlns:a="http://schemas.openxmlformats.org/drawingml/2006/main" noGrp="1"/>
          </p:cNvSpPr>
          <p:nvPr/>
        </p:nvSpPr>
        <p:spPr>
          <a:xfrm xmlns:a="http://schemas.openxmlformats.org/drawingml/2006/main">
            <a:off x="609600" y="2228850"/>
            <a:ext cx="2686050" cy="12192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Validated scores</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 SHAP evidence</a:t>
            </a:r>
          </a:p>
        </p:txBody>
      </p:sp>
      <p:sp>
        <p:nvSpPr>
          <p:cNvPr id="5" name="">
            <a:extLst xmlns:a="http://schemas.openxmlformats.org/drawingml/2006/main">
              <a:ext uri="{FF2B5EF4-FFF2-40B4-BE49-F238E27FC236}">
                <a16:creationId xmlns:a16="http://schemas.microsoft.com/office/drawing/2014/main" id="{3CB7E9E0-DC00-43A3-830B-F20CDA9200FD}"/>
              </a:ext>
            </a:extLst>
          </p:cNvPr>
          <p:cNvSpPr>
            <a:spLocks xmlns:a="http://schemas.openxmlformats.org/drawingml/2006/main" noGrp="1"/>
          </p:cNvSpPr>
          <p:nvPr/>
        </p:nvSpPr>
        <p:spPr>
          <a:xfrm xmlns:a="http://schemas.openxmlformats.org/drawingml/2006/main">
            <a:off x="4086225" y="2228850"/>
            <a:ext cx="3390900" cy="1219200"/>
          </a:xfrm>
          <a:prstGeom xmlns:a="http://schemas.openxmlformats.org/drawingml/2006/main" prst="rect">
            <a:avLst/>
          </a:prstGeom>
          <a:solidFill xmlns:a="http://schemas.openxmlformats.org/drawingml/2006/main">
            <a:srgbClr val="E8F2D9"/>
          </a:solidFill>
          <a:ln xmlns:a="http://schemas.openxmlformats.org/drawingml/2006/main" w="14288">
            <a:solidFill>
              <a:srgbClr val="76B900"/>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Deterministic</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comparison + selection</a:t>
            </a:r>
          </a:p>
        </p:txBody>
      </p:sp>
      <p:sp>
        <p:nvSpPr>
          <p:cNvPr id="6" name="">
            <a:extLst xmlns:a="http://schemas.openxmlformats.org/drawingml/2006/main">
              <a:ext uri="{FF2B5EF4-FFF2-40B4-BE49-F238E27FC236}">
                <a16:creationId xmlns:a16="http://schemas.microsoft.com/office/drawing/2014/main" id="{8D0BA570-6D6E-4658-AD03-649458699767}"/>
              </a:ext>
            </a:extLst>
          </p:cNvPr>
          <p:cNvSpPr>
            <a:spLocks xmlns:a="http://schemas.openxmlformats.org/drawingml/2006/main" noGrp="1"/>
          </p:cNvSpPr>
          <p:nvPr/>
        </p:nvSpPr>
        <p:spPr>
          <a:xfrm xmlns:a="http://schemas.openxmlformats.org/drawingml/2006/main">
            <a:off x="8286750" y="2228850"/>
            <a:ext cx="3295650" cy="12192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Words for the model</a:t>
            </a:r>
          </a:p>
        </p:txBody>
      </p:sp>
      <p:sp>
        <p:nvSpPr>
          <p:cNvPr id="9" name="">
            <a:extLst xmlns:a="http://schemas.openxmlformats.org/drawingml/2006/main">
              <a:ext uri="{FF2B5EF4-FFF2-40B4-BE49-F238E27FC236}">
                <a16:creationId xmlns:a16="http://schemas.microsoft.com/office/drawing/2014/main" id="{A50F0D19-1593-41A5-8B69-C0EABA8D6A92}"/>
              </a:ext>
            </a:extLst>
          </p:cNvPr>
          <p:cNvSpPr>
            <a:spLocks xmlns:a="http://schemas.openxmlformats.org/drawingml/2006/main" noGrp="1"/>
          </p:cNvSpPr>
          <p:nvPr/>
        </p:nvSpPr>
        <p:spPr>
          <a:xfrm xmlns:a="http://schemas.openxmlformats.org/drawingml/2006/main">
            <a:off x="8524875" y="3857625"/>
            <a:ext cx="285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7F7B"/>
                </a:solidFill>
                <a:latin typeface="Arial"/>
                <a:ea typeface="Arial"/>
                <a:cs typeface="Arial"/>
              </a:defRPr>
            </a:defPPr>
          </a:lstStyle>
          <a:p xmlns:a="http://schemas.openxmlformats.org/drawingml/2006/main">
            <a:pPr algn="l">
              <a:defRPr sz="2250" b="1">
                <a:solidFill>
                  <a:srgbClr val="007F7B"/>
                </a:solidFill>
                <a:latin typeface="Arial"/>
                <a:ea typeface="Arial"/>
                <a:cs typeface="Arial"/>
              </a:defRPr>
            </a:pPr>
            <a:r>
              <a:rPr sz="2250" b="1">
                <a:solidFill>
                  <a:srgbClr val="007F7B"/>
                </a:solidFill>
                <a:latin typeface="Arial"/>
                <a:ea typeface="Arial"/>
                <a:cs typeface="Arial"/>
              </a:rPr>
              <a:t>situation</a:t>
            </a:r>
          </a:p>
          <a:p xmlns:a="http://schemas.openxmlformats.org/drawingml/2006/main">
            <a:pPr algn="l">
              <a:defRPr sz="2250" b="1">
                <a:solidFill>
                  <a:srgbClr val="007F7B"/>
                </a:solidFill>
                <a:latin typeface="Arial"/>
                <a:ea typeface="Arial"/>
                <a:cs typeface="Arial"/>
              </a:defRPr>
            </a:pPr>
            <a:r>
              <a:rPr sz="2250" b="1">
                <a:solidFill>
                  <a:srgbClr val="007F7B"/>
                </a:solidFill>
                <a:latin typeface="Arial"/>
                <a:ea typeface="Arial"/>
                <a:cs typeface="Arial"/>
              </a:rPr>
              <a:t>hypothesis</a:t>
            </a:r>
          </a:p>
          <a:p xmlns:a="http://schemas.openxmlformats.org/drawingml/2006/main">
            <a:pPr algn="l">
              <a:defRPr sz="2250" b="1">
                <a:solidFill>
                  <a:srgbClr val="007F7B"/>
                </a:solidFill>
                <a:latin typeface="Arial"/>
                <a:ea typeface="Arial"/>
                <a:cs typeface="Arial"/>
              </a:defRPr>
            </a:pPr>
            <a:r>
              <a:rPr sz="2250" b="1">
                <a:solidFill>
                  <a:srgbClr val="007F7B"/>
                </a:solidFill>
                <a:latin typeface="Arial"/>
                <a:ea typeface="Arial"/>
                <a:cs typeface="Arial"/>
              </a:rPr>
              <a:t>clinical_evidence</a:t>
            </a:r>
          </a:p>
        </p:txBody>
      </p:sp>
      <p:sp>
        <p:nvSpPr>
          <p:cNvPr id="10" name="">
            <a:extLst xmlns:a="http://schemas.openxmlformats.org/drawingml/2006/main">
              <a:ext uri="{FF2B5EF4-FFF2-40B4-BE49-F238E27FC236}">
                <a16:creationId xmlns:a16="http://schemas.microsoft.com/office/drawing/2014/main" id="{25102A87-451D-4DDC-A235-2F40121EEEA2}"/>
              </a:ext>
            </a:extLst>
          </p:cNvPr>
          <p:cNvSpPr>
            <a:spLocks xmlns:a="http://schemas.openxmlformats.org/drawingml/2006/main" noGrp="1"/>
          </p:cNvSpPr>
          <p:nvPr/>
        </p:nvSpPr>
        <p:spPr>
          <a:xfrm xmlns:a="http://schemas.openxmlformats.org/drawingml/2006/main">
            <a:off x="4152900" y="3857625"/>
            <a:ext cx="3619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52A2B"/>
                </a:solidFill>
                <a:latin typeface="Arial"/>
                <a:ea typeface="Arial"/>
                <a:cs typeface="Arial"/>
              </a:defRPr>
            </a:defPPr>
          </a:lstStyle>
          <a:p xmlns:a="http://schemas.openxmlformats.org/drawingml/2006/main">
            <a:pPr algn="l">
              <a:defRPr sz="2100" b="0">
                <a:solidFill>
                  <a:srgbClr val="152A2B"/>
                </a:solidFill>
                <a:latin typeface="Arial"/>
                <a:ea typeface="Arial"/>
                <a:cs typeface="Arial"/>
              </a:defRPr>
            </a:pPr>
            <a:r>
              <a:rPr sz="2100" b="0">
                <a:solidFill>
                  <a:srgbClr val="152A2B"/>
                </a:solidFill>
                <a:latin typeface="Arial"/>
                <a:ea typeface="Arial"/>
                <a:cs typeface="Arial"/>
              </a:rPr>
              <a:t>Threshold sides</a:t>
            </a:r>
          </a:p>
          <a:p xmlns:a="http://schemas.openxmlformats.org/drawingml/2006/main">
            <a:pPr algn="l">
              <a:defRPr sz="2100" b="0">
                <a:solidFill>
                  <a:srgbClr val="152A2B"/>
                </a:solidFill>
                <a:latin typeface="Arial"/>
                <a:ea typeface="Arial"/>
                <a:cs typeface="Arial"/>
              </a:defRPr>
            </a:pPr>
            <a:r>
              <a:rPr sz="2100" b="0">
                <a:solidFill>
                  <a:srgbClr val="152A2B"/>
                </a:solidFill>
                <a:latin typeface="Arial"/>
                <a:ea typeface="Arial"/>
                <a:cs typeface="Arial"/>
              </a:rPr>
              <a:t>Computed hypothesis</a:t>
            </a:r>
          </a:p>
          <a:p xmlns:a="http://schemas.openxmlformats.org/drawingml/2006/main">
            <a:pPr algn="l">
              <a:defRPr sz="2100" b="0">
                <a:solidFill>
                  <a:srgbClr val="152A2B"/>
                </a:solidFill>
                <a:latin typeface="Arial"/>
                <a:ea typeface="Arial"/>
                <a:cs typeface="Arial"/>
              </a:defRPr>
            </a:pPr>
            <a:r>
              <a:rPr sz="2100" b="0">
                <a:solidFill>
                  <a:srgbClr val="152A2B"/>
                </a:solidFill>
                <a:latin typeface="Arial"/>
                <a:ea typeface="Arial"/>
                <a:cs typeface="Arial"/>
              </a:rPr>
              <a:t>Top 3 clinical features</a:t>
            </a:r>
          </a:p>
        </p:txBody>
      </p:sp>
      <p:sp>
        <p:nvSpPr>
          <p:cNvPr id="11" name="">
            <a:extLst xmlns:a="http://schemas.openxmlformats.org/drawingml/2006/main">
              <a:ext uri="{FF2B5EF4-FFF2-40B4-BE49-F238E27FC236}">
                <a16:creationId xmlns:a16="http://schemas.microsoft.com/office/drawing/2014/main" id="{97D45ADE-F5EA-4EF5-B87F-348C732FE407}"/>
              </a:ext>
            </a:extLst>
          </p:cNvPr>
          <p:cNvSpPr>
            <a:spLocks xmlns:a="http://schemas.openxmlformats.org/drawingml/2006/main" noGrp="1"/>
          </p:cNvSpPr>
          <p:nvPr/>
        </p:nvSpPr>
        <p:spPr>
          <a:xfrm xmlns:a="http://schemas.openxmlformats.org/drawingml/2006/main">
            <a:off x="609600" y="60102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A6D6B"/>
                </a:solidFill>
                <a:latin typeface="Arial"/>
                <a:ea typeface="Arial"/>
                <a:cs typeface="Arial"/>
              </a:defRPr>
            </a:defPPr>
          </a:lstStyle>
          <a:p xmlns:a="http://schemas.openxmlformats.org/drawingml/2006/main">
            <a:pPr algn="l">
              <a:defRPr sz="1575" b="0">
                <a:solidFill>
                  <a:srgbClr val="5A6D6B"/>
                </a:solidFill>
                <a:latin typeface="Arial"/>
                <a:ea typeface="Arial"/>
                <a:cs typeface="Arial"/>
              </a:defRPr>
            </a:pPr>
            <a:r>
              <a:rPr sz="1575" b="0">
                <a:solidFill>
                  <a:srgbClr val="5A6D6B"/>
                </a:solidFill>
                <a:latin typeface="Arial"/>
                <a:ea typeface="Arial"/>
                <a:cs typeface="Arial"/>
              </a:rPr>
              <a:t>Exact numbers and complete feature lists bypass the LLM and enter the report directly.</a:t>
            </a:r>
          </a:p>
        </p:txBody>
      </p:sp>
    </p:spTree>
    <p:extLst>
      <p:ext uri="{BB962C8B-B14F-4D97-AF65-F5344CB8AC3E}">
        <p14:creationId xmlns:p14="http://schemas.microsoft.com/office/powerpoint/2010/main" val="1726168515"/>
      </p:ext>
    </p:extLst>
  </p:cSld>
</p:sld>
</file>

<file path=ppt/slides/slide10.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DE925C54-B65A-4991-9B3A-3758479D18BD}"/>
              </a:ext>
            </a:extLst>
          </p:cNvPr>
          <p:cNvCxnSpPr>
            <a:stCxn xmlns:a="http://schemas.openxmlformats.org/drawingml/2006/main" id="18" idx="3"/>
            <a:endCxn xmlns:a="http://schemas.openxmlformats.org/drawingml/2006/main" id="19" idx="1"/>
          </p:cNvCxnSpPr>
          <p:nvPr/>
        </p:nvCxnSpPr>
        <p:spPr>
          <a:xfrm xmlns:a="http://schemas.openxmlformats.org/drawingml/2006/main">
            <a:off x="8534400" y="5343525"/>
            <a:ext cx="571500" cy="0"/>
          </a:xfrm>
          <a:prstGeom xmlns:a="http://schemas.openxmlformats.org/drawingml/2006/main" prst="straightConnector1">
            <a:avLst/>
          </a:prstGeom>
          <a:ln xmlns:a="http://schemas.openxmlformats.org/drawingml/2006/main" w="23813">
            <a:solidFill>
              <a:srgbClr val="5A6D6B"/>
            </a:solidFill>
            <a:prstDash val="dash"/>
            <a:tailEnd type="arrow" w="med" len="med"/>
          </a:ln>
        </p:spPr>
      </p:cxnSp>
      <p:cxnSp>
        <p:nvCxnSpPr>
          <p:cNvPr id="20" name="">
            <a:extLst xmlns:a="http://schemas.openxmlformats.org/drawingml/2006/main">
              <a:ext uri="{FF2B5EF4-FFF2-40B4-BE49-F238E27FC236}">
                <a16:creationId xmlns:a16="http://schemas.microsoft.com/office/drawing/2014/main" id="{69912931-F1DA-470D-B170-54514B537CD7}"/>
              </a:ext>
            </a:extLst>
          </p:cNvPr>
          <p:cNvCxnSpPr>
            <a:stCxn xmlns:a="http://schemas.openxmlformats.org/drawingml/2006/main" id="17" idx="3"/>
            <a:endCxn xmlns:a="http://schemas.openxmlformats.org/drawingml/2006/main" id="18" idx="1"/>
          </p:cNvCxnSpPr>
          <p:nvPr/>
        </p:nvCxnSpPr>
        <p:spPr>
          <a:xfrm xmlns:a="http://schemas.openxmlformats.org/drawingml/2006/main">
            <a:off x="5314950" y="5343525"/>
            <a:ext cx="590550" cy="0"/>
          </a:xfrm>
          <a:prstGeom xmlns:a="http://schemas.openxmlformats.org/drawingml/2006/main" prst="straightConnector1">
            <a:avLst/>
          </a:prstGeom>
          <a:ln xmlns:a="http://schemas.openxmlformats.org/drawingml/2006/main" w="23813">
            <a:solidFill>
              <a:srgbClr val="5A6D6B"/>
            </a:solidFill>
            <a:prstDash val="dash"/>
            <a:tailEnd type="arrow" w="med" len="med"/>
          </a:ln>
        </p:spPr>
      </p:cxnSp>
      <p:cxnSp>
        <p:nvCxnSpPr>
          <p:cNvPr id="15" name="">
            <a:extLst xmlns:a="http://schemas.openxmlformats.org/drawingml/2006/main">
              <a:ext uri="{FF2B5EF4-FFF2-40B4-BE49-F238E27FC236}">
                <a16:creationId xmlns:a16="http://schemas.microsoft.com/office/drawing/2014/main" id="{7D04858E-468C-4BCB-8695-69B210E23CE1}"/>
              </a:ext>
            </a:extLst>
          </p:cNvPr>
          <p:cNvCxnSpPr>
            <a:stCxn xmlns:a="http://schemas.openxmlformats.org/drawingml/2006/main" id="12" idx="3"/>
            <a:endCxn xmlns:a="http://schemas.openxmlformats.org/drawingml/2006/main" id="13" idx="1"/>
          </p:cNvCxnSpPr>
          <p:nvPr/>
        </p:nvCxnSpPr>
        <p:spPr>
          <a:xfrm xmlns:a="http://schemas.openxmlformats.org/drawingml/2006/main">
            <a:off x="8534400" y="3771900"/>
            <a:ext cx="571500"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14" name="">
            <a:extLst xmlns:a="http://schemas.openxmlformats.org/drawingml/2006/main">
              <a:ext uri="{FF2B5EF4-FFF2-40B4-BE49-F238E27FC236}">
                <a16:creationId xmlns:a16="http://schemas.microsoft.com/office/drawing/2014/main" id="{50774BBC-96ED-4C1C-AE34-FE8D669E0163}"/>
              </a:ext>
            </a:extLst>
          </p:cNvPr>
          <p:cNvCxnSpPr>
            <a:stCxn xmlns:a="http://schemas.openxmlformats.org/drawingml/2006/main" id="11" idx="3"/>
            <a:endCxn xmlns:a="http://schemas.openxmlformats.org/drawingml/2006/main" id="12" idx="1"/>
          </p:cNvCxnSpPr>
          <p:nvPr/>
        </p:nvCxnSpPr>
        <p:spPr>
          <a:xfrm xmlns:a="http://schemas.openxmlformats.org/drawingml/2006/main">
            <a:off x="5314950" y="3771900"/>
            <a:ext cx="590550"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92778551-20C3-48AB-965B-F52C79C84E5D}"/>
              </a:ext>
            </a:extLst>
          </p:cNvPr>
          <p:cNvCxnSpPr>
            <a:stCxn xmlns:a="http://schemas.openxmlformats.org/drawingml/2006/main" id="6" idx="3"/>
            <a:endCxn xmlns:a="http://schemas.openxmlformats.org/drawingml/2006/main" id="7" idx="1"/>
          </p:cNvCxnSpPr>
          <p:nvPr/>
        </p:nvCxnSpPr>
        <p:spPr>
          <a:xfrm xmlns:a="http://schemas.openxmlformats.org/drawingml/2006/main">
            <a:off x="8534400" y="2200275"/>
            <a:ext cx="571500"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21BE0DCE-9860-4250-A60B-C11AC0E0AA91}"/>
              </a:ext>
            </a:extLst>
          </p:cNvPr>
          <p:cNvCxnSpPr>
            <a:stCxn xmlns:a="http://schemas.openxmlformats.org/drawingml/2006/main" id="5" idx="3"/>
            <a:endCxn xmlns:a="http://schemas.openxmlformats.org/drawingml/2006/main" id="6" idx="1"/>
          </p:cNvCxnSpPr>
          <p:nvPr/>
        </p:nvCxnSpPr>
        <p:spPr>
          <a:xfrm xmlns:a="http://schemas.openxmlformats.org/drawingml/2006/main">
            <a:off x="5314950" y="2200275"/>
            <a:ext cx="590550"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sp>
        <p:nvSpPr>
          <p:cNvPr id="22" name="">
            <a:extLst xmlns:a="http://schemas.openxmlformats.org/drawingml/2006/main">
              <a:ext uri="{FF2B5EF4-FFF2-40B4-BE49-F238E27FC236}">
                <a16:creationId xmlns:a16="http://schemas.microsoft.com/office/drawing/2014/main" id="{4C0363AE-8D53-4FE2-8563-D0AF153F95E8}"/>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F7B"/>
                </a:solidFill>
                <a:latin typeface="Arial"/>
                <a:ea typeface="Arial"/>
                <a:cs typeface="Arial"/>
              </a:defRPr>
            </a:defPPr>
          </a:lstStyle>
          <a:p xmlns:a="http://schemas.openxmlformats.org/drawingml/2006/main">
            <a:pPr algn="l">
              <a:defRPr sz="1350" b="1">
                <a:solidFill>
                  <a:srgbClr val="007F7B"/>
                </a:solidFill>
                <a:latin typeface="Arial"/>
                <a:ea typeface="Arial"/>
                <a:cs typeface="Arial"/>
              </a:defRPr>
            </a:pPr>
            <a:r>
              <a:rPr sz="1350" b="1">
                <a:solidFill>
                  <a:srgbClr val="007F7B"/>
                </a:solidFill>
                <a:latin typeface="Arial"/>
                <a:ea typeface="Arial"/>
                <a:cs typeface="Arial"/>
              </a:rPr>
              <a:t>02  NEMOTRON GENERATION</a:t>
            </a:r>
          </a:p>
        </p:txBody>
      </p:sp>
      <p:sp>
        <p:nvSpPr>
          <p:cNvPr id="2" name="">
            <a:extLst xmlns:a="http://schemas.openxmlformats.org/drawingml/2006/main">
              <a:ext uri="{FF2B5EF4-FFF2-40B4-BE49-F238E27FC236}">
                <a16:creationId xmlns:a16="http://schemas.microsoft.com/office/drawing/2014/main" id="{A0BAB93E-450D-4DDD-B16B-F47B7B8BF817}"/>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A2B"/>
                </a:solidFill>
                <a:latin typeface="Arial"/>
                <a:ea typeface="Arial"/>
                <a:cs typeface="Arial"/>
              </a:defRPr>
            </a:defPPr>
          </a:lstStyle>
          <a:p xmlns:a="http://schemas.openxmlformats.org/drawingml/2006/main">
            <a:pPr algn="l">
              <a:defRPr sz="3300" b="1">
                <a:solidFill>
                  <a:srgbClr val="152A2B"/>
                </a:solidFill>
                <a:latin typeface="Arial"/>
                <a:ea typeface="Arial"/>
                <a:cs typeface="Arial"/>
              </a:defRPr>
            </a:pPr>
            <a:r>
              <a:rPr sz="3300" b="1">
                <a:solidFill>
                  <a:srgbClr val="152A2B"/>
                </a:solidFill>
                <a:latin typeface="Arial"/>
                <a:ea typeface="Arial"/>
                <a:cs typeface="Arial"/>
              </a:rPr>
              <a:t>Execution status: local today, NVIDIA serving next</a:t>
            </a:r>
          </a:p>
        </p:txBody>
      </p:sp>
      <p:sp>
        <p:nvSpPr>
          <p:cNvPr id="3" name="">
            <a:extLst xmlns:a="http://schemas.openxmlformats.org/drawingml/2006/main">
              <a:ext uri="{FF2B5EF4-FFF2-40B4-BE49-F238E27FC236}">
                <a16:creationId xmlns:a16="http://schemas.microsoft.com/office/drawing/2014/main" id="{297913A7-4F52-4B5D-A029-B40641275BAC}"/>
              </a:ext>
            </a:extLst>
          </p:cNvPr>
          <p:cNvSpPr>
            <a:spLocks xmlns:a="http://schemas.openxmlformats.org/drawingml/2006/main" noGrp="1"/>
          </p:cNvSpPr>
          <p:nvPr/>
        </p:nvSpPr>
        <p:spPr>
          <a:xfrm xmlns:a="http://schemas.openxmlformats.org/drawingml/2006/main">
            <a:off x="11144250" y="64198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A6D6B"/>
                </a:solidFill>
                <a:latin typeface="Arial"/>
                <a:ea typeface="Arial"/>
                <a:cs typeface="Arial"/>
              </a:defRPr>
            </a:defPPr>
          </a:lstStyle>
          <a:p xmlns:a="http://schemas.openxmlformats.org/drawingml/2006/main">
            <a:pPr algn="r">
              <a:defRPr sz="1200" b="0">
                <a:solidFill>
                  <a:srgbClr val="5A6D6B"/>
                </a:solidFill>
                <a:latin typeface="Arial"/>
                <a:ea typeface="Arial"/>
                <a:cs typeface="Arial"/>
              </a:defRPr>
            </a:pPr>
            <a:r>
              <a:rPr sz="1200" b="0">
                <a:solidFill>
                  <a:srgbClr val="5A6D6B"/>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28A8CD12-03E7-4094-80E5-101A7E54E1DC}"/>
              </a:ext>
            </a:extLst>
          </p:cNvPr>
          <p:cNvSpPr>
            <a:spLocks xmlns:a="http://schemas.openxmlformats.org/drawingml/2006/main" noGrp="1"/>
          </p:cNvSpPr>
          <p:nvPr/>
        </p:nvSpPr>
        <p:spPr>
          <a:xfrm xmlns:a="http://schemas.openxmlformats.org/drawingml/2006/main">
            <a:off x="609600" y="1885950"/>
            <a:ext cx="200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07F7B"/>
                </a:solidFill>
                <a:latin typeface="Arial"/>
                <a:ea typeface="Arial"/>
                <a:cs typeface="Arial"/>
              </a:defRPr>
            </a:defPPr>
          </a:lstStyle>
          <a:p xmlns:a="http://schemas.openxmlformats.org/drawingml/2006/main">
            <a:pPr algn="l">
              <a:defRPr sz="1875" b="1">
                <a:solidFill>
                  <a:srgbClr val="007F7B"/>
                </a:solidFill>
                <a:latin typeface="Arial"/>
                <a:ea typeface="Arial"/>
                <a:cs typeface="Arial"/>
              </a:defRPr>
            </a:pPr>
            <a:r>
              <a:rPr sz="1875" b="1">
                <a:solidFill>
                  <a:srgbClr val="007F7B"/>
                </a:solidFill>
                <a:latin typeface="Arial"/>
                <a:ea typeface="Arial"/>
                <a:cs typeface="Arial"/>
              </a:rPr>
              <a:t>VERIFIED</a:t>
            </a:r>
          </a:p>
        </p:txBody>
      </p:sp>
      <p:sp>
        <p:nvSpPr>
          <p:cNvPr id="5" name="">
            <a:extLst xmlns:a="http://schemas.openxmlformats.org/drawingml/2006/main">
              <a:ext uri="{FF2B5EF4-FFF2-40B4-BE49-F238E27FC236}">
                <a16:creationId xmlns:a16="http://schemas.microsoft.com/office/drawing/2014/main" id="{BC036374-81F1-4DC2-9F16-5B1E54AE9568}"/>
              </a:ext>
            </a:extLst>
          </p:cNvPr>
          <p:cNvSpPr>
            <a:spLocks xmlns:a="http://schemas.openxmlformats.org/drawingml/2006/main" noGrp="1"/>
          </p:cNvSpPr>
          <p:nvPr/>
        </p:nvSpPr>
        <p:spPr>
          <a:xfrm xmlns:a="http://schemas.openxmlformats.org/drawingml/2006/main">
            <a:off x="2686050" y="1762125"/>
            <a:ext cx="2628900" cy="876300"/>
          </a:xfrm>
          <a:prstGeom xmlns:a="http://schemas.openxmlformats.org/drawingml/2006/main" prst="rect">
            <a:avLst/>
          </a:prstGeom>
          <a:solidFill xmlns:a="http://schemas.openxmlformats.org/drawingml/2006/main">
            <a:srgbClr val="E8F2D9"/>
          </a:solidFill>
          <a:ln xmlns:a="http://schemas.openxmlformats.org/drawingml/2006/main" w="14288">
            <a:solidFill>
              <a:srgbClr val="76B900"/>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Nemotron weights</a:t>
            </a:r>
          </a:p>
        </p:txBody>
      </p:sp>
      <p:sp>
        <p:nvSpPr>
          <p:cNvPr id="6" name="">
            <a:extLst xmlns:a="http://schemas.openxmlformats.org/drawingml/2006/main">
              <a:ext uri="{FF2B5EF4-FFF2-40B4-BE49-F238E27FC236}">
                <a16:creationId xmlns:a16="http://schemas.microsoft.com/office/drawing/2014/main" id="{D46EEF5C-FBA3-43A1-8BF5-8577691AE1BD}"/>
              </a:ext>
            </a:extLst>
          </p:cNvPr>
          <p:cNvSpPr>
            <a:spLocks xmlns:a="http://schemas.openxmlformats.org/drawingml/2006/main" noGrp="1"/>
          </p:cNvSpPr>
          <p:nvPr/>
        </p:nvSpPr>
        <p:spPr>
          <a:xfrm xmlns:a="http://schemas.openxmlformats.org/drawingml/2006/main">
            <a:off x="5905500" y="1762125"/>
            <a:ext cx="2628900"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Transformers</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Apple MPS</a:t>
            </a:r>
          </a:p>
        </p:txBody>
      </p:sp>
      <p:sp>
        <p:nvSpPr>
          <p:cNvPr id="7" name="">
            <a:extLst xmlns:a="http://schemas.openxmlformats.org/drawingml/2006/main">
              <a:ext uri="{FF2B5EF4-FFF2-40B4-BE49-F238E27FC236}">
                <a16:creationId xmlns:a16="http://schemas.microsoft.com/office/drawing/2014/main" id="{D562BF56-72B9-4E86-B168-EC78B5E672D5}"/>
              </a:ext>
            </a:extLst>
          </p:cNvPr>
          <p:cNvSpPr>
            <a:spLocks xmlns:a="http://schemas.openxmlformats.org/drawingml/2006/main" noGrp="1"/>
          </p:cNvSpPr>
          <p:nvPr/>
        </p:nvSpPr>
        <p:spPr>
          <a:xfrm xmlns:a="http://schemas.openxmlformats.org/drawingml/2006/main">
            <a:off x="9105900" y="1762125"/>
            <a:ext cx="2476500"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Local API + UI</a:t>
            </a:r>
          </a:p>
        </p:txBody>
      </p:sp>
      <p:sp>
        <p:nvSpPr>
          <p:cNvPr id="10" name="">
            <a:extLst xmlns:a="http://schemas.openxmlformats.org/drawingml/2006/main">
              <a:ext uri="{FF2B5EF4-FFF2-40B4-BE49-F238E27FC236}">
                <a16:creationId xmlns:a16="http://schemas.microsoft.com/office/drawing/2014/main" id="{5F67B437-CECE-4112-A6C2-5A0A8EC75F62}"/>
              </a:ext>
            </a:extLst>
          </p:cNvPr>
          <p:cNvSpPr>
            <a:spLocks xmlns:a="http://schemas.openxmlformats.org/drawingml/2006/main" noGrp="1"/>
          </p:cNvSpPr>
          <p:nvPr/>
        </p:nvSpPr>
        <p:spPr>
          <a:xfrm xmlns:a="http://schemas.openxmlformats.org/drawingml/2006/main">
            <a:off x="609600" y="3409950"/>
            <a:ext cx="200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5A6D6B"/>
                </a:solidFill>
                <a:latin typeface="Arial"/>
                <a:ea typeface="Arial"/>
                <a:cs typeface="Arial"/>
              </a:defRPr>
            </a:defPPr>
          </a:lstStyle>
          <a:p xmlns:a="http://schemas.openxmlformats.org/drawingml/2006/main">
            <a:pPr algn="l">
              <a:defRPr sz="1875" b="1">
                <a:solidFill>
                  <a:srgbClr val="5A6D6B"/>
                </a:solidFill>
                <a:latin typeface="Arial"/>
                <a:ea typeface="Arial"/>
                <a:cs typeface="Arial"/>
              </a:defRPr>
            </a:pPr>
            <a:r>
              <a:rPr sz="1875" b="1">
                <a:solidFill>
                  <a:srgbClr val="5A6D6B"/>
                </a:solidFill>
                <a:latin typeface="Arial"/>
                <a:ea typeface="Arial"/>
                <a:cs typeface="Arial"/>
              </a:rPr>
              <a:t>IMPLEMENTED</a:t>
            </a:r>
          </a:p>
          <a:p xmlns:a="http://schemas.openxmlformats.org/drawingml/2006/main">
            <a:pPr algn="l">
              <a:defRPr sz="1875" b="1">
                <a:solidFill>
                  <a:srgbClr val="5A6D6B"/>
                </a:solidFill>
                <a:latin typeface="Arial"/>
                <a:ea typeface="Arial"/>
                <a:cs typeface="Arial"/>
              </a:defRPr>
            </a:pPr>
            <a:r>
              <a:rPr sz="1875" b="1">
                <a:solidFill>
                  <a:srgbClr val="5A6D6B"/>
                </a:solidFill>
                <a:latin typeface="Arial"/>
                <a:ea typeface="Arial"/>
                <a:cs typeface="Arial"/>
              </a:rPr>
              <a:t>HPC run pending</a:t>
            </a:r>
          </a:p>
        </p:txBody>
      </p:sp>
      <p:sp>
        <p:nvSpPr>
          <p:cNvPr id="11" name="">
            <a:extLst xmlns:a="http://schemas.openxmlformats.org/drawingml/2006/main">
              <a:ext uri="{FF2B5EF4-FFF2-40B4-BE49-F238E27FC236}">
                <a16:creationId xmlns:a16="http://schemas.microsoft.com/office/drawing/2014/main" id="{2E36CC22-D1AD-4EA4-ACC6-993030845736}"/>
              </a:ext>
            </a:extLst>
          </p:cNvPr>
          <p:cNvSpPr>
            <a:spLocks xmlns:a="http://schemas.openxmlformats.org/drawingml/2006/main" noGrp="1"/>
          </p:cNvSpPr>
          <p:nvPr/>
        </p:nvSpPr>
        <p:spPr>
          <a:xfrm xmlns:a="http://schemas.openxmlformats.org/drawingml/2006/main">
            <a:off x="2686050" y="3333750"/>
            <a:ext cx="2628900"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Same revision</a:t>
            </a:r>
          </a:p>
        </p:txBody>
      </p:sp>
      <p:sp>
        <p:nvSpPr>
          <p:cNvPr id="12" name="">
            <a:extLst xmlns:a="http://schemas.openxmlformats.org/drawingml/2006/main">
              <a:ext uri="{FF2B5EF4-FFF2-40B4-BE49-F238E27FC236}">
                <a16:creationId xmlns:a16="http://schemas.microsoft.com/office/drawing/2014/main" id="{87123EB7-8696-4702-8BDE-B3435FA80B76}"/>
              </a:ext>
            </a:extLst>
          </p:cNvPr>
          <p:cNvSpPr>
            <a:spLocks xmlns:a="http://schemas.openxmlformats.org/drawingml/2006/main" noGrp="1"/>
          </p:cNvSpPr>
          <p:nvPr/>
        </p:nvSpPr>
        <p:spPr>
          <a:xfrm xmlns:a="http://schemas.openxmlformats.org/drawingml/2006/main">
            <a:off x="5905500" y="3333750"/>
            <a:ext cx="2628900"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vLLM + CUDA</a:t>
            </a:r>
          </a:p>
        </p:txBody>
      </p:sp>
      <p:sp>
        <p:nvSpPr>
          <p:cNvPr id="13" name="">
            <a:extLst xmlns:a="http://schemas.openxmlformats.org/drawingml/2006/main">
              <a:ext uri="{FF2B5EF4-FFF2-40B4-BE49-F238E27FC236}">
                <a16:creationId xmlns:a16="http://schemas.microsoft.com/office/drawing/2014/main" id="{E178964C-F937-4035-AB95-47ADD04AB370}"/>
              </a:ext>
            </a:extLst>
          </p:cNvPr>
          <p:cNvSpPr>
            <a:spLocks xmlns:a="http://schemas.openxmlformats.org/drawingml/2006/main" noGrp="1"/>
          </p:cNvSpPr>
          <p:nvPr/>
        </p:nvSpPr>
        <p:spPr>
          <a:xfrm xmlns:a="http://schemas.openxmlformats.org/drawingml/2006/main">
            <a:off x="9105900" y="3333750"/>
            <a:ext cx="2476500"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SLURM / A30</a:t>
            </a:r>
          </a:p>
        </p:txBody>
      </p:sp>
      <p:sp>
        <p:nvSpPr>
          <p:cNvPr id="16" name="">
            <a:extLst xmlns:a="http://schemas.openxmlformats.org/drawingml/2006/main">
              <a:ext uri="{FF2B5EF4-FFF2-40B4-BE49-F238E27FC236}">
                <a16:creationId xmlns:a16="http://schemas.microsoft.com/office/drawing/2014/main" id="{C4384435-CF21-4B05-8496-86312FE25B0D}"/>
              </a:ext>
            </a:extLst>
          </p:cNvPr>
          <p:cNvSpPr>
            <a:spLocks xmlns:a="http://schemas.openxmlformats.org/drawingml/2006/main" noGrp="1"/>
          </p:cNvSpPr>
          <p:nvPr/>
        </p:nvSpPr>
        <p:spPr>
          <a:xfrm xmlns:a="http://schemas.openxmlformats.org/drawingml/2006/main">
            <a:off x="609600" y="5038725"/>
            <a:ext cx="200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B6523"/>
                </a:solidFill>
                <a:latin typeface="Arial"/>
                <a:ea typeface="Arial"/>
                <a:cs typeface="Arial"/>
              </a:defRPr>
            </a:defPPr>
          </a:lstStyle>
          <a:p xmlns:a="http://schemas.openxmlformats.org/drawingml/2006/main">
            <a:pPr algn="l">
              <a:defRPr sz="1875" b="1">
                <a:solidFill>
                  <a:srgbClr val="9B6523"/>
                </a:solidFill>
                <a:latin typeface="Arial"/>
                <a:ea typeface="Arial"/>
                <a:cs typeface="Arial"/>
              </a:defRPr>
            </a:pPr>
            <a:r>
              <a:rPr sz="1875" b="1">
                <a:solidFill>
                  <a:srgbClr val="9B6523"/>
                </a:solidFill>
                <a:latin typeface="Arial"/>
                <a:ea typeface="Arial"/>
                <a:cs typeface="Arial"/>
              </a:rPr>
              <a:t>PROPOSED</a:t>
            </a:r>
          </a:p>
        </p:txBody>
      </p:sp>
      <p:sp>
        <p:nvSpPr>
          <p:cNvPr id="17" name="">
            <a:extLst xmlns:a="http://schemas.openxmlformats.org/drawingml/2006/main">
              <a:ext uri="{FF2B5EF4-FFF2-40B4-BE49-F238E27FC236}">
                <a16:creationId xmlns:a16="http://schemas.microsoft.com/office/drawing/2014/main" id="{A16C6785-A899-4884-AC18-21943DCCF2A3}"/>
              </a:ext>
            </a:extLst>
          </p:cNvPr>
          <p:cNvSpPr>
            <a:spLocks xmlns:a="http://schemas.openxmlformats.org/drawingml/2006/main" noGrp="1"/>
          </p:cNvSpPr>
          <p:nvPr/>
        </p:nvSpPr>
        <p:spPr>
          <a:xfrm xmlns:a="http://schemas.openxmlformats.org/drawingml/2006/main">
            <a:off x="2686050" y="4905375"/>
            <a:ext cx="2628900"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Serving adapter</a:t>
            </a:r>
          </a:p>
        </p:txBody>
      </p:sp>
      <p:sp>
        <p:nvSpPr>
          <p:cNvPr id="18" name="">
            <a:extLst xmlns:a="http://schemas.openxmlformats.org/drawingml/2006/main">
              <a:ext uri="{FF2B5EF4-FFF2-40B4-BE49-F238E27FC236}">
                <a16:creationId xmlns:a16="http://schemas.microsoft.com/office/drawing/2014/main" id="{DC796066-8A2E-4EBA-AA9B-0F010D2E958C}"/>
              </a:ext>
            </a:extLst>
          </p:cNvPr>
          <p:cNvSpPr>
            <a:spLocks xmlns:a="http://schemas.openxmlformats.org/drawingml/2006/main" noGrp="1"/>
          </p:cNvSpPr>
          <p:nvPr/>
        </p:nvSpPr>
        <p:spPr>
          <a:xfrm xmlns:a="http://schemas.openxmlformats.org/drawingml/2006/main">
            <a:off x="5905500" y="4905375"/>
            <a:ext cx="2628900" cy="876300"/>
          </a:xfrm>
          <a:prstGeom xmlns:a="http://schemas.openxmlformats.org/drawingml/2006/main" prst="rect">
            <a:avLst/>
          </a:prstGeom>
          <a:solidFill xmlns:a="http://schemas.openxmlformats.org/drawingml/2006/main">
            <a:srgbClr val="E8F2D9"/>
          </a:solidFill>
          <a:ln xmlns:a="http://schemas.openxmlformats.org/drawingml/2006/main" w="14288">
            <a:solidFill>
              <a:srgbClr val="76B900"/>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NVIDIA NIM</a:t>
            </a:r>
          </a:p>
        </p:txBody>
      </p:sp>
      <p:sp>
        <p:nvSpPr>
          <p:cNvPr id="19" name="">
            <a:extLst xmlns:a="http://schemas.openxmlformats.org/drawingml/2006/main">
              <a:ext uri="{FF2B5EF4-FFF2-40B4-BE49-F238E27FC236}">
                <a16:creationId xmlns:a16="http://schemas.microsoft.com/office/drawing/2014/main" id="{EE8326A7-ECF9-4186-92D7-619DF0EC5E9C}"/>
              </a:ext>
            </a:extLst>
          </p:cNvPr>
          <p:cNvSpPr>
            <a:spLocks xmlns:a="http://schemas.openxmlformats.org/drawingml/2006/main" noGrp="1"/>
          </p:cNvSpPr>
          <p:nvPr/>
        </p:nvSpPr>
        <p:spPr>
          <a:xfrm xmlns:a="http://schemas.openxmlformats.org/drawingml/2006/main">
            <a:off x="9105900" y="4905375"/>
            <a:ext cx="2476500"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Managed GPU</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endpoint</a:t>
            </a:r>
          </a:p>
        </p:txBody>
      </p:sp>
    </p:spTree>
    <p:extLst>
      <p:ext uri="{BB962C8B-B14F-4D97-AF65-F5344CB8AC3E}">
        <p14:creationId xmlns:p14="http://schemas.microsoft.com/office/powerpoint/2010/main" val="1179193353"/>
      </p:ext>
    </p:extLst>
  </p:cSld>
</p:sld>
</file>

<file path=ppt/slides/slide11.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9E4AC8AA-87B5-47C0-B980-4419A5E630B7}"/>
              </a:ext>
            </a:extLst>
          </p:cNvPr>
          <p:cNvCxnSpPr>
            <a:stCxn xmlns:a="http://schemas.openxmlformats.org/drawingml/2006/main" id="15" idx="3"/>
            <a:endCxn xmlns:a="http://schemas.openxmlformats.org/drawingml/2006/main" id="16" idx="1"/>
          </p:cNvCxnSpPr>
          <p:nvPr/>
        </p:nvCxnSpPr>
        <p:spPr>
          <a:xfrm xmlns:a="http://schemas.openxmlformats.org/drawingml/2006/main">
            <a:off x="8134350" y="4748213"/>
            <a:ext cx="781050"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D861288B-BD3C-427E-838A-F8292283A4E2}"/>
              </a:ext>
            </a:extLst>
          </p:cNvPr>
          <p:cNvCxnSpPr>
            <a:stCxn xmlns:a="http://schemas.openxmlformats.org/drawingml/2006/main" id="14" idx="3"/>
            <a:endCxn xmlns:a="http://schemas.openxmlformats.org/drawingml/2006/main" id="15" idx="1"/>
          </p:cNvCxnSpPr>
          <p:nvPr/>
        </p:nvCxnSpPr>
        <p:spPr>
          <a:xfrm xmlns:a="http://schemas.openxmlformats.org/drawingml/2006/main">
            <a:off x="4229100" y="4748213"/>
            <a:ext cx="742950"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5227E533-9580-46CA-AB85-1D3C1D0F0E3E}"/>
              </a:ext>
            </a:extLst>
          </p:cNvPr>
          <p:cNvCxnSpPr>
            <a:stCxn xmlns:a="http://schemas.openxmlformats.org/drawingml/2006/main" id="10" idx="3"/>
            <a:endCxn xmlns:a="http://schemas.openxmlformats.org/drawingml/2006/main" id="11" idx="1"/>
          </p:cNvCxnSpPr>
          <p:nvPr/>
        </p:nvCxnSpPr>
        <p:spPr>
          <a:xfrm xmlns:a="http://schemas.openxmlformats.org/drawingml/2006/main">
            <a:off x="8134350" y="3490913"/>
            <a:ext cx="781050"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12" name="">
            <a:extLst xmlns:a="http://schemas.openxmlformats.org/drawingml/2006/main">
              <a:ext uri="{FF2B5EF4-FFF2-40B4-BE49-F238E27FC236}">
                <a16:creationId xmlns:a16="http://schemas.microsoft.com/office/drawing/2014/main" id="{96981EE7-7981-48C0-8B4D-9EAAAF63FFBC}"/>
              </a:ext>
            </a:extLst>
          </p:cNvPr>
          <p:cNvCxnSpPr>
            <a:stCxn xmlns:a="http://schemas.openxmlformats.org/drawingml/2006/main" id="9" idx="3"/>
            <a:endCxn xmlns:a="http://schemas.openxmlformats.org/drawingml/2006/main" id="10" idx="1"/>
          </p:cNvCxnSpPr>
          <p:nvPr/>
        </p:nvCxnSpPr>
        <p:spPr>
          <a:xfrm xmlns:a="http://schemas.openxmlformats.org/drawingml/2006/main">
            <a:off x="4229100" y="3490913"/>
            <a:ext cx="742950"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22A9F6B2-46D9-4A28-84E8-5A153B94669C}"/>
              </a:ext>
            </a:extLst>
          </p:cNvPr>
          <p:cNvCxnSpPr>
            <a:stCxn xmlns:a="http://schemas.openxmlformats.org/drawingml/2006/main" id="5" idx="3"/>
            <a:endCxn xmlns:a="http://schemas.openxmlformats.org/drawingml/2006/main" id="6" idx="1"/>
          </p:cNvCxnSpPr>
          <p:nvPr/>
        </p:nvCxnSpPr>
        <p:spPr>
          <a:xfrm xmlns:a="http://schemas.openxmlformats.org/drawingml/2006/main">
            <a:off x="8134350" y="2233613"/>
            <a:ext cx="781050"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BF313FAC-DA33-4D1B-B4A0-689A22FD1B04}"/>
              </a:ext>
            </a:extLst>
          </p:cNvPr>
          <p:cNvCxnSpPr>
            <a:stCxn xmlns:a="http://schemas.openxmlformats.org/drawingml/2006/main" id="4" idx="3"/>
            <a:endCxn xmlns:a="http://schemas.openxmlformats.org/drawingml/2006/main" id="5" idx="1"/>
          </p:cNvCxnSpPr>
          <p:nvPr/>
        </p:nvCxnSpPr>
        <p:spPr>
          <a:xfrm xmlns:a="http://schemas.openxmlformats.org/drawingml/2006/main">
            <a:off x="4229100" y="2233613"/>
            <a:ext cx="742950"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sp>
        <p:nvSpPr>
          <p:cNvPr id="21" name="">
            <a:extLst xmlns:a="http://schemas.openxmlformats.org/drawingml/2006/main">
              <a:ext uri="{FF2B5EF4-FFF2-40B4-BE49-F238E27FC236}">
                <a16:creationId xmlns:a16="http://schemas.microsoft.com/office/drawing/2014/main" id="{80CB9558-014D-496E-95D2-77A387DB6C62}"/>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F7B"/>
                </a:solidFill>
                <a:latin typeface="Arial"/>
                <a:ea typeface="Arial"/>
                <a:cs typeface="Arial"/>
              </a:defRPr>
            </a:defPPr>
          </a:lstStyle>
          <a:p xmlns:a="http://schemas.openxmlformats.org/drawingml/2006/main">
            <a:pPr algn="l">
              <a:defRPr sz="1350" b="1">
                <a:solidFill>
                  <a:srgbClr val="007F7B"/>
                </a:solidFill>
                <a:latin typeface="Arial"/>
                <a:ea typeface="Arial"/>
                <a:cs typeface="Arial"/>
              </a:defRPr>
            </a:pPr>
            <a:r>
              <a:rPr sz="1350" b="1">
                <a:solidFill>
                  <a:srgbClr val="007F7B"/>
                </a:solidFill>
                <a:latin typeface="Arial"/>
                <a:ea typeface="Arial"/>
                <a:cs typeface="Arial"/>
              </a:rPr>
              <a:t>02  NEMOTRON GENERATION</a:t>
            </a:r>
          </a:p>
        </p:txBody>
      </p:sp>
      <p:sp>
        <p:nvSpPr>
          <p:cNvPr id="2" name="">
            <a:extLst xmlns:a="http://schemas.openxmlformats.org/drawingml/2006/main">
              <a:ext uri="{FF2B5EF4-FFF2-40B4-BE49-F238E27FC236}">
                <a16:creationId xmlns:a16="http://schemas.microsoft.com/office/drawing/2014/main" id="{3A49656C-3F10-41F1-AC1C-EC1F682C8174}"/>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A2B"/>
                </a:solidFill>
                <a:latin typeface="Arial"/>
                <a:ea typeface="Arial"/>
                <a:cs typeface="Arial"/>
              </a:defRPr>
            </a:defPPr>
          </a:lstStyle>
          <a:p xmlns:a="http://schemas.openxmlformats.org/drawingml/2006/main">
            <a:pPr algn="l">
              <a:defRPr sz="3300" b="1">
                <a:solidFill>
                  <a:srgbClr val="152A2B"/>
                </a:solidFill>
                <a:latin typeface="Arial"/>
                <a:ea typeface="Arial"/>
                <a:cs typeface="Arial"/>
              </a:defRPr>
            </a:pPr>
            <a:r>
              <a:rPr sz="3300" b="1">
                <a:solidFill>
                  <a:srgbClr val="152A2B"/>
                </a:solidFill>
                <a:latin typeface="Arial"/>
                <a:ea typeface="Arial"/>
                <a:cs typeface="Arial"/>
              </a:rPr>
              <a:t>Three focused generations produce one report</a:t>
            </a:r>
          </a:p>
        </p:txBody>
      </p:sp>
      <p:sp>
        <p:nvSpPr>
          <p:cNvPr id="3" name="">
            <a:extLst xmlns:a="http://schemas.openxmlformats.org/drawingml/2006/main">
              <a:ext uri="{FF2B5EF4-FFF2-40B4-BE49-F238E27FC236}">
                <a16:creationId xmlns:a16="http://schemas.microsoft.com/office/drawing/2014/main" id="{D3338B4F-159F-4C3B-A22E-F98EFB0D617B}"/>
              </a:ext>
            </a:extLst>
          </p:cNvPr>
          <p:cNvSpPr>
            <a:spLocks xmlns:a="http://schemas.openxmlformats.org/drawingml/2006/main" noGrp="1"/>
          </p:cNvSpPr>
          <p:nvPr/>
        </p:nvSpPr>
        <p:spPr>
          <a:xfrm xmlns:a="http://schemas.openxmlformats.org/drawingml/2006/main">
            <a:off x="11144250" y="64198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A6D6B"/>
                </a:solidFill>
                <a:latin typeface="Arial"/>
                <a:ea typeface="Arial"/>
                <a:cs typeface="Arial"/>
              </a:defRPr>
            </a:defPPr>
          </a:lstStyle>
          <a:p xmlns:a="http://schemas.openxmlformats.org/drawingml/2006/main">
            <a:pPr algn="r">
              <a:defRPr sz="1200" b="0">
                <a:solidFill>
                  <a:srgbClr val="5A6D6B"/>
                </a:solidFill>
                <a:latin typeface="Arial"/>
                <a:ea typeface="Arial"/>
                <a:cs typeface="Arial"/>
              </a:defRPr>
            </a:pPr>
            <a:r>
              <a:rPr sz="1200" b="0">
                <a:solidFill>
                  <a:srgbClr val="5A6D6B"/>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E7978189-A44B-490D-85C6-9592FE65E024}"/>
              </a:ext>
            </a:extLst>
          </p:cNvPr>
          <p:cNvSpPr>
            <a:spLocks xmlns:a="http://schemas.openxmlformats.org/drawingml/2006/main" noGrp="1"/>
          </p:cNvSpPr>
          <p:nvPr/>
        </p:nvSpPr>
        <p:spPr>
          <a:xfrm xmlns:a="http://schemas.openxmlformats.org/drawingml/2006/main">
            <a:off x="609600" y="1828800"/>
            <a:ext cx="3619500" cy="809625"/>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1875" b="1">
                <a:solidFill>
                  <a:srgbClr val="152A2B"/>
                </a:solidFill>
                <a:latin typeface="Arial"/>
                <a:ea typeface="Arial"/>
                <a:cs typeface="Arial"/>
              </a:defRPr>
            </a:defPPr>
          </a:lstStyle>
          <a:p xmlns:a="http://schemas.openxmlformats.org/drawingml/2006/main">
            <a:pPr algn="ctr">
              <a:defRPr sz="1875" b="1">
                <a:solidFill>
                  <a:srgbClr val="152A2B"/>
                </a:solidFill>
                <a:latin typeface="Arial"/>
                <a:ea typeface="Arial"/>
                <a:cs typeface="Arial"/>
              </a:defRPr>
            </a:pPr>
            <a:r>
              <a:rPr sz="1875" b="1">
                <a:solidFill>
                  <a:srgbClr val="152A2B"/>
                </a:solidFill>
                <a:latin typeface="Arial"/>
                <a:ea typeface="Arial"/>
                <a:cs typeface="Arial"/>
              </a:rPr>
              <a:t>situation + hypothesis</a:t>
            </a:r>
          </a:p>
        </p:txBody>
      </p:sp>
      <p:sp>
        <p:nvSpPr>
          <p:cNvPr id="5" name="">
            <a:extLst xmlns:a="http://schemas.openxmlformats.org/drawingml/2006/main">
              <a:ext uri="{FF2B5EF4-FFF2-40B4-BE49-F238E27FC236}">
                <a16:creationId xmlns:a16="http://schemas.microsoft.com/office/drawing/2014/main" id="{19511CF4-19B0-44EB-9EE8-8F8425811AE3}"/>
              </a:ext>
            </a:extLst>
          </p:cNvPr>
          <p:cNvSpPr>
            <a:spLocks xmlns:a="http://schemas.openxmlformats.org/drawingml/2006/main" noGrp="1"/>
          </p:cNvSpPr>
          <p:nvPr/>
        </p:nvSpPr>
        <p:spPr>
          <a:xfrm xmlns:a="http://schemas.openxmlformats.org/drawingml/2006/main">
            <a:off x="4972050" y="1828800"/>
            <a:ext cx="3162300" cy="809625"/>
          </a:xfrm>
          <a:prstGeom xmlns:a="http://schemas.openxmlformats.org/drawingml/2006/main" prst="rect">
            <a:avLst/>
          </a:prstGeom>
          <a:solidFill xmlns:a="http://schemas.openxmlformats.org/drawingml/2006/main">
            <a:srgbClr val="E8F2D9"/>
          </a:solidFill>
          <a:ln xmlns:a="http://schemas.openxmlformats.org/drawingml/2006/main" w="14288">
            <a:solidFill>
              <a:srgbClr val="76B900"/>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Prediction summary</a:t>
            </a:r>
          </a:p>
        </p:txBody>
      </p:sp>
      <p:sp>
        <p:nvSpPr>
          <p:cNvPr id="6" name="">
            <a:extLst xmlns:a="http://schemas.openxmlformats.org/drawingml/2006/main">
              <a:ext uri="{FF2B5EF4-FFF2-40B4-BE49-F238E27FC236}">
                <a16:creationId xmlns:a16="http://schemas.microsoft.com/office/drawing/2014/main" id="{D6815975-DA46-445F-9FB0-EE598D88CE03}"/>
              </a:ext>
            </a:extLst>
          </p:cNvPr>
          <p:cNvSpPr>
            <a:spLocks xmlns:a="http://schemas.openxmlformats.org/drawingml/2006/main" noGrp="1"/>
          </p:cNvSpPr>
          <p:nvPr/>
        </p:nvSpPr>
        <p:spPr>
          <a:xfrm xmlns:a="http://schemas.openxmlformats.org/drawingml/2006/main">
            <a:off x="8915400" y="1828800"/>
            <a:ext cx="2667000" cy="809625"/>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{"text": "…"}</a:t>
            </a:r>
          </a:p>
        </p:txBody>
      </p:sp>
      <p:sp>
        <p:nvSpPr>
          <p:cNvPr id="9" name="">
            <a:extLst xmlns:a="http://schemas.openxmlformats.org/drawingml/2006/main">
              <a:ext uri="{FF2B5EF4-FFF2-40B4-BE49-F238E27FC236}">
                <a16:creationId xmlns:a16="http://schemas.microsoft.com/office/drawing/2014/main" id="{382A78B2-9569-44CF-9233-3796D4F67586}"/>
              </a:ext>
            </a:extLst>
          </p:cNvPr>
          <p:cNvSpPr>
            <a:spLocks xmlns:a="http://schemas.openxmlformats.org/drawingml/2006/main" noGrp="1"/>
          </p:cNvSpPr>
          <p:nvPr/>
        </p:nvSpPr>
        <p:spPr>
          <a:xfrm xmlns:a="http://schemas.openxmlformats.org/drawingml/2006/main">
            <a:off x="609600" y="3086100"/>
            <a:ext cx="3619500" cy="809625"/>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1875" b="1">
                <a:solidFill>
                  <a:srgbClr val="152A2B"/>
                </a:solidFill>
                <a:latin typeface="Arial"/>
                <a:ea typeface="Arial"/>
                <a:cs typeface="Arial"/>
              </a:defRPr>
            </a:defPPr>
          </a:lstStyle>
          <a:p xmlns:a="http://schemas.openxmlformats.org/drawingml/2006/main">
            <a:pPr algn="ctr">
              <a:defRPr sz="1875" b="1">
                <a:solidFill>
                  <a:srgbClr val="152A2B"/>
                </a:solidFill>
                <a:latin typeface="Arial"/>
                <a:ea typeface="Arial"/>
                <a:cs typeface="Arial"/>
              </a:defRPr>
            </a:pPr>
            <a:r>
              <a:rPr sz="1875" b="1">
                <a:solidFill>
                  <a:srgbClr val="152A2B"/>
                </a:solidFill>
                <a:latin typeface="Arial"/>
                <a:ea typeface="Arial"/>
                <a:cs typeface="Arial"/>
              </a:rPr>
              <a:t>top 3 clinical features + gist</a:t>
            </a:r>
          </a:p>
        </p:txBody>
      </p:sp>
      <p:sp>
        <p:nvSpPr>
          <p:cNvPr id="10" name="">
            <a:extLst xmlns:a="http://schemas.openxmlformats.org/drawingml/2006/main">
              <a:ext uri="{FF2B5EF4-FFF2-40B4-BE49-F238E27FC236}">
                <a16:creationId xmlns:a16="http://schemas.microsoft.com/office/drawing/2014/main" id="{273B7A4D-7FFB-4D86-AA0F-EE2F7C999876}"/>
              </a:ext>
            </a:extLst>
          </p:cNvPr>
          <p:cNvSpPr>
            <a:spLocks xmlns:a="http://schemas.openxmlformats.org/drawingml/2006/main" noGrp="1"/>
          </p:cNvSpPr>
          <p:nvPr/>
        </p:nvSpPr>
        <p:spPr>
          <a:xfrm xmlns:a="http://schemas.openxmlformats.org/drawingml/2006/main">
            <a:off x="4972050" y="3086100"/>
            <a:ext cx="3162300" cy="809625"/>
          </a:xfrm>
          <a:prstGeom xmlns:a="http://schemas.openxmlformats.org/drawingml/2006/main" prst="rect">
            <a:avLst/>
          </a:prstGeom>
          <a:solidFill xmlns:a="http://schemas.openxmlformats.org/drawingml/2006/main">
            <a:srgbClr val="E8F2D9"/>
          </a:solidFill>
          <a:ln xmlns:a="http://schemas.openxmlformats.org/drawingml/2006/main" w="14288">
            <a:solidFill>
              <a:srgbClr val="76B900"/>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Clinical interpretation</a:t>
            </a:r>
          </a:p>
        </p:txBody>
      </p:sp>
      <p:sp>
        <p:nvSpPr>
          <p:cNvPr id="11" name="">
            <a:extLst xmlns:a="http://schemas.openxmlformats.org/drawingml/2006/main">
              <a:ext uri="{FF2B5EF4-FFF2-40B4-BE49-F238E27FC236}">
                <a16:creationId xmlns:a16="http://schemas.microsoft.com/office/drawing/2014/main" id="{07982BE2-A22C-4FA1-8594-F468E40CAEEB}"/>
              </a:ext>
            </a:extLst>
          </p:cNvPr>
          <p:cNvSpPr>
            <a:spLocks xmlns:a="http://schemas.openxmlformats.org/drawingml/2006/main" noGrp="1"/>
          </p:cNvSpPr>
          <p:nvPr/>
        </p:nvSpPr>
        <p:spPr>
          <a:xfrm xmlns:a="http://schemas.openxmlformats.org/drawingml/2006/main">
            <a:off x="8915400" y="3086100"/>
            <a:ext cx="2667000" cy="809625"/>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{"text": "…"}</a:t>
            </a:r>
          </a:p>
        </p:txBody>
      </p:sp>
      <p:sp>
        <p:nvSpPr>
          <p:cNvPr id="14" name="">
            <a:extLst xmlns:a="http://schemas.openxmlformats.org/drawingml/2006/main">
              <a:ext uri="{FF2B5EF4-FFF2-40B4-BE49-F238E27FC236}">
                <a16:creationId xmlns:a16="http://schemas.microsoft.com/office/drawing/2014/main" id="{180CAB09-D4FC-4D7D-BA09-9DCCE12DC28A}"/>
              </a:ext>
            </a:extLst>
          </p:cNvPr>
          <p:cNvSpPr>
            <a:spLocks xmlns:a="http://schemas.openxmlformats.org/drawingml/2006/main" noGrp="1"/>
          </p:cNvSpPr>
          <p:nvPr/>
        </p:nvSpPr>
        <p:spPr>
          <a:xfrm xmlns:a="http://schemas.openxmlformats.org/drawingml/2006/main">
            <a:off x="609600" y="4343400"/>
            <a:ext cx="3619500" cy="809625"/>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1875" b="1">
                <a:solidFill>
                  <a:srgbClr val="152A2B"/>
                </a:solidFill>
                <a:latin typeface="Arial"/>
                <a:ea typeface="Arial"/>
                <a:cs typeface="Arial"/>
              </a:defRPr>
            </a:defPPr>
          </a:lstStyle>
          <a:p xmlns:a="http://schemas.openxmlformats.org/drawingml/2006/main">
            <a:pPr algn="ctr">
              <a:defRPr sz="1875" b="1">
                <a:solidFill>
                  <a:srgbClr val="152A2B"/>
                </a:solidFill>
                <a:latin typeface="Arial"/>
                <a:ea typeface="Arial"/>
                <a:cs typeface="Arial"/>
              </a:defRPr>
            </a:pPr>
            <a:r>
              <a:rPr sz="1875" b="1">
                <a:solidFill>
                  <a:srgbClr val="152A2B"/>
                </a:solidFill>
                <a:latin typeface="Arial"/>
                <a:ea typeface="Arial"/>
                <a:cs typeface="Arial"/>
              </a:rPr>
              <a:t>situation + hypothesis</a:t>
            </a:r>
          </a:p>
        </p:txBody>
      </p:sp>
      <p:sp>
        <p:nvSpPr>
          <p:cNvPr id="15" name="">
            <a:extLst xmlns:a="http://schemas.openxmlformats.org/drawingml/2006/main">
              <a:ext uri="{FF2B5EF4-FFF2-40B4-BE49-F238E27FC236}">
                <a16:creationId xmlns:a16="http://schemas.microsoft.com/office/drawing/2014/main" id="{DC1CABA4-CBE1-4C39-B3E6-7E1392833D2B}"/>
              </a:ext>
            </a:extLst>
          </p:cNvPr>
          <p:cNvSpPr>
            <a:spLocks xmlns:a="http://schemas.openxmlformats.org/drawingml/2006/main" noGrp="1"/>
          </p:cNvSpPr>
          <p:nvPr/>
        </p:nvSpPr>
        <p:spPr>
          <a:xfrm xmlns:a="http://schemas.openxmlformats.org/drawingml/2006/main">
            <a:off x="4972050" y="4343400"/>
            <a:ext cx="3162300" cy="809625"/>
          </a:xfrm>
          <a:prstGeom xmlns:a="http://schemas.openxmlformats.org/drawingml/2006/main" prst="rect">
            <a:avLst/>
          </a:prstGeom>
          <a:solidFill xmlns:a="http://schemas.openxmlformats.org/drawingml/2006/main">
            <a:srgbClr val="E8F2D9"/>
          </a:solidFill>
          <a:ln xmlns:a="http://schemas.openxmlformats.org/drawingml/2006/main" w="14288">
            <a:solidFill>
              <a:srgbClr val="76B900"/>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1350DF0E-7789-41A3-B7B7-05AFD51A09B2}"/>
              </a:ext>
            </a:extLst>
          </p:cNvPr>
          <p:cNvSpPr>
            <a:spLocks xmlns:a="http://schemas.openxmlformats.org/drawingml/2006/main" noGrp="1"/>
          </p:cNvSpPr>
          <p:nvPr/>
        </p:nvSpPr>
        <p:spPr>
          <a:xfrm xmlns:a="http://schemas.openxmlformats.org/drawingml/2006/main">
            <a:off x="8915400" y="4343400"/>
            <a:ext cx="2667000" cy="809625"/>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{"text": "…"}</a:t>
            </a:r>
          </a:p>
        </p:txBody>
      </p:sp>
      <p:sp>
        <p:nvSpPr>
          <p:cNvPr id="19" name="">
            <a:extLst xmlns:a="http://schemas.openxmlformats.org/drawingml/2006/main">
              <a:ext uri="{FF2B5EF4-FFF2-40B4-BE49-F238E27FC236}">
                <a16:creationId xmlns:a16="http://schemas.microsoft.com/office/drawing/2014/main" id="{884226A4-4A5A-495C-B8C6-DB3B91B7ABD2}"/>
              </a:ext>
            </a:extLst>
          </p:cNvPr>
          <p:cNvSpPr>
            <a:spLocks xmlns:a="http://schemas.openxmlformats.org/drawingml/2006/main" noGrp="1"/>
          </p:cNvSpPr>
          <p:nvPr/>
        </p:nvSpPr>
        <p:spPr>
          <a:xfrm xmlns:a="http://schemas.openxmlformats.org/drawingml/2006/main">
            <a:off x="609600" y="54768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07F7B"/>
                </a:solidFill>
                <a:latin typeface="Arial"/>
                <a:ea typeface="Arial"/>
                <a:cs typeface="Arial"/>
              </a:defRPr>
            </a:defPPr>
          </a:lstStyle>
          <a:p xmlns:a="http://schemas.openxmlformats.org/drawingml/2006/main">
            <a:pPr algn="l">
              <a:defRPr sz="1725" b="0">
                <a:solidFill>
                  <a:srgbClr val="007F7B"/>
                </a:solidFill>
                <a:latin typeface="Arial"/>
                <a:ea typeface="Arial"/>
                <a:cs typeface="Arial"/>
              </a:defRPr>
            </a:pPr>
            <a:r>
              <a:rPr sz="1725" b="0">
                <a:solidFill>
                  <a:srgbClr val="007F7B"/>
                </a:solidFill>
                <a:latin typeface="Arial"/>
                <a:ea typeface="Arial"/>
                <a:cs typeface="Arial"/>
              </a:rPr>
              <a:t>4B parameters     4,096-token context     Up to 200 new tokens per part</a:t>
            </a:r>
          </a:p>
        </p:txBody>
      </p:sp>
      <p:sp>
        <p:nvSpPr>
          <p:cNvPr id="20" name="">
            <a:extLst xmlns:a="http://schemas.openxmlformats.org/drawingml/2006/main">
              <a:ext uri="{FF2B5EF4-FFF2-40B4-BE49-F238E27FC236}">
                <a16:creationId xmlns:a16="http://schemas.microsoft.com/office/drawing/2014/main" id="{1E4539B8-DE4C-4FC5-B519-97FF741A9A39}"/>
              </a:ext>
            </a:extLst>
          </p:cNvPr>
          <p:cNvSpPr>
            <a:spLocks xmlns:a="http://schemas.openxmlformats.org/drawingml/2006/main" noGrp="1"/>
          </p:cNvSpPr>
          <p:nvPr/>
        </p:nvSpPr>
        <p:spPr>
          <a:xfrm xmlns:a="http://schemas.openxmlformats.org/drawingml/2006/main">
            <a:off x="609600" y="60102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A6D6B"/>
                </a:solidFill>
                <a:latin typeface="Arial"/>
                <a:ea typeface="Arial"/>
                <a:cs typeface="Arial"/>
              </a:defRPr>
            </a:defPPr>
          </a:lstStyle>
          <a:p xmlns:a="http://schemas.openxmlformats.org/drawingml/2006/main">
            <a:pPr algn="l">
              <a:defRPr sz="1575" b="0">
                <a:solidFill>
                  <a:srgbClr val="5A6D6B"/>
                </a:solidFill>
                <a:latin typeface="Arial"/>
                <a:ea typeface="Arial"/>
                <a:cs typeface="Arial"/>
              </a:defRPr>
            </a:pPr>
            <a:r>
              <a:rPr sz="1575" b="0">
                <a:solidFill>
                  <a:srgbClr val="5A6D6B"/>
                </a:solidFill>
                <a:latin typeface="Arial"/>
                <a:ea typeface="Arial"/>
                <a:cs typeface="Arial"/>
              </a:rPr>
              <a:t>5 patients × 3 report parts = 15 generations  /  One shared Nemotron model</a:t>
            </a:r>
          </a:p>
        </p:txBody>
      </p:sp>
    </p:spTree>
    <p:extLst>
      <p:ext uri="{BB962C8B-B14F-4D97-AF65-F5344CB8AC3E}">
        <p14:creationId xmlns:p14="http://schemas.microsoft.com/office/powerpoint/2010/main" val="410610289"/>
      </p:ext>
    </p:extLst>
  </p:cSld>
</p:sld>
</file>

<file path=ppt/slides/slide12.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DCC06081-D8F9-49CA-B56A-F6B23CFA4B49}"/>
              </a:ext>
            </a:extLst>
          </p:cNvPr>
          <p:cNvCxnSpPr>
            <a:stCxn xmlns:a="http://schemas.openxmlformats.org/drawingml/2006/main" id="10" idx="3"/>
            <a:endCxn xmlns:a="http://schemas.openxmlformats.org/drawingml/2006/main" id="13" idx="1"/>
          </p:cNvCxnSpPr>
          <p:nvPr/>
        </p:nvCxnSpPr>
        <p:spPr>
          <a:xfrm xmlns:a="http://schemas.openxmlformats.org/drawingml/2006/main">
            <a:off x="7781925" y="4705350"/>
            <a:ext cx="942975"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14" name="">
            <a:extLst xmlns:a="http://schemas.openxmlformats.org/drawingml/2006/main">
              <a:ext uri="{FF2B5EF4-FFF2-40B4-BE49-F238E27FC236}">
                <a16:creationId xmlns:a16="http://schemas.microsoft.com/office/drawing/2014/main" id="{5BDCC722-47E9-4206-9EA6-0D2A97ED76D0}"/>
              </a:ext>
            </a:extLst>
          </p:cNvPr>
          <p:cNvCxnSpPr>
            <a:stCxn xmlns:a="http://schemas.openxmlformats.org/drawingml/2006/main" id="6" idx="2"/>
            <a:endCxn xmlns:a="http://schemas.openxmlformats.org/drawingml/2006/main" id="13" idx="0"/>
          </p:cNvCxnSpPr>
          <p:nvPr/>
        </p:nvCxnSpPr>
        <p:spPr>
          <a:xfrm xmlns:a="http://schemas.openxmlformats.org/drawingml/2006/main">
            <a:off x="10153650" y="2828925"/>
            <a:ext cx="0" cy="137160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152BC03B-51EF-454E-A7CA-ED63E2050DDD}"/>
              </a:ext>
            </a:extLst>
          </p:cNvPr>
          <p:cNvCxnSpPr>
            <a:stCxn xmlns:a="http://schemas.openxmlformats.org/drawingml/2006/main" id="5" idx="2"/>
            <a:endCxn xmlns:a="http://schemas.openxmlformats.org/drawingml/2006/main" id="10" idx="0"/>
          </p:cNvCxnSpPr>
          <p:nvPr/>
        </p:nvCxnSpPr>
        <p:spPr>
          <a:xfrm xmlns:a="http://schemas.openxmlformats.org/drawingml/2006/main">
            <a:off x="6096000" y="2828925"/>
            <a:ext cx="0" cy="1371600"/>
          </a:xfrm>
          <a:prstGeom xmlns:a="http://schemas.openxmlformats.org/drawingml/2006/main" prst="straightConnector1">
            <a:avLst/>
          </a:prstGeom>
          <a:ln xmlns:a="http://schemas.openxmlformats.org/drawingml/2006/main" w="23813">
            <a:solidFill>
              <a:srgbClr val="9B6523"/>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FC358876-D7FE-46AD-8904-33774E3327C4}"/>
              </a:ext>
            </a:extLst>
          </p:cNvPr>
          <p:cNvCxnSpPr>
            <a:stCxn xmlns:a="http://schemas.openxmlformats.org/drawingml/2006/main" id="5" idx="3"/>
            <a:endCxn xmlns:a="http://schemas.openxmlformats.org/drawingml/2006/main" id="6" idx="1"/>
          </p:cNvCxnSpPr>
          <p:nvPr/>
        </p:nvCxnSpPr>
        <p:spPr>
          <a:xfrm xmlns:a="http://schemas.openxmlformats.org/drawingml/2006/main">
            <a:off x="7781925" y="2371725"/>
            <a:ext cx="942975"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A36FCB91-376F-4FD7-B567-E6224A70183B}"/>
              </a:ext>
            </a:extLst>
          </p:cNvPr>
          <p:cNvCxnSpPr>
            <a:stCxn xmlns:a="http://schemas.openxmlformats.org/drawingml/2006/main" id="4" idx="3"/>
            <a:endCxn xmlns:a="http://schemas.openxmlformats.org/drawingml/2006/main" id="5" idx="1"/>
          </p:cNvCxnSpPr>
          <p:nvPr/>
        </p:nvCxnSpPr>
        <p:spPr>
          <a:xfrm xmlns:a="http://schemas.openxmlformats.org/drawingml/2006/main">
            <a:off x="3467100" y="2371725"/>
            <a:ext cx="942975"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sp>
        <p:nvSpPr>
          <p:cNvPr id="17" name="">
            <a:extLst xmlns:a="http://schemas.openxmlformats.org/drawingml/2006/main">
              <a:ext uri="{FF2B5EF4-FFF2-40B4-BE49-F238E27FC236}">
                <a16:creationId xmlns:a16="http://schemas.microsoft.com/office/drawing/2014/main" id="{742439FB-465F-40F3-BA5B-36A33D50AEF2}"/>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F7B"/>
                </a:solidFill>
                <a:latin typeface="Arial"/>
                <a:ea typeface="Arial"/>
                <a:cs typeface="Arial"/>
              </a:defRPr>
            </a:defPPr>
          </a:lstStyle>
          <a:p xmlns:a="http://schemas.openxmlformats.org/drawingml/2006/main">
            <a:pPr algn="l">
              <a:defRPr sz="1350" b="1">
                <a:solidFill>
                  <a:srgbClr val="007F7B"/>
                </a:solidFill>
                <a:latin typeface="Arial"/>
                <a:ea typeface="Arial"/>
                <a:cs typeface="Arial"/>
              </a:defRPr>
            </a:pPr>
            <a:r>
              <a:rPr sz="1350" b="1">
                <a:solidFill>
                  <a:srgbClr val="007F7B"/>
                </a:solidFill>
                <a:latin typeface="Arial"/>
                <a:ea typeface="Arial"/>
                <a:cs typeface="Arial"/>
              </a:rPr>
              <a:t>02  EXECUTION HARNESS</a:t>
            </a:r>
          </a:p>
        </p:txBody>
      </p:sp>
      <p:sp>
        <p:nvSpPr>
          <p:cNvPr id="2" name="">
            <a:extLst xmlns:a="http://schemas.openxmlformats.org/drawingml/2006/main">
              <a:ext uri="{FF2B5EF4-FFF2-40B4-BE49-F238E27FC236}">
                <a16:creationId xmlns:a16="http://schemas.microsoft.com/office/drawing/2014/main" id="{BBD5682E-46F9-40A0-AF23-8BBE2ED1D8A9}"/>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A2B"/>
                </a:solidFill>
                <a:latin typeface="Arial"/>
                <a:ea typeface="Arial"/>
                <a:cs typeface="Arial"/>
              </a:defRPr>
            </a:defPPr>
          </a:lstStyle>
          <a:p xmlns:a="http://schemas.openxmlformats.org/drawingml/2006/main">
            <a:pPr algn="l">
              <a:defRPr sz="3300" b="1">
                <a:solidFill>
                  <a:srgbClr val="152A2B"/>
                </a:solidFill>
                <a:latin typeface="Arial"/>
                <a:ea typeface="Arial"/>
                <a:cs typeface="Arial"/>
              </a:defRPr>
            </a:pPr>
            <a:r>
              <a:rPr sz="3300" b="1">
                <a:solidFill>
                  <a:srgbClr val="152A2B"/>
                </a:solidFill>
                <a:latin typeface="Arial"/>
                <a:ea typeface="Arial"/>
                <a:cs typeface="Arial"/>
              </a:rPr>
              <a:t>The harness controls what reaches the report</a:t>
            </a:r>
          </a:p>
        </p:txBody>
      </p:sp>
      <p:sp>
        <p:nvSpPr>
          <p:cNvPr id="3" name="">
            <a:extLst xmlns:a="http://schemas.openxmlformats.org/drawingml/2006/main">
              <a:ext uri="{FF2B5EF4-FFF2-40B4-BE49-F238E27FC236}">
                <a16:creationId xmlns:a16="http://schemas.microsoft.com/office/drawing/2014/main" id="{3DEFADBF-21EA-4CE1-830B-49A469110256}"/>
              </a:ext>
            </a:extLst>
          </p:cNvPr>
          <p:cNvSpPr>
            <a:spLocks xmlns:a="http://schemas.openxmlformats.org/drawingml/2006/main" noGrp="1"/>
          </p:cNvSpPr>
          <p:nvPr/>
        </p:nvSpPr>
        <p:spPr>
          <a:xfrm xmlns:a="http://schemas.openxmlformats.org/drawingml/2006/main">
            <a:off x="11144250" y="64198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A6D6B"/>
                </a:solidFill>
                <a:latin typeface="Arial"/>
                <a:ea typeface="Arial"/>
                <a:cs typeface="Arial"/>
              </a:defRPr>
            </a:defPPr>
          </a:lstStyle>
          <a:p xmlns:a="http://schemas.openxmlformats.org/drawingml/2006/main">
            <a:pPr algn="r">
              <a:defRPr sz="1200" b="0">
                <a:solidFill>
                  <a:srgbClr val="5A6D6B"/>
                </a:solidFill>
                <a:latin typeface="Arial"/>
                <a:ea typeface="Arial"/>
                <a:cs typeface="Arial"/>
              </a:defRPr>
            </a:pPr>
            <a:r>
              <a:rPr sz="1200" b="0">
                <a:solidFill>
                  <a:srgbClr val="5A6D6B"/>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996EB18D-5C5E-47C4-8D24-921861A2B937}"/>
              </a:ext>
            </a:extLst>
          </p:cNvPr>
          <p:cNvSpPr>
            <a:spLocks xmlns:a="http://schemas.openxmlformats.org/drawingml/2006/main" noGrp="1"/>
          </p:cNvSpPr>
          <p:nvPr/>
        </p:nvSpPr>
        <p:spPr>
          <a:xfrm xmlns:a="http://schemas.openxmlformats.org/drawingml/2006/main">
            <a:off x="609600" y="1914525"/>
            <a:ext cx="2857500" cy="9144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Three JSON replies</a:t>
            </a:r>
          </a:p>
        </p:txBody>
      </p:sp>
      <p:sp>
        <p:nvSpPr>
          <p:cNvPr id="5" name="">
            <a:extLst xmlns:a="http://schemas.openxmlformats.org/drawingml/2006/main">
              <a:ext uri="{FF2B5EF4-FFF2-40B4-BE49-F238E27FC236}">
                <a16:creationId xmlns:a16="http://schemas.microsoft.com/office/drawing/2014/main" id="{7B60F131-D4C4-45A8-AA3C-3C41949A01C5}"/>
              </a:ext>
            </a:extLst>
          </p:cNvPr>
          <p:cNvSpPr>
            <a:spLocks xmlns:a="http://schemas.openxmlformats.org/drawingml/2006/main" noGrp="1"/>
          </p:cNvSpPr>
          <p:nvPr/>
        </p:nvSpPr>
        <p:spPr>
          <a:xfrm xmlns:a="http://schemas.openxmlformats.org/drawingml/2006/main">
            <a:off x="4410075" y="1914525"/>
            <a:ext cx="3371850" cy="914400"/>
          </a:xfrm>
          <a:prstGeom xmlns:a="http://schemas.openxmlformats.org/drawingml/2006/main" prst="rect">
            <a:avLst/>
          </a:prstGeom>
          <a:solidFill xmlns:a="http://schemas.openxmlformats.org/drawingml/2006/main">
            <a:srgbClr val="E8F2D9"/>
          </a:solidFill>
          <a:ln xmlns:a="http://schemas.openxmlformats.org/drawingml/2006/main" w="14288">
            <a:solidFill>
              <a:srgbClr val="76B900"/>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Schema + contradiction</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screen</a:t>
            </a:r>
          </a:p>
        </p:txBody>
      </p:sp>
      <p:sp>
        <p:nvSpPr>
          <p:cNvPr id="6" name="">
            <a:extLst xmlns:a="http://schemas.openxmlformats.org/drawingml/2006/main">
              <a:ext uri="{FF2B5EF4-FFF2-40B4-BE49-F238E27FC236}">
                <a16:creationId xmlns:a16="http://schemas.microsoft.com/office/drawing/2014/main" id="{A7CD0EFC-606C-4098-9B98-FEA92789EC1D}"/>
              </a:ext>
            </a:extLst>
          </p:cNvPr>
          <p:cNvSpPr>
            <a:spLocks xmlns:a="http://schemas.openxmlformats.org/drawingml/2006/main" noGrp="1"/>
          </p:cNvSpPr>
          <p:nvPr/>
        </p:nvSpPr>
        <p:spPr>
          <a:xfrm xmlns:a="http://schemas.openxmlformats.org/drawingml/2006/main">
            <a:off x="8724900" y="1914525"/>
            <a:ext cx="2857500" cy="9144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Accepted prose</a:t>
            </a:r>
          </a:p>
        </p:txBody>
      </p:sp>
      <p:sp>
        <p:nvSpPr>
          <p:cNvPr id="9" name="">
            <a:extLst xmlns:a="http://schemas.openxmlformats.org/drawingml/2006/main">
              <a:ext uri="{FF2B5EF4-FFF2-40B4-BE49-F238E27FC236}">
                <a16:creationId xmlns:a16="http://schemas.microsoft.com/office/drawing/2014/main" id="{89EF366D-3595-4949-9CB8-F6297FA22607}"/>
              </a:ext>
            </a:extLst>
          </p:cNvPr>
          <p:cNvSpPr>
            <a:spLocks xmlns:a="http://schemas.openxmlformats.org/drawingml/2006/main" noGrp="1"/>
          </p:cNvSpPr>
          <p:nvPr/>
        </p:nvSpPr>
        <p:spPr>
          <a:xfrm xmlns:a="http://schemas.openxmlformats.org/drawingml/2006/main">
            <a:off x="7915275" y="20764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007F7B"/>
                </a:solidFill>
                <a:latin typeface="Arial"/>
                <a:ea typeface="Arial"/>
                <a:cs typeface="Arial"/>
              </a:defRPr>
            </a:defPPr>
          </a:lstStyle>
          <a:p xmlns:a="http://schemas.openxmlformats.org/drawingml/2006/main">
            <a:pPr algn="l">
              <a:defRPr sz="1500" b="0">
                <a:solidFill>
                  <a:srgbClr val="007F7B"/>
                </a:solidFill>
                <a:latin typeface="Arial"/>
                <a:ea typeface="Arial"/>
                <a:cs typeface="Arial"/>
              </a:defRPr>
            </a:pPr>
            <a:r>
              <a:rPr sz="1500" b="0">
                <a:solidFill>
                  <a:srgbClr val="007F7B"/>
                </a:solidFill>
                <a:latin typeface="Arial"/>
                <a:ea typeface="Arial"/>
                <a:cs typeface="Arial"/>
              </a:rPr>
              <a:t>PASS</a:t>
            </a:r>
          </a:p>
        </p:txBody>
      </p:sp>
      <p:sp>
        <p:nvSpPr>
          <p:cNvPr id="10" name="">
            <a:extLst xmlns:a="http://schemas.openxmlformats.org/drawingml/2006/main">
              <a:ext uri="{FF2B5EF4-FFF2-40B4-BE49-F238E27FC236}">
                <a16:creationId xmlns:a16="http://schemas.microsoft.com/office/drawing/2014/main" id="{5D451867-AD64-4EA6-B267-4C3ABA698276}"/>
              </a:ext>
            </a:extLst>
          </p:cNvPr>
          <p:cNvSpPr>
            <a:spLocks xmlns:a="http://schemas.openxmlformats.org/drawingml/2006/main" noGrp="1"/>
          </p:cNvSpPr>
          <p:nvPr/>
        </p:nvSpPr>
        <p:spPr>
          <a:xfrm xmlns:a="http://schemas.openxmlformats.org/drawingml/2006/main">
            <a:off x="4410075" y="4200525"/>
            <a:ext cx="3371850" cy="1009650"/>
          </a:xfrm>
          <a:prstGeom xmlns:a="http://schemas.openxmlformats.org/drawingml/2006/main" prst="rect">
            <a:avLst/>
          </a:prstGeom>
          <a:solidFill xmlns:a="http://schemas.openxmlformats.org/drawingml/2006/main">
            <a:srgbClr val="FFF1D9"/>
          </a:solidFill>
          <a:ln xmlns:a="http://schemas.openxmlformats.org/drawingml/2006/main" w="14288">
            <a:solidFill>
              <a:srgbClr val="D6B780"/>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Deterministic prose</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All three parts</a:t>
            </a:r>
          </a:p>
        </p:txBody>
      </p:sp>
      <p:sp>
        <p:nvSpPr>
          <p:cNvPr id="12" name="">
            <a:extLst xmlns:a="http://schemas.openxmlformats.org/drawingml/2006/main">
              <a:ext uri="{FF2B5EF4-FFF2-40B4-BE49-F238E27FC236}">
                <a16:creationId xmlns:a16="http://schemas.microsoft.com/office/drawing/2014/main" id="{25B5F0B0-DC72-48D4-9464-D41F1423E490}"/>
              </a:ext>
            </a:extLst>
          </p:cNvPr>
          <p:cNvSpPr>
            <a:spLocks xmlns:a="http://schemas.openxmlformats.org/drawingml/2006/main" noGrp="1"/>
          </p:cNvSpPr>
          <p:nvPr/>
        </p:nvSpPr>
        <p:spPr>
          <a:xfrm xmlns:a="http://schemas.openxmlformats.org/drawingml/2006/main">
            <a:off x="6381750" y="3333750"/>
            <a:ext cx="180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B6523"/>
                </a:solidFill>
                <a:latin typeface="Arial"/>
                <a:ea typeface="Arial"/>
                <a:cs typeface="Arial"/>
              </a:defRPr>
            </a:defPPr>
          </a:lstStyle>
          <a:p xmlns:a="http://schemas.openxmlformats.org/drawingml/2006/main">
            <a:pPr algn="l">
              <a:defRPr sz="1575" b="0">
                <a:solidFill>
                  <a:srgbClr val="9B6523"/>
                </a:solidFill>
                <a:latin typeface="Arial"/>
                <a:ea typeface="Arial"/>
                <a:cs typeface="Arial"/>
              </a:defRPr>
            </a:pPr>
            <a:r>
              <a:rPr sz="1575" b="0">
                <a:solidFill>
                  <a:srgbClr val="9B6523"/>
                </a:solidFill>
                <a:latin typeface="Arial"/>
                <a:ea typeface="Arial"/>
                <a:cs typeface="Arial"/>
              </a:rPr>
              <a:t>ANY PART</a:t>
            </a:r>
          </a:p>
          <a:p xmlns:a="http://schemas.openxmlformats.org/drawingml/2006/main">
            <a:pPr algn="l">
              <a:defRPr sz="1575" b="0">
                <a:solidFill>
                  <a:srgbClr val="9B6523"/>
                </a:solidFill>
                <a:latin typeface="Arial"/>
                <a:ea typeface="Arial"/>
                <a:cs typeface="Arial"/>
              </a:defRPr>
            </a:pPr>
            <a:r>
              <a:rPr sz="1575" b="0">
                <a:solidFill>
                  <a:srgbClr val="9B6523"/>
                </a:solidFill>
                <a:latin typeface="Arial"/>
                <a:ea typeface="Arial"/>
                <a:cs typeface="Arial"/>
              </a:rPr>
              <a:t>FAILS</a:t>
            </a:r>
          </a:p>
        </p:txBody>
      </p:sp>
      <p:sp>
        <p:nvSpPr>
          <p:cNvPr id="13" name="">
            <a:extLst xmlns:a="http://schemas.openxmlformats.org/drawingml/2006/main">
              <a:ext uri="{FF2B5EF4-FFF2-40B4-BE49-F238E27FC236}">
                <a16:creationId xmlns:a16="http://schemas.microsoft.com/office/drawing/2014/main" id="{6B4BAD4F-69DE-4621-8A0F-CEC66F2A1B35}"/>
              </a:ext>
            </a:extLst>
          </p:cNvPr>
          <p:cNvSpPr>
            <a:spLocks xmlns:a="http://schemas.openxmlformats.org/drawingml/2006/main" noGrp="1"/>
          </p:cNvSpPr>
          <p:nvPr/>
        </p:nvSpPr>
        <p:spPr>
          <a:xfrm xmlns:a="http://schemas.openxmlformats.org/drawingml/2006/main">
            <a:off x="8724900" y="4200525"/>
            <a:ext cx="2857500" cy="100965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Report renderer</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Source + quality + review</a:t>
            </a:r>
          </a:p>
        </p:txBody>
      </p:sp>
      <p:sp>
        <p:nvSpPr>
          <p:cNvPr id="16" name="">
            <a:extLst xmlns:a="http://schemas.openxmlformats.org/drawingml/2006/main">
              <a:ext uri="{FF2B5EF4-FFF2-40B4-BE49-F238E27FC236}">
                <a16:creationId xmlns:a16="http://schemas.microsoft.com/office/drawing/2014/main" id="{ACBB6400-D1DE-419F-88D8-A7D72421A209}"/>
              </a:ext>
            </a:extLst>
          </p:cNvPr>
          <p:cNvSpPr>
            <a:spLocks xmlns:a="http://schemas.openxmlformats.org/drawingml/2006/main" noGrp="1"/>
          </p:cNvSpPr>
          <p:nvPr/>
        </p:nvSpPr>
        <p:spPr>
          <a:xfrm xmlns:a="http://schemas.openxmlformats.org/drawingml/2006/main">
            <a:off x="609600" y="60102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A6D6B"/>
                </a:solidFill>
                <a:latin typeface="Arial"/>
                <a:ea typeface="Arial"/>
                <a:cs typeface="Arial"/>
              </a:defRPr>
            </a:defPPr>
          </a:lstStyle>
          <a:p xmlns:a="http://schemas.openxmlformats.org/drawingml/2006/main">
            <a:pPr algn="l">
              <a:defRPr sz="1575" b="0">
                <a:solidFill>
                  <a:srgbClr val="5A6D6B"/>
                </a:solidFill>
                <a:latin typeface="Arial"/>
                <a:ea typeface="Arial"/>
                <a:cs typeface="Arial"/>
              </a:defRPr>
            </a:pPr>
            <a:r>
              <a:rPr sz="1575" b="0">
                <a:solidFill>
                  <a:srgbClr val="5A6D6B"/>
                </a:solidFill>
                <a:latin typeface="Arial"/>
                <a:ea typeface="Arial"/>
                <a:cs typeface="Arial"/>
              </a:rPr>
              <a:t>Application checks protect the contract. Independent clinical review remains required.</a:t>
            </a:r>
          </a:p>
        </p:txBody>
      </p:sp>
    </p:spTree>
    <p:extLst>
      <p:ext uri="{BB962C8B-B14F-4D97-AF65-F5344CB8AC3E}">
        <p14:creationId xmlns:p14="http://schemas.microsoft.com/office/powerpoint/2010/main" val="1005466827"/>
      </p:ext>
    </p:extLst>
  </p:cSld>
</p:sld>
</file>

<file path=ppt/slides/slide13.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D4488316-D011-4F06-839E-B538C11CD628}"/>
              </a:ext>
            </a:extLst>
          </p:cNvPr>
          <p:cNvCxnSpPr>
            <a:stCxn xmlns:a="http://schemas.openxmlformats.org/drawingml/2006/main" id="12" idx="3"/>
            <a:endCxn xmlns:a="http://schemas.openxmlformats.org/drawingml/2006/main" id="13" idx="1"/>
          </p:cNvCxnSpPr>
          <p:nvPr/>
        </p:nvCxnSpPr>
        <p:spPr>
          <a:xfrm xmlns:a="http://schemas.openxmlformats.org/drawingml/2006/main">
            <a:off x="7620000" y="5124450"/>
            <a:ext cx="914400"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14" name="">
            <a:extLst xmlns:a="http://schemas.openxmlformats.org/drawingml/2006/main">
              <a:ext uri="{FF2B5EF4-FFF2-40B4-BE49-F238E27FC236}">
                <a16:creationId xmlns:a16="http://schemas.microsoft.com/office/drawing/2014/main" id="{C277055F-7581-47F8-AE88-427E4CA871FB}"/>
              </a:ext>
            </a:extLst>
          </p:cNvPr>
          <p:cNvCxnSpPr>
            <a:stCxn xmlns:a="http://schemas.openxmlformats.org/drawingml/2006/main" id="11" idx="3"/>
            <a:endCxn xmlns:a="http://schemas.openxmlformats.org/drawingml/2006/main" id="12" idx="1"/>
          </p:cNvCxnSpPr>
          <p:nvPr/>
        </p:nvCxnSpPr>
        <p:spPr>
          <a:xfrm xmlns:a="http://schemas.openxmlformats.org/drawingml/2006/main">
            <a:off x="3657600" y="5124450"/>
            <a:ext cx="914400"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sp>
        <p:nvSpPr>
          <p:cNvPr id="17" name="">
            <a:extLst xmlns:a="http://schemas.openxmlformats.org/drawingml/2006/main">
              <a:ext uri="{FF2B5EF4-FFF2-40B4-BE49-F238E27FC236}">
                <a16:creationId xmlns:a16="http://schemas.microsoft.com/office/drawing/2014/main" id="{B90FB05D-32E3-4120-A7EE-382960EE7723}"/>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F7B"/>
                </a:solidFill>
                <a:latin typeface="Arial"/>
                <a:ea typeface="Arial"/>
                <a:cs typeface="Arial"/>
              </a:defRPr>
            </a:defPPr>
          </a:lstStyle>
          <a:p xmlns:a="http://schemas.openxmlformats.org/drawingml/2006/main">
            <a:pPr algn="l">
              <a:defRPr sz="1350" b="1">
                <a:solidFill>
                  <a:srgbClr val="007F7B"/>
                </a:solidFill>
                <a:latin typeface="Arial"/>
                <a:ea typeface="Arial"/>
                <a:cs typeface="Arial"/>
              </a:defRPr>
            </a:pPr>
            <a:r>
              <a:rPr sz="1350" b="1">
                <a:solidFill>
                  <a:srgbClr val="007F7B"/>
                </a:solidFill>
                <a:latin typeface="Arial"/>
                <a:ea typeface="Arial"/>
                <a:cs typeface="Arial"/>
              </a:rPr>
              <a:t>02  OBSERVED RESULTS</a:t>
            </a:r>
          </a:p>
        </p:txBody>
      </p:sp>
      <p:sp>
        <p:nvSpPr>
          <p:cNvPr id="2" name="">
            <a:extLst xmlns:a="http://schemas.openxmlformats.org/drawingml/2006/main">
              <a:ext uri="{FF2B5EF4-FFF2-40B4-BE49-F238E27FC236}">
                <a16:creationId xmlns:a16="http://schemas.microsoft.com/office/drawing/2014/main" id="{6174A0E3-A13B-4632-9311-B701560121B2}"/>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A2B"/>
                </a:solidFill>
                <a:latin typeface="Arial"/>
                <a:ea typeface="Arial"/>
                <a:cs typeface="Arial"/>
              </a:defRPr>
            </a:defPPr>
          </a:lstStyle>
          <a:p xmlns:a="http://schemas.openxmlformats.org/drawingml/2006/main">
            <a:pPr algn="l">
              <a:defRPr sz="3300" b="1">
                <a:solidFill>
                  <a:srgbClr val="152A2B"/>
                </a:solidFill>
                <a:latin typeface="Arial"/>
                <a:ea typeface="Arial"/>
                <a:cs typeface="Arial"/>
              </a:defRPr>
            </a:pPr>
            <a:r>
              <a:rPr sz="3300" b="1">
                <a:solidFill>
                  <a:srgbClr val="152A2B"/>
                </a:solidFill>
                <a:latin typeface="Arial"/>
                <a:ea typeface="Arial"/>
                <a:cs typeface="Arial"/>
              </a:rPr>
              <a:t>Local execution supports the intended demo</a:t>
            </a:r>
          </a:p>
        </p:txBody>
      </p:sp>
      <p:sp>
        <p:nvSpPr>
          <p:cNvPr id="3" name="">
            <a:extLst xmlns:a="http://schemas.openxmlformats.org/drawingml/2006/main">
              <a:ext uri="{FF2B5EF4-FFF2-40B4-BE49-F238E27FC236}">
                <a16:creationId xmlns:a16="http://schemas.microsoft.com/office/drawing/2014/main" id="{F87E3FAD-0306-4E9D-B1C8-1EC4AE0F02B3}"/>
              </a:ext>
            </a:extLst>
          </p:cNvPr>
          <p:cNvSpPr>
            <a:spLocks xmlns:a="http://schemas.openxmlformats.org/drawingml/2006/main" noGrp="1"/>
          </p:cNvSpPr>
          <p:nvPr/>
        </p:nvSpPr>
        <p:spPr>
          <a:xfrm xmlns:a="http://schemas.openxmlformats.org/drawingml/2006/main">
            <a:off x="11144250" y="64198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A6D6B"/>
                </a:solidFill>
                <a:latin typeface="Arial"/>
                <a:ea typeface="Arial"/>
                <a:cs typeface="Arial"/>
              </a:defRPr>
            </a:defPPr>
          </a:lstStyle>
          <a:p xmlns:a="http://schemas.openxmlformats.org/drawingml/2006/main">
            <a:pPr algn="r">
              <a:defRPr sz="1200" b="0">
                <a:solidFill>
                  <a:srgbClr val="5A6D6B"/>
                </a:solidFill>
                <a:latin typeface="Arial"/>
                <a:ea typeface="Arial"/>
                <a:cs typeface="Arial"/>
              </a:defRPr>
            </a:pPr>
            <a:r>
              <a:rPr sz="1200" b="0">
                <a:solidFill>
                  <a:srgbClr val="5A6D6B"/>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5620A3D7-A4D8-4D82-BD9E-6C574781E62F}"/>
              </a:ext>
            </a:extLst>
          </p:cNvPr>
          <p:cNvSpPr>
            <a:spLocks xmlns:a="http://schemas.openxmlformats.org/drawingml/2006/main" noGrp="1"/>
          </p:cNvSpPr>
          <p:nvPr/>
        </p:nvSpPr>
        <p:spPr>
          <a:xfrm xmlns:a="http://schemas.openxmlformats.org/drawingml/2006/main">
            <a:off x="609600" y="1943100"/>
            <a:ext cx="333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825" b="1">
                <a:solidFill>
                  <a:srgbClr val="76B900"/>
                </a:solidFill>
                <a:latin typeface="Arial"/>
                <a:ea typeface="Arial"/>
                <a:cs typeface="Arial"/>
              </a:defRPr>
            </a:defPPr>
          </a:lstStyle>
          <a:p xmlns:a="http://schemas.openxmlformats.org/drawingml/2006/main">
            <a:pPr algn="l">
              <a:defRPr sz="6825" b="1">
                <a:solidFill>
                  <a:srgbClr val="76B900"/>
                </a:solidFill>
                <a:latin typeface="Arial"/>
                <a:ea typeface="Arial"/>
                <a:cs typeface="Arial"/>
              </a:defRPr>
            </a:pPr>
            <a:r>
              <a:rPr sz="6825" b="1">
                <a:solidFill>
                  <a:srgbClr val="76B900"/>
                </a:solidFill>
                <a:latin typeface="Arial"/>
                <a:ea typeface="Arial"/>
                <a:cs typeface="Arial"/>
              </a:rPr>
              <a:t>5 / 5</a:t>
            </a:r>
          </a:p>
        </p:txBody>
      </p:sp>
      <p:sp>
        <p:nvSpPr>
          <p:cNvPr id="5" name="">
            <a:extLst xmlns:a="http://schemas.openxmlformats.org/drawingml/2006/main">
              <a:ext uri="{FF2B5EF4-FFF2-40B4-BE49-F238E27FC236}">
                <a16:creationId xmlns:a16="http://schemas.microsoft.com/office/drawing/2014/main" id="{FD786FE8-E08E-4D12-A6F9-4E735DD102E8}"/>
              </a:ext>
            </a:extLst>
          </p:cNvPr>
          <p:cNvSpPr>
            <a:spLocks xmlns:a="http://schemas.openxmlformats.org/drawingml/2006/main" noGrp="1"/>
          </p:cNvSpPr>
          <p:nvPr/>
        </p:nvSpPr>
        <p:spPr>
          <a:xfrm xmlns:a="http://schemas.openxmlformats.org/drawingml/2006/main">
            <a:off x="609600" y="3143250"/>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52A2B"/>
                </a:solidFill>
                <a:latin typeface="Arial"/>
                <a:ea typeface="Arial"/>
                <a:cs typeface="Arial"/>
              </a:defRPr>
            </a:defPPr>
          </a:lstStyle>
          <a:p xmlns:a="http://schemas.openxmlformats.org/drawingml/2006/main">
            <a:pPr algn="l">
              <a:defRPr sz="2100" b="0">
                <a:solidFill>
                  <a:srgbClr val="152A2B"/>
                </a:solidFill>
                <a:latin typeface="Arial"/>
                <a:ea typeface="Arial"/>
                <a:cs typeface="Arial"/>
              </a:defRPr>
            </a:pPr>
            <a:r>
              <a:rPr sz="2100" b="0">
                <a:solidFill>
                  <a:srgbClr val="152A2B"/>
                </a:solidFill>
                <a:latin typeface="Arial"/>
                <a:ea typeface="Arial"/>
                <a:cs typeface="Arial"/>
              </a:rPr>
              <a:t>patient reports accepted</a:t>
            </a:r>
          </a:p>
          <a:p xmlns:a="http://schemas.openxmlformats.org/drawingml/2006/main">
            <a:pPr algn="l">
              <a:defRPr sz="2100" b="0">
                <a:solidFill>
                  <a:srgbClr val="152A2B"/>
                </a:solidFill>
                <a:latin typeface="Arial"/>
                <a:ea typeface="Arial"/>
                <a:cs typeface="Arial"/>
              </a:defRPr>
            </a:pPr>
            <a:r>
              <a:rPr sz="2100" b="0">
                <a:solidFill>
                  <a:srgbClr val="152A2B"/>
                </a:solidFill>
                <a:latin typeface="Arial"/>
                <a:ea typeface="Arial"/>
                <a:cs typeface="Arial"/>
              </a:rPr>
              <a:t>by the automatic screen</a:t>
            </a:r>
          </a:p>
        </p:txBody>
      </p:sp>
      <p:sp>
        <p:nvSpPr>
          <p:cNvPr id="6" name="">
            <a:extLst xmlns:a="http://schemas.openxmlformats.org/drawingml/2006/main">
              <a:ext uri="{FF2B5EF4-FFF2-40B4-BE49-F238E27FC236}">
                <a16:creationId xmlns:a16="http://schemas.microsoft.com/office/drawing/2014/main" id="{5A03D603-6AF0-437F-A315-4946997B33CE}"/>
              </a:ext>
            </a:extLst>
          </p:cNvPr>
          <p:cNvSpPr>
            <a:spLocks xmlns:a="http://schemas.openxmlformats.org/drawingml/2006/main" noGrp="1"/>
          </p:cNvSpPr>
          <p:nvPr/>
        </p:nvSpPr>
        <p:spPr>
          <a:xfrm xmlns:a="http://schemas.openxmlformats.org/drawingml/2006/main">
            <a:off x="4848225" y="1943100"/>
            <a:ext cx="266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825" b="1">
                <a:solidFill>
                  <a:srgbClr val="007F7B"/>
                </a:solidFill>
                <a:latin typeface="Arial"/>
                <a:ea typeface="Arial"/>
                <a:cs typeface="Arial"/>
              </a:defRPr>
            </a:defPPr>
          </a:lstStyle>
          <a:p xmlns:a="http://schemas.openxmlformats.org/drawingml/2006/main">
            <a:pPr algn="l">
              <a:defRPr sz="6825" b="1">
                <a:solidFill>
                  <a:srgbClr val="007F7B"/>
                </a:solidFill>
                <a:latin typeface="Arial"/>
                <a:ea typeface="Arial"/>
                <a:cs typeface="Arial"/>
              </a:defRPr>
            </a:pPr>
            <a:r>
              <a:rPr sz="6825" b="1">
                <a:solidFill>
                  <a:srgbClr val="007F7B"/>
                </a:solidFill>
                <a:latin typeface="Arial"/>
                <a:ea typeface="Arial"/>
                <a:cs typeface="Arial"/>
              </a:rPr>
              <a:t>15</a:t>
            </a:r>
          </a:p>
        </p:txBody>
      </p:sp>
      <p:sp>
        <p:nvSpPr>
          <p:cNvPr id="7" name="">
            <a:extLst xmlns:a="http://schemas.openxmlformats.org/drawingml/2006/main">
              <a:ext uri="{FF2B5EF4-FFF2-40B4-BE49-F238E27FC236}">
                <a16:creationId xmlns:a16="http://schemas.microsoft.com/office/drawing/2014/main" id="{8D0674F7-1300-4211-8155-1F76EEFD1FD8}"/>
              </a:ext>
            </a:extLst>
          </p:cNvPr>
          <p:cNvSpPr>
            <a:spLocks xmlns:a="http://schemas.openxmlformats.org/drawingml/2006/main" noGrp="1"/>
          </p:cNvSpPr>
          <p:nvPr/>
        </p:nvSpPr>
        <p:spPr>
          <a:xfrm xmlns:a="http://schemas.openxmlformats.org/drawingml/2006/main">
            <a:off x="4848225" y="3143250"/>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52A2B"/>
                </a:solidFill>
                <a:latin typeface="Arial"/>
                <a:ea typeface="Arial"/>
                <a:cs typeface="Arial"/>
              </a:defRPr>
            </a:defPPr>
          </a:lstStyle>
          <a:p xmlns:a="http://schemas.openxmlformats.org/drawingml/2006/main">
            <a:pPr algn="l">
              <a:defRPr sz="2100" b="0">
                <a:solidFill>
                  <a:srgbClr val="152A2B"/>
                </a:solidFill>
                <a:latin typeface="Arial"/>
                <a:ea typeface="Arial"/>
                <a:cs typeface="Arial"/>
              </a:defRPr>
            </a:pPr>
            <a:r>
              <a:rPr sz="2100" b="0">
                <a:solidFill>
                  <a:srgbClr val="152A2B"/>
                </a:solidFill>
                <a:latin typeface="Arial"/>
                <a:ea typeface="Arial"/>
                <a:cs typeface="Arial"/>
              </a:rPr>
              <a:t>prose parts generated</a:t>
            </a:r>
          </a:p>
          <a:p xmlns:a="http://schemas.openxmlformats.org/drawingml/2006/main">
            <a:pPr algn="l">
              <a:defRPr sz="2100" b="0">
                <a:solidFill>
                  <a:srgbClr val="152A2B"/>
                </a:solidFill>
                <a:latin typeface="Arial"/>
                <a:ea typeface="Arial"/>
                <a:cs typeface="Arial"/>
              </a:defRPr>
            </a:pPr>
            <a:r>
              <a:rPr sz="2100" b="0">
                <a:solidFill>
                  <a:srgbClr val="152A2B"/>
                </a:solidFill>
                <a:latin typeface="Arial"/>
                <a:ea typeface="Arial"/>
                <a:cs typeface="Arial"/>
              </a:rPr>
              <a:t>with local Nemotron</a:t>
            </a:r>
          </a:p>
        </p:txBody>
      </p:sp>
      <p:sp>
        <p:nvSpPr>
          <p:cNvPr id="8" name="">
            <a:extLst xmlns:a="http://schemas.openxmlformats.org/drawingml/2006/main">
              <a:ext uri="{FF2B5EF4-FFF2-40B4-BE49-F238E27FC236}">
                <a16:creationId xmlns:a16="http://schemas.microsoft.com/office/drawing/2014/main" id="{F58F397F-A766-4046-A06C-CB00922CC4D6}"/>
              </a:ext>
            </a:extLst>
          </p:cNvPr>
          <p:cNvSpPr>
            <a:spLocks xmlns:a="http://schemas.openxmlformats.org/drawingml/2006/main" noGrp="1"/>
          </p:cNvSpPr>
          <p:nvPr/>
        </p:nvSpPr>
        <p:spPr>
          <a:xfrm xmlns:a="http://schemas.openxmlformats.org/drawingml/2006/main">
            <a:off x="8905875" y="1943100"/>
            <a:ext cx="26765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152A2B"/>
                </a:solidFill>
                <a:latin typeface="Arial"/>
                <a:ea typeface="Arial"/>
                <a:cs typeface="Arial"/>
              </a:defRPr>
            </a:defPPr>
          </a:lstStyle>
          <a:p xmlns:a="http://schemas.openxmlformats.org/drawingml/2006/main">
            <a:pPr algn="l">
              <a:defRPr sz="5700" b="1">
                <a:solidFill>
                  <a:srgbClr val="152A2B"/>
                </a:solidFill>
                <a:latin typeface="Arial"/>
                <a:ea typeface="Arial"/>
                <a:cs typeface="Arial"/>
              </a:defRPr>
            </a:pPr>
            <a:r>
              <a:rPr sz="5700" b="1">
                <a:solidFill>
                  <a:srgbClr val="152A2B"/>
                </a:solidFill>
                <a:latin typeface="Arial"/>
                <a:ea typeface="Arial"/>
                <a:cs typeface="Arial"/>
              </a:rPr>
              <a:t>159 s</a:t>
            </a:r>
          </a:p>
        </p:txBody>
      </p:sp>
      <p:sp>
        <p:nvSpPr>
          <p:cNvPr id="9" name="">
            <a:extLst xmlns:a="http://schemas.openxmlformats.org/drawingml/2006/main">
              <a:ext uri="{FF2B5EF4-FFF2-40B4-BE49-F238E27FC236}">
                <a16:creationId xmlns:a16="http://schemas.microsoft.com/office/drawing/2014/main" id="{A68C15CE-D905-42E3-8F1B-15944569F4A5}"/>
              </a:ext>
            </a:extLst>
          </p:cNvPr>
          <p:cNvSpPr>
            <a:spLocks xmlns:a="http://schemas.openxmlformats.org/drawingml/2006/main" noGrp="1"/>
          </p:cNvSpPr>
          <p:nvPr/>
        </p:nvSpPr>
        <p:spPr>
          <a:xfrm xmlns:a="http://schemas.openxmlformats.org/drawingml/2006/main">
            <a:off x="8905875" y="3143250"/>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52A2B"/>
                </a:solidFill>
                <a:latin typeface="Arial"/>
                <a:ea typeface="Arial"/>
                <a:cs typeface="Arial"/>
              </a:defRPr>
            </a:defPPr>
          </a:lstStyle>
          <a:p xmlns:a="http://schemas.openxmlformats.org/drawingml/2006/main">
            <a:pPr algn="l">
              <a:defRPr sz="2025" b="0">
                <a:solidFill>
                  <a:srgbClr val="152A2B"/>
                </a:solidFill>
                <a:latin typeface="Arial"/>
                <a:ea typeface="Arial"/>
                <a:cs typeface="Arial"/>
              </a:defRPr>
            </a:pPr>
            <a:r>
              <a:rPr sz="2025" b="0">
                <a:solidFill>
                  <a:srgbClr val="152A2B"/>
                </a:solidFill>
                <a:latin typeface="Arial"/>
                <a:ea typeface="Arial"/>
                <a:cs typeface="Arial"/>
              </a:rPr>
              <a:t>five-patient run</a:t>
            </a:r>
          </a:p>
          <a:p xmlns:a="http://schemas.openxmlformats.org/drawingml/2006/main">
            <a:pPr algn="l">
              <a:defRPr sz="2025" b="0">
                <a:solidFill>
                  <a:srgbClr val="152A2B"/>
                </a:solidFill>
                <a:latin typeface="Arial"/>
                <a:ea typeface="Arial"/>
                <a:cs typeface="Arial"/>
              </a:defRPr>
            </a:pPr>
            <a:r>
              <a:rPr sz="2025" b="0">
                <a:solidFill>
                  <a:srgbClr val="152A2B"/>
                </a:solidFill>
                <a:latin typeface="Arial"/>
                <a:ea typeface="Arial"/>
                <a:cs typeface="Arial"/>
              </a:rPr>
              <a:t>including model load</a:t>
            </a:r>
          </a:p>
        </p:txBody>
      </p:sp>
      <p:sp>
        <p:nvSpPr>
          <p:cNvPr id="10" name="">
            <a:extLst xmlns:a="http://schemas.openxmlformats.org/drawingml/2006/main">
              <a:ext uri="{FF2B5EF4-FFF2-40B4-BE49-F238E27FC236}">
                <a16:creationId xmlns:a16="http://schemas.microsoft.com/office/drawing/2014/main" id="{6F724FBF-0206-47ED-A239-C38B50192758}"/>
              </a:ext>
            </a:extLst>
          </p:cNvPr>
          <p:cNvSpPr>
            <a:spLocks xmlns:a="http://schemas.openxmlformats.org/drawingml/2006/main" noGrp="1"/>
          </p:cNvSpPr>
          <p:nvPr/>
        </p:nvSpPr>
        <p:spPr>
          <a:xfrm xmlns:a="http://schemas.openxmlformats.org/drawingml/2006/main">
            <a:off x="609600" y="4324350"/>
            <a:ext cx="10972800" cy="9525"/>
          </a:xfrm>
          <a:prstGeom xmlns:a="http://schemas.openxmlformats.org/drawingml/2006/main" prst="rect">
            <a:avLst/>
          </a:prstGeom>
          <a:solidFill xmlns:a="http://schemas.openxmlformats.org/drawingml/2006/main">
            <a:srgbClr val="C7D3CD"/>
          </a:solidFill>
          <a:ln xmlns:a="http://schemas.openxmlformats.org/drawingml/2006/main" w="14288">
            <a:solidFill>
              <a:srgbClr val="C7D3CD"/>
            </a:solidFill>
          </a:ln>
        </p:spPr>
      </p:sp>
      <p:sp>
        <p:nvSpPr>
          <p:cNvPr id="11" name="">
            <a:extLst xmlns:a="http://schemas.openxmlformats.org/drawingml/2006/main">
              <a:ext uri="{FF2B5EF4-FFF2-40B4-BE49-F238E27FC236}">
                <a16:creationId xmlns:a16="http://schemas.microsoft.com/office/drawing/2014/main" id="{A43A97AA-E388-472F-ADC6-65CC1683DB37}"/>
              </a:ext>
            </a:extLst>
          </p:cNvPr>
          <p:cNvSpPr>
            <a:spLocks xmlns:a="http://schemas.openxmlformats.org/drawingml/2006/main" noGrp="1"/>
          </p:cNvSpPr>
          <p:nvPr/>
        </p:nvSpPr>
        <p:spPr>
          <a:xfrm xmlns:a="http://schemas.openxmlformats.org/drawingml/2006/main">
            <a:off x="609600" y="4762500"/>
            <a:ext cx="304800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Batch report S01</a:t>
            </a:r>
          </a:p>
        </p:txBody>
      </p:sp>
      <p:sp>
        <p:nvSpPr>
          <p:cNvPr id="12" name="">
            <a:extLst xmlns:a="http://schemas.openxmlformats.org/drawingml/2006/main">
              <a:ext uri="{FF2B5EF4-FFF2-40B4-BE49-F238E27FC236}">
                <a16:creationId xmlns:a16="http://schemas.microsoft.com/office/drawing/2014/main" id="{E2D10549-DB37-4C07-8CD9-F327B4DC0724}"/>
              </a:ext>
            </a:extLst>
          </p:cNvPr>
          <p:cNvSpPr>
            <a:spLocks xmlns:a="http://schemas.openxmlformats.org/drawingml/2006/main" noGrp="1"/>
          </p:cNvSpPr>
          <p:nvPr/>
        </p:nvSpPr>
        <p:spPr>
          <a:xfrm xmlns:a="http://schemas.openxmlformats.org/drawingml/2006/main">
            <a:off x="4572000" y="4762500"/>
            <a:ext cx="304800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Local API S01</a:t>
            </a:r>
          </a:p>
        </p:txBody>
      </p:sp>
      <p:sp>
        <p:nvSpPr>
          <p:cNvPr id="13" name="">
            <a:extLst xmlns:a="http://schemas.openxmlformats.org/drawingml/2006/main">
              <a:ext uri="{FF2B5EF4-FFF2-40B4-BE49-F238E27FC236}">
                <a16:creationId xmlns:a16="http://schemas.microsoft.com/office/drawing/2014/main" id="{17BB073B-B316-4CA5-9D87-80D5A7DCA393}"/>
              </a:ext>
            </a:extLst>
          </p:cNvPr>
          <p:cNvSpPr>
            <a:spLocks xmlns:a="http://schemas.openxmlformats.org/drawingml/2006/main" noGrp="1"/>
          </p:cNvSpPr>
          <p:nvPr/>
        </p:nvSpPr>
        <p:spPr>
          <a:xfrm xmlns:a="http://schemas.openxmlformats.org/drawingml/2006/main">
            <a:off x="8534400" y="4762500"/>
            <a:ext cx="3048000" cy="723900"/>
          </a:xfrm>
          <a:prstGeom xmlns:a="http://schemas.openxmlformats.org/drawingml/2006/main" prst="rect">
            <a:avLst/>
          </a:prstGeom>
          <a:solidFill xmlns:a="http://schemas.openxmlformats.org/drawingml/2006/main">
            <a:srgbClr val="E8F2D9"/>
          </a:solidFill>
          <a:ln xmlns:a="http://schemas.openxmlformats.org/drawingml/2006/main" w="14288">
            <a:solidFill>
              <a:srgbClr val="76B900"/>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Identical text</a:t>
            </a:r>
          </a:p>
        </p:txBody>
      </p:sp>
      <p:sp>
        <p:nvSpPr>
          <p:cNvPr id="16" name="">
            <a:extLst xmlns:a="http://schemas.openxmlformats.org/drawingml/2006/main">
              <a:ext uri="{FF2B5EF4-FFF2-40B4-BE49-F238E27FC236}">
                <a16:creationId xmlns:a16="http://schemas.microsoft.com/office/drawing/2014/main" id="{AB7C5C1C-53F9-49CD-B873-B6019A860BB9}"/>
              </a:ext>
            </a:extLst>
          </p:cNvPr>
          <p:cNvSpPr>
            <a:spLocks xmlns:a="http://schemas.openxmlformats.org/drawingml/2006/main" noGrp="1"/>
          </p:cNvSpPr>
          <p:nvPr/>
        </p:nvSpPr>
        <p:spPr>
          <a:xfrm xmlns:a="http://schemas.openxmlformats.org/drawingml/2006/main">
            <a:off x="609600" y="60102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A6D6B"/>
                </a:solidFill>
                <a:latin typeface="Arial"/>
                <a:ea typeface="Arial"/>
                <a:cs typeface="Arial"/>
              </a:defRPr>
            </a:defPPr>
          </a:lstStyle>
          <a:p xmlns:a="http://schemas.openxmlformats.org/drawingml/2006/main">
            <a:pPr algn="l">
              <a:defRPr sz="1575" b="0">
                <a:solidFill>
                  <a:srgbClr val="5A6D6B"/>
                </a:solidFill>
                <a:latin typeface="Arial"/>
                <a:ea typeface="Arial"/>
                <a:cs typeface="Arial"/>
              </a:defRPr>
            </a:pPr>
            <a:r>
              <a:rPr sz="1575" b="0">
                <a:solidFill>
                  <a:srgbClr val="5A6D6B"/>
                </a:solidFill>
                <a:latin typeface="Arial"/>
                <a:ea typeface="Arial"/>
                <a:cs typeface="Arial"/>
              </a:rPr>
              <a:t>Single local synthetic run. Acceptance measures the implemented screen, not medical correctness.</a:t>
            </a:r>
          </a:p>
        </p:txBody>
      </p:sp>
    </p:spTree>
    <p:extLst>
      <p:ext uri="{BB962C8B-B14F-4D97-AF65-F5344CB8AC3E}">
        <p14:creationId xmlns:p14="http://schemas.microsoft.com/office/powerpoint/2010/main" val="318447714"/>
      </p:ext>
    </p:extLst>
  </p:cSld>
</p:sld>
</file>

<file path=ppt/slides/slide14.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A26A3607-FB6A-4F0B-BFE6-06C67BB7FEE3}"/>
              </a:ext>
            </a:extLst>
          </p:cNvPr>
          <p:cNvCxnSpPr>
            <a:stCxn xmlns:a="http://schemas.openxmlformats.org/drawingml/2006/main" id="8" idx="3"/>
            <a:endCxn xmlns:a="http://schemas.openxmlformats.org/drawingml/2006/main" id="9" idx="1"/>
          </p:cNvCxnSpPr>
          <p:nvPr/>
        </p:nvCxnSpPr>
        <p:spPr>
          <a:xfrm xmlns:a="http://schemas.openxmlformats.org/drawingml/2006/main">
            <a:off x="7429500" y="3152775"/>
            <a:ext cx="1028700" cy="0"/>
          </a:xfrm>
          <a:prstGeom xmlns:a="http://schemas.openxmlformats.org/drawingml/2006/main" prst="straightConnector1">
            <a:avLst/>
          </a:prstGeom>
          <a:ln xmlns:a="http://schemas.openxmlformats.org/drawingml/2006/main" w="23813">
            <a:solidFill>
              <a:srgbClr val="5A6D6B"/>
            </a:solidFill>
            <a:prstDash val="dash"/>
            <a:tailEnd type="arrow" w="med" len="med"/>
          </a:ln>
        </p:spPr>
      </p:cxnSp>
      <p:cxnSp>
        <p:nvCxnSpPr>
          <p:cNvPr id="10" name="">
            <a:extLst xmlns:a="http://schemas.openxmlformats.org/drawingml/2006/main">
              <a:ext uri="{FF2B5EF4-FFF2-40B4-BE49-F238E27FC236}">
                <a16:creationId xmlns:a16="http://schemas.microsoft.com/office/drawing/2014/main" id="{B936E63B-243E-4459-83FD-2836AC7BD78C}"/>
              </a:ext>
            </a:extLst>
          </p:cNvPr>
          <p:cNvCxnSpPr>
            <a:stCxn xmlns:a="http://schemas.openxmlformats.org/drawingml/2006/main" id="7" idx="3"/>
            <a:endCxn xmlns:a="http://schemas.openxmlformats.org/drawingml/2006/main" id="8" idx="1"/>
          </p:cNvCxnSpPr>
          <p:nvPr/>
        </p:nvCxnSpPr>
        <p:spPr>
          <a:xfrm xmlns:a="http://schemas.openxmlformats.org/drawingml/2006/main">
            <a:off x="3276600" y="3152775"/>
            <a:ext cx="1019175"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sp>
        <p:nvSpPr>
          <p:cNvPr id="20" name="">
            <a:extLst xmlns:a="http://schemas.openxmlformats.org/drawingml/2006/main">
              <a:ext uri="{FF2B5EF4-FFF2-40B4-BE49-F238E27FC236}">
                <a16:creationId xmlns:a16="http://schemas.microsoft.com/office/drawing/2014/main" id="{B7DF7B74-5A4B-4C68-B09E-9546BA9E6A8A}"/>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F7B"/>
                </a:solidFill>
                <a:latin typeface="Arial"/>
                <a:ea typeface="Arial"/>
                <a:cs typeface="Arial"/>
              </a:defRPr>
            </a:defPPr>
          </a:lstStyle>
          <a:p xmlns:a="http://schemas.openxmlformats.org/drawingml/2006/main">
            <a:pPr algn="l">
              <a:defRPr sz="1350" b="1">
                <a:solidFill>
                  <a:srgbClr val="007F7B"/>
                </a:solidFill>
                <a:latin typeface="Arial"/>
                <a:ea typeface="Arial"/>
                <a:cs typeface="Arial"/>
              </a:defRPr>
            </a:pPr>
            <a:r>
              <a:rPr sz="1350" b="1">
                <a:solidFill>
                  <a:srgbClr val="007F7B"/>
                </a:solidFill>
                <a:latin typeface="Arial"/>
                <a:ea typeface="Arial"/>
                <a:cs typeface="Arial"/>
              </a:rPr>
              <a:t>02  NVIDIA ECOSYSTEM</a:t>
            </a:r>
          </a:p>
        </p:txBody>
      </p:sp>
      <p:sp>
        <p:nvSpPr>
          <p:cNvPr id="2" name="">
            <a:extLst xmlns:a="http://schemas.openxmlformats.org/drawingml/2006/main">
              <a:ext uri="{FF2B5EF4-FFF2-40B4-BE49-F238E27FC236}">
                <a16:creationId xmlns:a16="http://schemas.microsoft.com/office/drawing/2014/main" id="{9E0E93A7-6F4B-48CD-9D6F-105CDFCB6F8A}"/>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A2B"/>
                </a:solidFill>
                <a:latin typeface="Arial"/>
                <a:ea typeface="Arial"/>
                <a:cs typeface="Arial"/>
              </a:defRPr>
            </a:defPPr>
          </a:lstStyle>
          <a:p xmlns:a="http://schemas.openxmlformats.org/drawingml/2006/main">
            <a:pPr algn="l">
              <a:defRPr sz="3300" b="1">
                <a:solidFill>
                  <a:srgbClr val="152A2B"/>
                </a:solidFill>
                <a:latin typeface="Arial"/>
                <a:ea typeface="Arial"/>
                <a:cs typeface="Arial"/>
              </a:defRPr>
            </a:pPr>
            <a:r>
              <a:rPr sz="3300" b="1">
                <a:solidFill>
                  <a:srgbClr val="152A2B"/>
                </a:solidFill>
                <a:latin typeface="Arial"/>
                <a:ea typeface="Arial"/>
                <a:cs typeface="Arial"/>
              </a:rPr>
              <a:t>NVIDIA’s ecosystem provides a deployment path</a:t>
            </a:r>
          </a:p>
        </p:txBody>
      </p:sp>
      <p:sp>
        <p:nvSpPr>
          <p:cNvPr id="3" name="">
            <a:extLst xmlns:a="http://schemas.openxmlformats.org/drawingml/2006/main">
              <a:ext uri="{FF2B5EF4-FFF2-40B4-BE49-F238E27FC236}">
                <a16:creationId xmlns:a16="http://schemas.microsoft.com/office/drawing/2014/main" id="{A5C5B503-44A1-484E-A209-0B39706ADBBF}"/>
              </a:ext>
            </a:extLst>
          </p:cNvPr>
          <p:cNvSpPr>
            <a:spLocks xmlns:a="http://schemas.openxmlformats.org/drawingml/2006/main" noGrp="1"/>
          </p:cNvSpPr>
          <p:nvPr/>
        </p:nvSpPr>
        <p:spPr>
          <a:xfrm xmlns:a="http://schemas.openxmlformats.org/drawingml/2006/main">
            <a:off x="11144250" y="64198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A6D6B"/>
                </a:solidFill>
                <a:latin typeface="Arial"/>
                <a:ea typeface="Arial"/>
                <a:cs typeface="Arial"/>
              </a:defRPr>
            </a:defPPr>
          </a:lstStyle>
          <a:p xmlns:a="http://schemas.openxmlformats.org/drawingml/2006/main">
            <a:pPr algn="r">
              <a:defRPr sz="1200" b="0">
                <a:solidFill>
                  <a:srgbClr val="5A6D6B"/>
                </a:solidFill>
                <a:latin typeface="Arial"/>
                <a:ea typeface="Arial"/>
                <a:cs typeface="Arial"/>
              </a:defRPr>
            </a:pPr>
            <a:r>
              <a:rPr sz="1200" b="0">
                <a:solidFill>
                  <a:srgbClr val="5A6D6B"/>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07B55B02-5F60-48AC-97E9-D154AEB8C640}"/>
              </a:ext>
            </a:extLst>
          </p:cNvPr>
          <p:cNvSpPr>
            <a:spLocks xmlns:a="http://schemas.openxmlformats.org/drawingml/2006/main" noGrp="1"/>
          </p:cNvSpPr>
          <p:nvPr/>
        </p:nvSpPr>
        <p:spPr>
          <a:xfrm xmlns:a="http://schemas.openxmlformats.org/drawingml/2006/main">
            <a:off x="609600" y="1743075"/>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A6D6B"/>
                </a:solidFill>
                <a:latin typeface="Arial"/>
                <a:ea typeface="Arial"/>
                <a:cs typeface="Arial"/>
              </a:defRPr>
            </a:defPPr>
          </a:lstStyle>
          <a:p xmlns:a="http://schemas.openxmlformats.org/drawingml/2006/main">
            <a:pPr algn="l">
              <a:defRPr sz="2025" b="0">
                <a:solidFill>
                  <a:srgbClr val="5A6D6B"/>
                </a:solidFill>
                <a:latin typeface="Arial"/>
                <a:ea typeface="Arial"/>
                <a:cs typeface="Arial"/>
              </a:defRPr>
            </a:pPr>
            <a:r>
              <a:rPr sz="2025" b="0">
                <a:solidFill>
                  <a:srgbClr val="5A6D6B"/>
                </a:solidFill>
                <a:latin typeface="Arial"/>
                <a:ea typeface="Arial"/>
                <a:cs typeface="Arial"/>
              </a:rPr>
              <a:t>Model</a:t>
            </a:r>
          </a:p>
        </p:txBody>
      </p:sp>
      <p:sp>
        <p:nvSpPr>
          <p:cNvPr id="5" name="">
            <a:extLst xmlns:a="http://schemas.openxmlformats.org/drawingml/2006/main">
              <a:ext uri="{FF2B5EF4-FFF2-40B4-BE49-F238E27FC236}">
                <a16:creationId xmlns:a16="http://schemas.microsoft.com/office/drawing/2014/main" id="{F774FC07-8E2A-4A6D-ABE1-BA179DE28228}"/>
              </a:ext>
            </a:extLst>
          </p:cNvPr>
          <p:cNvSpPr>
            <a:spLocks xmlns:a="http://schemas.openxmlformats.org/drawingml/2006/main" noGrp="1"/>
          </p:cNvSpPr>
          <p:nvPr/>
        </p:nvSpPr>
        <p:spPr>
          <a:xfrm xmlns:a="http://schemas.openxmlformats.org/drawingml/2006/main">
            <a:off x="4000500" y="174307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A6D6B"/>
                </a:solidFill>
                <a:latin typeface="Arial"/>
                <a:ea typeface="Arial"/>
                <a:cs typeface="Arial"/>
              </a:defRPr>
            </a:defPPr>
          </a:lstStyle>
          <a:p xmlns:a="http://schemas.openxmlformats.org/drawingml/2006/main">
            <a:pPr algn="l">
              <a:defRPr sz="2025" b="0">
                <a:solidFill>
                  <a:srgbClr val="5A6D6B"/>
                </a:solidFill>
                <a:latin typeface="Arial"/>
                <a:ea typeface="Arial"/>
                <a:cs typeface="Arial"/>
              </a:defRPr>
            </a:pPr>
            <a:r>
              <a:rPr sz="2025" b="0">
                <a:solidFill>
                  <a:srgbClr val="5A6D6B"/>
                </a:solidFill>
                <a:latin typeface="Arial"/>
                <a:ea typeface="Arial"/>
                <a:cs typeface="Arial"/>
              </a:rPr>
              <a:t>GPU execution</a:t>
            </a:r>
          </a:p>
        </p:txBody>
      </p:sp>
      <p:sp>
        <p:nvSpPr>
          <p:cNvPr id="6" name="">
            <a:extLst xmlns:a="http://schemas.openxmlformats.org/drawingml/2006/main">
              <a:ext uri="{FF2B5EF4-FFF2-40B4-BE49-F238E27FC236}">
                <a16:creationId xmlns:a16="http://schemas.microsoft.com/office/drawing/2014/main" id="{FA8BF33C-AC83-4103-A89A-E6C6808872CC}"/>
              </a:ext>
            </a:extLst>
          </p:cNvPr>
          <p:cNvSpPr>
            <a:spLocks xmlns:a="http://schemas.openxmlformats.org/drawingml/2006/main" noGrp="1"/>
          </p:cNvSpPr>
          <p:nvPr/>
        </p:nvSpPr>
        <p:spPr>
          <a:xfrm xmlns:a="http://schemas.openxmlformats.org/drawingml/2006/main">
            <a:off x="8096250" y="174307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A6D6B"/>
                </a:solidFill>
                <a:latin typeface="Arial"/>
                <a:ea typeface="Arial"/>
                <a:cs typeface="Arial"/>
              </a:defRPr>
            </a:defPPr>
          </a:lstStyle>
          <a:p xmlns:a="http://schemas.openxmlformats.org/drawingml/2006/main">
            <a:pPr algn="l">
              <a:defRPr sz="2025" b="0">
                <a:solidFill>
                  <a:srgbClr val="5A6D6B"/>
                </a:solidFill>
                <a:latin typeface="Arial"/>
                <a:ea typeface="Arial"/>
                <a:cs typeface="Arial"/>
              </a:defRPr>
            </a:pPr>
            <a:r>
              <a:rPr sz="2025" b="0">
                <a:solidFill>
                  <a:srgbClr val="5A6D6B"/>
                </a:solidFill>
                <a:latin typeface="Arial"/>
                <a:ea typeface="Arial"/>
                <a:cs typeface="Arial"/>
              </a:rPr>
              <a:t>Service</a:t>
            </a:r>
          </a:p>
        </p:txBody>
      </p:sp>
      <p:sp>
        <p:nvSpPr>
          <p:cNvPr id="7" name="">
            <a:extLst xmlns:a="http://schemas.openxmlformats.org/drawingml/2006/main">
              <a:ext uri="{FF2B5EF4-FFF2-40B4-BE49-F238E27FC236}">
                <a16:creationId xmlns:a16="http://schemas.microsoft.com/office/drawing/2014/main" id="{9CBD85D7-A227-4937-87C7-BE059E95345B}"/>
              </a:ext>
            </a:extLst>
          </p:cNvPr>
          <p:cNvSpPr>
            <a:spLocks xmlns:a="http://schemas.openxmlformats.org/drawingml/2006/main" noGrp="1"/>
          </p:cNvSpPr>
          <p:nvPr/>
        </p:nvSpPr>
        <p:spPr>
          <a:xfrm xmlns:a="http://schemas.openxmlformats.org/drawingml/2006/main">
            <a:off x="609600" y="2476500"/>
            <a:ext cx="2667000" cy="1352550"/>
          </a:xfrm>
          <a:prstGeom xmlns:a="http://schemas.openxmlformats.org/drawingml/2006/main" prst="rect">
            <a:avLst/>
          </a:prstGeom>
          <a:solidFill xmlns:a="http://schemas.openxmlformats.org/drawingml/2006/main">
            <a:srgbClr val="E8F2D9"/>
          </a:solidFill>
          <a:ln xmlns:a="http://schemas.openxmlformats.org/drawingml/2006/main" w="14288">
            <a:solidFill>
              <a:srgbClr val="76B900"/>
            </a:solidFill>
          </a:ln>
        </p:spPr>
        <p:txBody>
          <a:bodyPr xmlns:a="http://schemas.openxmlformats.org/drawingml/2006/main" wrap="square" lIns="114300" tIns="114300" rIns="114300" bIns="114300" anchor="ctr">
            <a:noAutofit/>
          </a:bodyPr>
          <a:lstStyle xmlns:a="http://schemas.openxmlformats.org/drawingml/2006/main">
            <a:defPPr algn="ctr">
              <a:defRPr sz="2475" b="1">
                <a:solidFill>
                  <a:srgbClr val="152A2B"/>
                </a:solidFill>
                <a:latin typeface="Arial"/>
                <a:ea typeface="Arial"/>
                <a:cs typeface="Arial"/>
              </a:defRPr>
            </a:defPPr>
          </a:lstStyle>
          <a:p xmlns:a="http://schemas.openxmlformats.org/drawingml/2006/main">
            <a:pPr algn="ctr">
              <a:defRPr sz="2475" b="1">
                <a:solidFill>
                  <a:srgbClr val="152A2B"/>
                </a:solidFill>
                <a:latin typeface="Arial"/>
                <a:ea typeface="Arial"/>
                <a:cs typeface="Arial"/>
              </a:defRPr>
            </a:pPr>
            <a:r>
              <a:rPr sz="2475" b="1">
                <a:solidFill>
                  <a:srgbClr val="152A2B"/>
                </a:solidFill>
                <a:latin typeface="Arial"/>
                <a:ea typeface="Arial"/>
                <a:cs typeface="Arial"/>
              </a:rPr>
              <a:t>NVIDIA</a:t>
            </a:r>
          </a:p>
          <a:p xmlns:a="http://schemas.openxmlformats.org/drawingml/2006/main">
            <a:pPr algn="ctr">
              <a:defRPr sz="2475" b="1">
                <a:solidFill>
                  <a:srgbClr val="152A2B"/>
                </a:solidFill>
                <a:latin typeface="Arial"/>
                <a:ea typeface="Arial"/>
                <a:cs typeface="Arial"/>
              </a:defRPr>
            </a:pPr>
            <a:r>
              <a:rPr sz="2475" b="1">
                <a:solidFill>
                  <a:srgbClr val="152A2B"/>
                </a:solidFill>
                <a:latin typeface="Arial"/>
                <a:ea typeface="Arial"/>
                <a:cs typeface="Arial"/>
              </a:rPr>
              <a:t>Nemotron</a:t>
            </a:r>
          </a:p>
        </p:txBody>
      </p:sp>
      <p:sp>
        <p:nvSpPr>
          <p:cNvPr id="8" name="">
            <a:extLst xmlns:a="http://schemas.openxmlformats.org/drawingml/2006/main">
              <a:ext uri="{FF2B5EF4-FFF2-40B4-BE49-F238E27FC236}">
                <a16:creationId xmlns:a16="http://schemas.microsoft.com/office/drawing/2014/main" id="{8ECB07E1-7643-4422-A8CD-24771FD048A6}"/>
              </a:ext>
            </a:extLst>
          </p:cNvPr>
          <p:cNvSpPr>
            <a:spLocks xmlns:a="http://schemas.openxmlformats.org/drawingml/2006/main" noGrp="1"/>
          </p:cNvSpPr>
          <p:nvPr/>
        </p:nvSpPr>
        <p:spPr>
          <a:xfrm xmlns:a="http://schemas.openxmlformats.org/drawingml/2006/main">
            <a:off x="4295775" y="2476500"/>
            <a:ext cx="3133725" cy="135255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325" b="1">
                <a:solidFill>
                  <a:srgbClr val="152A2B"/>
                </a:solidFill>
                <a:latin typeface="Arial"/>
                <a:ea typeface="Arial"/>
                <a:cs typeface="Arial"/>
              </a:defRPr>
            </a:defPPr>
          </a:lstStyle>
          <a:p xmlns:a="http://schemas.openxmlformats.org/drawingml/2006/main">
            <a:pPr algn="ctr">
              <a:defRPr sz="2325" b="1">
                <a:solidFill>
                  <a:srgbClr val="152A2B"/>
                </a:solidFill>
                <a:latin typeface="Arial"/>
                <a:ea typeface="Arial"/>
                <a:cs typeface="Arial"/>
              </a:defRPr>
            </a:pPr>
            <a:r>
              <a:rPr sz="2325" b="1">
                <a:solidFill>
                  <a:srgbClr val="152A2B"/>
                </a:solidFill>
                <a:latin typeface="Arial"/>
                <a:ea typeface="Arial"/>
                <a:cs typeface="Arial"/>
              </a:rPr>
              <a:t>CUDA + vLLM</a:t>
            </a:r>
          </a:p>
          <a:p xmlns:a="http://schemas.openxmlformats.org/drawingml/2006/main">
            <a:pPr algn="ctr">
              <a:defRPr sz="2325" b="1">
                <a:solidFill>
                  <a:srgbClr val="152A2B"/>
                </a:solidFill>
                <a:latin typeface="Arial"/>
                <a:ea typeface="Arial"/>
                <a:cs typeface="Arial"/>
              </a:defRPr>
            </a:pPr>
            <a:r>
              <a:rPr sz="2325" b="1">
                <a:solidFill>
                  <a:srgbClr val="152A2B"/>
                </a:solidFill>
                <a:latin typeface="Arial"/>
                <a:ea typeface="Arial"/>
                <a:cs typeface="Arial"/>
              </a:rPr>
              <a:t>NVIDIA A30</a:t>
            </a:r>
          </a:p>
        </p:txBody>
      </p:sp>
      <p:sp>
        <p:nvSpPr>
          <p:cNvPr id="9" name="">
            <a:extLst xmlns:a="http://schemas.openxmlformats.org/drawingml/2006/main">
              <a:ext uri="{FF2B5EF4-FFF2-40B4-BE49-F238E27FC236}">
                <a16:creationId xmlns:a16="http://schemas.microsoft.com/office/drawing/2014/main" id="{3ACC2F2F-DB78-44EA-8E66-C23EF54B3FE8}"/>
              </a:ext>
            </a:extLst>
          </p:cNvPr>
          <p:cNvSpPr>
            <a:spLocks xmlns:a="http://schemas.openxmlformats.org/drawingml/2006/main" noGrp="1"/>
          </p:cNvSpPr>
          <p:nvPr/>
        </p:nvSpPr>
        <p:spPr>
          <a:xfrm xmlns:a="http://schemas.openxmlformats.org/drawingml/2006/main">
            <a:off x="8458200" y="2476500"/>
            <a:ext cx="3124200" cy="1352550"/>
          </a:xfrm>
          <a:prstGeom xmlns:a="http://schemas.openxmlformats.org/drawingml/2006/main" prst="rect">
            <a:avLst/>
          </a:prstGeom>
          <a:solidFill xmlns:a="http://schemas.openxmlformats.org/drawingml/2006/main">
            <a:srgbClr val="E8F2D9"/>
          </a:solidFill>
          <a:ln xmlns:a="http://schemas.openxmlformats.org/drawingml/2006/main" w="14288">
            <a:solidFill>
              <a:srgbClr val="76B900"/>
            </a:solidFill>
          </a:ln>
        </p:spPr>
        <p:txBody>
          <a:bodyPr xmlns:a="http://schemas.openxmlformats.org/drawingml/2006/main" wrap="square" lIns="114300" tIns="114300" rIns="114300" bIns="114300" anchor="ctr">
            <a:noAutofit/>
          </a:bodyPr>
          <a:lstStyle xmlns:a="http://schemas.openxmlformats.org/drawingml/2006/main">
            <a:defPPr algn="ctr">
              <a:defRPr sz="2400" b="1">
                <a:solidFill>
                  <a:srgbClr val="152A2B"/>
                </a:solidFill>
                <a:latin typeface="Arial"/>
                <a:ea typeface="Arial"/>
                <a:cs typeface="Arial"/>
              </a:defRPr>
            </a:defPPr>
          </a:lstStyle>
          <a:p xmlns:a="http://schemas.openxmlformats.org/drawingml/2006/main">
            <a:pPr algn="ctr">
              <a:defRPr sz="2400" b="1">
                <a:solidFill>
                  <a:srgbClr val="152A2B"/>
                </a:solidFill>
                <a:latin typeface="Arial"/>
                <a:ea typeface="Arial"/>
                <a:cs typeface="Arial"/>
              </a:defRPr>
            </a:pPr>
            <a:r>
              <a:rPr sz="2400" b="1">
                <a:solidFill>
                  <a:srgbClr val="152A2B"/>
                </a:solidFill>
                <a:latin typeface="Arial"/>
                <a:ea typeface="Arial"/>
                <a:cs typeface="Arial"/>
              </a:rPr>
              <a:t>NVIDIA NIM</a:t>
            </a:r>
          </a:p>
          <a:p xmlns:a="http://schemas.openxmlformats.org/drawingml/2006/main">
            <a:pPr algn="ctr">
              <a:defRPr sz="2400" b="1">
                <a:solidFill>
                  <a:srgbClr val="152A2B"/>
                </a:solidFill>
                <a:latin typeface="Arial"/>
                <a:ea typeface="Arial"/>
                <a:cs typeface="Arial"/>
              </a:defRPr>
            </a:pPr>
            <a:r>
              <a:rPr sz="2400" b="1">
                <a:solidFill>
                  <a:srgbClr val="152A2B"/>
                </a:solidFill>
                <a:latin typeface="Arial"/>
                <a:ea typeface="Arial"/>
                <a:cs typeface="Arial"/>
              </a:rPr>
              <a:t>Standard API</a:t>
            </a:r>
          </a:p>
        </p:txBody>
      </p:sp>
      <p:sp>
        <p:nvSpPr>
          <p:cNvPr id="12" name="">
            <a:extLst xmlns:a="http://schemas.openxmlformats.org/drawingml/2006/main">
              <a:ext uri="{FF2B5EF4-FFF2-40B4-BE49-F238E27FC236}">
                <a16:creationId xmlns:a16="http://schemas.microsoft.com/office/drawing/2014/main" id="{8067692F-BF72-4BE1-9667-E4E1AEBCD061}"/>
              </a:ext>
            </a:extLst>
          </p:cNvPr>
          <p:cNvSpPr>
            <a:spLocks xmlns:a="http://schemas.openxmlformats.org/drawingml/2006/main" noGrp="1"/>
          </p:cNvSpPr>
          <p:nvPr/>
        </p:nvSpPr>
        <p:spPr>
          <a:xfrm xmlns:a="http://schemas.openxmlformats.org/drawingml/2006/main">
            <a:off x="609600" y="4086225"/>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07F7B"/>
                </a:solidFill>
                <a:latin typeface="Arial"/>
                <a:ea typeface="Arial"/>
                <a:cs typeface="Arial"/>
              </a:defRPr>
            </a:defPPr>
          </a:lstStyle>
          <a:p xmlns:a="http://schemas.openxmlformats.org/drawingml/2006/main">
            <a:pPr algn="l">
              <a:defRPr sz="1950" b="0">
                <a:solidFill>
                  <a:srgbClr val="007F7B"/>
                </a:solidFill>
                <a:latin typeface="Arial"/>
                <a:ea typeface="Arial"/>
                <a:cs typeface="Arial"/>
              </a:defRPr>
            </a:pPr>
            <a:r>
              <a:rPr sz="1950" b="0">
                <a:solidFill>
                  <a:srgbClr val="007F7B"/>
                </a:solidFill>
                <a:latin typeface="Arial"/>
                <a:ea typeface="Arial"/>
                <a:cs typeface="Arial"/>
              </a:rPr>
              <a:t>Used locally</a:t>
            </a:r>
          </a:p>
        </p:txBody>
      </p:sp>
      <p:sp>
        <p:nvSpPr>
          <p:cNvPr id="13" name="">
            <a:extLst xmlns:a="http://schemas.openxmlformats.org/drawingml/2006/main">
              <a:ext uri="{FF2B5EF4-FFF2-40B4-BE49-F238E27FC236}">
                <a16:creationId xmlns:a16="http://schemas.microsoft.com/office/drawing/2014/main" id="{02FAAFD7-D2AF-4159-BB68-B1406C4D33B4}"/>
              </a:ext>
            </a:extLst>
          </p:cNvPr>
          <p:cNvSpPr>
            <a:spLocks xmlns:a="http://schemas.openxmlformats.org/drawingml/2006/main" noGrp="1"/>
          </p:cNvSpPr>
          <p:nvPr/>
        </p:nvSpPr>
        <p:spPr>
          <a:xfrm xmlns:a="http://schemas.openxmlformats.org/drawingml/2006/main">
            <a:off x="4295775" y="408622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A6D6B"/>
                </a:solidFill>
                <a:latin typeface="Arial"/>
                <a:ea typeface="Arial"/>
                <a:cs typeface="Arial"/>
              </a:defRPr>
            </a:defPPr>
          </a:lstStyle>
          <a:p xmlns:a="http://schemas.openxmlformats.org/drawingml/2006/main">
            <a:pPr algn="l">
              <a:defRPr sz="1950" b="0">
                <a:solidFill>
                  <a:srgbClr val="5A6D6B"/>
                </a:solidFill>
                <a:latin typeface="Arial"/>
                <a:ea typeface="Arial"/>
                <a:cs typeface="Arial"/>
              </a:defRPr>
            </a:pPr>
            <a:r>
              <a:rPr sz="1950" b="0">
                <a:solidFill>
                  <a:srgbClr val="5A6D6B"/>
                </a:solidFill>
                <a:latin typeface="Arial"/>
                <a:ea typeface="Arial"/>
                <a:cs typeface="Arial"/>
              </a:rPr>
              <a:t>HPC path implemented</a:t>
            </a:r>
          </a:p>
        </p:txBody>
      </p:sp>
      <p:sp>
        <p:nvSpPr>
          <p:cNvPr id="14" name="">
            <a:extLst xmlns:a="http://schemas.openxmlformats.org/drawingml/2006/main">
              <a:ext uri="{FF2B5EF4-FFF2-40B4-BE49-F238E27FC236}">
                <a16:creationId xmlns:a16="http://schemas.microsoft.com/office/drawing/2014/main" id="{4FD77030-0410-467A-B02C-E0B8F47498A5}"/>
              </a:ext>
            </a:extLst>
          </p:cNvPr>
          <p:cNvSpPr>
            <a:spLocks xmlns:a="http://schemas.openxmlformats.org/drawingml/2006/main" noGrp="1"/>
          </p:cNvSpPr>
          <p:nvPr/>
        </p:nvSpPr>
        <p:spPr>
          <a:xfrm xmlns:a="http://schemas.openxmlformats.org/drawingml/2006/main">
            <a:off x="8458200" y="4086225"/>
            <a:ext cx="3124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9B6523"/>
                </a:solidFill>
                <a:latin typeface="Arial"/>
                <a:ea typeface="Arial"/>
                <a:cs typeface="Arial"/>
              </a:defRPr>
            </a:defPPr>
          </a:lstStyle>
          <a:p xmlns:a="http://schemas.openxmlformats.org/drawingml/2006/main">
            <a:pPr algn="l">
              <a:defRPr sz="1950" b="0">
                <a:solidFill>
                  <a:srgbClr val="9B6523"/>
                </a:solidFill>
                <a:latin typeface="Arial"/>
                <a:ea typeface="Arial"/>
                <a:cs typeface="Arial"/>
              </a:defRPr>
            </a:pPr>
            <a:r>
              <a:rPr sz="1950" b="0">
                <a:solidFill>
                  <a:srgbClr val="9B6523"/>
                </a:solidFill>
                <a:latin typeface="Arial"/>
                <a:ea typeface="Arial"/>
                <a:cs typeface="Arial"/>
              </a:rPr>
              <a:t>Next integration</a:t>
            </a:r>
          </a:p>
        </p:txBody>
      </p:sp>
      <p:sp>
        <p:nvSpPr>
          <p:cNvPr id="15" name="">
            <a:extLst xmlns:a="http://schemas.openxmlformats.org/drawingml/2006/main">
              <a:ext uri="{FF2B5EF4-FFF2-40B4-BE49-F238E27FC236}">
                <a16:creationId xmlns:a16="http://schemas.microsoft.com/office/drawing/2014/main" id="{3CE98319-22A8-4767-8AC4-01FEA0F78F55}"/>
              </a:ext>
            </a:extLst>
          </p:cNvPr>
          <p:cNvSpPr>
            <a:spLocks xmlns:a="http://schemas.openxmlformats.org/drawingml/2006/main" noGrp="1"/>
          </p:cNvSpPr>
          <p:nvPr/>
        </p:nvSpPr>
        <p:spPr>
          <a:xfrm xmlns:a="http://schemas.openxmlformats.org/drawingml/2006/main">
            <a:off x="609600" y="4772025"/>
            <a:ext cx="10972800" cy="9525"/>
          </a:xfrm>
          <a:prstGeom xmlns:a="http://schemas.openxmlformats.org/drawingml/2006/main" prst="rect">
            <a:avLst/>
          </a:prstGeom>
          <a:solidFill xmlns:a="http://schemas.openxmlformats.org/drawingml/2006/main">
            <a:srgbClr val="C7D3CD"/>
          </a:solidFill>
          <a:ln xmlns:a="http://schemas.openxmlformats.org/drawingml/2006/main" w="14288">
            <a:solidFill>
              <a:srgbClr val="C7D3CD"/>
            </a:solidFill>
          </a:ln>
        </p:spPr>
      </p:sp>
      <p:sp>
        <p:nvSpPr>
          <p:cNvPr id="16" name="">
            <a:extLst xmlns:a="http://schemas.openxmlformats.org/drawingml/2006/main">
              <a:ext uri="{FF2B5EF4-FFF2-40B4-BE49-F238E27FC236}">
                <a16:creationId xmlns:a16="http://schemas.microsoft.com/office/drawing/2014/main" id="{0798FE9F-9DF7-41BF-B520-102C4392F22A}"/>
              </a:ext>
            </a:extLst>
          </p:cNvPr>
          <p:cNvSpPr>
            <a:spLocks xmlns:a="http://schemas.openxmlformats.org/drawingml/2006/main" noGrp="1"/>
          </p:cNvSpPr>
          <p:nvPr/>
        </p:nvSpPr>
        <p:spPr>
          <a:xfrm xmlns:a="http://schemas.openxmlformats.org/drawingml/2006/main">
            <a:off x="609600" y="516255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52A2B"/>
                </a:solidFill>
                <a:latin typeface="Arial"/>
                <a:ea typeface="Arial"/>
                <a:cs typeface="Arial"/>
              </a:defRPr>
            </a:defPPr>
          </a:lstStyle>
          <a:p xmlns:a="http://schemas.openxmlformats.org/drawingml/2006/main">
            <a:pPr algn="l">
              <a:defRPr sz="2025" b="1">
                <a:solidFill>
                  <a:srgbClr val="152A2B"/>
                </a:solidFill>
                <a:latin typeface="Arial"/>
                <a:ea typeface="Arial"/>
                <a:cs typeface="Arial"/>
              </a:defRPr>
            </a:pPr>
            <a:r>
              <a:rPr sz="2025" b="1">
                <a:solidFill>
                  <a:srgbClr val="152A2B"/>
                </a:solidFill>
                <a:latin typeface="Arial"/>
                <a:ea typeface="Arial"/>
                <a:cs typeface="Arial"/>
              </a:rPr>
              <a:t>Future options</a:t>
            </a:r>
          </a:p>
        </p:txBody>
      </p:sp>
      <p:sp>
        <p:nvSpPr>
          <p:cNvPr id="17" name="">
            <a:extLst xmlns:a="http://schemas.openxmlformats.org/drawingml/2006/main">
              <a:ext uri="{FF2B5EF4-FFF2-40B4-BE49-F238E27FC236}">
                <a16:creationId xmlns:a16="http://schemas.microsoft.com/office/drawing/2014/main" id="{C07A8A55-C7BC-42E9-8AE6-D712906AAEDA}"/>
              </a:ext>
            </a:extLst>
          </p:cNvPr>
          <p:cNvSpPr>
            <a:spLocks xmlns:a="http://schemas.openxmlformats.org/drawingml/2006/main" noGrp="1"/>
          </p:cNvSpPr>
          <p:nvPr/>
        </p:nvSpPr>
        <p:spPr>
          <a:xfrm xmlns:a="http://schemas.openxmlformats.org/drawingml/2006/main">
            <a:off x="3438525" y="5162550"/>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7F7B"/>
                </a:solidFill>
                <a:latin typeface="Arial"/>
                <a:ea typeface="Arial"/>
                <a:cs typeface="Arial"/>
              </a:defRPr>
            </a:defPPr>
          </a:lstStyle>
          <a:p xmlns:a="http://schemas.openxmlformats.org/drawingml/2006/main">
            <a:pPr algn="l">
              <a:defRPr sz="2025" b="0">
                <a:solidFill>
                  <a:srgbClr val="007F7B"/>
                </a:solidFill>
                <a:latin typeface="Arial"/>
                <a:ea typeface="Arial"/>
                <a:cs typeface="Arial"/>
              </a:defRPr>
            </a:pPr>
            <a:r>
              <a:rPr sz="2025" b="0">
                <a:solidFill>
                  <a:srgbClr val="007F7B"/>
                </a:solidFill>
                <a:latin typeface="Arial"/>
                <a:ea typeface="Arial"/>
                <a:cs typeface="Arial"/>
              </a:rPr>
              <a:t>Retrieval for literature</a:t>
            </a:r>
          </a:p>
        </p:txBody>
      </p:sp>
      <p:sp>
        <p:nvSpPr>
          <p:cNvPr id="18" name="">
            <a:extLst xmlns:a="http://schemas.openxmlformats.org/drawingml/2006/main">
              <a:ext uri="{FF2B5EF4-FFF2-40B4-BE49-F238E27FC236}">
                <a16:creationId xmlns:a16="http://schemas.microsoft.com/office/drawing/2014/main" id="{13593810-7A56-43F4-B9B0-8C862003BB84}"/>
              </a:ext>
            </a:extLst>
          </p:cNvPr>
          <p:cNvSpPr>
            <a:spLocks xmlns:a="http://schemas.openxmlformats.org/drawingml/2006/main" noGrp="1"/>
          </p:cNvSpPr>
          <p:nvPr/>
        </p:nvSpPr>
        <p:spPr>
          <a:xfrm xmlns:a="http://schemas.openxmlformats.org/drawingml/2006/main">
            <a:off x="7829550" y="5162550"/>
            <a:ext cx="3752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7F7B"/>
                </a:solidFill>
                <a:latin typeface="Arial"/>
                <a:ea typeface="Arial"/>
                <a:cs typeface="Arial"/>
              </a:defRPr>
            </a:defPPr>
          </a:lstStyle>
          <a:p xmlns:a="http://schemas.openxmlformats.org/drawingml/2006/main">
            <a:pPr algn="l">
              <a:defRPr sz="2025" b="0">
                <a:solidFill>
                  <a:srgbClr val="007F7B"/>
                </a:solidFill>
                <a:latin typeface="Arial"/>
                <a:ea typeface="Arial"/>
                <a:cs typeface="Arial"/>
              </a:defRPr>
            </a:pPr>
            <a:r>
              <a:rPr sz="2025" b="0">
                <a:solidFill>
                  <a:srgbClr val="007F7B"/>
                </a:solidFill>
                <a:latin typeface="Arial"/>
                <a:ea typeface="Arial"/>
                <a:cs typeface="Arial"/>
              </a:rPr>
              <a:t>Vision models for H&amp;E</a:t>
            </a:r>
          </a:p>
        </p:txBody>
      </p:sp>
      <p:sp>
        <p:nvSpPr>
          <p:cNvPr id="19" name="">
            <a:extLst xmlns:a="http://schemas.openxmlformats.org/drawingml/2006/main">
              <a:ext uri="{FF2B5EF4-FFF2-40B4-BE49-F238E27FC236}">
                <a16:creationId xmlns:a16="http://schemas.microsoft.com/office/drawing/2014/main" id="{3FE5AC6E-1466-4F75-A738-C5CE5584F181}"/>
              </a:ext>
            </a:extLst>
          </p:cNvPr>
          <p:cNvSpPr>
            <a:spLocks xmlns:a="http://schemas.openxmlformats.org/drawingml/2006/main" noGrp="1"/>
          </p:cNvSpPr>
          <p:nvPr/>
        </p:nvSpPr>
        <p:spPr>
          <a:xfrm xmlns:a="http://schemas.openxmlformats.org/drawingml/2006/main">
            <a:off x="609600" y="60102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A6D6B"/>
                </a:solidFill>
                <a:latin typeface="Arial"/>
                <a:ea typeface="Arial"/>
                <a:cs typeface="Arial"/>
              </a:defRPr>
            </a:defPPr>
          </a:lstStyle>
          <a:p xmlns:a="http://schemas.openxmlformats.org/drawingml/2006/main">
            <a:pPr algn="l">
              <a:defRPr sz="1575" b="0">
                <a:solidFill>
                  <a:srgbClr val="5A6D6B"/>
                </a:solidFill>
                <a:latin typeface="Arial"/>
                <a:ea typeface="Arial"/>
                <a:cs typeface="Arial"/>
              </a:defRPr>
            </a:pPr>
            <a:r>
              <a:rPr sz="1575" b="0">
                <a:solidFill>
                  <a:srgbClr val="5A6D6B"/>
                </a:solidFill>
                <a:latin typeface="Arial"/>
                <a:ea typeface="Arial"/>
                <a:cs typeface="Arial"/>
              </a:rPr>
              <a:t>NIM adds serving and deployment options. The project retains its evidence and review harness.</a:t>
            </a:r>
          </a:p>
        </p:txBody>
      </p:sp>
    </p:spTree>
    <p:extLst>
      <p:ext uri="{BB962C8B-B14F-4D97-AF65-F5344CB8AC3E}">
        <p14:creationId xmlns:p14="http://schemas.microsoft.com/office/powerpoint/2010/main" val="237986638"/>
      </p:ext>
    </p:extLst>
  </p:cSld>
</p:sld>
</file>

<file path=ppt/slides/slide15.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07FBE8E8-8C45-4B10-AC59-0C82F8E2A31B}"/>
              </a:ext>
            </a:extLst>
          </p:cNvPr>
          <p:cNvCxnSpPr>
            <a:stCxn xmlns:a="http://schemas.openxmlformats.org/drawingml/2006/main" id="6" idx="3"/>
            <a:endCxn xmlns:a="http://schemas.openxmlformats.org/drawingml/2006/main" id="7" idx="1"/>
          </p:cNvCxnSpPr>
          <p:nvPr/>
        </p:nvCxnSpPr>
        <p:spPr>
          <a:xfrm xmlns:a="http://schemas.openxmlformats.org/drawingml/2006/main">
            <a:off x="8686800" y="2457450"/>
            <a:ext cx="609600" cy="0"/>
          </a:xfrm>
          <a:prstGeom xmlns:a="http://schemas.openxmlformats.org/drawingml/2006/main" prst="straightConnector1">
            <a:avLst/>
          </a:prstGeom>
          <a:ln xmlns:a="http://schemas.openxmlformats.org/drawingml/2006/main" w="23813">
            <a:solidFill>
              <a:srgbClr val="5A6D6B"/>
            </a:solidFill>
            <a:prstDash val="dash"/>
            <a:tailEnd type="arrow" w="med" len="med"/>
          </a:ln>
        </p:spPr>
      </p:cxnSp>
      <p:cxnSp>
        <p:nvCxnSpPr>
          <p:cNvPr id="9" name="">
            <a:extLst xmlns:a="http://schemas.openxmlformats.org/drawingml/2006/main">
              <a:ext uri="{FF2B5EF4-FFF2-40B4-BE49-F238E27FC236}">
                <a16:creationId xmlns:a16="http://schemas.microsoft.com/office/drawing/2014/main" id="{E65D2B6C-666E-48BD-9295-4E6B6EF330CE}"/>
              </a:ext>
            </a:extLst>
          </p:cNvPr>
          <p:cNvCxnSpPr>
            <a:stCxn xmlns:a="http://schemas.openxmlformats.org/drawingml/2006/main" id="5" idx="3"/>
            <a:endCxn xmlns:a="http://schemas.openxmlformats.org/drawingml/2006/main" id="6" idx="1"/>
          </p:cNvCxnSpPr>
          <p:nvPr/>
        </p:nvCxnSpPr>
        <p:spPr>
          <a:xfrm xmlns:a="http://schemas.openxmlformats.org/drawingml/2006/main">
            <a:off x="5791200" y="2457450"/>
            <a:ext cx="609600" cy="0"/>
          </a:xfrm>
          <a:prstGeom xmlns:a="http://schemas.openxmlformats.org/drawingml/2006/main" prst="straightConnector1">
            <a:avLst/>
          </a:prstGeom>
          <a:ln xmlns:a="http://schemas.openxmlformats.org/drawingml/2006/main" w="23813">
            <a:solidFill>
              <a:srgbClr val="5A6D6B"/>
            </a:solidFill>
            <a:prstDash val="dash"/>
            <a:tailEnd type="arrow" w="med" len="med"/>
          </a:ln>
        </p:spPr>
      </p:cxnSp>
      <p:cxnSp>
        <p:nvCxnSpPr>
          <p:cNvPr id="8" name="">
            <a:extLst xmlns:a="http://schemas.openxmlformats.org/drawingml/2006/main">
              <a:ext uri="{FF2B5EF4-FFF2-40B4-BE49-F238E27FC236}">
                <a16:creationId xmlns:a16="http://schemas.microsoft.com/office/drawing/2014/main" id="{C29CCCF0-BD5B-4E53-935C-A9DBC94D9531}"/>
              </a:ext>
            </a:extLst>
          </p:cNvPr>
          <p:cNvCxnSpPr>
            <a:stCxn xmlns:a="http://schemas.openxmlformats.org/drawingml/2006/main" id="4" idx="3"/>
            <a:endCxn xmlns:a="http://schemas.openxmlformats.org/drawingml/2006/main" id="5" idx="1"/>
          </p:cNvCxnSpPr>
          <p:nvPr/>
        </p:nvCxnSpPr>
        <p:spPr>
          <a:xfrm xmlns:a="http://schemas.openxmlformats.org/drawingml/2006/main">
            <a:off x="2895600" y="2457450"/>
            <a:ext cx="609600" cy="0"/>
          </a:xfrm>
          <a:prstGeom xmlns:a="http://schemas.openxmlformats.org/drawingml/2006/main" prst="straightConnector1">
            <a:avLst/>
          </a:prstGeom>
          <a:ln xmlns:a="http://schemas.openxmlformats.org/drawingml/2006/main" w="23813">
            <a:solidFill>
              <a:srgbClr val="5A6D6B"/>
            </a:solidFill>
            <a:prstDash val="dash"/>
            <a:tailEnd type="arrow" w="med" len="med"/>
          </a:ln>
        </p:spPr>
      </p:cxnSp>
      <p:sp>
        <p:nvSpPr>
          <p:cNvPr id="19" name="">
            <a:extLst xmlns:a="http://schemas.openxmlformats.org/drawingml/2006/main">
              <a:ext uri="{FF2B5EF4-FFF2-40B4-BE49-F238E27FC236}">
                <a16:creationId xmlns:a16="http://schemas.microsoft.com/office/drawing/2014/main" id="{55EF421F-9E7E-44A9-9B34-A4B2AAEC2B93}"/>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F7B"/>
                </a:solidFill>
                <a:latin typeface="Arial"/>
                <a:ea typeface="Arial"/>
                <a:cs typeface="Arial"/>
              </a:defRPr>
            </a:defPPr>
          </a:lstStyle>
          <a:p xmlns:a="http://schemas.openxmlformats.org/drawingml/2006/main">
            <a:pPr algn="l">
              <a:defRPr sz="1350" b="1">
                <a:solidFill>
                  <a:srgbClr val="007F7B"/>
                </a:solidFill>
                <a:latin typeface="Arial"/>
                <a:ea typeface="Arial"/>
                <a:cs typeface="Arial"/>
              </a:defRPr>
            </a:pPr>
            <a:r>
              <a:rPr sz="1350" b="1">
                <a:solidFill>
                  <a:srgbClr val="007F7B"/>
                </a:solidFill>
                <a:latin typeface="Arial"/>
                <a:ea typeface="Arial"/>
                <a:cs typeface="Arial"/>
              </a:rPr>
              <a:t>02  PROPOSED NVIDIA SERVING</a:t>
            </a:r>
          </a:p>
        </p:txBody>
      </p:sp>
      <p:sp>
        <p:nvSpPr>
          <p:cNvPr id="2" name="">
            <a:extLst xmlns:a="http://schemas.openxmlformats.org/drawingml/2006/main">
              <a:ext uri="{FF2B5EF4-FFF2-40B4-BE49-F238E27FC236}">
                <a16:creationId xmlns:a16="http://schemas.microsoft.com/office/drawing/2014/main" id="{2A5529FB-E45C-4C59-94DC-6551D611F867}"/>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A2B"/>
                </a:solidFill>
                <a:latin typeface="Arial"/>
                <a:ea typeface="Arial"/>
                <a:cs typeface="Arial"/>
              </a:defRPr>
            </a:defPPr>
          </a:lstStyle>
          <a:p xmlns:a="http://schemas.openxmlformats.org/drawingml/2006/main">
            <a:pPr algn="l">
              <a:defRPr sz="3300" b="1">
                <a:solidFill>
                  <a:srgbClr val="152A2B"/>
                </a:solidFill>
                <a:latin typeface="Arial"/>
                <a:ea typeface="Arial"/>
                <a:cs typeface="Arial"/>
              </a:defRPr>
            </a:pPr>
            <a:r>
              <a:rPr sz="3300" b="1">
                <a:solidFill>
                  <a:srgbClr val="152A2B"/>
                </a:solidFill>
                <a:latin typeface="Arial"/>
                <a:ea typeface="Arial"/>
                <a:cs typeface="Arial"/>
              </a:rPr>
              <a:t>NIM packages serving for deployment and scale</a:t>
            </a:r>
          </a:p>
        </p:txBody>
      </p:sp>
      <p:sp>
        <p:nvSpPr>
          <p:cNvPr id="3" name="">
            <a:extLst xmlns:a="http://schemas.openxmlformats.org/drawingml/2006/main">
              <a:ext uri="{FF2B5EF4-FFF2-40B4-BE49-F238E27FC236}">
                <a16:creationId xmlns:a16="http://schemas.microsoft.com/office/drawing/2014/main" id="{1421EF9A-D7CF-4C10-A4FB-0B6FAD4652EA}"/>
              </a:ext>
            </a:extLst>
          </p:cNvPr>
          <p:cNvSpPr>
            <a:spLocks xmlns:a="http://schemas.openxmlformats.org/drawingml/2006/main" noGrp="1"/>
          </p:cNvSpPr>
          <p:nvPr/>
        </p:nvSpPr>
        <p:spPr>
          <a:xfrm xmlns:a="http://schemas.openxmlformats.org/drawingml/2006/main">
            <a:off x="11144250" y="64198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A6D6B"/>
                </a:solidFill>
                <a:latin typeface="Arial"/>
                <a:ea typeface="Arial"/>
                <a:cs typeface="Arial"/>
              </a:defRPr>
            </a:defPPr>
          </a:lstStyle>
          <a:p xmlns:a="http://schemas.openxmlformats.org/drawingml/2006/main">
            <a:pPr algn="r">
              <a:defRPr sz="1200" b="0">
                <a:solidFill>
                  <a:srgbClr val="5A6D6B"/>
                </a:solidFill>
                <a:latin typeface="Arial"/>
                <a:ea typeface="Arial"/>
                <a:cs typeface="Arial"/>
              </a:defRPr>
            </a:pPr>
            <a:r>
              <a:rPr sz="1200" b="0">
                <a:solidFill>
                  <a:srgbClr val="5A6D6B"/>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AB7E84AA-1100-4A7F-9C4D-019F3C9A0F78}"/>
              </a:ext>
            </a:extLst>
          </p:cNvPr>
          <p:cNvSpPr>
            <a:spLocks xmlns:a="http://schemas.openxmlformats.org/drawingml/2006/main" noGrp="1"/>
          </p:cNvSpPr>
          <p:nvPr/>
        </p:nvSpPr>
        <p:spPr>
          <a:xfrm xmlns:a="http://schemas.openxmlformats.org/drawingml/2006/main">
            <a:off x="609600" y="2000250"/>
            <a:ext cx="2286000" cy="9144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Standard API</a:t>
            </a:r>
          </a:p>
        </p:txBody>
      </p:sp>
      <p:sp>
        <p:nvSpPr>
          <p:cNvPr id="5" name="">
            <a:extLst xmlns:a="http://schemas.openxmlformats.org/drawingml/2006/main">
              <a:ext uri="{FF2B5EF4-FFF2-40B4-BE49-F238E27FC236}">
                <a16:creationId xmlns:a16="http://schemas.microsoft.com/office/drawing/2014/main" id="{4E0484D9-6DDB-474A-8598-A3A30AE98BE8}"/>
              </a:ext>
            </a:extLst>
          </p:cNvPr>
          <p:cNvSpPr>
            <a:spLocks xmlns:a="http://schemas.openxmlformats.org/drawingml/2006/main" noGrp="1"/>
          </p:cNvSpPr>
          <p:nvPr/>
        </p:nvSpPr>
        <p:spPr>
          <a:xfrm xmlns:a="http://schemas.openxmlformats.org/drawingml/2006/main">
            <a:off x="3505200" y="2000250"/>
            <a:ext cx="2286000" cy="9144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Portable container</a:t>
            </a:r>
          </a:p>
        </p:txBody>
      </p:sp>
      <p:sp>
        <p:nvSpPr>
          <p:cNvPr id="6" name="">
            <a:extLst xmlns:a="http://schemas.openxmlformats.org/drawingml/2006/main">
              <a:ext uri="{FF2B5EF4-FFF2-40B4-BE49-F238E27FC236}">
                <a16:creationId xmlns:a16="http://schemas.microsoft.com/office/drawing/2014/main" id="{54443906-C909-4035-B7FC-D5D407043803}"/>
              </a:ext>
            </a:extLst>
          </p:cNvPr>
          <p:cNvSpPr>
            <a:spLocks xmlns:a="http://schemas.openxmlformats.org/drawingml/2006/main" noGrp="1"/>
          </p:cNvSpPr>
          <p:nvPr/>
        </p:nvSpPr>
        <p:spPr>
          <a:xfrm xmlns:a="http://schemas.openxmlformats.org/drawingml/2006/main">
            <a:off x="6400800" y="2000250"/>
            <a:ext cx="2286000" cy="9144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GPU-optimized</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model profile</a:t>
            </a:r>
          </a:p>
        </p:txBody>
      </p:sp>
      <p:sp>
        <p:nvSpPr>
          <p:cNvPr id="7" name="">
            <a:extLst xmlns:a="http://schemas.openxmlformats.org/drawingml/2006/main">
              <a:ext uri="{FF2B5EF4-FFF2-40B4-BE49-F238E27FC236}">
                <a16:creationId xmlns:a16="http://schemas.microsoft.com/office/drawing/2014/main" id="{6F87A78D-F8C0-44DC-B298-A731FF07AC8F}"/>
              </a:ext>
            </a:extLst>
          </p:cNvPr>
          <p:cNvSpPr>
            <a:spLocks xmlns:a="http://schemas.openxmlformats.org/drawingml/2006/main" noGrp="1"/>
          </p:cNvSpPr>
          <p:nvPr/>
        </p:nvSpPr>
        <p:spPr>
          <a:xfrm xmlns:a="http://schemas.openxmlformats.org/drawingml/2006/main">
            <a:off x="9296400" y="2000250"/>
            <a:ext cx="2286000" cy="914400"/>
          </a:xfrm>
          <a:prstGeom xmlns:a="http://schemas.openxmlformats.org/drawingml/2006/main" prst="rect">
            <a:avLst/>
          </a:prstGeom>
          <a:solidFill xmlns:a="http://schemas.openxmlformats.org/drawingml/2006/main">
            <a:srgbClr val="E8F2D9"/>
          </a:solidFill>
          <a:ln xmlns:a="http://schemas.openxmlformats.org/drawingml/2006/main" w="14288">
            <a:solidFill>
              <a:srgbClr val="76B900"/>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Managed</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GPU service</a:t>
            </a:r>
          </a:p>
        </p:txBody>
      </p:sp>
      <p:sp>
        <p:nvSpPr>
          <p:cNvPr id="11" name="">
            <a:extLst xmlns:a="http://schemas.openxmlformats.org/drawingml/2006/main">
              <a:ext uri="{FF2B5EF4-FFF2-40B4-BE49-F238E27FC236}">
                <a16:creationId xmlns:a16="http://schemas.microsoft.com/office/drawing/2014/main" id="{05C0C84A-1996-44E2-929F-F4D1FA678452}"/>
              </a:ext>
            </a:extLst>
          </p:cNvPr>
          <p:cNvSpPr>
            <a:spLocks xmlns:a="http://schemas.openxmlformats.org/drawingml/2006/main" noGrp="1"/>
          </p:cNvSpPr>
          <p:nvPr/>
        </p:nvSpPr>
        <p:spPr>
          <a:xfrm xmlns:a="http://schemas.openxmlformats.org/drawingml/2006/main">
            <a:off x="609600" y="3381375"/>
            <a:ext cx="23431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F7B"/>
                </a:solidFill>
                <a:latin typeface="Arial"/>
                <a:ea typeface="Arial"/>
                <a:cs typeface="Arial"/>
              </a:defRPr>
            </a:defPPr>
          </a:lstStyle>
          <a:p xmlns:a="http://schemas.openxmlformats.org/drawingml/2006/main">
            <a:pPr algn="l">
              <a:defRPr sz="2025" b="1">
                <a:solidFill>
                  <a:srgbClr val="007F7B"/>
                </a:solidFill>
                <a:latin typeface="Arial"/>
                <a:ea typeface="Arial"/>
                <a:cs typeface="Arial"/>
              </a:defRPr>
            </a:pPr>
            <a:r>
              <a:rPr sz="2025" b="1">
                <a:solidFill>
                  <a:srgbClr val="007F7B"/>
                </a:solidFill>
                <a:latin typeface="Arial"/>
                <a:ea typeface="Arial"/>
                <a:cs typeface="Arial"/>
              </a:rPr>
              <a:t>Application adapter</a:t>
            </a:r>
          </a:p>
        </p:txBody>
      </p:sp>
      <p:sp>
        <p:nvSpPr>
          <p:cNvPr id="12" name="">
            <a:extLst xmlns:a="http://schemas.openxmlformats.org/drawingml/2006/main">
              <a:ext uri="{FF2B5EF4-FFF2-40B4-BE49-F238E27FC236}">
                <a16:creationId xmlns:a16="http://schemas.microsoft.com/office/drawing/2014/main" id="{4D164E26-540F-4CB1-882F-CAFEBA6F2167}"/>
              </a:ext>
            </a:extLst>
          </p:cNvPr>
          <p:cNvSpPr>
            <a:spLocks xmlns:a="http://schemas.openxmlformats.org/drawingml/2006/main" noGrp="1"/>
          </p:cNvSpPr>
          <p:nvPr/>
        </p:nvSpPr>
        <p:spPr>
          <a:xfrm xmlns:a="http://schemas.openxmlformats.org/drawingml/2006/main">
            <a:off x="3505200" y="3381375"/>
            <a:ext cx="2343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F7B"/>
                </a:solidFill>
                <a:latin typeface="Arial"/>
                <a:ea typeface="Arial"/>
                <a:cs typeface="Arial"/>
              </a:defRPr>
            </a:defPPr>
          </a:lstStyle>
          <a:p xmlns:a="http://schemas.openxmlformats.org/drawingml/2006/main">
            <a:pPr algn="l">
              <a:defRPr sz="2025" b="1">
                <a:solidFill>
                  <a:srgbClr val="007F7B"/>
                </a:solidFill>
                <a:latin typeface="Arial"/>
                <a:ea typeface="Arial"/>
                <a:cs typeface="Arial"/>
              </a:defRPr>
            </a:pPr>
            <a:r>
              <a:rPr sz="2025" b="1">
                <a:solidFill>
                  <a:srgbClr val="007F7B"/>
                </a:solidFill>
                <a:latin typeface="Arial"/>
                <a:ea typeface="Arial"/>
                <a:cs typeface="Arial"/>
              </a:rPr>
              <a:t>Repeatable</a:t>
            </a:r>
          </a:p>
          <a:p xmlns:a="http://schemas.openxmlformats.org/drawingml/2006/main">
            <a:pPr algn="l">
              <a:defRPr sz="2025" b="1">
                <a:solidFill>
                  <a:srgbClr val="007F7B"/>
                </a:solidFill>
                <a:latin typeface="Arial"/>
                <a:ea typeface="Arial"/>
                <a:cs typeface="Arial"/>
              </a:defRPr>
            </a:pPr>
            <a:r>
              <a:rPr sz="2025" b="1">
                <a:solidFill>
                  <a:srgbClr val="007F7B"/>
                </a:solidFill>
                <a:latin typeface="Arial"/>
                <a:ea typeface="Arial"/>
                <a:cs typeface="Arial"/>
              </a:rPr>
              <a:t>deployment</a:t>
            </a:r>
          </a:p>
        </p:txBody>
      </p:sp>
      <p:sp>
        <p:nvSpPr>
          <p:cNvPr id="13" name="">
            <a:extLst xmlns:a="http://schemas.openxmlformats.org/drawingml/2006/main">
              <a:ext uri="{FF2B5EF4-FFF2-40B4-BE49-F238E27FC236}">
                <a16:creationId xmlns:a16="http://schemas.microsoft.com/office/drawing/2014/main" id="{1DDE6897-E3E8-49D7-BF6F-A03681C6FF73}"/>
              </a:ext>
            </a:extLst>
          </p:cNvPr>
          <p:cNvSpPr>
            <a:spLocks xmlns:a="http://schemas.openxmlformats.org/drawingml/2006/main" noGrp="1"/>
          </p:cNvSpPr>
          <p:nvPr/>
        </p:nvSpPr>
        <p:spPr>
          <a:xfrm xmlns:a="http://schemas.openxmlformats.org/drawingml/2006/main">
            <a:off x="6400800" y="3381375"/>
            <a:ext cx="2343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F7B"/>
                </a:solidFill>
                <a:latin typeface="Arial"/>
                <a:ea typeface="Arial"/>
                <a:cs typeface="Arial"/>
              </a:defRPr>
            </a:defPPr>
          </a:lstStyle>
          <a:p xmlns:a="http://schemas.openxmlformats.org/drawingml/2006/main">
            <a:pPr algn="l">
              <a:defRPr sz="2025" b="1">
                <a:solidFill>
                  <a:srgbClr val="007F7B"/>
                </a:solidFill>
                <a:latin typeface="Arial"/>
                <a:ea typeface="Arial"/>
                <a:cs typeface="Arial"/>
              </a:defRPr>
            </a:pPr>
            <a:r>
              <a:rPr sz="2025" b="1">
                <a:solidFill>
                  <a:srgbClr val="007F7B"/>
                </a:solidFill>
                <a:latin typeface="Arial"/>
                <a:ea typeface="Arial"/>
                <a:cs typeface="Arial"/>
              </a:rPr>
              <a:t>Qualified execution</a:t>
            </a:r>
          </a:p>
          <a:p xmlns:a="http://schemas.openxmlformats.org/drawingml/2006/main">
            <a:pPr algn="l">
              <a:defRPr sz="2025" b="1">
                <a:solidFill>
                  <a:srgbClr val="007F7B"/>
                </a:solidFill>
                <a:latin typeface="Arial"/>
                <a:ea typeface="Arial"/>
                <a:cs typeface="Arial"/>
              </a:defRPr>
            </a:pPr>
            <a:r>
              <a:rPr sz="2025" b="1">
                <a:solidFill>
                  <a:srgbClr val="007F7B"/>
                </a:solidFill>
                <a:latin typeface="Arial"/>
                <a:ea typeface="Arial"/>
                <a:cs typeface="Arial"/>
              </a:rPr>
              <a:t>engine</a:t>
            </a:r>
          </a:p>
        </p:txBody>
      </p:sp>
      <p:sp>
        <p:nvSpPr>
          <p:cNvPr id="14" name="">
            <a:extLst xmlns:a="http://schemas.openxmlformats.org/drawingml/2006/main">
              <a:ext uri="{FF2B5EF4-FFF2-40B4-BE49-F238E27FC236}">
                <a16:creationId xmlns:a16="http://schemas.microsoft.com/office/drawing/2014/main" id="{8BBD3AEF-F25B-4AFA-B3B1-073E09D1F52D}"/>
              </a:ext>
            </a:extLst>
          </p:cNvPr>
          <p:cNvSpPr>
            <a:spLocks xmlns:a="http://schemas.openxmlformats.org/drawingml/2006/main" noGrp="1"/>
          </p:cNvSpPr>
          <p:nvPr/>
        </p:nvSpPr>
        <p:spPr>
          <a:xfrm xmlns:a="http://schemas.openxmlformats.org/drawingml/2006/main">
            <a:off x="9296400" y="3381375"/>
            <a:ext cx="228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F7B"/>
                </a:solidFill>
                <a:latin typeface="Arial"/>
                <a:ea typeface="Arial"/>
                <a:cs typeface="Arial"/>
              </a:defRPr>
            </a:defPPr>
          </a:lstStyle>
          <a:p xmlns:a="http://schemas.openxmlformats.org/drawingml/2006/main">
            <a:pPr algn="l">
              <a:defRPr sz="2025" b="1">
                <a:solidFill>
                  <a:srgbClr val="007F7B"/>
                </a:solidFill>
                <a:latin typeface="Arial"/>
                <a:ea typeface="Arial"/>
                <a:cs typeface="Arial"/>
              </a:defRPr>
            </a:pPr>
            <a:r>
              <a:rPr sz="2025" b="1">
                <a:solidFill>
                  <a:srgbClr val="007F7B"/>
                </a:solidFill>
                <a:latin typeface="Arial"/>
                <a:ea typeface="Arial"/>
                <a:cs typeface="Arial"/>
              </a:rPr>
              <a:t>Metrics +</a:t>
            </a:r>
          </a:p>
          <a:p xmlns:a="http://schemas.openxmlformats.org/drawingml/2006/main">
            <a:pPr algn="l">
              <a:defRPr sz="2025" b="1">
                <a:solidFill>
                  <a:srgbClr val="007F7B"/>
                </a:solidFill>
                <a:latin typeface="Arial"/>
                <a:ea typeface="Arial"/>
                <a:cs typeface="Arial"/>
              </a:defRPr>
            </a:pPr>
            <a:r>
              <a:rPr sz="2025" b="1">
                <a:solidFill>
                  <a:srgbClr val="007F7B"/>
                </a:solidFill>
                <a:latin typeface="Arial"/>
                <a:ea typeface="Arial"/>
                <a:cs typeface="Arial"/>
              </a:rPr>
              <a:t>replica management</a:t>
            </a:r>
          </a:p>
        </p:txBody>
      </p:sp>
      <p:sp>
        <p:nvSpPr>
          <p:cNvPr id="15" name="">
            <a:extLst xmlns:a="http://schemas.openxmlformats.org/drawingml/2006/main">
              <a:ext uri="{FF2B5EF4-FFF2-40B4-BE49-F238E27FC236}">
                <a16:creationId xmlns:a16="http://schemas.microsoft.com/office/drawing/2014/main" id="{5273B72F-27AA-446D-A32F-7505FF511BD5}"/>
              </a:ext>
            </a:extLst>
          </p:cNvPr>
          <p:cNvSpPr>
            <a:spLocks xmlns:a="http://schemas.openxmlformats.org/drawingml/2006/main" noGrp="1"/>
          </p:cNvSpPr>
          <p:nvPr/>
        </p:nvSpPr>
        <p:spPr>
          <a:xfrm xmlns:a="http://schemas.openxmlformats.org/drawingml/2006/main">
            <a:off x="609600" y="4572000"/>
            <a:ext cx="10972800" cy="9525"/>
          </a:xfrm>
          <a:prstGeom xmlns:a="http://schemas.openxmlformats.org/drawingml/2006/main" prst="rect">
            <a:avLst/>
          </a:prstGeom>
          <a:solidFill xmlns:a="http://schemas.openxmlformats.org/drawingml/2006/main">
            <a:srgbClr val="C7D3CD"/>
          </a:solidFill>
          <a:ln xmlns:a="http://schemas.openxmlformats.org/drawingml/2006/main" w="14288">
            <a:solidFill>
              <a:srgbClr val="C7D3CD"/>
            </a:solidFill>
          </a:ln>
        </p:spPr>
      </p:sp>
      <p:sp>
        <p:nvSpPr>
          <p:cNvPr id="16" name="">
            <a:extLst xmlns:a="http://schemas.openxmlformats.org/drawingml/2006/main">
              <a:ext uri="{FF2B5EF4-FFF2-40B4-BE49-F238E27FC236}">
                <a16:creationId xmlns:a16="http://schemas.microsoft.com/office/drawing/2014/main" id="{EBA45F03-EC21-43D5-B479-DF46C0C3C170}"/>
              </a:ext>
            </a:extLst>
          </p:cNvPr>
          <p:cNvSpPr>
            <a:spLocks xmlns:a="http://schemas.openxmlformats.org/drawingml/2006/main" noGrp="1"/>
          </p:cNvSpPr>
          <p:nvPr/>
        </p:nvSpPr>
        <p:spPr>
          <a:xfrm xmlns:a="http://schemas.openxmlformats.org/drawingml/2006/main">
            <a:off x="609600" y="5057775"/>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52A2B"/>
                </a:solidFill>
                <a:latin typeface="Arial"/>
                <a:ea typeface="Arial"/>
                <a:cs typeface="Arial"/>
              </a:defRPr>
            </a:defPPr>
          </a:lstStyle>
          <a:p xmlns:a="http://schemas.openxmlformats.org/drawingml/2006/main">
            <a:pPr algn="l">
              <a:defRPr sz="2175" b="1">
                <a:solidFill>
                  <a:srgbClr val="152A2B"/>
                </a:solidFill>
                <a:latin typeface="Arial"/>
                <a:ea typeface="Arial"/>
                <a:cs typeface="Arial"/>
              </a:defRPr>
            </a:pPr>
            <a:r>
              <a:rPr sz="2175" b="1">
                <a:solidFill>
                  <a:srgbClr val="152A2B"/>
                </a:solidFill>
                <a:latin typeface="Arial"/>
                <a:ea typeface="Arial"/>
                <a:cs typeface="Arial"/>
              </a:rPr>
              <a:t>Project-owned harness</a:t>
            </a:r>
          </a:p>
        </p:txBody>
      </p:sp>
      <p:sp>
        <p:nvSpPr>
          <p:cNvPr id="17" name="">
            <a:extLst xmlns:a="http://schemas.openxmlformats.org/drawingml/2006/main">
              <a:ext uri="{FF2B5EF4-FFF2-40B4-BE49-F238E27FC236}">
                <a16:creationId xmlns:a16="http://schemas.microsoft.com/office/drawing/2014/main" id="{569C603A-91C7-4B9E-ADC2-2B5F177F0D49}"/>
              </a:ext>
            </a:extLst>
          </p:cNvPr>
          <p:cNvSpPr>
            <a:spLocks xmlns:a="http://schemas.openxmlformats.org/drawingml/2006/main" noGrp="1"/>
          </p:cNvSpPr>
          <p:nvPr/>
        </p:nvSpPr>
        <p:spPr>
          <a:xfrm xmlns:a="http://schemas.openxmlformats.org/drawingml/2006/main">
            <a:off x="4362450" y="5057775"/>
            <a:ext cx="7219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52A2B"/>
                </a:solidFill>
                <a:latin typeface="Arial"/>
                <a:ea typeface="Arial"/>
                <a:cs typeface="Arial"/>
              </a:defRPr>
            </a:defPPr>
          </a:lstStyle>
          <a:p xmlns:a="http://schemas.openxmlformats.org/drawingml/2006/main">
            <a:pPr algn="l">
              <a:defRPr sz="2100" b="0">
                <a:solidFill>
                  <a:srgbClr val="152A2B"/>
                </a:solidFill>
                <a:latin typeface="Arial"/>
                <a:ea typeface="Arial"/>
                <a:cs typeface="Arial"/>
              </a:defRPr>
            </a:pPr>
            <a:r>
              <a:rPr sz="2100" b="0">
                <a:solidFill>
                  <a:srgbClr val="152A2B"/>
                </a:solidFill>
                <a:latin typeface="Arial"/>
                <a:ea typeface="Arial"/>
                <a:cs typeface="Arial"/>
              </a:rPr>
              <a:t>Evidence rules     Output checks     Report contract</a:t>
            </a:r>
          </a:p>
        </p:txBody>
      </p:sp>
      <p:sp>
        <p:nvSpPr>
          <p:cNvPr id="18" name="">
            <a:extLst xmlns:a="http://schemas.openxmlformats.org/drawingml/2006/main">
              <a:ext uri="{FF2B5EF4-FFF2-40B4-BE49-F238E27FC236}">
                <a16:creationId xmlns:a16="http://schemas.microsoft.com/office/drawing/2014/main" id="{5E674F9C-04DA-40E5-9F7F-5AF77436A46B}"/>
              </a:ext>
            </a:extLst>
          </p:cNvPr>
          <p:cNvSpPr>
            <a:spLocks xmlns:a="http://schemas.openxmlformats.org/drawingml/2006/main" noGrp="1"/>
          </p:cNvSpPr>
          <p:nvPr/>
        </p:nvSpPr>
        <p:spPr>
          <a:xfrm xmlns:a="http://schemas.openxmlformats.org/drawingml/2006/main">
            <a:off x="609600" y="60102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A6D6B"/>
                </a:solidFill>
                <a:latin typeface="Arial"/>
                <a:ea typeface="Arial"/>
                <a:cs typeface="Arial"/>
              </a:defRPr>
            </a:defPPr>
          </a:lstStyle>
          <a:p xmlns:a="http://schemas.openxmlformats.org/drawingml/2006/main">
            <a:pPr algn="l">
              <a:defRPr sz="1575" b="0">
                <a:solidFill>
                  <a:srgbClr val="5A6D6B"/>
                </a:solidFill>
                <a:latin typeface="Arial"/>
                <a:ea typeface="Arial"/>
                <a:cs typeface="Arial"/>
              </a:defRPr>
            </a:pPr>
            <a:r>
              <a:rPr sz="1575" b="0">
                <a:solidFill>
                  <a:srgbClr val="5A6D6B"/>
                </a:solidFill>
                <a:latin typeface="Arial"/>
                <a:ea typeface="Arial"/>
                <a:cs typeface="Arial"/>
              </a:rPr>
              <a:t>Next step: qualify the model and GPU profile, add the adapter, then measure latency and quality.</a:t>
            </a:r>
          </a:p>
        </p:txBody>
      </p:sp>
    </p:spTree>
    <p:extLst>
      <p:ext uri="{BB962C8B-B14F-4D97-AF65-F5344CB8AC3E}">
        <p14:creationId xmlns:p14="http://schemas.microsoft.com/office/powerpoint/2010/main" val="281525272"/>
      </p:ext>
    </p:extLst>
  </p:cSld>
</p:sld>
</file>

<file path=ppt/slides/slide16.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A4AEE7FF-1D67-48EC-BC1C-10603E6E48F7}"/>
              </a:ext>
            </a:extLst>
          </p:cNvPr>
          <p:cNvCxnSpPr>
            <a:stCxn xmlns:a="http://schemas.openxmlformats.org/drawingml/2006/main" id="11" idx="1"/>
            <a:endCxn xmlns:a="http://schemas.openxmlformats.org/drawingml/2006/main" id="13" idx="3"/>
          </p:cNvCxnSpPr>
          <p:nvPr/>
        </p:nvCxnSpPr>
        <p:spPr>
          <a:xfrm xmlns:a="http://schemas.openxmlformats.org/drawingml/2006/main" flipH="1">
            <a:off x="2705100" y="4691063"/>
            <a:ext cx="657225"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12" name="">
            <a:extLst xmlns:a="http://schemas.openxmlformats.org/drawingml/2006/main">
              <a:ext uri="{FF2B5EF4-FFF2-40B4-BE49-F238E27FC236}">
                <a16:creationId xmlns:a16="http://schemas.microsoft.com/office/drawing/2014/main" id="{7F65C352-3703-474A-83E1-5661C09988A0}"/>
              </a:ext>
            </a:extLst>
          </p:cNvPr>
          <p:cNvCxnSpPr>
            <a:stCxn xmlns:a="http://schemas.openxmlformats.org/drawingml/2006/main" id="9" idx="1"/>
            <a:endCxn xmlns:a="http://schemas.openxmlformats.org/drawingml/2006/main" id="11" idx="3"/>
          </p:cNvCxnSpPr>
          <p:nvPr/>
        </p:nvCxnSpPr>
        <p:spPr>
          <a:xfrm xmlns:a="http://schemas.openxmlformats.org/drawingml/2006/main" flipH="1">
            <a:off x="6696075" y="4691063"/>
            <a:ext cx="952500" cy="0"/>
          </a:xfrm>
          <a:prstGeom xmlns:a="http://schemas.openxmlformats.org/drawingml/2006/main" prst="straightConnector1">
            <a:avLst/>
          </a:prstGeom>
          <a:ln xmlns:a="http://schemas.openxmlformats.org/drawingml/2006/main" w="23813">
            <a:solidFill>
              <a:srgbClr val="5A6D6B"/>
            </a:solidFill>
            <a:prstDash val="dash"/>
            <a:tailEnd type="arrow" w="med" len="med"/>
          </a:ln>
        </p:spPr>
      </p:cxnSp>
      <p:cxnSp>
        <p:nvCxnSpPr>
          <p:cNvPr id="10" name="">
            <a:extLst xmlns:a="http://schemas.openxmlformats.org/drawingml/2006/main">
              <a:ext uri="{FF2B5EF4-FFF2-40B4-BE49-F238E27FC236}">
                <a16:creationId xmlns:a16="http://schemas.microsoft.com/office/drawing/2014/main" id="{59151519-3F23-47B1-8834-5EB831AADFCD}"/>
              </a:ext>
            </a:extLst>
          </p:cNvPr>
          <p:cNvCxnSpPr>
            <a:stCxn xmlns:a="http://schemas.openxmlformats.org/drawingml/2006/main" id="6" idx="2"/>
            <a:endCxn xmlns:a="http://schemas.openxmlformats.org/drawingml/2006/main" id="9" idx="0"/>
          </p:cNvCxnSpPr>
          <p:nvPr/>
        </p:nvCxnSpPr>
        <p:spPr>
          <a:xfrm xmlns:a="http://schemas.openxmlformats.org/drawingml/2006/main">
            <a:off x="9615488" y="2819400"/>
            <a:ext cx="0" cy="1362075"/>
          </a:xfrm>
          <a:prstGeom xmlns:a="http://schemas.openxmlformats.org/drawingml/2006/main" prst="straightConnector1">
            <a:avLst/>
          </a:prstGeom>
          <a:ln xmlns:a="http://schemas.openxmlformats.org/drawingml/2006/main" w="23813">
            <a:solidFill>
              <a:srgbClr val="5A6D6B"/>
            </a:solidFill>
            <a:prstDash val="dash"/>
            <a:tailEnd type="arrow" w="med" len="med"/>
          </a:ln>
        </p:spPr>
      </p:cxnSp>
      <p:cxnSp>
        <p:nvCxnSpPr>
          <p:cNvPr id="8" name="">
            <a:extLst xmlns:a="http://schemas.openxmlformats.org/drawingml/2006/main">
              <a:ext uri="{FF2B5EF4-FFF2-40B4-BE49-F238E27FC236}">
                <a16:creationId xmlns:a16="http://schemas.microsoft.com/office/drawing/2014/main" id="{E1D7C14D-49C1-422B-99C2-F5B430D3E4B2}"/>
              </a:ext>
            </a:extLst>
          </p:cNvPr>
          <p:cNvCxnSpPr>
            <a:stCxn xmlns:a="http://schemas.openxmlformats.org/drawingml/2006/main" id="5" idx="3"/>
            <a:endCxn xmlns:a="http://schemas.openxmlformats.org/drawingml/2006/main" id="6" idx="1"/>
          </p:cNvCxnSpPr>
          <p:nvPr/>
        </p:nvCxnSpPr>
        <p:spPr>
          <a:xfrm xmlns:a="http://schemas.openxmlformats.org/drawingml/2006/main">
            <a:off x="6696075" y="2390775"/>
            <a:ext cx="952500"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F690DB63-C11A-4722-B0CF-E1A3054B3CD0}"/>
              </a:ext>
            </a:extLst>
          </p:cNvPr>
          <p:cNvCxnSpPr>
            <a:stCxn xmlns:a="http://schemas.openxmlformats.org/drawingml/2006/main" id="4" idx="3"/>
            <a:endCxn xmlns:a="http://schemas.openxmlformats.org/drawingml/2006/main" id="5" idx="1"/>
          </p:cNvCxnSpPr>
          <p:nvPr/>
        </p:nvCxnSpPr>
        <p:spPr>
          <a:xfrm xmlns:a="http://schemas.openxmlformats.org/drawingml/2006/main">
            <a:off x="2705100" y="2390775"/>
            <a:ext cx="657225"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sp>
        <p:nvSpPr>
          <p:cNvPr id="16" name="">
            <a:extLst xmlns:a="http://schemas.openxmlformats.org/drawingml/2006/main">
              <a:ext uri="{FF2B5EF4-FFF2-40B4-BE49-F238E27FC236}">
                <a16:creationId xmlns:a16="http://schemas.microsoft.com/office/drawing/2014/main" id="{A80DDCE3-2480-45B6-ACA0-B8C3A22F4DE1}"/>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F7B"/>
                </a:solidFill>
                <a:latin typeface="Arial"/>
                <a:ea typeface="Arial"/>
                <a:cs typeface="Arial"/>
              </a:defRPr>
            </a:defPPr>
          </a:lstStyle>
          <a:p xmlns:a="http://schemas.openxmlformats.org/drawingml/2006/main">
            <a:pPr algn="l">
              <a:defRPr sz="1350" b="1">
                <a:solidFill>
                  <a:srgbClr val="007F7B"/>
                </a:solidFill>
                <a:latin typeface="Arial"/>
                <a:ea typeface="Arial"/>
                <a:cs typeface="Arial"/>
              </a:defRPr>
            </a:pPr>
            <a:r>
              <a:rPr sz="1350" b="1">
                <a:solidFill>
                  <a:srgbClr val="007F7B"/>
                </a:solidFill>
                <a:latin typeface="Arial"/>
                <a:ea typeface="Arial"/>
                <a:cs typeface="Arial"/>
              </a:rPr>
              <a:t>02  PROPOSED NIM INTEGRATION</a:t>
            </a:r>
          </a:p>
        </p:txBody>
      </p:sp>
      <p:sp>
        <p:nvSpPr>
          <p:cNvPr id="2" name="">
            <a:extLst xmlns:a="http://schemas.openxmlformats.org/drawingml/2006/main">
              <a:ext uri="{FF2B5EF4-FFF2-40B4-BE49-F238E27FC236}">
                <a16:creationId xmlns:a16="http://schemas.microsoft.com/office/drawing/2014/main" id="{525589BF-D9DF-4999-9686-8D2B596A50E8}"/>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A2B"/>
                </a:solidFill>
                <a:latin typeface="Arial"/>
                <a:ea typeface="Arial"/>
                <a:cs typeface="Arial"/>
              </a:defRPr>
            </a:defPPr>
          </a:lstStyle>
          <a:p xmlns:a="http://schemas.openxmlformats.org/drawingml/2006/main">
            <a:pPr algn="l">
              <a:defRPr sz="3300" b="1">
                <a:solidFill>
                  <a:srgbClr val="152A2B"/>
                </a:solidFill>
                <a:latin typeface="Arial"/>
                <a:ea typeface="Arial"/>
                <a:cs typeface="Arial"/>
              </a:defRPr>
            </a:pPr>
            <a:r>
              <a:rPr sz="3300" b="1">
                <a:solidFill>
                  <a:srgbClr val="152A2B"/>
                </a:solidFill>
                <a:latin typeface="Arial"/>
                <a:ea typeface="Arial"/>
                <a:cs typeface="Arial"/>
              </a:rPr>
              <a:t>The API adapter preserves the clinical contract</a:t>
            </a:r>
          </a:p>
        </p:txBody>
      </p:sp>
      <p:sp>
        <p:nvSpPr>
          <p:cNvPr id="3" name="">
            <a:extLst xmlns:a="http://schemas.openxmlformats.org/drawingml/2006/main">
              <a:ext uri="{FF2B5EF4-FFF2-40B4-BE49-F238E27FC236}">
                <a16:creationId xmlns:a16="http://schemas.microsoft.com/office/drawing/2014/main" id="{E347DCC8-24E9-4E53-9FA3-CF688427033B}"/>
              </a:ext>
            </a:extLst>
          </p:cNvPr>
          <p:cNvSpPr>
            <a:spLocks xmlns:a="http://schemas.openxmlformats.org/drawingml/2006/main" noGrp="1"/>
          </p:cNvSpPr>
          <p:nvPr/>
        </p:nvSpPr>
        <p:spPr>
          <a:xfrm xmlns:a="http://schemas.openxmlformats.org/drawingml/2006/main">
            <a:off x="11144250" y="64198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A6D6B"/>
                </a:solidFill>
                <a:latin typeface="Arial"/>
                <a:ea typeface="Arial"/>
                <a:cs typeface="Arial"/>
              </a:defRPr>
            </a:defPPr>
          </a:lstStyle>
          <a:p xmlns:a="http://schemas.openxmlformats.org/drawingml/2006/main">
            <a:pPr algn="r">
              <a:defRPr sz="1200" b="0">
                <a:solidFill>
                  <a:srgbClr val="5A6D6B"/>
                </a:solidFill>
                <a:latin typeface="Arial"/>
                <a:ea typeface="Arial"/>
                <a:cs typeface="Arial"/>
              </a:defRPr>
            </a:pPr>
            <a:r>
              <a:rPr sz="1200" b="0">
                <a:solidFill>
                  <a:srgbClr val="5A6D6B"/>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1E781D1E-BECA-4FB1-9C0A-E9B4696E7A39}"/>
              </a:ext>
            </a:extLst>
          </p:cNvPr>
          <p:cNvSpPr>
            <a:spLocks xmlns:a="http://schemas.openxmlformats.org/drawingml/2006/main" noGrp="1"/>
          </p:cNvSpPr>
          <p:nvPr/>
        </p:nvSpPr>
        <p:spPr>
          <a:xfrm xmlns:a="http://schemas.openxmlformats.org/drawingml/2006/main">
            <a:off x="609600" y="1962150"/>
            <a:ext cx="20955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Patient UI</a:t>
            </a:r>
          </a:p>
        </p:txBody>
      </p:sp>
      <p:sp>
        <p:nvSpPr>
          <p:cNvPr id="5" name="">
            <a:extLst xmlns:a="http://schemas.openxmlformats.org/drawingml/2006/main">
              <a:ext uri="{FF2B5EF4-FFF2-40B4-BE49-F238E27FC236}">
                <a16:creationId xmlns:a16="http://schemas.microsoft.com/office/drawing/2014/main" id="{700C2F1E-D4DD-4853-BC3F-9B8E31EF14AB}"/>
              </a:ext>
            </a:extLst>
          </p:cNvPr>
          <p:cNvSpPr>
            <a:spLocks xmlns:a="http://schemas.openxmlformats.org/drawingml/2006/main" noGrp="1"/>
          </p:cNvSpPr>
          <p:nvPr/>
        </p:nvSpPr>
        <p:spPr>
          <a:xfrm xmlns:a="http://schemas.openxmlformats.org/drawingml/2006/main">
            <a:off x="3362325" y="1962150"/>
            <a:ext cx="3333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Copilot API</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/v1/interpret</a:t>
            </a:r>
          </a:p>
        </p:txBody>
      </p:sp>
      <p:sp>
        <p:nvSpPr>
          <p:cNvPr id="6" name="">
            <a:extLst xmlns:a="http://schemas.openxmlformats.org/drawingml/2006/main">
              <a:ext uri="{FF2B5EF4-FFF2-40B4-BE49-F238E27FC236}">
                <a16:creationId xmlns:a16="http://schemas.microsoft.com/office/drawing/2014/main" id="{F3583A50-B3C5-4038-8B6C-E9B0A468FE9F}"/>
              </a:ext>
            </a:extLst>
          </p:cNvPr>
          <p:cNvSpPr>
            <a:spLocks xmlns:a="http://schemas.openxmlformats.org/drawingml/2006/main" noGrp="1"/>
          </p:cNvSpPr>
          <p:nvPr/>
        </p:nvSpPr>
        <p:spPr>
          <a:xfrm xmlns:a="http://schemas.openxmlformats.org/drawingml/2006/main">
            <a:off x="7648575" y="1962150"/>
            <a:ext cx="3933825" cy="857250"/>
          </a:xfrm>
          <a:prstGeom xmlns:a="http://schemas.openxmlformats.org/drawingml/2006/main" prst="rect">
            <a:avLst/>
          </a:prstGeom>
          <a:solidFill xmlns:a="http://schemas.openxmlformats.org/drawingml/2006/main">
            <a:srgbClr val="E8F2D9"/>
          </a:solidFill>
          <a:ln xmlns:a="http://schemas.openxmlformats.org/drawingml/2006/main" w="14288">
            <a:solidFill>
              <a:srgbClr val="76B900"/>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NIM adapter</a:t>
            </a:r>
          </a:p>
        </p:txBody>
      </p:sp>
      <p:sp>
        <p:nvSpPr>
          <p:cNvPr id="9" name="">
            <a:extLst xmlns:a="http://schemas.openxmlformats.org/drawingml/2006/main">
              <a:ext uri="{FF2B5EF4-FFF2-40B4-BE49-F238E27FC236}">
                <a16:creationId xmlns:a16="http://schemas.microsoft.com/office/drawing/2014/main" id="{D6DB9771-72C5-4324-B1E2-8CAAF57B6B52}"/>
              </a:ext>
            </a:extLst>
          </p:cNvPr>
          <p:cNvSpPr>
            <a:spLocks xmlns:a="http://schemas.openxmlformats.org/drawingml/2006/main" noGrp="1"/>
          </p:cNvSpPr>
          <p:nvPr/>
        </p:nvSpPr>
        <p:spPr>
          <a:xfrm xmlns:a="http://schemas.openxmlformats.org/drawingml/2006/main">
            <a:off x="7648575" y="4181475"/>
            <a:ext cx="3933825" cy="1019175"/>
          </a:xfrm>
          <a:prstGeom xmlns:a="http://schemas.openxmlformats.org/drawingml/2006/main" prst="rect">
            <a:avLst/>
          </a:prstGeom>
          <a:solidFill xmlns:a="http://schemas.openxmlformats.org/drawingml/2006/main">
            <a:srgbClr val="E8F2D9"/>
          </a:solidFill>
          <a:ln xmlns:a="http://schemas.openxmlformats.org/drawingml/2006/main" w="14288">
            <a:solidFill>
              <a:srgbClr val="76B900"/>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NIM model endpoint</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/v1/chat/completions</a:t>
            </a:r>
          </a:p>
        </p:txBody>
      </p:sp>
      <p:sp>
        <p:nvSpPr>
          <p:cNvPr id="11" name="">
            <a:extLst xmlns:a="http://schemas.openxmlformats.org/drawingml/2006/main">
              <a:ext uri="{FF2B5EF4-FFF2-40B4-BE49-F238E27FC236}">
                <a16:creationId xmlns:a16="http://schemas.microsoft.com/office/drawing/2014/main" id="{CE03B377-E30A-499B-B7F7-0172BBA581D1}"/>
              </a:ext>
            </a:extLst>
          </p:cNvPr>
          <p:cNvSpPr>
            <a:spLocks xmlns:a="http://schemas.openxmlformats.org/drawingml/2006/main" noGrp="1"/>
          </p:cNvSpPr>
          <p:nvPr/>
        </p:nvSpPr>
        <p:spPr>
          <a:xfrm xmlns:a="http://schemas.openxmlformats.org/drawingml/2006/main">
            <a:off x="3362325" y="4181475"/>
            <a:ext cx="3333750" cy="1019175"/>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Screen + report renderer</a:t>
            </a:r>
          </a:p>
        </p:txBody>
      </p:sp>
      <p:sp>
        <p:nvSpPr>
          <p:cNvPr id="13" name="">
            <a:extLst xmlns:a="http://schemas.openxmlformats.org/drawingml/2006/main">
              <a:ext uri="{FF2B5EF4-FFF2-40B4-BE49-F238E27FC236}">
                <a16:creationId xmlns:a16="http://schemas.microsoft.com/office/drawing/2014/main" id="{A1DBD7BC-3D90-456E-8323-535FA0D77F2D}"/>
              </a:ext>
            </a:extLst>
          </p:cNvPr>
          <p:cNvSpPr>
            <a:spLocks xmlns:a="http://schemas.openxmlformats.org/drawingml/2006/main" noGrp="1"/>
          </p:cNvSpPr>
          <p:nvPr/>
        </p:nvSpPr>
        <p:spPr>
          <a:xfrm xmlns:a="http://schemas.openxmlformats.org/drawingml/2006/main">
            <a:off x="609600" y="4181475"/>
            <a:ext cx="2095500" cy="1019175"/>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UI-ready JSON</a:t>
            </a:r>
          </a:p>
        </p:txBody>
      </p:sp>
      <p:sp>
        <p:nvSpPr>
          <p:cNvPr id="15" name="">
            <a:extLst xmlns:a="http://schemas.openxmlformats.org/drawingml/2006/main">
              <a:ext uri="{FF2B5EF4-FFF2-40B4-BE49-F238E27FC236}">
                <a16:creationId xmlns:a16="http://schemas.microsoft.com/office/drawing/2014/main" id="{E199643D-89DE-40EE-B4D3-43A4CCB7B1B4}"/>
              </a:ext>
            </a:extLst>
          </p:cNvPr>
          <p:cNvSpPr>
            <a:spLocks xmlns:a="http://schemas.openxmlformats.org/drawingml/2006/main" noGrp="1"/>
          </p:cNvSpPr>
          <p:nvPr/>
        </p:nvSpPr>
        <p:spPr>
          <a:xfrm xmlns:a="http://schemas.openxmlformats.org/drawingml/2006/main">
            <a:off x="609600" y="60102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A6D6B"/>
                </a:solidFill>
                <a:latin typeface="Arial"/>
                <a:ea typeface="Arial"/>
                <a:cs typeface="Arial"/>
              </a:defRPr>
            </a:defPPr>
          </a:lstStyle>
          <a:p xmlns:a="http://schemas.openxmlformats.org/drawingml/2006/main">
            <a:pPr algn="l">
              <a:defRPr sz="1575" b="0">
                <a:solidFill>
                  <a:srgbClr val="5A6D6B"/>
                </a:solidFill>
                <a:latin typeface="Arial"/>
                <a:ea typeface="Arial"/>
                <a:cs typeface="Arial"/>
              </a:defRPr>
            </a:pPr>
            <a:r>
              <a:rPr sz="1575" b="0">
                <a:solidFill>
                  <a:srgbClr val="5A6D6B"/>
                </a:solidFill>
                <a:latin typeface="Arial"/>
                <a:ea typeface="Arial"/>
                <a:cs typeface="Arial"/>
              </a:rPr>
              <a:t>Qualification gate: supported model + GPU profile, decoding behavior, latency and regression tests.</a:t>
            </a:r>
          </a:p>
        </p:txBody>
      </p:sp>
    </p:spTree>
    <p:extLst>
      <p:ext uri="{BB962C8B-B14F-4D97-AF65-F5344CB8AC3E}">
        <p14:creationId xmlns:p14="http://schemas.microsoft.com/office/powerpoint/2010/main" val="13316526"/>
      </p:ext>
    </p:extLst>
  </p:cSld>
</p:sld>
</file>

<file path=ppt/slides/slide17.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A8645080-7721-4D28-9254-B494079FE293}"/>
              </a:ext>
            </a:extLst>
          </p:cNvPr>
          <p:cNvCxnSpPr>
            <a:stCxn xmlns:a="http://schemas.openxmlformats.org/drawingml/2006/main" id="7" idx="3"/>
            <a:endCxn xmlns:a="http://schemas.openxmlformats.org/drawingml/2006/main" id="15" idx="1"/>
          </p:cNvCxnSpPr>
          <p:nvPr/>
        </p:nvCxnSpPr>
        <p:spPr>
          <a:xfrm xmlns:a="http://schemas.openxmlformats.org/drawingml/2006/main">
            <a:off x="6838950" y="3248025"/>
            <a:ext cx="1685925" cy="1447800"/>
          </a:xfrm>
          <a:prstGeom xmlns:a="http://schemas.openxmlformats.org/drawingml/2006/main" prst="bentConnector3">
            <a:avLst>
              <a:gd name="adj1" fmla="val 50000"/>
            </a:avLst>
          </a:prstGeom>
          <a:ln xmlns:a="http://schemas.openxmlformats.org/drawingml/2006/main" w="23813">
            <a:solidFill>
              <a:srgbClr val="5A6D6B"/>
            </a:solidFill>
            <a:prstDash val="dash"/>
            <a:tailEnd type="arrow" w="med" len="med"/>
          </a:ln>
        </p:spPr>
      </p:cxnSp>
      <p:cxnSp>
        <p:nvCxnSpPr>
          <p:cNvPr id="17" name="">
            <a:extLst xmlns:a="http://schemas.openxmlformats.org/drawingml/2006/main">
              <a:ext uri="{FF2B5EF4-FFF2-40B4-BE49-F238E27FC236}">
                <a16:creationId xmlns:a16="http://schemas.microsoft.com/office/drawing/2014/main" id="{A54D66CC-4BC1-42DD-8A4E-16793B2A2B9B}"/>
              </a:ext>
            </a:extLst>
          </p:cNvPr>
          <p:cNvCxnSpPr>
            <a:stCxn xmlns:a="http://schemas.openxmlformats.org/drawingml/2006/main" id="7" idx="3"/>
            <a:endCxn xmlns:a="http://schemas.openxmlformats.org/drawingml/2006/main" id="14" idx="1"/>
          </p:cNvCxnSpPr>
          <p:nvPr/>
        </p:nvCxnSpPr>
        <p:spPr>
          <a:xfrm xmlns:a="http://schemas.openxmlformats.org/drawingml/2006/main">
            <a:off x="6838950" y="3248025"/>
            <a:ext cx="1685925" cy="161925"/>
          </a:xfrm>
          <a:prstGeom xmlns:a="http://schemas.openxmlformats.org/drawingml/2006/main" prst="bentConnector3">
            <a:avLst>
              <a:gd name="adj1" fmla="val 50000"/>
            </a:avLst>
          </a:prstGeom>
          <a:ln xmlns:a="http://schemas.openxmlformats.org/drawingml/2006/main" w="23813">
            <a:solidFill>
              <a:srgbClr val="5A6D6B"/>
            </a:solidFill>
            <a:prstDash val="dash"/>
            <a:tailEnd type="arrow" w="med" len="med"/>
          </a:ln>
        </p:spPr>
      </p:cxnSp>
      <p:cxnSp>
        <p:nvCxnSpPr>
          <p:cNvPr id="16" name="">
            <a:extLst xmlns:a="http://schemas.openxmlformats.org/drawingml/2006/main">
              <a:ext uri="{FF2B5EF4-FFF2-40B4-BE49-F238E27FC236}">
                <a16:creationId xmlns:a16="http://schemas.microsoft.com/office/drawing/2014/main" id="{B8D6B9E5-C644-455D-88CA-147AAD6EDF3D}"/>
              </a:ext>
            </a:extLst>
          </p:cNvPr>
          <p:cNvCxnSpPr>
            <a:stCxn xmlns:a="http://schemas.openxmlformats.org/drawingml/2006/main" id="7" idx="3"/>
            <a:endCxn xmlns:a="http://schemas.openxmlformats.org/drawingml/2006/main" id="13" idx="1"/>
          </p:cNvCxnSpPr>
          <p:nvPr/>
        </p:nvCxnSpPr>
        <p:spPr>
          <a:xfrm xmlns:a="http://schemas.openxmlformats.org/drawingml/2006/main" flipV="1">
            <a:off x="6838950" y="2124075"/>
            <a:ext cx="1685925" cy="1123950"/>
          </a:xfrm>
          <a:prstGeom xmlns:a="http://schemas.openxmlformats.org/drawingml/2006/main" prst="bentConnector3">
            <a:avLst>
              <a:gd name="adj1" fmla="val 50000"/>
            </a:avLst>
          </a:prstGeom>
          <a:ln xmlns:a="http://schemas.openxmlformats.org/drawingml/2006/main" w="23813">
            <a:solidFill>
              <a:srgbClr val="5A6D6B"/>
            </a:solidFill>
            <a:prstDash val="dash"/>
            <a:tailEnd type="arrow" w="med" len="med"/>
          </a:ln>
        </p:spPr>
      </p:cxnSp>
      <p:cxnSp>
        <p:nvCxnSpPr>
          <p:cNvPr id="12" name="">
            <a:extLst xmlns:a="http://schemas.openxmlformats.org/drawingml/2006/main">
              <a:ext uri="{FF2B5EF4-FFF2-40B4-BE49-F238E27FC236}">
                <a16:creationId xmlns:a16="http://schemas.microsoft.com/office/drawing/2014/main" id="{7900483C-3952-4E9E-A2B4-CCC5CC8D74DA}"/>
              </a:ext>
            </a:extLst>
          </p:cNvPr>
          <p:cNvCxnSpPr>
            <a:stCxn xmlns:a="http://schemas.openxmlformats.org/drawingml/2006/main" id="7" idx="2"/>
            <a:endCxn xmlns:a="http://schemas.openxmlformats.org/drawingml/2006/main" id="11" idx="0"/>
          </p:cNvCxnSpPr>
          <p:nvPr/>
        </p:nvCxnSpPr>
        <p:spPr>
          <a:xfrm xmlns:a="http://schemas.openxmlformats.org/drawingml/2006/main">
            <a:off x="5362575" y="3819525"/>
            <a:ext cx="0" cy="83820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ACFD83B2-501F-41D8-A6D1-178E1668D82F}"/>
              </a:ext>
            </a:extLst>
          </p:cNvPr>
          <p:cNvCxnSpPr>
            <a:stCxn xmlns:a="http://schemas.openxmlformats.org/drawingml/2006/main" id="6" idx="3"/>
            <a:endCxn xmlns:a="http://schemas.openxmlformats.org/drawingml/2006/main" id="7" idx="1"/>
          </p:cNvCxnSpPr>
          <p:nvPr/>
        </p:nvCxnSpPr>
        <p:spPr>
          <a:xfrm xmlns:a="http://schemas.openxmlformats.org/drawingml/2006/main" flipV="1">
            <a:off x="2895600" y="3248025"/>
            <a:ext cx="990600" cy="1428750"/>
          </a:xfrm>
          <a:prstGeom xmlns:a="http://schemas.openxmlformats.org/drawingml/2006/main" prst="bentConnector3">
            <a:avLst>
              <a:gd name="adj1" fmla="val 50000"/>
            </a:avLst>
          </a:prstGeom>
          <a:ln xmlns:a="http://schemas.openxmlformats.org/drawingml/2006/main" w="23813">
            <a:solidFill>
              <a:srgbClr val="5A6D6B"/>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FEE2B91F-67A6-4C06-A125-EAB15790BC13}"/>
              </a:ext>
            </a:extLst>
          </p:cNvPr>
          <p:cNvCxnSpPr>
            <a:stCxn xmlns:a="http://schemas.openxmlformats.org/drawingml/2006/main" id="5" idx="3"/>
            <a:endCxn xmlns:a="http://schemas.openxmlformats.org/drawingml/2006/main" id="7" idx="1"/>
          </p:cNvCxnSpPr>
          <p:nvPr/>
        </p:nvCxnSpPr>
        <p:spPr>
          <a:xfrm xmlns:a="http://schemas.openxmlformats.org/drawingml/2006/main" flipV="1">
            <a:off x="2895600" y="3248025"/>
            <a:ext cx="990600" cy="142875"/>
          </a:xfrm>
          <a:prstGeom xmlns:a="http://schemas.openxmlformats.org/drawingml/2006/main" prst="bentConnector3">
            <a:avLst>
              <a:gd name="adj1" fmla="val 50000"/>
            </a:avLst>
          </a:prstGeom>
          <a:ln xmlns:a="http://schemas.openxmlformats.org/drawingml/2006/main" w="23813">
            <a:solidFill>
              <a:srgbClr val="5A6D6B"/>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BBD69FEF-A484-4688-9257-0FEE19B3C251}"/>
              </a:ext>
            </a:extLst>
          </p:cNvPr>
          <p:cNvCxnSpPr>
            <a:stCxn xmlns:a="http://schemas.openxmlformats.org/drawingml/2006/main" id="4" idx="3"/>
            <a:endCxn xmlns:a="http://schemas.openxmlformats.org/drawingml/2006/main" id="7" idx="1"/>
          </p:cNvCxnSpPr>
          <p:nvPr/>
        </p:nvCxnSpPr>
        <p:spPr>
          <a:xfrm xmlns:a="http://schemas.openxmlformats.org/drawingml/2006/main">
            <a:off x="2895600" y="2105025"/>
            <a:ext cx="990600" cy="1143000"/>
          </a:xfrm>
          <a:prstGeom xmlns:a="http://schemas.openxmlformats.org/drawingml/2006/main" prst="bentConnector3">
            <a:avLst>
              <a:gd name="adj1" fmla="val 50000"/>
            </a:avLst>
          </a:prstGeom>
          <a:ln xmlns:a="http://schemas.openxmlformats.org/drawingml/2006/main" w="23813">
            <a:solidFill>
              <a:srgbClr val="5A6D6B"/>
            </a:solidFill>
            <a:prstDash val="solid"/>
            <a:tailEnd type="arrow" w="med" len="med"/>
          </a:ln>
        </p:spPr>
      </p:cxnSp>
      <p:sp>
        <p:nvSpPr>
          <p:cNvPr id="20" name="">
            <a:extLst xmlns:a="http://schemas.openxmlformats.org/drawingml/2006/main">
              <a:ext uri="{FF2B5EF4-FFF2-40B4-BE49-F238E27FC236}">
                <a16:creationId xmlns:a16="http://schemas.microsoft.com/office/drawing/2014/main" id="{77571AA8-7C51-4BA2-AA6F-12783CE7E2DE}"/>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F7B"/>
                </a:solidFill>
                <a:latin typeface="Arial"/>
                <a:ea typeface="Arial"/>
                <a:cs typeface="Arial"/>
              </a:defRPr>
            </a:defPPr>
          </a:lstStyle>
          <a:p xmlns:a="http://schemas.openxmlformats.org/drawingml/2006/main">
            <a:pPr algn="l">
              <a:defRPr sz="1350" b="1">
                <a:solidFill>
                  <a:srgbClr val="007F7B"/>
                </a:solidFill>
                <a:latin typeface="Arial"/>
                <a:ea typeface="Arial"/>
                <a:cs typeface="Arial"/>
              </a:defRPr>
            </a:pPr>
            <a:r>
              <a:rPr sz="1350" b="1">
                <a:solidFill>
                  <a:srgbClr val="007F7B"/>
                </a:solidFill>
                <a:latin typeface="Arial"/>
                <a:ea typeface="Arial"/>
                <a:cs typeface="Arial"/>
              </a:rPr>
              <a:t>02  PROPOSED SCALE-OUT DESIGN</a:t>
            </a:r>
          </a:p>
        </p:txBody>
      </p:sp>
      <p:sp>
        <p:nvSpPr>
          <p:cNvPr id="2" name="">
            <a:extLst xmlns:a="http://schemas.openxmlformats.org/drawingml/2006/main">
              <a:ext uri="{FF2B5EF4-FFF2-40B4-BE49-F238E27FC236}">
                <a16:creationId xmlns:a16="http://schemas.microsoft.com/office/drawing/2014/main" id="{7CBCEC67-9ECE-4A38-A3F9-DE123C7DF224}"/>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A2B"/>
                </a:solidFill>
                <a:latin typeface="Arial"/>
                <a:ea typeface="Arial"/>
                <a:cs typeface="Arial"/>
              </a:defRPr>
            </a:defPPr>
          </a:lstStyle>
          <a:p xmlns:a="http://schemas.openxmlformats.org/drawingml/2006/main">
            <a:pPr algn="l">
              <a:defRPr sz="3300" b="1">
                <a:solidFill>
                  <a:srgbClr val="152A2B"/>
                </a:solidFill>
                <a:latin typeface="Arial"/>
                <a:ea typeface="Arial"/>
                <a:cs typeface="Arial"/>
              </a:defRPr>
            </a:pPr>
            <a:r>
              <a:rPr sz="3300" b="1">
                <a:solidFill>
                  <a:srgbClr val="152A2B"/>
                </a:solidFill>
                <a:latin typeface="Arial"/>
                <a:ea typeface="Arial"/>
                <a:cs typeface="Arial"/>
              </a:rPr>
              <a:t>A shared endpoint can serve more users</a:t>
            </a:r>
          </a:p>
        </p:txBody>
      </p:sp>
      <p:sp>
        <p:nvSpPr>
          <p:cNvPr id="3" name="">
            <a:extLst xmlns:a="http://schemas.openxmlformats.org/drawingml/2006/main">
              <a:ext uri="{FF2B5EF4-FFF2-40B4-BE49-F238E27FC236}">
                <a16:creationId xmlns:a16="http://schemas.microsoft.com/office/drawing/2014/main" id="{4C64B813-7ACE-4FC2-93CC-B80A5EB4FEA8}"/>
              </a:ext>
            </a:extLst>
          </p:cNvPr>
          <p:cNvSpPr>
            <a:spLocks xmlns:a="http://schemas.openxmlformats.org/drawingml/2006/main" noGrp="1"/>
          </p:cNvSpPr>
          <p:nvPr/>
        </p:nvSpPr>
        <p:spPr>
          <a:xfrm xmlns:a="http://schemas.openxmlformats.org/drawingml/2006/main">
            <a:off x="11144250" y="64198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A6D6B"/>
                </a:solidFill>
                <a:latin typeface="Arial"/>
                <a:ea typeface="Arial"/>
                <a:cs typeface="Arial"/>
              </a:defRPr>
            </a:defPPr>
          </a:lstStyle>
          <a:p xmlns:a="http://schemas.openxmlformats.org/drawingml/2006/main">
            <a:pPr algn="r">
              <a:defRPr sz="1200" b="0">
                <a:solidFill>
                  <a:srgbClr val="5A6D6B"/>
                </a:solidFill>
                <a:latin typeface="Arial"/>
                <a:ea typeface="Arial"/>
                <a:cs typeface="Arial"/>
              </a:defRPr>
            </a:pPr>
            <a:r>
              <a:rPr sz="1200" b="0">
                <a:solidFill>
                  <a:srgbClr val="5A6D6B"/>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9FC991FB-7784-4F96-9960-40A3D02F1B0A}"/>
              </a:ext>
            </a:extLst>
          </p:cNvPr>
          <p:cNvSpPr>
            <a:spLocks xmlns:a="http://schemas.openxmlformats.org/drawingml/2006/main" noGrp="1"/>
          </p:cNvSpPr>
          <p:nvPr/>
        </p:nvSpPr>
        <p:spPr>
          <a:xfrm xmlns:a="http://schemas.openxmlformats.org/drawingml/2006/main">
            <a:off x="609600" y="1762125"/>
            <a:ext cx="22860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Research UI</a:t>
            </a:r>
          </a:p>
        </p:txBody>
      </p:sp>
      <p:sp>
        <p:nvSpPr>
          <p:cNvPr id="5" name="">
            <a:extLst xmlns:a="http://schemas.openxmlformats.org/drawingml/2006/main">
              <a:ext uri="{FF2B5EF4-FFF2-40B4-BE49-F238E27FC236}">
                <a16:creationId xmlns:a16="http://schemas.microsoft.com/office/drawing/2014/main" id="{BF7E9D17-64E0-4F34-97EA-FF101323B301}"/>
              </a:ext>
            </a:extLst>
          </p:cNvPr>
          <p:cNvSpPr>
            <a:spLocks xmlns:a="http://schemas.openxmlformats.org/drawingml/2006/main" noGrp="1"/>
          </p:cNvSpPr>
          <p:nvPr/>
        </p:nvSpPr>
        <p:spPr>
          <a:xfrm xmlns:a="http://schemas.openxmlformats.org/drawingml/2006/main">
            <a:off x="609600" y="3048000"/>
            <a:ext cx="22860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Batch pipeline</a:t>
            </a:r>
          </a:p>
        </p:txBody>
      </p:sp>
      <p:sp>
        <p:nvSpPr>
          <p:cNvPr id="6" name="">
            <a:extLst xmlns:a="http://schemas.openxmlformats.org/drawingml/2006/main">
              <a:ext uri="{FF2B5EF4-FFF2-40B4-BE49-F238E27FC236}">
                <a16:creationId xmlns:a16="http://schemas.microsoft.com/office/drawing/2014/main" id="{0EB38241-623A-4AE8-B46C-3D9B849C96F2}"/>
              </a:ext>
            </a:extLst>
          </p:cNvPr>
          <p:cNvSpPr>
            <a:spLocks xmlns:a="http://schemas.openxmlformats.org/drawingml/2006/main" noGrp="1"/>
          </p:cNvSpPr>
          <p:nvPr/>
        </p:nvSpPr>
        <p:spPr>
          <a:xfrm xmlns:a="http://schemas.openxmlformats.org/drawingml/2006/main">
            <a:off x="609600" y="4333875"/>
            <a:ext cx="22860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Future services</a:t>
            </a:r>
          </a:p>
        </p:txBody>
      </p:sp>
      <p:sp>
        <p:nvSpPr>
          <p:cNvPr id="7" name="">
            <a:extLst xmlns:a="http://schemas.openxmlformats.org/drawingml/2006/main">
              <a:ext uri="{FF2B5EF4-FFF2-40B4-BE49-F238E27FC236}">
                <a16:creationId xmlns:a16="http://schemas.microsoft.com/office/drawing/2014/main" id="{56DAA4FD-2956-4E8E-921A-3A36093F499A}"/>
              </a:ext>
            </a:extLst>
          </p:cNvPr>
          <p:cNvSpPr>
            <a:spLocks xmlns:a="http://schemas.openxmlformats.org/drawingml/2006/main" noGrp="1"/>
          </p:cNvSpPr>
          <p:nvPr/>
        </p:nvSpPr>
        <p:spPr>
          <a:xfrm xmlns:a="http://schemas.openxmlformats.org/drawingml/2006/main">
            <a:off x="3886200" y="2676525"/>
            <a:ext cx="2952750" cy="1143000"/>
          </a:xfrm>
          <a:prstGeom xmlns:a="http://schemas.openxmlformats.org/drawingml/2006/main" prst="rect">
            <a:avLst/>
          </a:prstGeom>
          <a:solidFill xmlns:a="http://schemas.openxmlformats.org/drawingml/2006/main">
            <a:srgbClr val="E8F2D9"/>
          </a:solidFill>
          <a:ln xmlns:a="http://schemas.openxmlformats.org/drawingml/2006/main" w="14288">
            <a:solidFill>
              <a:srgbClr val="76B900"/>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Authenticated</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copilot service</a:t>
            </a:r>
          </a:p>
        </p:txBody>
      </p:sp>
      <p:sp>
        <p:nvSpPr>
          <p:cNvPr id="11" name="">
            <a:extLst xmlns:a="http://schemas.openxmlformats.org/drawingml/2006/main">
              <a:ext uri="{FF2B5EF4-FFF2-40B4-BE49-F238E27FC236}">
                <a16:creationId xmlns:a16="http://schemas.microsoft.com/office/drawing/2014/main" id="{9F3E3B48-B091-42AA-B69B-1A0383AA9C4C}"/>
              </a:ext>
            </a:extLst>
          </p:cNvPr>
          <p:cNvSpPr>
            <a:spLocks xmlns:a="http://schemas.openxmlformats.org/drawingml/2006/main" noGrp="1"/>
          </p:cNvSpPr>
          <p:nvPr/>
        </p:nvSpPr>
        <p:spPr>
          <a:xfrm xmlns:a="http://schemas.openxmlformats.org/drawingml/2006/main">
            <a:off x="3886200" y="4657725"/>
            <a:ext cx="2952750" cy="752475"/>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Queue + cache</a:t>
            </a:r>
          </a:p>
        </p:txBody>
      </p:sp>
      <p:sp>
        <p:nvSpPr>
          <p:cNvPr id="13" name="">
            <a:extLst xmlns:a="http://schemas.openxmlformats.org/drawingml/2006/main">
              <a:ext uri="{FF2B5EF4-FFF2-40B4-BE49-F238E27FC236}">
                <a16:creationId xmlns:a16="http://schemas.microsoft.com/office/drawing/2014/main" id="{378F9A1C-A057-4FFF-AAC9-13F414F3DBD2}"/>
              </a:ext>
            </a:extLst>
          </p:cNvPr>
          <p:cNvSpPr>
            <a:spLocks xmlns:a="http://schemas.openxmlformats.org/drawingml/2006/main" noGrp="1"/>
          </p:cNvSpPr>
          <p:nvPr/>
        </p:nvSpPr>
        <p:spPr>
          <a:xfrm xmlns:a="http://schemas.openxmlformats.org/drawingml/2006/main">
            <a:off x="8524875" y="1762125"/>
            <a:ext cx="3057525"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NIM replica A</a:t>
            </a:r>
          </a:p>
        </p:txBody>
      </p:sp>
      <p:sp>
        <p:nvSpPr>
          <p:cNvPr id="14" name="">
            <a:extLst xmlns:a="http://schemas.openxmlformats.org/drawingml/2006/main">
              <a:ext uri="{FF2B5EF4-FFF2-40B4-BE49-F238E27FC236}">
                <a16:creationId xmlns:a16="http://schemas.microsoft.com/office/drawing/2014/main" id="{042F049D-1CE4-4CD2-BA7E-B5C722E4AA4F}"/>
              </a:ext>
            </a:extLst>
          </p:cNvPr>
          <p:cNvSpPr>
            <a:spLocks xmlns:a="http://schemas.openxmlformats.org/drawingml/2006/main" noGrp="1"/>
          </p:cNvSpPr>
          <p:nvPr/>
        </p:nvSpPr>
        <p:spPr>
          <a:xfrm xmlns:a="http://schemas.openxmlformats.org/drawingml/2006/main">
            <a:off x="8524875" y="3048000"/>
            <a:ext cx="3057525"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NIM replica B</a:t>
            </a:r>
          </a:p>
        </p:txBody>
      </p:sp>
      <p:sp>
        <p:nvSpPr>
          <p:cNvPr id="15" name="">
            <a:extLst xmlns:a="http://schemas.openxmlformats.org/drawingml/2006/main">
              <a:ext uri="{FF2B5EF4-FFF2-40B4-BE49-F238E27FC236}">
                <a16:creationId xmlns:a16="http://schemas.microsoft.com/office/drawing/2014/main" id="{94ED54FD-15C2-4F42-914A-3895ED58A499}"/>
              </a:ext>
            </a:extLst>
          </p:cNvPr>
          <p:cNvSpPr>
            <a:spLocks xmlns:a="http://schemas.openxmlformats.org/drawingml/2006/main" noGrp="1"/>
          </p:cNvSpPr>
          <p:nvPr/>
        </p:nvSpPr>
        <p:spPr>
          <a:xfrm xmlns:a="http://schemas.openxmlformats.org/drawingml/2006/main">
            <a:off x="8524875" y="4333875"/>
            <a:ext cx="3057525"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Additional capacity</a:t>
            </a:r>
          </a:p>
        </p:txBody>
      </p:sp>
      <p:sp>
        <p:nvSpPr>
          <p:cNvPr id="19" name="">
            <a:extLst xmlns:a="http://schemas.openxmlformats.org/drawingml/2006/main">
              <a:ext uri="{FF2B5EF4-FFF2-40B4-BE49-F238E27FC236}">
                <a16:creationId xmlns:a16="http://schemas.microsoft.com/office/drawing/2014/main" id="{E2FA0BF3-3B20-4A2A-AD03-478D0AE1F36C}"/>
              </a:ext>
            </a:extLst>
          </p:cNvPr>
          <p:cNvSpPr>
            <a:spLocks xmlns:a="http://schemas.openxmlformats.org/drawingml/2006/main" noGrp="1"/>
          </p:cNvSpPr>
          <p:nvPr/>
        </p:nvSpPr>
        <p:spPr>
          <a:xfrm xmlns:a="http://schemas.openxmlformats.org/drawingml/2006/main">
            <a:off x="609600" y="60102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A6D6B"/>
                </a:solidFill>
                <a:latin typeface="Arial"/>
                <a:ea typeface="Arial"/>
                <a:cs typeface="Arial"/>
              </a:defRPr>
            </a:defPPr>
          </a:lstStyle>
          <a:p xmlns:a="http://schemas.openxmlformats.org/drawingml/2006/main">
            <a:pPr algn="l">
              <a:defRPr sz="1575" b="0">
                <a:solidFill>
                  <a:srgbClr val="5A6D6B"/>
                </a:solidFill>
                <a:latin typeface="Arial"/>
                <a:ea typeface="Arial"/>
                <a:cs typeface="Arial"/>
              </a:defRPr>
            </a:pPr>
            <a:r>
              <a:rPr sz="1575" b="0">
                <a:solidFill>
                  <a:srgbClr val="5A6D6B"/>
                </a:solidFill>
                <a:latin typeface="Arial"/>
                <a:ea typeface="Arial"/>
                <a:cs typeface="Arial"/>
              </a:rPr>
              <a:t>Scale decisions depend on measured concurrency, latency, fallback rate and GPU memory.</a:t>
            </a:r>
          </a:p>
        </p:txBody>
      </p:sp>
    </p:spTree>
    <p:extLst>
      <p:ext uri="{BB962C8B-B14F-4D97-AF65-F5344CB8AC3E}">
        <p14:creationId xmlns:p14="http://schemas.microsoft.com/office/powerpoint/2010/main" val="153929369"/>
      </p:ext>
    </p:extLst>
  </p:cSld>
</p:sld>
</file>

<file path=ppt/slides/slide18.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30D9E2BE-BF8C-4D68-8E83-A60E4C3B928E}"/>
              </a:ext>
            </a:extLst>
          </p:cNvPr>
          <p:cNvCxnSpPr>
            <a:stCxn xmlns:a="http://schemas.openxmlformats.org/drawingml/2006/main" id="6" idx="3"/>
            <a:endCxn xmlns:a="http://schemas.openxmlformats.org/drawingml/2006/main" id="8" idx="1"/>
          </p:cNvCxnSpPr>
          <p:nvPr/>
        </p:nvCxnSpPr>
        <p:spPr>
          <a:xfrm xmlns:a="http://schemas.openxmlformats.org/drawingml/2006/main">
            <a:off x="7296150" y="3219450"/>
            <a:ext cx="514350" cy="4763"/>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9B20296C-5E7E-4DDF-9AFE-6DFB3DD2957A}"/>
              </a:ext>
            </a:extLst>
          </p:cNvPr>
          <p:cNvCxnSpPr>
            <a:stCxn xmlns:a="http://schemas.openxmlformats.org/drawingml/2006/main" id="7" idx="3"/>
            <a:endCxn xmlns:a="http://schemas.openxmlformats.org/drawingml/2006/main" id="6" idx="1"/>
          </p:cNvCxnSpPr>
          <p:nvPr/>
        </p:nvCxnSpPr>
        <p:spPr>
          <a:xfrm xmlns:a="http://schemas.openxmlformats.org/drawingml/2006/main" flipV="1">
            <a:off x="5057775" y="3219450"/>
            <a:ext cx="276225" cy="4763"/>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sp>
        <p:nvSpPr>
          <p:cNvPr id="14" name="">
            <a:extLst xmlns:a="http://schemas.openxmlformats.org/drawingml/2006/main">
              <a:ext uri="{FF2B5EF4-FFF2-40B4-BE49-F238E27FC236}">
                <a16:creationId xmlns:a16="http://schemas.microsoft.com/office/drawing/2014/main" id="{2C4B4658-7E7F-4207-96B0-7DA9133A9BB1}"/>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F7B"/>
                </a:solidFill>
                <a:latin typeface="Arial"/>
                <a:ea typeface="Arial"/>
                <a:cs typeface="Arial"/>
              </a:defRPr>
            </a:defPPr>
          </a:lstStyle>
          <a:p xmlns:a="http://schemas.openxmlformats.org/drawingml/2006/main">
            <a:pPr algn="l">
              <a:defRPr sz="1350" b="1">
                <a:solidFill>
                  <a:srgbClr val="007F7B"/>
                </a:solidFill>
                <a:latin typeface="Arial"/>
                <a:ea typeface="Arial"/>
                <a:cs typeface="Arial"/>
              </a:defRPr>
            </a:pPr>
            <a:r>
              <a:rPr sz="1350" b="1">
                <a:solidFill>
                  <a:srgbClr val="007F7B"/>
                </a:solidFill>
                <a:latin typeface="Arial"/>
                <a:ea typeface="Arial"/>
                <a:cs typeface="Arial"/>
              </a:rPr>
              <a:t>03  OUTPUT FORMAT</a:t>
            </a:r>
          </a:p>
        </p:txBody>
      </p:sp>
      <p:sp>
        <p:nvSpPr>
          <p:cNvPr id="2" name="">
            <a:extLst xmlns:a="http://schemas.openxmlformats.org/drawingml/2006/main">
              <a:ext uri="{FF2B5EF4-FFF2-40B4-BE49-F238E27FC236}">
                <a16:creationId xmlns:a16="http://schemas.microsoft.com/office/drawing/2014/main" id="{7B01D9F2-308C-4340-8B5B-13B77348B419}"/>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A2B"/>
                </a:solidFill>
                <a:latin typeface="Arial"/>
                <a:ea typeface="Arial"/>
                <a:cs typeface="Arial"/>
              </a:defRPr>
            </a:defPPr>
          </a:lstStyle>
          <a:p xmlns:a="http://schemas.openxmlformats.org/drawingml/2006/main">
            <a:pPr algn="l">
              <a:defRPr sz="3300" b="1">
                <a:solidFill>
                  <a:srgbClr val="152A2B"/>
                </a:solidFill>
                <a:latin typeface="Arial"/>
                <a:ea typeface="Arial"/>
                <a:cs typeface="Arial"/>
              </a:defRPr>
            </a:pPr>
            <a:r>
              <a:rPr sz="3300" b="1">
                <a:solidFill>
                  <a:srgbClr val="152A2B"/>
                </a:solidFill>
                <a:latin typeface="Arial"/>
                <a:ea typeface="Arial"/>
                <a:cs typeface="Arial"/>
              </a:rPr>
              <a:t>Two JSON contracts connect generation to the UI</a:t>
            </a:r>
          </a:p>
        </p:txBody>
      </p:sp>
      <p:sp>
        <p:nvSpPr>
          <p:cNvPr id="3" name="">
            <a:extLst xmlns:a="http://schemas.openxmlformats.org/drawingml/2006/main">
              <a:ext uri="{FF2B5EF4-FFF2-40B4-BE49-F238E27FC236}">
                <a16:creationId xmlns:a16="http://schemas.microsoft.com/office/drawing/2014/main" id="{D39CC401-6DBF-4963-9CCA-DD91D855F24B}"/>
              </a:ext>
            </a:extLst>
          </p:cNvPr>
          <p:cNvSpPr>
            <a:spLocks xmlns:a="http://schemas.openxmlformats.org/drawingml/2006/main" noGrp="1"/>
          </p:cNvSpPr>
          <p:nvPr/>
        </p:nvSpPr>
        <p:spPr>
          <a:xfrm xmlns:a="http://schemas.openxmlformats.org/drawingml/2006/main">
            <a:off x="11144250" y="64198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A6D6B"/>
                </a:solidFill>
                <a:latin typeface="Arial"/>
                <a:ea typeface="Arial"/>
                <a:cs typeface="Arial"/>
              </a:defRPr>
            </a:defPPr>
          </a:lstStyle>
          <a:p xmlns:a="http://schemas.openxmlformats.org/drawingml/2006/main">
            <a:pPr algn="r">
              <a:defRPr sz="1200" b="0">
                <a:solidFill>
                  <a:srgbClr val="5A6D6B"/>
                </a:solidFill>
                <a:latin typeface="Arial"/>
                <a:ea typeface="Arial"/>
                <a:cs typeface="Arial"/>
              </a:defRPr>
            </a:pPr>
            <a:r>
              <a:rPr sz="1200" b="0">
                <a:solidFill>
                  <a:srgbClr val="5A6D6B"/>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9B174E21-3F0A-4DF4-896A-3CE153EFA76D}"/>
              </a:ext>
            </a:extLst>
          </p:cNvPr>
          <p:cNvSpPr>
            <a:spLocks xmlns:a="http://schemas.openxmlformats.org/drawingml/2006/main" noGrp="1"/>
          </p:cNvSpPr>
          <p:nvPr/>
        </p:nvSpPr>
        <p:spPr>
          <a:xfrm xmlns:a="http://schemas.openxmlformats.org/drawingml/2006/main">
            <a:off x="609600" y="17621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7F7B"/>
                </a:solidFill>
                <a:latin typeface="Arial"/>
                <a:ea typeface="Arial"/>
                <a:cs typeface="Arial"/>
              </a:defRPr>
            </a:defPPr>
          </a:lstStyle>
          <a:p xmlns:a="http://schemas.openxmlformats.org/drawingml/2006/main">
            <a:pPr algn="l">
              <a:defRPr sz="2250" b="1">
                <a:solidFill>
                  <a:srgbClr val="007F7B"/>
                </a:solidFill>
                <a:latin typeface="Arial"/>
                <a:ea typeface="Arial"/>
                <a:cs typeface="Arial"/>
              </a:defRPr>
            </a:pPr>
            <a:r>
              <a:rPr sz="2250" b="1">
                <a:solidFill>
                  <a:srgbClr val="007F7B"/>
                </a:solidFill>
                <a:latin typeface="Arial"/>
                <a:ea typeface="Arial"/>
                <a:cs typeface="Arial"/>
              </a:rPr>
              <a:t>Model response</a:t>
            </a:r>
          </a:p>
        </p:txBody>
      </p:sp>
      <p:sp>
        <p:nvSpPr>
          <p:cNvPr id="5" name="">
            <a:extLst xmlns:a="http://schemas.openxmlformats.org/drawingml/2006/main">
              <a:ext uri="{FF2B5EF4-FFF2-40B4-BE49-F238E27FC236}">
                <a16:creationId xmlns:a16="http://schemas.microsoft.com/office/drawing/2014/main" id="{D48E045D-DA81-4FEB-A79D-1B06656F870A}"/>
              </a:ext>
            </a:extLst>
          </p:cNvPr>
          <p:cNvSpPr>
            <a:spLocks xmlns:a="http://schemas.openxmlformats.org/drawingml/2006/main" noGrp="1"/>
          </p:cNvSpPr>
          <p:nvPr/>
        </p:nvSpPr>
        <p:spPr>
          <a:xfrm xmlns:a="http://schemas.openxmlformats.org/drawingml/2006/main">
            <a:off x="609600" y="2514600"/>
            <a:ext cx="4572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52A2B"/>
                </a:solidFill>
                <a:latin typeface="Arial"/>
                <a:ea typeface="Arial"/>
                <a:cs typeface="Arial"/>
              </a:defRPr>
            </a:defPPr>
          </a:lstStyle>
          <a:p xmlns:a="http://schemas.openxmlformats.org/drawingml/2006/main">
            <a:pPr algn="l">
              <a:defRPr sz="2100" b="0">
                <a:solidFill>
                  <a:srgbClr val="152A2B"/>
                </a:solidFill>
                <a:latin typeface="Arial"/>
                <a:ea typeface="Arial"/>
                <a:cs typeface="Arial"/>
              </a:defRPr>
            </a:pPr>
            <a:r>
              <a:rPr sz="2100" b="0">
                <a:solidFill>
                  <a:srgbClr val="152A2B"/>
                </a:solidFill>
                <a:latin typeface="Arial"/>
                <a:ea typeface="Arial"/>
                <a:cs typeface="Arial"/>
              </a:rPr>
              <a:t>{"text": "Short interpretation…"}</a:t>
            </a:r>
          </a:p>
          <a:p xmlns:a="http://schemas.openxmlformats.org/drawingml/2006/main">
            <a:r>
              <a:t/>
            </a:r>
          </a:p>
          <a:p xmlns:a="http://schemas.openxmlformats.org/drawingml/2006/main">
            <a:pPr algn="l">
              <a:defRPr sz="2100" b="0">
                <a:solidFill>
                  <a:srgbClr val="152A2B"/>
                </a:solidFill>
                <a:latin typeface="Arial"/>
                <a:ea typeface="Arial"/>
                <a:cs typeface="Arial"/>
              </a:defRPr>
            </a:pPr>
            <a:r>
              <a:rPr sz="2100" b="0">
                <a:solidFill>
                  <a:srgbClr val="152A2B"/>
                </a:solidFill>
                <a:latin typeface="Arial"/>
                <a:ea typeface="Arial"/>
                <a:cs typeface="Arial"/>
              </a:rPr>
              <a:t>One object per report part</a:t>
            </a:r>
          </a:p>
        </p:txBody>
      </p:sp>
      <p:sp>
        <p:nvSpPr>
          <p:cNvPr id="6" name="">
            <a:extLst xmlns:a="http://schemas.openxmlformats.org/drawingml/2006/main">
              <a:ext uri="{FF2B5EF4-FFF2-40B4-BE49-F238E27FC236}">
                <a16:creationId xmlns:a16="http://schemas.microsoft.com/office/drawing/2014/main" id="{6EEBABF0-2267-4EEA-A548-B2BF1CA6DCDB}"/>
              </a:ext>
            </a:extLst>
          </p:cNvPr>
          <p:cNvSpPr>
            <a:spLocks xmlns:a="http://schemas.openxmlformats.org/drawingml/2006/main" noGrp="1"/>
          </p:cNvSpPr>
          <p:nvPr/>
        </p:nvSpPr>
        <p:spPr>
          <a:xfrm xmlns:a="http://schemas.openxmlformats.org/drawingml/2006/main">
            <a:off x="5334000" y="2724150"/>
            <a:ext cx="1962150" cy="990600"/>
          </a:xfrm>
          <a:prstGeom xmlns:a="http://schemas.openxmlformats.org/drawingml/2006/main" prst="rect">
            <a:avLst/>
          </a:prstGeom>
          <a:solidFill xmlns:a="http://schemas.openxmlformats.org/drawingml/2006/main">
            <a:srgbClr val="E8F2D9"/>
          </a:solidFill>
          <a:ln xmlns:a="http://schemas.openxmlformats.org/drawingml/2006/main" w="14288">
            <a:solidFill>
              <a:srgbClr val="76B900"/>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Validate</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 render</a:t>
            </a:r>
          </a:p>
        </p:txBody>
      </p:sp>
      <p:sp>
        <p:nvSpPr>
          <p:cNvPr id="7" name="">
            <a:extLst xmlns:a="http://schemas.openxmlformats.org/drawingml/2006/main">
              <a:ext uri="{FF2B5EF4-FFF2-40B4-BE49-F238E27FC236}">
                <a16:creationId xmlns:a16="http://schemas.microsoft.com/office/drawing/2014/main" id="{D20096CA-E1FC-4197-88AB-81CCBB788A2B}"/>
              </a:ext>
            </a:extLst>
          </p:cNvPr>
          <p:cNvSpPr>
            <a:spLocks xmlns:a="http://schemas.openxmlformats.org/drawingml/2006/main" noGrp="1"/>
          </p:cNvSpPr>
          <p:nvPr/>
        </p:nvSpPr>
        <p:spPr>
          <a:xfrm xmlns:a="http://schemas.openxmlformats.org/drawingml/2006/main">
            <a:off x="5048250" y="3219450"/>
            <a:ext cx="9525" cy="9525"/>
          </a:xfrm>
          <a:prstGeom xmlns:a="http://schemas.openxmlformats.org/drawingml/2006/main" prst="rect">
            <a:avLst/>
          </a:prstGeom>
          <a:solidFill xmlns:a="http://schemas.openxmlformats.org/drawingml/2006/main">
            <a:srgbClr val="F5F7F2"/>
          </a:solidFill>
          <a:ln xmlns:a="http://schemas.openxmlformats.org/drawingml/2006/main" w="14288">
            <a:solidFill>
              <a:srgbClr val="F5F7F2"/>
            </a:solidFill>
          </a:ln>
        </p:spPr>
      </p:sp>
      <p:sp>
        <p:nvSpPr>
          <p:cNvPr id="8" name="">
            <a:extLst xmlns:a="http://schemas.openxmlformats.org/drawingml/2006/main">
              <a:ext uri="{FF2B5EF4-FFF2-40B4-BE49-F238E27FC236}">
                <a16:creationId xmlns:a16="http://schemas.microsoft.com/office/drawing/2014/main" id="{B811BE20-FFF7-4843-96DF-D6A4D07D32CF}"/>
              </a:ext>
            </a:extLst>
          </p:cNvPr>
          <p:cNvSpPr>
            <a:spLocks xmlns:a="http://schemas.openxmlformats.org/drawingml/2006/main" noGrp="1"/>
          </p:cNvSpPr>
          <p:nvPr/>
        </p:nvSpPr>
        <p:spPr>
          <a:xfrm xmlns:a="http://schemas.openxmlformats.org/drawingml/2006/main">
            <a:off x="7810500" y="3219450"/>
            <a:ext cx="9525" cy="9525"/>
          </a:xfrm>
          <a:prstGeom xmlns:a="http://schemas.openxmlformats.org/drawingml/2006/main" prst="rect">
            <a:avLst/>
          </a:prstGeom>
          <a:solidFill xmlns:a="http://schemas.openxmlformats.org/drawingml/2006/main">
            <a:srgbClr val="F5F7F2"/>
          </a:solidFill>
          <a:ln xmlns:a="http://schemas.openxmlformats.org/drawingml/2006/main" w="14288">
            <a:solidFill>
              <a:srgbClr val="F5F7F2"/>
            </a:solidFill>
          </a:ln>
        </p:spPr>
      </p:sp>
      <p:sp>
        <p:nvSpPr>
          <p:cNvPr id="11" name="">
            <a:extLst xmlns:a="http://schemas.openxmlformats.org/drawingml/2006/main">
              <a:ext uri="{FF2B5EF4-FFF2-40B4-BE49-F238E27FC236}">
                <a16:creationId xmlns:a16="http://schemas.microsoft.com/office/drawing/2014/main" id="{4F19E527-6028-4AB9-AB30-BEAFEDC4569B}"/>
              </a:ext>
            </a:extLst>
          </p:cNvPr>
          <p:cNvSpPr>
            <a:spLocks xmlns:a="http://schemas.openxmlformats.org/drawingml/2006/main" noGrp="1"/>
          </p:cNvSpPr>
          <p:nvPr/>
        </p:nvSpPr>
        <p:spPr>
          <a:xfrm xmlns:a="http://schemas.openxmlformats.org/drawingml/2006/main">
            <a:off x="8096250" y="1762125"/>
            <a:ext cx="3486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7F7B"/>
                </a:solidFill>
                <a:latin typeface="Arial"/>
                <a:ea typeface="Arial"/>
                <a:cs typeface="Arial"/>
              </a:defRPr>
            </a:defPPr>
          </a:lstStyle>
          <a:p xmlns:a="http://schemas.openxmlformats.org/drawingml/2006/main">
            <a:pPr algn="l">
              <a:defRPr sz="2250" b="1">
                <a:solidFill>
                  <a:srgbClr val="007F7B"/>
                </a:solidFill>
                <a:latin typeface="Arial"/>
                <a:ea typeface="Arial"/>
                <a:cs typeface="Arial"/>
              </a:defRPr>
            </a:pPr>
            <a:r>
              <a:rPr sz="2250" b="1">
                <a:solidFill>
                  <a:srgbClr val="007F7B"/>
                </a:solidFill>
                <a:latin typeface="Arial"/>
                <a:ea typeface="Arial"/>
                <a:cs typeface="Arial"/>
              </a:rPr>
              <a:t>Application result</a:t>
            </a:r>
          </a:p>
        </p:txBody>
      </p:sp>
      <p:sp>
        <p:nvSpPr>
          <p:cNvPr id="12" name="">
            <a:extLst xmlns:a="http://schemas.openxmlformats.org/drawingml/2006/main">
              <a:ext uri="{FF2B5EF4-FFF2-40B4-BE49-F238E27FC236}">
                <a16:creationId xmlns:a16="http://schemas.microsoft.com/office/drawing/2014/main" id="{518D3CD9-B374-4EB1-B8FE-B3C1A896B83E}"/>
              </a:ext>
            </a:extLst>
          </p:cNvPr>
          <p:cNvSpPr>
            <a:spLocks xmlns:a="http://schemas.openxmlformats.org/drawingml/2006/main" noGrp="1"/>
          </p:cNvSpPr>
          <p:nvPr/>
        </p:nvSpPr>
        <p:spPr>
          <a:xfrm xmlns:a="http://schemas.openxmlformats.org/drawingml/2006/main">
            <a:off x="8096250" y="2466975"/>
            <a:ext cx="34861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52A2B"/>
                </a:solidFill>
                <a:latin typeface="Arial"/>
                <a:ea typeface="Arial"/>
                <a:cs typeface="Arial"/>
              </a:defRPr>
            </a:defPPr>
          </a:lstStyle>
          <a:p xmlns:a="http://schemas.openxmlformats.org/drawingml/2006/main">
            <a:pPr algn="l">
              <a:defRPr sz="2025" b="0">
                <a:solidFill>
                  <a:srgbClr val="152A2B"/>
                </a:solidFill>
                <a:latin typeface="Arial"/>
                <a:ea typeface="Arial"/>
                <a:cs typeface="Arial"/>
              </a:defRPr>
            </a:pPr>
            <a:r>
              <a:rPr sz="2025" b="0">
                <a:solidFill>
                  <a:srgbClr val="152A2B"/>
                </a:solidFill>
                <a:latin typeface="Arial"/>
                <a:ea typeface="Arial"/>
                <a:cs typeface="Arial"/>
              </a:rPr>
              <a:t>patient_id</a:t>
            </a:r>
          </a:p>
          <a:p xmlns:a="http://schemas.openxmlformats.org/drawingml/2006/main">
            <a:pPr algn="l">
              <a:defRPr sz="2025" b="0">
                <a:solidFill>
                  <a:srgbClr val="152A2B"/>
                </a:solidFill>
                <a:latin typeface="Arial"/>
                <a:ea typeface="Arial"/>
                <a:cs typeface="Arial"/>
              </a:defRPr>
            </a:pPr>
            <a:r>
              <a:rPr sz="2025" b="0">
                <a:solidFill>
                  <a:srgbClr val="152A2B"/>
                </a:solidFill>
                <a:latin typeface="Arial"/>
                <a:ea typeface="Arial"/>
                <a:cs typeface="Arial"/>
              </a:rPr>
              <a:t>predictions</a:t>
            </a:r>
          </a:p>
          <a:p xmlns:a="http://schemas.openxmlformats.org/drawingml/2006/main">
            <a:pPr algn="l">
              <a:defRPr sz="2025" b="0">
                <a:solidFill>
                  <a:srgbClr val="152A2B"/>
                </a:solidFill>
                <a:latin typeface="Arial"/>
                <a:ea typeface="Arial"/>
                <a:cs typeface="Arial"/>
              </a:defRPr>
            </a:pPr>
            <a:r>
              <a:rPr sz="2025" b="0">
                <a:solidFill>
                  <a:srgbClr val="152A2B"/>
                </a:solidFill>
                <a:latin typeface="Arial"/>
                <a:ea typeface="Arial"/>
                <a:cs typeface="Arial"/>
              </a:rPr>
              <a:t>narrative</a:t>
            </a:r>
          </a:p>
          <a:p xmlns:a="http://schemas.openxmlformats.org/drawingml/2006/main">
            <a:pPr algn="l">
              <a:defRPr sz="2025" b="0">
                <a:solidFill>
                  <a:srgbClr val="152A2B"/>
                </a:solidFill>
                <a:latin typeface="Arial"/>
                <a:ea typeface="Arial"/>
                <a:cs typeface="Arial"/>
              </a:defRPr>
            </a:pPr>
            <a:r>
              <a:rPr sz="2025" b="0">
                <a:solidFill>
                  <a:srgbClr val="152A2B"/>
                </a:solidFill>
                <a:latin typeface="Arial"/>
                <a:ea typeface="Arial"/>
                <a:cs typeface="Arial"/>
              </a:rPr>
              <a:t>narrative_source</a:t>
            </a:r>
          </a:p>
          <a:p xmlns:a="http://schemas.openxmlformats.org/drawingml/2006/main">
            <a:pPr algn="l">
              <a:defRPr sz="2025" b="0">
                <a:solidFill>
                  <a:srgbClr val="152A2B"/>
                </a:solidFill>
                <a:latin typeface="Arial"/>
                <a:ea typeface="Arial"/>
                <a:cs typeface="Arial"/>
              </a:defRPr>
            </a:pPr>
            <a:r>
              <a:rPr sz="2025" b="0">
                <a:solidFill>
                  <a:srgbClr val="152A2B"/>
                </a:solidFill>
                <a:latin typeface="Arial"/>
                <a:ea typeface="Arial"/>
                <a:cs typeface="Arial"/>
              </a:rPr>
              <a:t>quality + limitations</a:t>
            </a:r>
          </a:p>
          <a:p xmlns:a="http://schemas.openxmlformats.org/drawingml/2006/main">
            <a:pPr algn="l">
              <a:defRPr sz="2025" b="0">
                <a:solidFill>
                  <a:srgbClr val="152A2B"/>
                </a:solidFill>
                <a:latin typeface="Arial"/>
                <a:ea typeface="Arial"/>
                <a:cs typeface="Arial"/>
              </a:defRPr>
            </a:pPr>
            <a:r>
              <a:rPr sz="2025" b="0">
                <a:solidFill>
                  <a:srgbClr val="152A2B"/>
                </a:solidFill>
                <a:latin typeface="Arial"/>
                <a:ea typeface="Arial"/>
                <a:cs typeface="Arial"/>
              </a:rPr>
              <a:t>provenance</a:t>
            </a:r>
          </a:p>
          <a:p xmlns:a="http://schemas.openxmlformats.org/drawingml/2006/main">
            <a:pPr algn="l">
              <a:defRPr sz="2025" b="0">
                <a:solidFill>
                  <a:srgbClr val="152A2B"/>
                </a:solidFill>
                <a:latin typeface="Arial"/>
                <a:ea typeface="Arial"/>
                <a:cs typeface="Arial"/>
              </a:defRPr>
            </a:pPr>
            <a:r>
              <a:rPr sz="2025" b="0">
                <a:solidFill>
                  <a:srgbClr val="152A2B"/>
                </a:solidFill>
                <a:latin typeface="Arial"/>
                <a:ea typeface="Arial"/>
                <a:cs typeface="Arial"/>
              </a:rPr>
              <a:t>review_required: true</a:t>
            </a:r>
          </a:p>
        </p:txBody>
      </p:sp>
      <p:sp>
        <p:nvSpPr>
          <p:cNvPr id="13" name="">
            <a:extLst xmlns:a="http://schemas.openxmlformats.org/drawingml/2006/main">
              <a:ext uri="{FF2B5EF4-FFF2-40B4-BE49-F238E27FC236}">
                <a16:creationId xmlns:a16="http://schemas.microsoft.com/office/drawing/2014/main" id="{D1C10AFE-DE6B-495B-BD68-E8AD272059C4}"/>
              </a:ext>
            </a:extLst>
          </p:cNvPr>
          <p:cNvSpPr>
            <a:spLocks xmlns:a="http://schemas.openxmlformats.org/drawingml/2006/main" noGrp="1"/>
          </p:cNvSpPr>
          <p:nvPr/>
        </p:nvSpPr>
        <p:spPr>
          <a:xfrm xmlns:a="http://schemas.openxmlformats.org/drawingml/2006/main">
            <a:off x="609600" y="60102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A6D6B"/>
                </a:solidFill>
                <a:latin typeface="Arial"/>
                <a:ea typeface="Arial"/>
                <a:cs typeface="Arial"/>
              </a:defRPr>
            </a:defPPr>
          </a:lstStyle>
          <a:p xmlns:a="http://schemas.openxmlformats.org/drawingml/2006/main">
            <a:pPr algn="l">
              <a:defRPr sz="1575" b="0">
                <a:solidFill>
                  <a:srgbClr val="5A6D6B"/>
                </a:solidFill>
                <a:latin typeface="Arial"/>
                <a:ea typeface="Arial"/>
                <a:cs typeface="Arial"/>
              </a:defRPr>
            </a:pPr>
            <a:r>
              <a:rPr sz="1575" b="0">
                <a:solidFill>
                  <a:srgbClr val="5A6D6B"/>
                </a:solidFill>
                <a:latin typeface="Arial"/>
                <a:ea typeface="Arial"/>
                <a:cs typeface="Arial"/>
              </a:rPr>
              <a:t>The LLM supplies prose. The application owns the JSON envelope and numerical facts.</a:t>
            </a:r>
          </a:p>
        </p:txBody>
      </p:sp>
    </p:spTree>
    <p:extLst>
      <p:ext uri="{BB962C8B-B14F-4D97-AF65-F5344CB8AC3E}">
        <p14:creationId xmlns:p14="http://schemas.microsoft.com/office/powerpoint/2010/main" val="1285658761"/>
      </p:ext>
    </p:extLst>
  </p:cSld>
</p:sld>
</file>

<file path=ppt/slides/slide19.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BBEC8E4-6D7E-4C0C-BA74-ECAA29FB1220}"/>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F7B"/>
                </a:solidFill>
                <a:latin typeface="Arial"/>
                <a:ea typeface="Arial"/>
                <a:cs typeface="Arial"/>
              </a:defRPr>
            </a:defPPr>
          </a:lstStyle>
          <a:p xmlns:a="http://schemas.openxmlformats.org/drawingml/2006/main">
            <a:pPr algn="l">
              <a:defRPr sz="1350" b="1">
                <a:solidFill>
                  <a:srgbClr val="007F7B"/>
                </a:solidFill>
                <a:latin typeface="Arial"/>
                <a:ea typeface="Arial"/>
                <a:cs typeface="Arial"/>
              </a:defRPr>
            </a:pPr>
            <a:r>
              <a:rPr sz="1350" b="1">
                <a:solidFill>
                  <a:srgbClr val="007F7B"/>
                </a:solidFill>
                <a:latin typeface="Arial"/>
                <a:ea typeface="Arial"/>
                <a:cs typeface="Arial"/>
              </a:rPr>
              <a:t>03  READABLE REPORTS</a:t>
            </a:r>
          </a:p>
        </p:txBody>
      </p:sp>
      <p:sp>
        <p:nvSpPr>
          <p:cNvPr id="2" name="">
            <a:extLst xmlns:a="http://schemas.openxmlformats.org/drawingml/2006/main">
              <a:ext uri="{FF2B5EF4-FFF2-40B4-BE49-F238E27FC236}">
                <a16:creationId xmlns:a16="http://schemas.microsoft.com/office/drawing/2014/main" id="{AE4395B5-7520-44E4-BD49-BCF1E78D17DD}"/>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A2B"/>
                </a:solidFill>
                <a:latin typeface="Arial"/>
                <a:ea typeface="Arial"/>
                <a:cs typeface="Arial"/>
              </a:defRPr>
            </a:defPPr>
          </a:lstStyle>
          <a:p xmlns:a="http://schemas.openxmlformats.org/drawingml/2006/main">
            <a:pPr algn="l">
              <a:defRPr sz="3300" b="1">
                <a:solidFill>
                  <a:srgbClr val="152A2B"/>
                </a:solidFill>
                <a:latin typeface="Arial"/>
                <a:ea typeface="Arial"/>
                <a:cs typeface="Arial"/>
              </a:defRPr>
            </a:pPr>
            <a:r>
              <a:rPr sz="3300" b="1">
                <a:solidFill>
                  <a:srgbClr val="152A2B"/>
                </a:solidFill>
                <a:latin typeface="Arial"/>
                <a:ea typeface="Arial"/>
                <a:cs typeface="Arial"/>
              </a:rPr>
              <a:t>Four report sections support a natural reading order</a:t>
            </a:r>
          </a:p>
        </p:txBody>
      </p:sp>
      <p:sp>
        <p:nvSpPr>
          <p:cNvPr id="3" name="">
            <a:extLst xmlns:a="http://schemas.openxmlformats.org/drawingml/2006/main">
              <a:ext uri="{FF2B5EF4-FFF2-40B4-BE49-F238E27FC236}">
                <a16:creationId xmlns:a16="http://schemas.microsoft.com/office/drawing/2014/main" id="{43330A34-4536-4E08-AB1B-D2E8E3E0FEF3}"/>
              </a:ext>
            </a:extLst>
          </p:cNvPr>
          <p:cNvSpPr>
            <a:spLocks xmlns:a="http://schemas.openxmlformats.org/drawingml/2006/main" noGrp="1"/>
          </p:cNvSpPr>
          <p:nvPr/>
        </p:nvSpPr>
        <p:spPr>
          <a:xfrm xmlns:a="http://schemas.openxmlformats.org/drawingml/2006/main">
            <a:off x="11144250" y="64198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A6D6B"/>
                </a:solidFill>
                <a:latin typeface="Arial"/>
                <a:ea typeface="Arial"/>
                <a:cs typeface="Arial"/>
              </a:defRPr>
            </a:defPPr>
          </a:lstStyle>
          <a:p xmlns:a="http://schemas.openxmlformats.org/drawingml/2006/main">
            <a:pPr algn="r">
              <a:defRPr sz="1200" b="0">
                <a:solidFill>
                  <a:srgbClr val="5A6D6B"/>
                </a:solidFill>
                <a:latin typeface="Arial"/>
                <a:ea typeface="Arial"/>
                <a:cs typeface="Arial"/>
              </a:defRPr>
            </a:pPr>
            <a:r>
              <a:rPr sz="1200" b="0">
                <a:solidFill>
                  <a:srgbClr val="5A6D6B"/>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00EC4F26-3973-4994-8BA2-163B6376B582}"/>
              </a:ext>
            </a:extLst>
          </p:cNvPr>
          <p:cNvSpPr>
            <a:spLocks xmlns:a="http://schemas.openxmlformats.org/drawingml/2006/main" noGrp="1"/>
          </p:cNvSpPr>
          <p:nvPr/>
        </p:nvSpPr>
        <p:spPr>
          <a:xfrm xmlns:a="http://schemas.openxmlformats.org/drawingml/2006/main">
            <a:off x="609600" y="1752600"/>
            <a:ext cx="10972800" cy="857250"/>
          </a:xfrm>
          <a:prstGeom xmlns:a="http://schemas.openxmlformats.org/drawingml/2006/main" prst="rect">
            <a:avLst/>
          </a:prstGeom>
          <a:solidFill xmlns:a="http://schemas.openxmlformats.org/drawingml/2006/main">
            <a:srgbClr val="E9F0E9"/>
          </a:solidFill>
          <a:ln xmlns:a="http://schemas.openxmlformats.org/drawingml/2006/main" w="14288">
            <a:solidFill>
              <a:srgbClr val="C7D3CD"/>
            </a:solidFill>
          </a:ln>
        </p:spPr>
      </p:sp>
      <p:sp>
        <p:nvSpPr>
          <p:cNvPr id="5" name="">
            <a:extLst xmlns:a="http://schemas.openxmlformats.org/drawingml/2006/main">
              <a:ext uri="{FF2B5EF4-FFF2-40B4-BE49-F238E27FC236}">
                <a16:creationId xmlns:a16="http://schemas.microsoft.com/office/drawing/2014/main" id="{052B19BF-C01C-401D-8CD8-B8AE2D1EC491}"/>
              </a:ext>
            </a:extLst>
          </p:cNvPr>
          <p:cNvSpPr>
            <a:spLocks xmlns:a="http://schemas.openxmlformats.org/drawingml/2006/main" noGrp="1"/>
          </p:cNvSpPr>
          <p:nvPr/>
        </p:nvSpPr>
        <p:spPr>
          <a:xfrm xmlns:a="http://schemas.openxmlformats.org/drawingml/2006/main">
            <a:off x="800100" y="1847850"/>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07F7B"/>
                </a:solidFill>
                <a:latin typeface="Arial"/>
                <a:ea typeface="Arial"/>
                <a:cs typeface="Arial"/>
              </a:defRPr>
            </a:defPPr>
          </a:lstStyle>
          <a:p xmlns:a="http://schemas.openxmlformats.org/drawingml/2006/main">
            <a:pPr algn="l">
              <a:defRPr sz="3600" b="1">
                <a:solidFill>
                  <a:srgbClr val="007F7B"/>
                </a:solidFill>
                <a:latin typeface="Arial"/>
                <a:ea typeface="Arial"/>
                <a:cs typeface="Arial"/>
              </a:defRPr>
            </a:pPr>
            <a:r>
              <a:rPr sz="3600" b="1">
                <a:solidFill>
                  <a:srgbClr val="007F7B"/>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42EB2443-73AA-47EC-845D-23E3E151A5CB}"/>
              </a:ext>
            </a:extLst>
          </p:cNvPr>
          <p:cNvSpPr>
            <a:spLocks xmlns:a="http://schemas.openxmlformats.org/drawingml/2006/main" noGrp="1"/>
          </p:cNvSpPr>
          <p:nvPr/>
        </p:nvSpPr>
        <p:spPr>
          <a:xfrm xmlns:a="http://schemas.openxmlformats.org/drawingml/2006/main">
            <a:off x="1619250" y="185737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52A2B"/>
                </a:solidFill>
                <a:latin typeface="Arial"/>
                <a:ea typeface="Arial"/>
                <a:cs typeface="Arial"/>
              </a:defRPr>
            </a:defPPr>
          </a:lstStyle>
          <a:p xmlns:a="http://schemas.openxmlformats.org/drawingml/2006/main">
            <a:pPr algn="l">
              <a:defRPr sz="2250" b="1">
                <a:solidFill>
                  <a:srgbClr val="152A2B"/>
                </a:solidFill>
                <a:latin typeface="Arial"/>
                <a:ea typeface="Arial"/>
                <a:cs typeface="Arial"/>
              </a:defRPr>
            </a:pPr>
            <a:r>
              <a:rPr sz="2250" b="1">
                <a:solidFill>
                  <a:srgbClr val="152A2B"/>
                </a:solidFill>
                <a:latin typeface="Arial"/>
                <a:ea typeface="Arial"/>
                <a:cs typeface="Arial"/>
              </a:rPr>
              <a:t>Model evaluation</a:t>
            </a:r>
          </a:p>
        </p:txBody>
      </p:sp>
      <p:sp>
        <p:nvSpPr>
          <p:cNvPr id="7" name="">
            <a:extLst xmlns:a="http://schemas.openxmlformats.org/drawingml/2006/main">
              <a:ext uri="{FF2B5EF4-FFF2-40B4-BE49-F238E27FC236}">
                <a16:creationId xmlns:a16="http://schemas.microsoft.com/office/drawing/2014/main" id="{922B9EC3-E00A-4C60-8E9B-6773DA35C694}"/>
              </a:ext>
            </a:extLst>
          </p:cNvPr>
          <p:cNvSpPr>
            <a:spLocks xmlns:a="http://schemas.openxmlformats.org/drawingml/2006/main" noGrp="1"/>
          </p:cNvSpPr>
          <p:nvPr/>
        </p:nvSpPr>
        <p:spPr>
          <a:xfrm xmlns:a="http://schemas.openxmlformats.org/drawingml/2006/main">
            <a:off x="5095875" y="1876425"/>
            <a:ext cx="381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52A2B"/>
                </a:solidFill>
                <a:latin typeface="Arial"/>
                <a:ea typeface="Arial"/>
                <a:cs typeface="Arial"/>
              </a:defRPr>
            </a:defPPr>
          </a:lstStyle>
          <a:p xmlns:a="http://schemas.openxmlformats.org/drawingml/2006/main">
            <a:pPr algn="l">
              <a:defRPr sz="1875" b="0">
                <a:solidFill>
                  <a:srgbClr val="152A2B"/>
                </a:solidFill>
                <a:latin typeface="Arial"/>
                <a:ea typeface="Arial"/>
                <a:cs typeface="Arial"/>
              </a:defRPr>
            </a:pPr>
            <a:r>
              <a:rPr sz="1875" b="0">
                <a:solidFill>
                  <a:srgbClr val="152A2B"/>
                </a:solidFill>
                <a:latin typeface="Arial"/>
                <a:ea typeface="Arial"/>
                <a:cs typeface="Arial"/>
              </a:rPr>
              <a:t>Exact scores + meaning</a:t>
            </a:r>
          </a:p>
        </p:txBody>
      </p:sp>
      <p:sp>
        <p:nvSpPr>
          <p:cNvPr id="8" name="">
            <a:extLst xmlns:a="http://schemas.openxmlformats.org/drawingml/2006/main">
              <a:ext uri="{FF2B5EF4-FFF2-40B4-BE49-F238E27FC236}">
                <a16:creationId xmlns:a16="http://schemas.microsoft.com/office/drawing/2014/main" id="{E098B50F-98B4-416D-9DD6-C3BD5424B92A}"/>
              </a:ext>
            </a:extLst>
          </p:cNvPr>
          <p:cNvSpPr>
            <a:spLocks xmlns:a="http://schemas.openxmlformats.org/drawingml/2006/main" noGrp="1"/>
          </p:cNvSpPr>
          <p:nvPr/>
        </p:nvSpPr>
        <p:spPr>
          <a:xfrm xmlns:a="http://schemas.openxmlformats.org/drawingml/2006/main">
            <a:off x="9144000" y="1885950"/>
            <a:ext cx="219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A6D6B"/>
                </a:solidFill>
                <a:latin typeface="Arial"/>
                <a:ea typeface="Arial"/>
                <a:cs typeface="Arial"/>
              </a:defRPr>
            </a:defPPr>
          </a:lstStyle>
          <a:p xmlns:a="http://schemas.openxmlformats.org/drawingml/2006/main">
            <a:pPr algn="l">
              <a:defRPr sz="1575" b="0">
                <a:solidFill>
                  <a:srgbClr val="5A6D6B"/>
                </a:solidFill>
                <a:latin typeface="Arial"/>
                <a:ea typeface="Arial"/>
                <a:cs typeface="Arial"/>
              </a:defRPr>
            </a:pPr>
            <a:r>
              <a:rPr sz="1575" b="0">
                <a:solidFill>
                  <a:srgbClr val="5A6D6B"/>
                </a:solidFill>
                <a:latin typeface="Arial"/>
                <a:ea typeface="Arial"/>
                <a:cs typeface="Arial"/>
              </a:rPr>
              <a:t>Application + Nemotron</a:t>
            </a:r>
          </a:p>
        </p:txBody>
      </p:sp>
      <p:sp>
        <p:nvSpPr>
          <p:cNvPr id="9" name="">
            <a:extLst xmlns:a="http://schemas.openxmlformats.org/drawingml/2006/main">
              <a:ext uri="{FF2B5EF4-FFF2-40B4-BE49-F238E27FC236}">
                <a16:creationId xmlns:a16="http://schemas.microsoft.com/office/drawing/2014/main" id="{A5DDAE9C-3806-4EF0-95A1-2723BB7ED872}"/>
              </a:ext>
            </a:extLst>
          </p:cNvPr>
          <p:cNvSpPr>
            <a:spLocks xmlns:a="http://schemas.openxmlformats.org/drawingml/2006/main" noGrp="1"/>
          </p:cNvSpPr>
          <p:nvPr/>
        </p:nvSpPr>
        <p:spPr>
          <a:xfrm xmlns:a="http://schemas.openxmlformats.org/drawingml/2006/main">
            <a:off x="609600" y="2752725"/>
            <a:ext cx="109728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sp>
      <p:sp>
        <p:nvSpPr>
          <p:cNvPr id="10" name="">
            <a:extLst xmlns:a="http://schemas.openxmlformats.org/drawingml/2006/main">
              <a:ext uri="{FF2B5EF4-FFF2-40B4-BE49-F238E27FC236}">
                <a16:creationId xmlns:a16="http://schemas.microsoft.com/office/drawing/2014/main" id="{EFCE4E9A-6C6D-4809-BC3F-DFE1E3B1D022}"/>
              </a:ext>
            </a:extLst>
          </p:cNvPr>
          <p:cNvSpPr>
            <a:spLocks xmlns:a="http://schemas.openxmlformats.org/drawingml/2006/main" noGrp="1"/>
          </p:cNvSpPr>
          <p:nvPr/>
        </p:nvSpPr>
        <p:spPr>
          <a:xfrm xmlns:a="http://schemas.openxmlformats.org/drawingml/2006/main">
            <a:off x="800100" y="2847975"/>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07F7B"/>
                </a:solidFill>
                <a:latin typeface="Arial"/>
                <a:ea typeface="Arial"/>
                <a:cs typeface="Arial"/>
              </a:defRPr>
            </a:defPPr>
          </a:lstStyle>
          <a:p xmlns:a="http://schemas.openxmlformats.org/drawingml/2006/main">
            <a:pPr algn="l">
              <a:defRPr sz="3600" b="1">
                <a:solidFill>
                  <a:srgbClr val="007F7B"/>
                </a:solidFill>
                <a:latin typeface="Arial"/>
                <a:ea typeface="Arial"/>
                <a:cs typeface="Arial"/>
              </a:defRPr>
            </a:pPr>
            <a:r>
              <a:rPr sz="3600" b="1">
                <a:solidFill>
                  <a:srgbClr val="007F7B"/>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D086B2D9-748B-4BAE-AE9A-0BB66602A744}"/>
              </a:ext>
            </a:extLst>
          </p:cNvPr>
          <p:cNvSpPr>
            <a:spLocks xmlns:a="http://schemas.openxmlformats.org/drawingml/2006/main" noGrp="1"/>
          </p:cNvSpPr>
          <p:nvPr/>
        </p:nvSpPr>
        <p:spPr>
          <a:xfrm xmlns:a="http://schemas.openxmlformats.org/drawingml/2006/main">
            <a:off x="1619250" y="285750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52A2B"/>
                </a:solidFill>
                <a:latin typeface="Arial"/>
                <a:ea typeface="Arial"/>
                <a:cs typeface="Arial"/>
              </a:defRPr>
            </a:defPPr>
          </a:lstStyle>
          <a:p xmlns:a="http://schemas.openxmlformats.org/drawingml/2006/main">
            <a:pPr algn="l">
              <a:defRPr sz="2250" b="1">
                <a:solidFill>
                  <a:srgbClr val="152A2B"/>
                </a:solidFill>
                <a:latin typeface="Arial"/>
                <a:ea typeface="Arial"/>
                <a:cs typeface="Arial"/>
              </a:defRPr>
            </a:pPr>
            <a:r>
              <a:rPr sz="2250" b="1">
                <a:solidFill>
                  <a:srgbClr val="152A2B"/>
                </a:solidFill>
                <a:latin typeface="Arial"/>
                <a:ea typeface="Arial"/>
                <a:cs typeface="Arial"/>
              </a:rPr>
              <a:t>Clinical evaluation</a:t>
            </a:r>
          </a:p>
        </p:txBody>
      </p:sp>
      <p:sp>
        <p:nvSpPr>
          <p:cNvPr id="12" name="">
            <a:extLst xmlns:a="http://schemas.openxmlformats.org/drawingml/2006/main">
              <a:ext uri="{FF2B5EF4-FFF2-40B4-BE49-F238E27FC236}">
                <a16:creationId xmlns:a16="http://schemas.microsoft.com/office/drawing/2014/main" id="{D0AD66AD-C007-470C-83AE-1A9BD01AE31C}"/>
              </a:ext>
            </a:extLst>
          </p:cNvPr>
          <p:cNvSpPr>
            <a:spLocks xmlns:a="http://schemas.openxmlformats.org/drawingml/2006/main" noGrp="1"/>
          </p:cNvSpPr>
          <p:nvPr/>
        </p:nvSpPr>
        <p:spPr>
          <a:xfrm xmlns:a="http://schemas.openxmlformats.org/drawingml/2006/main">
            <a:off x="5095875" y="2876550"/>
            <a:ext cx="381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52A2B"/>
                </a:solidFill>
                <a:latin typeface="Arial"/>
                <a:ea typeface="Arial"/>
                <a:cs typeface="Arial"/>
              </a:defRPr>
            </a:defPPr>
          </a:lstStyle>
          <a:p xmlns:a="http://schemas.openxmlformats.org/drawingml/2006/main">
            <a:pPr algn="l">
              <a:defRPr sz="1875" b="0">
                <a:solidFill>
                  <a:srgbClr val="152A2B"/>
                </a:solidFill>
                <a:latin typeface="Arial"/>
                <a:ea typeface="Arial"/>
                <a:cs typeface="Arial"/>
              </a:defRPr>
            </a:pPr>
            <a:r>
              <a:rPr sz="1875" b="0">
                <a:solidFill>
                  <a:srgbClr val="152A2B"/>
                </a:solidFill>
                <a:latin typeface="Arial"/>
                <a:ea typeface="Arial"/>
                <a:cs typeface="Arial"/>
              </a:rPr>
              <a:t>SHAP direction + literature context</a:t>
            </a:r>
          </a:p>
        </p:txBody>
      </p:sp>
      <p:sp>
        <p:nvSpPr>
          <p:cNvPr id="13" name="">
            <a:extLst xmlns:a="http://schemas.openxmlformats.org/drawingml/2006/main">
              <a:ext uri="{FF2B5EF4-FFF2-40B4-BE49-F238E27FC236}">
                <a16:creationId xmlns:a16="http://schemas.microsoft.com/office/drawing/2014/main" id="{048A9743-0AED-4B63-B09A-E728B46FE4E3}"/>
              </a:ext>
            </a:extLst>
          </p:cNvPr>
          <p:cNvSpPr>
            <a:spLocks xmlns:a="http://schemas.openxmlformats.org/drawingml/2006/main" noGrp="1"/>
          </p:cNvSpPr>
          <p:nvPr/>
        </p:nvSpPr>
        <p:spPr>
          <a:xfrm xmlns:a="http://schemas.openxmlformats.org/drawingml/2006/main">
            <a:off x="9144000" y="2886075"/>
            <a:ext cx="219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A6D6B"/>
                </a:solidFill>
                <a:latin typeface="Arial"/>
                <a:ea typeface="Arial"/>
                <a:cs typeface="Arial"/>
              </a:defRPr>
            </a:defPPr>
          </a:lstStyle>
          <a:p xmlns:a="http://schemas.openxmlformats.org/drawingml/2006/main">
            <a:pPr algn="l">
              <a:defRPr sz="1575" b="0">
                <a:solidFill>
                  <a:srgbClr val="5A6D6B"/>
                </a:solidFill>
                <a:latin typeface="Arial"/>
                <a:ea typeface="Arial"/>
                <a:cs typeface="Arial"/>
              </a:defRPr>
            </a:pPr>
            <a:r>
              <a:rPr sz="1575" b="0">
                <a:solidFill>
                  <a:srgbClr val="5A6D6B"/>
                </a:solidFill>
                <a:latin typeface="Arial"/>
                <a:ea typeface="Arial"/>
                <a:cs typeface="Arial"/>
              </a:rPr>
              <a:t>Application + Nemotron</a:t>
            </a:r>
          </a:p>
        </p:txBody>
      </p:sp>
      <p:sp>
        <p:nvSpPr>
          <p:cNvPr id="14" name="">
            <a:extLst xmlns:a="http://schemas.openxmlformats.org/drawingml/2006/main">
              <a:ext uri="{FF2B5EF4-FFF2-40B4-BE49-F238E27FC236}">
                <a16:creationId xmlns:a16="http://schemas.microsoft.com/office/drawing/2014/main" id="{54B4DA01-1BFF-4284-81F9-5A799BFC26E9}"/>
              </a:ext>
            </a:extLst>
          </p:cNvPr>
          <p:cNvSpPr>
            <a:spLocks xmlns:a="http://schemas.openxmlformats.org/drawingml/2006/main" noGrp="1"/>
          </p:cNvSpPr>
          <p:nvPr/>
        </p:nvSpPr>
        <p:spPr>
          <a:xfrm xmlns:a="http://schemas.openxmlformats.org/drawingml/2006/main">
            <a:off x="609600" y="3752850"/>
            <a:ext cx="10972800" cy="857250"/>
          </a:xfrm>
          <a:prstGeom xmlns:a="http://schemas.openxmlformats.org/drawingml/2006/main" prst="rect">
            <a:avLst/>
          </a:prstGeom>
          <a:solidFill xmlns:a="http://schemas.openxmlformats.org/drawingml/2006/main">
            <a:srgbClr val="E9F0E9"/>
          </a:solidFill>
          <a:ln xmlns:a="http://schemas.openxmlformats.org/drawingml/2006/main" w="14288">
            <a:solidFill>
              <a:srgbClr val="C7D3CD"/>
            </a:solidFill>
          </a:ln>
        </p:spPr>
      </p:sp>
      <p:sp>
        <p:nvSpPr>
          <p:cNvPr id="15" name="">
            <a:extLst xmlns:a="http://schemas.openxmlformats.org/drawingml/2006/main">
              <a:ext uri="{FF2B5EF4-FFF2-40B4-BE49-F238E27FC236}">
                <a16:creationId xmlns:a16="http://schemas.microsoft.com/office/drawing/2014/main" id="{60392F6F-385A-473F-ACA5-7A8A27F3F722}"/>
              </a:ext>
            </a:extLst>
          </p:cNvPr>
          <p:cNvSpPr>
            <a:spLocks xmlns:a="http://schemas.openxmlformats.org/drawingml/2006/main" noGrp="1"/>
          </p:cNvSpPr>
          <p:nvPr/>
        </p:nvSpPr>
        <p:spPr>
          <a:xfrm xmlns:a="http://schemas.openxmlformats.org/drawingml/2006/main">
            <a:off x="800100" y="3848100"/>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07F7B"/>
                </a:solidFill>
                <a:latin typeface="Arial"/>
                <a:ea typeface="Arial"/>
                <a:cs typeface="Arial"/>
              </a:defRPr>
            </a:defPPr>
          </a:lstStyle>
          <a:p xmlns:a="http://schemas.openxmlformats.org/drawingml/2006/main">
            <a:pPr algn="l">
              <a:defRPr sz="3600" b="1">
                <a:solidFill>
                  <a:srgbClr val="007F7B"/>
                </a:solidFill>
                <a:latin typeface="Arial"/>
                <a:ea typeface="Arial"/>
                <a:cs typeface="Arial"/>
              </a:defRPr>
            </a:pPr>
            <a:r>
              <a:rPr sz="3600" b="1">
                <a:solidFill>
                  <a:srgbClr val="007F7B"/>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397DA532-A885-445F-B157-33604A29A131}"/>
              </a:ext>
            </a:extLst>
          </p:cNvPr>
          <p:cNvSpPr>
            <a:spLocks xmlns:a="http://schemas.openxmlformats.org/drawingml/2006/main" noGrp="1"/>
          </p:cNvSpPr>
          <p:nvPr/>
        </p:nvSpPr>
        <p:spPr>
          <a:xfrm xmlns:a="http://schemas.openxmlformats.org/drawingml/2006/main">
            <a:off x="1619250" y="38576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52A2B"/>
                </a:solidFill>
                <a:latin typeface="Arial"/>
                <a:ea typeface="Arial"/>
                <a:cs typeface="Arial"/>
              </a:defRPr>
            </a:defPPr>
          </a:lstStyle>
          <a:p xmlns:a="http://schemas.openxmlformats.org/drawingml/2006/main">
            <a:pPr algn="l">
              <a:defRPr sz="2250" b="1">
                <a:solidFill>
                  <a:srgbClr val="152A2B"/>
                </a:solidFill>
                <a:latin typeface="Arial"/>
                <a:ea typeface="Arial"/>
                <a:cs typeface="Arial"/>
              </a:defRPr>
            </a:pPr>
            <a:r>
              <a:rPr sz="2250" b="1">
                <a:solidFill>
                  <a:srgbClr val="152A2B"/>
                </a:solidFill>
                <a:latin typeface="Arial"/>
                <a:ea typeface="Arial"/>
                <a:cs typeface="Arial"/>
              </a:rPr>
              <a:t>Immune evaluation</a:t>
            </a:r>
          </a:p>
        </p:txBody>
      </p:sp>
      <p:sp>
        <p:nvSpPr>
          <p:cNvPr id="17" name="">
            <a:extLst xmlns:a="http://schemas.openxmlformats.org/drawingml/2006/main">
              <a:ext uri="{FF2B5EF4-FFF2-40B4-BE49-F238E27FC236}">
                <a16:creationId xmlns:a16="http://schemas.microsoft.com/office/drawing/2014/main" id="{5F20975A-2C26-456F-91C2-92735D7A21BC}"/>
              </a:ext>
            </a:extLst>
          </p:cNvPr>
          <p:cNvSpPr>
            <a:spLocks xmlns:a="http://schemas.openxmlformats.org/drawingml/2006/main" noGrp="1"/>
          </p:cNvSpPr>
          <p:nvPr/>
        </p:nvSpPr>
        <p:spPr>
          <a:xfrm xmlns:a="http://schemas.openxmlformats.org/drawingml/2006/main">
            <a:off x="5095875" y="3876675"/>
            <a:ext cx="381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52A2B"/>
                </a:solidFill>
                <a:latin typeface="Arial"/>
                <a:ea typeface="Arial"/>
                <a:cs typeface="Arial"/>
              </a:defRPr>
            </a:defPPr>
          </a:lstStyle>
          <a:p xmlns:a="http://schemas.openxmlformats.org/drawingml/2006/main">
            <a:pPr algn="l">
              <a:defRPr sz="1875" b="0">
                <a:solidFill>
                  <a:srgbClr val="152A2B"/>
                </a:solidFill>
                <a:latin typeface="Arial"/>
                <a:ea typeface="Arial"/>
                <a:cs typeface="Arial"/>
              </a:defRPr>
            </a:pPr>
            <a:r>
              <a:rPr sz="1875" b="0">
                <a:solidFill>
                  <a:srgbClr val="152A2B"/>
                </a:solidFill>
                <a:latin typeface="Arial"/>
                <a:ea typeface="Arial"/>
                <a:cs typeface="Arial"/>
              </a:rPr>
              <a:t>mIF measurements + curated notes</a:t>
            </a:r>
          </a:p>
        </p:txBody>
      </p:sp>
      <p:sp>
        <p:nvSpPr>
          <p:cNvPr id="18" name="">
            <a:extLst xmlns:a="http://schemas.openxmlformats.org/drawingml/2006/main">
              <a:ext uri="{FF2B5EF4-FFF2-40B4-BE49-F238E27FC236}">
                <a16:creationId xmlns:a16="http://schemas.microsoft.com/office/drawing/2014/main" id="{D66DB63B-3278-4E2F-82B4-4A0937E03C36}"/>
              </a:ext>
            </a:extLst>
          </p:cNvPr>
          <p:cNvSpPr>
            <a:spLocks xmlns:a="http://schemas.openxmlformats.org/drawingml/2006/main" noGrp="1"/>
          </p:cNvSpPr>
          <p:nvPr/>
        </p:nvSpPr>
        <p:spPr>
          <a:xfrm xmlns:a="http://schemas.openxmlformats.org/drawingml/2006/main">
            <a:off x="9144000" y="3886200"/>
            <a:ext cx="219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A6D6B"/>
                </a:solidFill>
                <a:latin typeface="Arial"/>
                <a:ea typeface="Arial"/>
                <a:cs typeface="Arial"/>
              </a:defRPr>
            </a:defPPr>
          </a:lstStyle>
          <a:p xmlns:a="http://schemas.openxmlformats.org/drawingml/2006/main">
            <a:pPr algn="l">
              <a:defRPr sz="1575" b="0">
                <a:solidFill>
                  <a:srgbClr val="5A6D6B"/>
                </a:solidFill>
                <a:latin typeface="Arial"/>
                <a:ea typeface="Arial"/>
                <a:cs typeface="Arial"/>
              </a:defRPr>
            </a:pPr>
            <a:r>
              <a:rPr sz="1575" b="0">
                <a:solidFill>
                  <a:srgbClr val="5A6D6B"/>
                </a:solidFill>
                <a:latin typeface="Arial"/>
                <a:ea typeface="Arial"/>
                <a:cs typeface="Arial"/>
              </a:rPr>
              <a:t>Application</a:t>
            </a:r>
          </a:p>
        </p:txBody>
      </p:sp>
      <p:sp>
        <p:nvSpPr>
          <p:cNvPr id="19" name="">
            <a:extLst xmlns:a="http://schemas.openxmlformats.org/drawingml/2006/main">
              <a:ext uri="{FF2B5EF4-FFF2-40B4-BE49-F238E27FC236}">
                <a16:creationId xmlns:a16="http://schemas.microsoft.com/office/drawing/2014/main" id="{1A63D944-2975-440F-93F2-4E4C209F1B56}"/>
              </a:ext>
            </a:extLst>
          </p:cNvPr>
          <p:cNvSpPr>
            <a:spLocks xmlns:a="http://schemas.openxmlformats.org/drawingml/2006/main" noGrp="1"/>
          </p:cNvSpPr>
          <p:nvPr/>
        </p:nvSpPr>
        <p:spPr>
          <a:xfrm xmlns:a="http://schemas.openxmlformats.org/drawingml/2006/main">
            <a:off x="609600" y="4752975"/>
            <a:ext cx="109728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sp>
      <p:sp>
        <p:nvSpPr>
          <p:cNvPr id="20" name="">
            <a:extLst xmlns:a="http://schemas.openxmlformats.org/drawingml/2006/main">
              <a:ext uri="{FF2B5EF4-FFF2-40B4-BE49-F238E27FC236}">
                <a16:creationId xmlns:a16="http://schemas.microsoft.com/office/drawing/2014/main" id="{7B1ECA77-0130-4F53-A816-178C9C1A0DF7}"/>
              </a:ext>
            </a:extLst>
          </p:cNvPr>
          <p:cNvSpPr>
            <a:spLocks xmlns:a="http://schemas.openxmlformats.org/drawingml/2006/main" noGrp="1"/>
          </p:cNvSpPr>
          <p:nvPr/>
        </p:nvSpPr>
        <p:spPr>
          <a:xfrm xmlns:a="http://schemas.openxmlformats.org/drawingml/2006/main">
            <a:off x="800100" y="4848225"/>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07F7B"/>
                </a:solidFill>
                <a:latin typeface="Arial"/>
                <a:ea typeface="Arial"/>
                <a:cs typeface="Arial"/>
              </a:defRPr>
            </a:defPPr>
          </a:lstStyle>
          <a:p xmlns:a="http://schemas.openxmlformats.org/drawingml/2006/main">
            <a:pPr algn="l">
              <a:defRPr sz="3600" b="1">
                <a:solidFill>
                  <a:srgbClr val="007F7B"/>
                </a:solidFill>
                <a:latin typeface="Arial"/>
                <a:ea typeface="Arial"/>
                <a:cs typeface="Arial"/>
              </a:defRPr>
            </a:pPr>
            <a:r>
              <a:rPr sz="3600" b="1">
                <a:solidFill>
                  <a:srgbClr val="007F7B"/>
                </a:solidFill>
                <a:latin typeface="Arial"/>
                <a:ea typeface="Arial"/>
                <a:cs typeface="Arial"/>
              </a:rPr>
              <a:t>4</a:t>
            </a:r>
          </a:p>
        </p:txBody>
      </p:sp>
      <p:sp>
        <p:nvSpPr>
          <p:cNvPr id="21" name="">
            <a:extLst xmlns:a="http://schemas.openxmlformats.org/drawingml/2006/main">
              <a:ext uri="{FF2B5EF4-FFF2-40B4-BE49-F238E27FC236}">
                <a16:creationId xmlns:a16="http://schemas.microsoft.com/office/drawing/2014/main" id="{0A335A93-F5F1-4818-94D4-36E34D6593E5}"/>
              </a:ext>
            </a:extLst>
          </p:cNvPr>
          <p:cNvSpPr>
            <a:spLocks xmlns:a="http://schemas.openxmlformats.org/drawingml/2006/main" noGrp="1"/>
          </p:cNvSpPr>
          <p:nvPr/>
        </p:nvSpPr>
        <p:spPr>
          <a:xfrm xmlns:a="http://schemas.openxmlformats.org/drawingml/2006/main">
            <a:off x="1619250" y="485775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52A2B"/>
                </a:solidFill>
                <a:latin typeface="Arial"/>
                <a:ea typeface="Arial"/>
                <a:cs typeface="Arial"/>
              </a:defRPr>
            </a:defPPr>
          </a:lstStyle>
          <a:p xmlns:a="http://schemas.openxmlformats.org/drawingml/2006/main">
            <a:pPr algn="l">
              <a:defRPr sz="2250" b="1">
                <a:solidFill>
                  <a:srgbClr val="152A2B"/>
                </a:solidFill>
                <a:latin typeface="Arial"/>
                <a:ea typeface="Arial"/>
                <a:cs typeface="Arial"/>
              </a:defRPr>
            </a:pPr>
            <a:r>
              <a:rPr sz="2250" b="1">
                <a:solidFill>
                  <a:srgbClr val="152A2B"/>
                </a:solidFill>
                <a:latin typeface="Arial"/>
                <a:ea typeface="Arial"/>
                <a:cs typeface="Arial"/>
              </a:rPr>
              <a:t>Conclusions</a:t>
            </a:r>
          </a:p>
        </p:txBody>
      </p:sp>
      <p:sp>
        <p:nvSpPr>
          <p:cNvPr id="22" name="">
            <a:extLst xmlns:a="http://schemas.openxmlformats.org/drawingml/2006/main">
              <a:ext uri="{FF2B5EF4-FFF2-40B4-BE49-F238E27FC236}">
                <a16:creationId xmlns:a16="http://schemas.microsoft.com/office/drawing/2014/main" id="{D2C11DA9-FC05-4F90-A34C-4E4BC8CA1276}"/>
              </a:ext>
            </a:extLst>
          </p:cNvPr>
          <p:cNvSpPr>
            <a:spLocks xmlns:a="http://schemas.openxmlformats.org/drawingml/2006/main" noGrp="1"/>
          </p:cNvSpPr>
          <p:nvPr/>
        </p:nvSpPr>
        <p:spPr>
          <a:xfrm xmlns:a="http://schemas.openxmlformats.org/drawingml/2006/main">
            <a:off x="5095875" y="4876800"/>
            <a:ext cx="381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52A2B"/>
                </a:solidFill>
                <a:latin typeface="Arial"/>
                <a:ea typeface="Arial"/>
                <a:cs typeface="Arial"/>
              </a:defRPr>
            </a:defPPr>
          </a:lstStyle>
          <a:p xmlns:a="http://schemas.openxmlformats.org/drawingml/2006/main">
            <a:pPr algn="l">
              <a:defRPr sz="1875" b="0">
                <a:solidFill>
                  <a:srgbClr val="152A2B"/>
                </a:solidFill>
                <a:latin typeface="Arial"/>
                <a:ea typeface="Arial"/>
                <a:cs typeface="Arial"/>
              </a:defRPr>
            </a:pPr>
            <a:r>
              <a:rPr sz="1875" b="0">
                <a:solidFill>
                  <a:srgbClr val="152A2B"/>
                </a:solidFill>
                <a:latin typeface="Arial"/>
                <a:ea typeface="Arial"/>
                <a:cs typeface="Arial"/>
              </a:rPr>
              <a:t>Hypothesis + uncertainty</a:t>
            </a:r>
          </a:p>
        </p:txBody>
      </p:sp>
      <p:sp>
        <p:nvSpPr>
          <p:cNvPr id="23" name="">
            <a:extLst xmlns:a="http://schemas.openxmlformats.org/drawingml/2006/main">
              <a:ext uri="{FF2B5EF4-FFF2-40B4-BE49-F238E27FC236}">
                <a16:creationId xmlns:a16="http://schemas.microsoft.com/office/drawing/2014/main" id="{725969DE-ABD2-4E4C-80BD-49B37DEA9725}"/>
              </a:ext>
            </a:extLst>
          </p:cNvPr>
          <p:cNvSpPr>
            <a:spLocks xmlns:a="http://schemas.openxmlformats.org/drawingml/2006/main" noGrp="1"/>
          </p:cNvSpPr>
          <p:nvPr/>
        </p:nvSpPr>
        <p:spPr>
          <a:xfrm xmlns:a="http://schemas.openxmlformats.org/drawingml/2006/main">
            <a:off x="9144000" y="4886325"/>
            <a:ext cx="219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A6D6B"/>
                </a:solidFill>
                <a:latin typeface="Arial"/>
                <a:ea typeface="Arial"/>
                <a:cs typeface="Arial"/>
              </a:defRPr>
            </a:defPPr>
          </a:lstStyle>
          <a:p xmlns:a="http://schemas.openxmlformats.org/drawingml/2006/main">
            <a:pPr algn="l">
              <a:defRPr sz="1575" b="0">
                <a:solidFill>
                  <a:srgbClr val="5A6D6B"/>
                </a:solidFill>
                <a:latin typeface="Arial"/>
                <a:ea typeface="Arial"/>
                <a:cs typeface="Arial"/>
              </a:defRPr>
            </a:pPr>
            <a:r>
              <a:rPr sz="1575" b="0">
                <a:solidFill>
                  <a:srgbClr val="5A6D6B"/>
                </a:solidFill>
                <a:latin typeface="Arial"/>
                <a:ea typeface="Arial"/>
                <a:cs typeface="Arial"/>
              </a:rPr>
              <a:t>Nemotron + fixed review notice</a:t>
            </a:r>
          </a:p>
        </p:txBody>
      </p:sp>
      <p:sp>
        <p:nvSpPr>
          <p:cNvPr id="24" name="">
            <a:extLst xmlns:a="http://schemas.openxmlformats.org/drawingml/2006/main">
              <a:ext uri="{FF2B5EF4-FFF2-40B4-BE49-F238E27FC236}">
                <a16:creationId xmlns:a16="http://schemas.microsoft.com/office/drawing/2014/main" id="{ABF3005E-FF36-4218-B5A8-56E83D8658E2}"/>
              </a:ext>
            </a:extLst>
          </p:cNvPr>
          <p:cNvSpPr>
            <a:spLocks xmlns:a="http://schemas.openxmlformats.org/drawingml/2006/main" noGrp="1"/>
          </p:cNvSpPr>
          <p:nvPr/>
        </p:nvSpPr>
        <p:spPr>
          <a:xfrm xmlns:a="http://schemas.openxmlformats.org/drawingml/2006/main">
            <a:off x="609600" y="60102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A6D6B"/>
                </a:solidFill>
                <a:latin typeface="Arial"/>
                <a:ea typeface="Arial"/>
                <a:cs typeface="Arial"/>
              </a:defRPr>
            </a:defPPr>
          </a:lstStyle>
          <a:p xmlns:a="http://schemas.openxmlformats.org/drawingml/2006/main">
            <a:pPr algn="l">
              <a:defRPr sz="1575" b="0">
                <a:solidFill>
                  <a:srgbClr val="5A6D6B"/>
                </a:solidFill>
                <a:latin typeface="Arial"/>
                <a:ea typeface="Arial"/>
                <a:cs typeface="Arial"/>
              </a:defRPr>
            </a:pPr>
            <a:r>
              <a:rPr sz="1575" b="0">
                <a:solidFill>
                  <a:srgbClr val="5A6D6B"/>
                </a:solidFill>
                <a:latin typeface="Arial"/>
                <a:ea typeface="Arial"/>
                <a:cs typeface="Arial"/>
              </a:rPr>
              <a:t>Three generated prose parts sit inside four report sections. All numbers come from supplied evidence.</a:t>
            </a:r>
          </a:p>
        </p:txBody>
      </p:sp>
    </p:spTree>
    <p:extLst>
      <p:ext uri="{BB962C8B-B14F-4D97-AF65-F5344CB8AC3E}">
        <p14:creationId xmlns:p14="http://schemas.microsoft.com/office/powerpoint/2010/main" val="116819334"/>
      </p:ext>
    </p:extLst>
  </p:cSld>
</p:sld>
</file>

<file path=ppt/slides/slide20.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319EFB7-C3D7-481D-8E05-1D82E6CD3A5E}"/>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F7B"/>
                </a:solidFill>
                <a:latin typeface="Arial"/>
                <a:ea typeface="Arial"/>
                <a:cs typeface="Arial"/>
              </a:defRPr>
            </a:defPPr>
          </a:lstStyle>
          <a:p xmlns:a="http://schemas.openxmlformats.org/drawingml/2006/main">
            <a:pPr algn="l">
              <a:defRPr sz="1350" b="1">
                <a:solidFill>
                  <a:srgbClr val="007F7B"/>
                </a:solidFill>
                <a:latin typeface="Arial"/>
                <a:ea typeface="Arial"/>
                <a:cs typeface="Arial"/>
              </a:defRPr>
            </a:pPr>
            <a:r>
              <a:rPr sz="1350" b="1">
                <a:solidFill>
                  <a:srgbClr val="007F7B"/>
                </a:solidFill>
                <a:latin typeface="Arial"/>
                <a:ea typeface="Arial"/>
                <a:cs typeface="Arial"/>
              </a:rPr>
              <a:t>03  EXAMPLE PATIENT</a:t>
            </a:r>
          </a:p>
        </p:txBody>
      </p:sp>
      <p:sp>
        <p:nvSpPr>
          <p:cNvPr id="2" name="">
            <a:extLst xmlns:a="http://schemas.openxmlformats.org/drawingml/2006/main">
              <a:ext uri="{FF2B5EF4-FFF2-40B4-BE49-F238E27FC236}">
                <a16:creationId xmlns:a16="http://schemas.microsoft.com/office/drawing/2014/main" id="{FBDD32FC-55B0-4E32-AE16-AAD810FFDB24}"/>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A2B"/>
                </a:solidFill>
                <a:latin typeface="Arial"/>
                <a:ea typeface="Arial"/>
                <a:cs typeface="Arial"/>
              </a:defRPr>
            </a:defPPr>
          </a:lstStyle>
          <a:p xmlns:a="http://schemas.openxmlformats.org/drawingml/2006/main">
            <a:pPr algn="l">
              <a:defRPr sz="3300" b="1">
                <a:solidFill>
                  <a:srgbClr val="152A2B"/>
                </a:solidFill>
                <a:latin typeface="Arial"/>
                <a:ea typeface="Arial"/>
                <a:cs typeface="Arial"/>
              </a:defRPr>
            </a:pPr>
            <a:r>
              <a:rPr sz="3300" b="1">
                <a:solidFill>
                  <a:srgbClr val="152A2B"/>
                </a:solidFill>
                <a:latin typeface="Arial"/>
                <a:ea typeface="Arial"/>
                <a:cs typeface="Arial"/>
              </a:rPr>
              <a:t>S03: disagreement remains visible in the report</a:t>
            </a:r>
          </a:p>
        </p:txBody>
      </p:sp>
      <p:sp>
        <p:nvSpPr>
          <p:cNvPr id="3" name="">
            <a:extLst xmlns:a="http://schemas.openxmlformats.org/drawingml/2006/main">
              <a:ext uri="{FF2B5EF4-FFF2-40B4-BE49-F238E27FC236}">
                <a16:creationId xmlns:a16="http://schemas.microsoft.com/office/drawing/2014/main" id="{2A05F488-FB13-42BE-8221-E01C2DFF664A}"/>
              </a:ext>
            </a:extLst>
          </p:cNvPr>
          <p:cNvSpPr>
            <a:spLocks xmlns:a="http://schemas.openxmlformats.org/drawingml/2006/main" noGrp="1"/>
          </p:cNvSpPr>
          <p:nvPr/>
        </p:nvSpPr>
        <p:spPr>
          <a:xfrm xmlns:a="http://schemas.openxmlformats.org/drawingml/2006/main">
            <a:off x="11144250" y="64198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A6D6B"/>
                </a:solidFill>
                <a:latin typeface="Arial"/>
                <a:ea typeface="Arial"/>
                <a:cs typeface="Arial"/>
              </a:defRPr>
            </a:defPPr>
          </a:lstStyle>
          <a:p xmlns:a="http://schemas.openxmlformats.org/drawingml/2006/main">
            <a:pPr algn="r">
              <a:defRPr sz="1200" b="0">
                <a:solidFill>
                  <a:srgbClr val="5A6D6B"/>
                </a:solidFill>
                <a:latin typeface="Arial"/>
                <a:ea typeface="Arial"/>
                <a:cs typeface="Arial"/>
              </a:defRPr>
            </a:pPr>
            <a:r>
              <a:rPr sz="1200" b="0">
                <a:solidFill>
                  <a:srgbClr val="5A6D6B"/>
                </a:solidFill>
                <a:latin typeface="Arial"/>
                <a:ea typeface="Arial"/>
                <a:cs typeface="Arial"/>
              </a:rPr>
              <a:t>20</a:t>
            </a:r>
          </a:p>
        </p:txBody>
      </p:sp>
      <p:graphicFrame>
        <p:nvGraphicFramePr>
          <p:cNvPr id="4" name="Chart">
            <a:extLst xmlns:a="http://schemas.openxmlformats.org/drawingml/2006/main">
              <a:ext uri="{FF2B5EF4-FFF2-40B4-BE49-F238E27FC236}">
                <a16:creationId xmlns:a16="http://schemas.microsoft.com/office/drawing/2014/main" id="{EB38F5D3-0FD2-429C-853B-08F8F47F1847}"/>
              </a:ext>
            </a:extLst>
          </p:cNvPr>
          <p:cNvGraphicFramePr/>
          <p:nvPr/>
        </p:nvGraphicFramePr>
        <p:xfrm>
          <a:off xmlns:a="http://schemas.openxmlformats.org/drawingml/2006/main" x="609600" y="1905000"/>
          <a:ext xmlns:a="http://schemas.openxmlformats.org/drawingml/2006/main" cx="5810250" cy="3409950"/>
        </p:xfrm>
        <a:graphic xmlns:a="http://schemas.openxmlformats.org/drawingml/2006/main">
          <a:graphicData uri="http://schemas.openxmlformats.org/drawingml/2006/chart">
            <c:chart xmlns:r="http://schemas.openxmlformats.org/officeDocument/2006/relationships" xmlns:c="http://schemas.openxmlformats.org/drawingml/2006/chart" r:id="R0886a5b0b9df4f35"/>
          </a:graphicData>
        </a:graphic>
      </p:graphicFrame>
      <p:sp>
        <p:nvSpPr>
          <p:cNvPr id="5" name="">
            <a:extLst xmlns:a="http://schemas.openxmlformats.org/drawingml/2006/main">
              <a:ext uri="{FF2B5EF4-FFF2-40B4-BE49-F238E27FC236}">
                <a16:creationId xmlns:a16="http://schemas.microsoft.com/office/drawing/2014/main" id="{3A274343-3F5F-404C-8A07-D3DA78410545}"/>
              </a:ext>
            </a:extLst>
          </p:cNvPr>
          <p:cNvSpPr>
            <a:spLocks xmlns:a="http://schemas.openxmlformats.org/drawingml/2006/main" noGrp="1"/>
          </p:cNvSpPr>
          <p:nvPr/>
        </p:nvSpPr>
        <p:spPr>
          <a:xfrm xmlns:a="http://schemas.openxmlformats.org/drawingml/2006/main">
            <a:off x="7143750" y="1952625"/>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9B6523"/>
                </a:solidFill>
                <a:latin typeface="Arial"/>
                <a:ea typeface="Arial"/>
                <a:cs typeface="Arial"/>
              </a:defRPr>
            </a:defPPr>
          </a:lstStyle>
          <a:p xmlns:a="http://schemas.openxmlformats.org/drawingml/2006/main">
            <a:pPr algn="l">
              <a:defRPr sz="2625" b="1">
                <a:solidFill>
                  <a:srgbClr val="9B6523"/>
                </a:solidFill>
                <a:latin typeface="Arial"/>
                <a:ea typeface="Arial"/>
                <a:cs typeface="Arial"/>
              </a:defRPr>
            </a:pPr>
            <a:r>
              <a:rPr sz="2625" b="1">
                <a:solidFill>
                  <a:srgbClr val="9B6523"/>
                </a:solidFill>
                <a:latin typeface="Arial"/>
                <a:ea typeface="Arial"/>
                <a:cs typeface="Arial"/>
              </a:rPr>
              <a:t>Threshold split</a:t>
            </a:r>
          </a:p>
        </p:txBody>
      </p:sp>
      <p:sp>
        <p:nvSpPr>
          <p:cNvPr id="6" name="">
            <a:extLst xmlns:a="http://schemas.openxmlformats.org/drawingml/2006/main">
              <a:ext uri="{FF2B5EF4-FFF2-40B4-BE49-F238E27FC236}">
                <a16:creationId xmlns:a16="http://schemas.microsoft.com/office/drawing/2014/main" id="{E595BE29-AD18-4634-939E-646A041D9A44}"/>
              </a:ext>
            </a:extLst>
          </p:cNvPr>
          <p:cNvSpPr>
            <a:spLocks xmlns:a="http://schemas.openxmlformats.org/drawingml/2006/main" noGrp="1"/>
          </p:cNvSpPr>
          <p:nvPr/>
        </p:nvSpPr>
        <p:spPr>
          <a:xfrm xmlns:a="http://schemas.openxmlformats.org/drawingml/2006/main">
            <a:off x="7143750" y="2695575"/>
            <a:ext cx="4333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52A2B"/>
                </a:solidFill>
                <a:latin typeface="Arial"/>
                <a:ea typeface="Arial"/>
                <a:cs typeface="Arial"/>
              </a:defRPr>
            </a:defPPr>
          </a:lstStyle>
          <a:p xmlns:a="http://schemas.openxmlformats.org/drawingml/2006/main">
            <a:pPr algn="l">
              <a:defRPr sz="2250" b="0">
                <a:solidFill>
                  <a:srgbClr val="152A2B"/>
                </a:solidFill>
                <a:latin typeface="Arial"/>
                <a:ea typeface="Arial"/>
                <a:cs typeface="Arial"/>
              </a:defRPr>
            </a:pPr>
            <a:r>
              <a:rPr sz="2250" b="0">
                <a:solidFill>
                  <a:srgbClr val="152A2B"/>
                </a:solidFill>
                <a:latin typeface="Arial"/>
                <a:ea typeface="Arial"/>
                <a:cs typeface="Arial"/>
              </a:rPr>
              <a:t>Clinical: non-responder</a:t>
            </a:r>
          </a:p>
          <a:p xmlns:a="http://schemas.openxmlformats.org/drawingml/2006/main">
            <a:pPr algn="l">
              <a:defRPr sz="2250" b="0">
                <a:solidFill>
                  <a:srgbClr val="152A2B"/>
                </a:solidFill>
                <a:latin typeface="Arial"/>
                <a:ea typeface="Arial"/>
                <a:cs typeface="Arial"/>
              </a:defRPr>
            </a:pPr>
            <a:r>
              <a:rPr sz="2250" b="0">
                <a:solidFill>
                  <a:srgbClr val="152A2B"/>
                </a:solidFill>
                <a:latin typeface="Arial"/>
                <a:ea typeface="Arial"/>
                <a:cs typeface="Arial"/>
              </a:rPr>
              <a:t>mIF: responder</a:t>
            </a:r>
          </a:p>
        </p:txBody>
      </p:sp>
      <p:sp>
        <p:nvSpPr>
          <p:cNvPr id="7" name="">
            <a:extLst xmlns:a="http://schemas.openxmlformats.org/drawingml/2006/main">
              <a:ext uri="{FF2B5EF4-FFF2-40B4-BE49-F238E27FC236}">
                <a16:creationId xmlns:a16="http://schemas.microsoft.com/office/drawing/2014/main" id="{AC2DC208-F85C-4BEA-9571-F5FCC63E1ABE}"/>
              </a:ext>
            </a:extLst>
          </p:cNvPr>
          <p:cNvSpPr>
            <a:spLocks xmlns:a="http://schemas.openxmlformats.org/drawingml/2006/main" noGrp="1"/>
          </p:cNvSpPr>
          <p:nvPr/>
        </p:nvSpPr>
        <p:spPr>
          <a:xfrm xmlns:a="http://schemas.openxmlformats.org/drawingml/2006/main">
            <a:off x="7143750" y="4019550"/>
            <a:ext cx="433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7F7B"/>
                </a:solidFill>
                <a:latin typeface="Arial"/>
                <a:ea typeface="Arial"/>
                <a:cs typeface="Arial"/>
              </a:defRPr>
            </a:defPPr>
          </a:lstStyle>
          <a:p xmlns:a="http://schemas.openxmlformats.org/drawingml/2006/main">
            <a:pPr algn="l">
              <a:defRPr sz="2400" b="1">
                <a:solidFill>
                  <a:srgbClr val="007F7B"/>
                </a:solidFill>
                <a:latin typeface="Arial"/>
                <a:ea typeface="Arial"/>
                <a:cs typeface="Arial"/>
              </a:defRPr>
            </a:pPr>
            <a:r>
              <a:rPr sz="2400" b="1">
                <a:solidFill>
                  <a:srgbClr val="007F7B"/>
                </a:solidFill>
                <a:latin typeface="Arial"/>
                <a:ea typeface="Arial"/>
                <a:cs typeface="Arial"/>
              </a:rPr>
              <a:t>No strong hypothesis</a:t>
            </a:r>
          </a:p>
        </p:txBody>
      </p:sp>
      <p:sp>
        <p:nvSpPr>
          <p:cNvPr id="8" name="">
            <a:extLst xmlns:a="http://schemas.openxmlformats.org/drawingml/2006/main">
              <a:ext uri="{FF2B5EF4-FFF2-40B4-BE49-F238E27FC236}">
                <a16:creationId xmlns:a16="http://schemas.microsoft.com/office/drawing/2014/main" id="{F8222B79-791F-493B-B299-BD8C80553BE1}"/>
              </a:ext>
            </a:extLst>
          </p:cNvPr>
          <p:cNvSpPr>
            <a:spLocks xmlns:a="http://schemas.openxmlformats.org/drawingml/2006/main" noGrp="1"/>
          </p:cNvSpPr>
          <p:nvPr/>
        </p:nvSpPr>
        <p:spPr>
          <a:xfrm xmlns:a="http://schemas.openxmlformats.org/drawingml/2006/main">
            <a:off x="7143750" y="4676775"/>
            <a:ext cx="433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2A2B"/>
                </a:solidFill>
                <a:latin typeface="Arial"/>
                <a:ea typeface="Arial"/>
                <a:cs typeface="Arial"/>
              </a:defRPr>
            </a:defPPr>
          </a:lstStyle>
          <a:p xmlns:a="http://schemas.openxmlformats.org/drawingml/2006/main">
            <a:pPr algn="l">
              <a:defRPr sz="2175" b="0">
                <a:solidFill>
                  <a:srgbClr val="152A2B"/>
                </a:solidFill>
                <a:latin typeface="Arial"/>
                <a:ea typeface="Arial"/>
                <a:cs typeface="Arial"/>
              </a:defRPr>
            </a:pPr>
            <a:r>
              <a:rPr sz="2175" b="0">
                <a:solidFill>
                  <a:srgbClr val="152A2B"/>
                </a:solidFill>
                <a:latin typeface="Arial"/>
                <a:ea typeface="Arial"/>
                <a:cs typeface="Arial"/>
              </a:rPr>
              <a:t>Fused tendency:</a:t>
            </a:r>
          </a:p>
          <a:p xmlns:a="http://schemas.openxmlformats.org/drawingml/2006/main">
            <a:pPr algn="l">
              <a:defRPr sz="2175" b="0">
                <a:solidFill>
                  <a:srgbClr val="152A2B"/>
                </a:solidFill>
                <a:latin typeface="Arial"/>
                <a:ea typeface="Arial"/>
                <a:cs typeface="Arial"/>
              </a:defRPr>
            </a:pPr>
            <a:r>
              <a:rPr sz="2175" b="0">
                <a:solidFill>
                  <a:srgbClr val="152A2B"/>
                </a:solidFill>
                <a:latin typeface="Arial"/>
                <a:ea typeface="Arial"/>
                <a:cs typeface="Arial"/>
              </a:rPr>
              <a:t>non-responder</a:t>
            </a:r>
          </a:p>
        </p:txBody>
      </p:sp>
      <p:sp>
        <p:nvSpPr>
          <p:cNvPr id="9" name="">
            <a:extLst xmlns:a="http://schemas.openxmlformats.org/drawingml/2006/main">
              <a:ext uri="{FF2B5EF4-FFF2-40B4-BE49-F238E27FC236}">
                <a16:creationId xmlns:a16="http://schemas.microsoft.com/office/drawing/2014/main" id="{006472B5-398B-4D65-B680-CE1EB6A1B230}"/>
              </a:ext>
            </a:extLst>
          </p:cNvPr>
          <p:cNvSpPr>
            <a:spLocks xmlns:a="http://schemas.openxmlformats.org/drawingml/2006/main" noGrp="1"/>
          </p:cNvSpPr>
          <p:nvPr/>
        </p:nvSpPr>
        <p:spPr>
          <a:xfrm xmlns:a="http://schemas.openxmlformats.org/drawingml/2006/main">
            <a:off x="609600" y="60102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A6D6B"/>
                </a:solidFill>
                <a:latin typeface="Arial"/>
                <a:ea typeface="Arial"/>
                <a:cs typeface="Arial"/>
              </a:defRPr>
            </a:defPPr>
          </a:lstStyle>
          <a:p xmlns:a="http://schemas.openxmlformats.org/drawingml/2006/main">
            <a:pPr algn="l">
              <a:defRPr sz="1575" b="0">
                <a:solidFill>
                  <a:srgbClr val="5A6D6B"/>
                </a:solidFill>
                <a:latin typeface="Arial"/>
                <a:ea typeface="Arial"/>
                <a:cs typeface="Arial"/>
              </a:defRPr>
            </a:pPr>
            <a:r>
              <a:rPr sz="1575" b="0">
                <a:solidFill>
                  <a:srgbClr val="5A6D6B"/>
                </a:solidFill>
                <a:latin typeface="Arial"/>
                <a:ea typeface="Arial"/>
                <a:cs typeface="Arial"/>
              </a:rPr>
              <a:t>Demo threshold = 0.5. A fused score does not resolve uncertainty or establish better performance.</a:t>
            </a:r>
          </a:p>
        </p:txBody>
      </p:sp>
    </p:spTree>
    <p:extLst>
      <p:ext uri="{BB962C8B-B14F-4D97-AF65-F5344CB8AC3E}">
        <p14:creationId xmlns:p14="http://schemas.microsoft.com/office/powerpoint/2010/main" val="1275523852"/>
      </p:ext>
    </p:extLst>
  </p:cSld>
</p:sld>
</file>

<file path=ppt/slides/slide21.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F53BE6C9-2422-48E8-9448-17E9E5E34155}"/>
              </a:ext>
            </a:extLst>
          </p:cNvPr>
          <p:cNvCxnSpPr>
            <a:stCxn xmlns:a="http://schemas.openxmlformats.org/drawingml/2006/main" id="5" idx="3"/>
            <a:endCxn xmlns:a="http://schemas.openxmlformats.org/drawingml/2006/main" id="8" idx="1"/>
          </p:cNvCxnSpPr>
          <p:nvPr/>
        </p:nvCxnSpPr>
        <p:spPr>
          <a:xfrm xmlns:a="http://schemas.openxmlformats.org/drawingml/2006/main">
            <a:off x="7286625" y="2905125"/>
            <a:ext cx="1171575" cy="1643063"/>
          </a:xfrm>
          <a:prstGeom xmlns:a="http://schemas.openxmlformats.org/drawingml/2006/main" prst="bentConnector3">
            <a:avLst>
              <a:gd name="adj1" fmla="val 80488"/>
            </a:avLst>
          </a:prstGeom>
          <a:ln xmlns:a="http://schemas.openxmlformats.org/drawingml/2006/main" w="23813">
            <a:solidFill>
              <a:srgbClr val="5A6D6B"/>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6BF6284A-8F0D-45F3-B354-C6681B0421E2}"/>
              </a:ext>
            </a:extLst>
          </p:cNvPr>
          <p:cNvCxnSpPr>
            <a:stCxn xmlns:a="http://schemas.openxmlformats.org/drawingml/2006/main" id="5" idx="3"/>
            <a:endCxn xmlns:a="http://schemas.openxmlformats.org/drawingml/2006/main" id="7" idx="1"/>
          </p:cNvCxnSpPr>
          <p:nvPr/>
        </p:nvCxnSpPr>
        <p:spPr>
          <a:xfrm xmlns:a="http://schemas.openxmlformats.org/drawingml/2006/main" flipV="1">
            <a:off x="7286625" y="2195513"/>
            <a:ext cx="1171575" cy="709613"/>
          </a:xfrm>
          <a:prstGeom xmlns:a="http://schemas.openxmlformats.org/drawingml/2006/main" prst="bentConnector3">
            <a:avLst>
              <a:gd name="adj1" fmla="val 50000"/>
            </a:avLst>
          </a:prstGeom>
          <a:ln xmlns:a="http://schemas.openxmlformats.org/drawingml/2006/main" w="23813">
            <a:solidFill>
              <a:srgbClr val="5A6D6B"/>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998F5777-1AB8-429D-850E-DA3E1C8AC833}"/>
              </a:ext>
            </a:extLst>
          </p:cNvPr>
          <p:cNvCxnSpPr>
            <a:stCxn xmlns:a="http://schemas.openxmlformats.org/drawingml/2006/main" id="4" idx="3"/>
            <a:endCxn xmlns:a="http://schemas.openxmlformats.org/drawingml/2006/main" id="5" idx="1"/>
          </p:cNvCxnSpPr>
          <p:nvPr/>
        </p:nvCxnSpPr>
        <p:spPr>
          <a:xfrm xmlns:a="http://schemas.openxmlformats.org/drawingml/2006/main">
            <a:off x="3467100" y="2905125"/>
            <a:ext cx="866775" cy="0"/>
          </a:xfrm>
          <a:prstGeom xmlns:a="http://schemas.openxmlformats.org/drawingml/2006/main" prst="straightConnector1">
            <a:avLst/>
          </a:prstGeom>
          <a:ln xmlns:a="http://schemas.openxmlformats.org/drawingml/2006/main" w="23813">
            <a:solidFill>
              <a:srgbClr val="5A6D6B"/>
            </a:solidFill>
            <a:prstDash val="solid"/>
            <a:tailEnd type="arrow" w="med" len="med"/>
          </a:ln>
        </p:spPr>
      </p:cxnSp>
      <p:sp>
        <p:nvSpPr>
          <p:cNvPr id="13" name="">
            <a:extLst xmlns:a="http://schemas.openxmlformats.org/drawingml/2006/main">
              <a:ext uri="{FF2B5EF4-FFF2-40B4-BE49-F238E27FC236}">
                <a16:creationId xmlns:a16="http://schemas.microsoft.com/office/drawing/2014/main" id="{A85BCA4C-B6F2-4703-96FE-229AF2AA56DC}"/>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F7B"/>
                </a:solidFill>
                <a:latin typeface="Arial"/>
                <a:ea typeface="Arial"/>
                <a:cs typeface="Arial"/>
              </a:defRPr>
            </a:defPPr>
          </a:lstStyle>
          <a:p xmlns:a="http://schemas.openxmlformats.org/drawingml/2006/main">
            <a:pPr algn="l">
              <a:defRPr sz="1350" b="1">
                <a:solidFill>
                  <a:srgbClr val="007F7B"/>
                </a:solidFill>
                <a:latin typeface="Arial"/>
                <a:ea typeface="Arial"/>
                <a:cs typeface="Arial"/>
              </a:defRPr>
            </a:pPr>
            <a:r>
              <a:rPr sz="1350" b="1">
                <a:solidFill>
                  <a:srgbClr val="007F7B"/>
                </a:solidFill>
                <a:latin typeface="Arial"/>
                <a:ea typeface="Arial"/>
                <a:cs typeface="Arial"/>
              </a:rPr>
              <a:t>03  UI DELIVERY</a:t>
            </a:r>
          </a:p>
        </p:txBody>
      </p:sp>
      <p:sp>
        <p:nvSpPr>
          <p:cNvPr id="2" name="">
            <a:extLst xmlns:a="http://schemas.openxmlformats.org/drawingml/2006/main">
              <a:ext uri="{FF2B5EF4-FFF2-40B4-BE49-F238E27FC236}">
                <a16:creationId xmlns:a16="http://schemas.microsoft.com/office/drawing/2014/main" id="{DC94B449-1B42-443A-9A47-A20D92FC23D7}"/>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A2B"/>
                </a:solidFill>
                <a:latin typeface="Arial"/>
                <a:ea typeface="Arial"/>
                <a:cs typeface="Arial"/>
              </a:defRPr>
            </a:defPPr>
          </a:lstStyle>
          <a:p xmlns:a="http://schemas.openxmlformats.org/drawingml/2006/main">
            <a:pPr algn="l">
              <a:defRPr sz="3300" b="1">
                <a:solidFill>
                  <a:srgbClr val="152A2B"/>
                </a:solidFill>
                <a:latin typeface="Arial"/>
                <a:ea typeface="Arial"/>
                <a:cs typeface="Arial"/>
              </a:defRPr>
            </a:pPr>
            <a:r>
              <a:rPr sz="3300" b="1">
                <a:solidFill>
                  <a:srgbClr val="152A2B"/>
                </a:solidFill>
                <a:latin typeface="Arial"/>
                <a:ea typeface="Arial"/>
                <a:cs typeface="Arial"/>
              </a:rPr>
              <a:t>The same results feed live and offline viewers</a:t>
            </a:r>
          </a:p>
        </p:txBody>
      </p:sp>
      <p:sp>
        <p:nvSpPr>
          <p:cNvPr id="3" name="">
            <a:extLst xmlns:a="http://schemas.openxmlformats.org/drawingml/2006/main">
              <a:ext uri="{FF2B5EF4-FFF2-40B4-BE49-F238E27FC236}">
                <a16:creationId xmlns:a16="http://schemas.microsoft.com/office/drawing/2014/main" id="{D2DF31EA-EED9-40D8-B8F2-81EB718E84A3}"/>
              </a:ext>
            </a:extLst>
          </p:cNvPr>
          <p:cNvSpPr>
            <a:spLocks xmlns:a="http://schemas.openxmlformats.org/drawingml/2006/main" noGrp="1"/>
          </p:cNvSpPr>
          <p:nvPr/>
        </p:nvSpPr>
        <p:spPr>
          <a:xfrm xmlns:a="http://schemas.openxmlformats.org/drawingml/2006/main">
            <a:off x="11144250" y="64198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A6D6B"/>
                </a:solidFill>
                <a:latin typeface="Arial"/>
                <a:ea typeface="Arial"/>
                <a:cs typeface="Arial"/>
              </a:defRPr>
            </a:defPPr>
          </a:lstStyle>
          <a:p xmlns:a="http://schemas.openxmlformats.org/drawingml/2006/main">
            <a:pPr algn="r">
              <a:defRPr sz="1200" b="0">
                <a:solidFill>
                  <a:srgbClr val="5A6D6B"/>
                </a:solidFill>
                <a:latin typeface="Arial"/>
                <a:ea typeface="Arial"/>
                <a:cs typeface="Arial"/>
              </a:defRPr>
            </a:pPr>
            <a:r>
              <a:rPr sz="1200" b="0">
                <a:solidFill>
                  <a:srgbClr val="5A6D6B"/>
                </a:solidFill>
                <a:latin typeface="Arial"/>
                <a:ea typeface="Arial"/>
                <a:cs typeface="Arial"/>
              </a:rPr>
              <a:t>21</a:t>
            </a:r>
          </a:p>
        </p:txBody>
      </p:sp>
      <p:sp>
        <p:nvSpPr>
          <p:cNvPr id="4" name="">
            <a:extLst xmlns:a="http://schemas.openxmlformats.org/drawingml/2006/main">
              <a:ext uri="{FF2B5EF4-FFF2-40B4-BE49-F238E27FC236}">
                <a16:creationId xmlns:a16="http://schemas.microsoft.com/office/drawing/2014/main" id="{5BC7FEFC-65E2-4CE3-BEFE-57374E2DB64F}"/>
              </a:ext>
            </a:extLst>
          </p:cNvPr>
          <p:cNvSpPr>
            <a:spLocks xmlns:a="http://schemas.openxmlformats.org/drawingml/2006/main" noGrp="1"/>
          </p:cNvSpPr>
          <p:nvPr/>
        </p:nvSpPr>
        <p:spPr>
          <a:xfrm xmlns:a="http://schemas.openxmlformats.org/drawingml/2006/main">
            <a:off x="609600" y="2314575"/>
            <a:ext cx="2857500" cy="1181100"/>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narratives.jsonl</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Full results + provenance</a:t>
            </a:r>
          </a:p>
        </p:txBody>
      </p:sp>
      <p:sp>
        <p:nvSpPr>
          <p:cNvPr id="5" name="">
            <a:extLst xmlns:a="http://schemas.openxmlformats.org/drawingml/2006/main">
              <a:ext uri="{FF2B5EF4-FFF2-40B4-BE49-F238E27FC236}">
                <a16:creationId xmlns:a16="http://schemas.microsoft.com/office/drawing/2014/main" id="{72202B8A-B4A4-4339-851F-3FFEE114BD8B}"/>
              </a:ext>
            </a:extLst>
          </p:cNvPr>
          <p:cNvSpPr>
            <a:spLocks xmlns:a="http://schemas.openxmlformats.org/drawingml/2006/main" noGrp="1"/>
          </p:cNvSpPr>
          <p:nvPr/>
        </p:nvSpPr>
        <p:spPr>
          <a:xfrm xmlns:a="http://schemas.openxmlformats.org/drawingml/2006/main">
            <a:off x="4333875" y="2314575"/>
            <a:ext cx="2952750" cy="1181100"/>
          </a:xfrm>
          <a:prstGeom xmlns:a="http://schemas.openxmlformats.org/drawingml/2006/main" prst="rect">
            <a:avLst/>
          </a:prstGeom>
          <a:solidFill xmlns:a="http://schemas.openxmlformats.org/drawingml/2006/main">
            <a:srgbClr val="E8F2D9"/>
          </a:solidFill>
          <a:ln xmlns:a="http://schemas.openxmlformats.org/drawingml/2006/main" w="14288">
            <a:solidFill>
              <a:srgbClr val="76B900"/>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UI export adapter</a:t>
            </a:r>
          </a:p>
        </p:txBody>
      </p:sp>
      <p:sp>
        <p:nvSpPr>
          <p:cNvPr id="7" name="">
            <a:extLst xmlns:a="http://schemas.openxmlformats.org/drawingml/2006/main">
              <a:ext uri="{FF2B5EF4-FFF2-40B4-BE49-F238E27FC236}">
                <a16:creationId xmlns:a16="http://schemas.microsoft.com/office/drawing/2014/main" id="{43A52B05-276F-4923-A814-00AF4D588C87}"/>
              </a:ext>
            </a:extLst>
          </p:cNvPr>
          <p:cNvSpPr>
            <a:spLocks xmlns:a="http://schemas.openxmlformats.org/drawingml/2006/main" noGrp="1"/>
          </p:cNvSpPr>
          <p:nvPr/>
        </p:nvSpPr>
        <p:spPr>
          <a:xfrm xmlns:a="http://schemas.openxmlformats.org/drawingml/2006/main">
            <a:off x="8458200" y="1685925"/>
            <a:ext cx="3124200" cy="1019175"/>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Streamlit UI</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Optional local API</a:t>
            </a:r>
          </a:p>
        </p:txBody>
      </p:sp>
      <p:sp>
        <p:nvSpPr>
          <p:cNvPr id="8" name="">
            <a:extLst xmlns:a="http://schemas.openxmlformats.org/drawingml/2006/main">
              <a:ext uri="{FF2B5EF4-FFF2-40B4-BE49-F238E27FC236}">
                <a16:creationId xmlns:a16="http://schemas.microsoft.com/office/drawing/2014/main" id="{9E0A93CA-2ED0-4D83-8C49-0BA87FA743D3}"/>
              </a:ext>
            </a:extLst>
          </p:cNvPr>
          <p:cNvSpPr>
            <a:spLocks xmlns:a="http://schemas.openxmlformats.org/drawingml/2006/main" noGrp="1"/>
          </p:cNvSpPr>
          <p:nvPr/>
        </p:nvSpPr>
        <p:spPr>
          <a:xfrm xmlns:a="http://schemas.openxmlformats.org/drawingml/2006/main">
            <a:off x="8458200" y="4038600"/>
            <a:ext cx="3124200" cy="1019175"/>
          </a:xfrm>
          <a:prstGeom xmlns:a="http://schemas.openxmlformats.org/drawingml/2006/main" prst="rect">
            <a:avLst/>
          </a:prstGeom>
          <a:solidFill xmlns:a="http://schemas.openxmlformats.org/drawingml/2006/main">
            <a:srgbClr val="FFFFFF"/>
          </a:solidFill>
          <a:ln xmlns:a="http://schemas.openxmlformats.org/drawingml/2006/main" w="14288">
            <a:solidFill>
              <a:srgbClr val="C7D3CD"/>
            </a:solidFill>
          </a:ln>
        </p:spPr>
        <p:txBody>
          <a:bodyPr xmlns:a="http://schemas.openxmlformats.org/drawingml/2006/main" wrap="square" lIns="114300" tIns="114300" rIns="114300" bIns="114300" anchor="ctr">
            <a:noAutofit/>
          </a:bodyPr>
          <a:lstStyle xmlns:a="http://schemas.openxmlformats.org/drawingml/2006/main">
            <a:defPPr algn="ctr">
              <a:defRPr sz="2025" b="1">
                <a:solidFill>
                  <a:srgbClr val="152A2B"/>
                </a:solidFill>
                <a:latin typeface="Arial"/>
                <a:ea typeface="Arial"/>
                <a:cs typeface="Arial"/>
              </a:defRPr>
            </a:defPPr>
          </a:lstStyle>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Standalone HTML</a:t>
            </a:r>
          </a:p>
          <a:p xmlns:a="http://schemas.openxmlformats.org/drawingml/2006/main">
            <a:pPr algn="ctr">
              <a:defRPr sz="2025" b="1">
                <a:solidFill>
                  <a:srgbClr val="152A2B"/>
                </a:solidFill>
                <a:latin typeface="Arial"/>
                <a:ea typeface="Arial"/>
                <a:cs typeface="Arial"/>
              </a:defRPr>
            </a:pPr>
            <a:r>
              <a:rPr sz="2025" b="1">
                <a:solidFill>
                  <a:srgbClr val="152A2B"/>
                </a:solidFill>
                <a:latin typeface="Arial"/>
                <a:ea typeface="Arial"/>
                <a:cs typeface="Arial"/>
              </a:rPr>
              <a:t>Saved reports offline</a:t>
            </a:r>
          </a:p>
        </p:txBody>
      </p:sp>
      <p:sp>
        <p:nvSpPr>
          <p:cNvPr id="11" name="">
            <a:extLst xmlns:a="http://schemas.openxmlformats.org/drawingml/2006/main">
              <a:ext uri="{FF2B5EF4-FFF2-40B4-BE49-F238E27FC236}">
                <a16:creationId xmlns:a16="http://schemas.microsoft.com/office/drawing/2014/main" id="{DBBA8A1C-53CA-463C-99BB-B76C94207635}"/>
              </a:ext>
            </a:extLst>
          </p:cNvPr>
          <p:cNvSpPr>
            <a:spLocks xmlns:a="http://schemas.openxmlformats.org/drawingml/2006/main" noGrp="1"/>
          </p:cNvSpPr>
          <p:nvPr/>
        </p:nvSpPr>
        <p:spPr>
          <a:xfrm xmlns:a="http://schemas.openxmlformats.org/drawingml/2006/main">
            <a:off x="4333875" y="4086225"/>
            <a:ext cx="36671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52A2B"/>
                </a:solidFill>
                <a:latin typeface="Arial"/>
                <a:ea typeface="Arial"/>
                <a:cs typeface="Arial"/>
              </a:defRPr>
            </a:defPPr>
          </a:lstStyle>
          <a:p xmlns:a="http://schemas.openxmlformats.org/drawingml/2006/main">
            <a:pPr algn="l">
              <a:defRPr sz="1875" b="0">
                <a:solidFill>
                  <a:srgbClr val="152A2B"/>
                </a:solidFill>
                <a:latin typeface="Arial"/>
                <a:ea typeface="Arial"/>
                <a:cs typeface="Arial"/>
              </a:defRPr>
            </a:pPr>
            <a:r>
              <a:rPr sz="1875" b="0">
                <a:solidFill>
                  <a:srgbClr val="152A2B"/>
                </a:solidFill>
                <a:latin typeface="Arial"/>
                <a:ea typeface="Arial"/>
                <a:cs typeface="Arial"/>
              </a:rPr>
              <a:t>narratives.json</a:t>
            </a:r>
          </a:p>
          <a:p xmlns:a="http://schemas.openxmlformats.org/drawingml/2006/main">
            <a:pPr algn="l">
              <a:defRPr sz="1875" b="0">
                <a:solidFill>
                  <a:srgbClr val="152A2B"/>
                </a:solidFill>
                <a:latin typeface="Arial"/>
                <a:ea typeface="Arial"/>
                <a:cs typeface="Arial"/>
              </a:defRPr>
            </a:pPr>
            <a:r>
              <a:rPr sz="1875" b="0">
                <a:solidFill>
                  <a:srgbClr val="152A2B"/>
                </a:solidFill>
                <a:latin typeface="Arial"/>
                <a:ea typeface="Arial"/>
                <a:cs typeface="Arial"/>
              </a:rPr>
              <a:t>{"S03": "Patient report…"}</a:t>
            </a:r>
          </a:p>
          <a:p xmlns:a="http://schemas.openxmlformats.org/drawingml/2006/main">
            <a:r>
              <a:t/>
            </a:r>
          </a:p>
          <a:p xmlns:a="http://schemas.openxmlformats.org/drawingml/2006/main">
            <a:pPr algn="l">
              <a:defRPr sz="1875" b="0">
                <a:solidFill>
                  <a:srgbClr val="152A2B"/>
                </a:solidFill>
                <a:latin typeface="Arial"/>
                <a:ea typeface="Arial"/>
                <a:cs typeface="Arial"/>
              </a:defRPr>
            </a:pPr>
            <a:r>
              <a:rPr sz="1875" b="0">
                <a:solidFill>
                  <a:srgbClr val="152A2B"/>
                </a:solidFill>
                <a:latin typeface="Arial"/>
                <a:ea typeface="Arial"/>
                <a:cs typeface="Arial"/>
              </a:rPr>
              <a:t>CSV scores + original plots</a:t>
            </a:r>
          </a:p>
        </p:txBody>
      </p:sp>
      <p:sp>
        <p:nvSpPr>
          <p:cNvPr id="12" name="">
            <a:extLst xmlns:a="http://schemas.openxmlformats.org/drawingml/2006/main">
              <a:ext uri="{FF2B5EF4-FFF2-40B4-BE49-F238E27FC236}">
                <a16:creationId xmlns:a16="http://schemas.microsoft.com/office/drawing/2014/main" id="{6AF65040-CAD7-4D1E-85C2-92428C0083F7}"/>
              </a:ext>
            </a:extLst>
          </p:cNvPr>
          <p:cNvSpPr>
            <a:spLocks xmlns:a="http://schemas.openxmlformats.org/drawingml/2006/main" noGrp="1"/>
          </p:cNvSpPr>
          <p:nvPr/>
        </p:nvSpPr>
        <p:spPr>
          <a:xfrm xmlns:a="http://schemas.openxmlformats.org/drawingml/2006/main">
            <a:off x="609600" y="60102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A6D6B"/>
                </a:solidFill>
                <a:latin typeface="Arial"/>
                <a:ea typeface="Arial"/>
                <a:cs typeface="Arial"/>
              </a:defRPr>
            </a:defPPr>
          </a:lstStyle>
          <a:p xmlns:a="http://schemas.openxmlformats.org/drawingml/2006/main">
            <a:pPr algn="l">
              <a:defRPr sz="1575" b="0">
                <a:solidFill>
                  <a:srgbClr val="5A6D6B"/>
                </a:solidFill>
                <a:latin typeface="Arial"/>
                <a:ea typeface="Arial"/>
                <a:cs typeface="Arial"/>
              </a:defRPr>
            </a:pPr>
            <a:r>
              <a:rPr sz="1575" b="0">
                <a:solidFill>
                  <a:srgbClr val="5A6D6B"/>
                </a:solidFill>
                <a:latin typeface="Arial"/>
                <a:ea typeface="Arial"/>
                <a:cs typeface="Arial"/>
              </a:rPr>
              <a:t>Patient selection changes the displayed report. Only the live API regenerates prose.</a:t>
            </a:r>
          </a:p>
        </p:txBody>
      </p:sp>
    </p:spTree>
    <p:extLst>
      <p:ext uri="{BB962C8B-B14F-4D97-AF65-F5344CB8AC3E}">
        <p14:creationId xmlns:p14="http://schemas.microsoft.com/office/powerpoint/2010/main" val="275867572"/>
      </p:ext>
    </p:extLst>
  </p:cSld>
</p:sld>
</file>

<file path=ppt/slides/slide22.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3194F09-05C9-4F02-B2F1-72AA12BC9E97}"/>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F7B"/>
                </a:solidFill>
                <a:latin typeface="Arial"/>
                <a:ea typeface="Arial"/>
                <a:cs typeface="Arial"/>
              </a:defRPr>
            </a:defPPr>
          </a:lstStyle>
          <a:p xmlns:a="http://schemas.openxmlformats.org/drawingml/2006/main">
            <a:pPr algn="l">
              <a:defRPr sz="1350" b="1">
                <a:solidFill>
                  <a:srgbClr val="007F7B"/>
                </a:solidFill>
                <a:latin typeface="Arial"/>
                <a:ea typeface="Arial"/>
                <a:cs typeface="Arial"/>
              </a:defRPr>
            </a:pPr>
            <a:r>
              <a:rPr sz="1350" b="1">
                <a:solidFill>
                  <a:srgbClr val="007F7B"/>
                </a:solidFill>
                <a:latin typeface="Arial"/>
                <a:ea typeface="Arial"/>
                <a:cs typeface="Arial"/>
              </a:rPr>
              <a:t>NEXT STEPS</a:t>
            </a:r>
          </a:p>
        </p:txBody>
      </p:sp>
      <p:sp>
        <p:nvSpPr>
          <p:cNvPr id="2" name="">
            <a:extLst xmlns:a="http://schemas.openxmlformats.org/drawingml/2006/main">
              <a:ext uri="{FF2B5EF4-FFF2-40B4-BE49-F238E27FC236}">
                <a16:creationId xmlns:a16="http://schemas.microsoft.com/office/drawing/2014/main" id="{8EEDBB09-1B93-41F8-93A2-77C447928880}"/>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A2B"/>
                </a:solidFill>
                <a:latin typeface="Arial"/>
                <a:ea typeface="Arial"/>
                <a:cs typeface="Arial"/>
              </a:defRPr>
            </a:defPPr>
          </a:lstStyle>
          <a:p xmlns:a="http://schemas.openxmlformats.org/drawingml/2006/main">
            <a:pPr algn="l">
              <a:defRPr sz="3300" b="1">
                <a:solidFill>
                  <a:srgbClr val="152A2B"/>
                </a:solidFill>
                <a:latin typeface="Arial"/>
                <a:ea typeface="Arial"/>
                <a:cs typeface="Arial"/>
              </a:defRPr>
            </a:pPr>
            <a:r>
              <a:rPr sz="3300" b="1">
                <a:solidFill>
                  <a:srgbClr val="152A2B"/>
                </a:solidFill>
                <a:latin typeface="Arial"/>
                <a:ea typeface="Arial"/>
                <a:cs typeface="Arial"/>
              </a:rPr>
              <a:t>Decisions before broader deployment</a:t>
            </a:r>
          </a:p>
        </p:txBody>
      </p:sp>
      <p:sp>
        <p:nvSpPr>
          <p:cNvPr id="3" name="">
            <a:extLst xmlns:a="http://schemas.openxmlformats.org/drawingml/2006/main">
              <a:ext uri="{FF2B5EF4-FFF2-40B4-BE49-F238E27FC236}">
                <a16:creationId xmlns:a16="http://schemas.microsoft.com/office/drawing/2014/main" id="{4A0E2545-98A5-46D4-872B-7DC3DDF1D6A3}"/>
              </a:ext>
            </a:extLst>
          </p:cNvPr>
          <p:cNvSpPr>
            <a:spLocks xmlns:a="http://schemas.openxmlformats.org/drawingml/2006/main" noGrp="1"/>
          </p:cNvSpPr>
          <p:nvPr/>
        </p:nvSpPr>
        <p:spPr>
          <a:xfrm xmlns:a="http://schemas.openxmlformats.org/drawingml/2006/main">
            <a:off x="11144250" y="64198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A6D6B"/>
                </a:solidFill>
                <a:latin typeface="Arial"/>
                <a:ea typeface="Arial"/>
                <a:cs typeface="Arial"/>
              </a:defRPr>
            </a:defPPr>
          </a:lstStyle>
          <a:p xmlns:a="http://schemas.openxmlformats.org/drawingml/2006/main">
            <a:pPr algn="r">
              <a:defRPr sz="1200" b="0">
                <a:solidFill>
                  <a:srgbClr val="5A6D6B"/>
                </a:solidFill>
                <a:latin typeface="Arial"/>
                <a:ea typeface="Arial"/>
                <a:cs typeface="Arial"/>
              </a:defRPr>
            </a:pPr>
            <a:r>
              <a:rPr sz="1200" b="0">
                <a:solidFill>
                  <a:srgbClr val="5A6D6B"/>
                </a:solidFill>
                <a:latin typeface="Arial"/>
                <a:ea typeface="Arial"/>
                <a:cs typeface="Arial"/>
              </a:rPr>
              <a:t>22</a:t>
            </a:r>
          </a:p>
        </p:txBody>
      </p:sp>
      <p:sp>
        <p:nvSpPr>
          <p:cNvPr id="4" name="">
            <a:extLst xmlns:a="http://schemas.openxmlformats.org/drawingml/2006/main">
              <a:ext uri="{FF2B5EF4-FFF2-40B4-BE49-F238E27FC236}">
                <a16:creationId xmlns:a16="http://schemas.microsoft.com/office/drawing/2014/main" id="{F7D8147A-A581-4D69-B67E-7AA387BC1096}"/>
              </a:ext>
            </a:extLst>
          </p:cNvPr>
          <p:cNvSpPr>
            <a:spLocks xmlns:a="http://schemas.openxmlformats.org/drawingml/2006/main" noGrp="1"/>
          </p:cNvSpPr>
          <p:nvPr/>
        </p:nvSpPr>
        <p:spPr>
          <a:xfrm xmlns:a="http://schemas.openxmlformats.org/drawingml/2006/main">
            <a:off x="609600" y="1857375"/>
            <a:ext cx="335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52A2B"/>
                </a:solidFill>
                <a:latin typeface="Arial"/>
                <a:ea typeface="Arial"/>
                <a:cs typeface="Arial"/>
              </a:defRPr>
            </a:defPPr>
          </a:lstStyle>
          <a:p xmlns:a="http://schemas.openxmlformats.org/drawingml/2006/main">
            <a:pPr algn="l">
              <a:defRPr sz="2400" b="1">
                <a:solidFill>
                  <a:srgbClr val="152A2B"/>
                </a:solidFill>
                <a:latin typeface="Arial"/>
                <a:ea typeface="Arial"/>
                <a:cs typeface="Arial"/>
              </a:defRPr>
            </a:pPr>
            <a:r>
              <a:rPr sz="2400" b="1">
                <a:solidFill>
                  <a:srgbClr val="152A2B"/>
                </a:solidFill>
                <a:latin typeface="Arial"/>
                <a:ea typeface="Arial"/>
                <a:cs typeface="Arial"/>
              </a:rPr>
              <a:t>Evidence contract</a:t>
            </a:r>
          </a:p>
        </p:txBody>
      </p:sp>
      <p:sp>
        <p:nvSpPr>
          <p:cNvPr id="5" name="">
            <a:extLst xmlns:a="http://schemas.openxmlformats.org/drawingml/2006/main">
              <a:ext uri="{FF2B5EF4-FFF2-40B4-BE49-F238E27FC236}">
                <a16:creationId xmlns:a16="http://schemas.microsoft.com/office/drawing/2014/main" id="{8FA43EE9-EF64-45CC-BBA9-32D683113C19}"/>
              </a:ext>
            </a:extLst>
          </p:cNvPr>
          <p:cNvSpPr>
            <a:spLocks xmlns:a="http://schemas.openxmlformats.org/drawingml/2006/main" noGrp="1"/>
          </p:cNvSpPr>
          <p:nvPr/>
        </p:nvSpPr>
        <p:spPr>
          <a:xfrm xmlns:a="http://schemas.openxmlformats.org/drawingml/2006/main">
            <a:off x="609600" y="2781300"/>
            <a:ext cx="3286125" cy="28575"/>
          </a:xfrm>
          <a:prstGeom xmlns:a="http://schemas.openxmlformats.org/drawingml/2006/main" prst="rect">
            <a:avLst/>
          </a:prstGeom>
          <a:solidFill xmlns:a="http://schemas.openxmlformats.org/drawingml/2006/main">
            <a:srgbClr val="C7D3CD"/>
          </a:solidFill>
          <a:ln xmlns:a="http://schemas.openxmlformats.org/drawingml/2006/main" w="14288">
            <a:solidFill>
              <a:srgbClr val="C7D3CD"/>
            </a:solidFill>
          </a:ln>
        </p:spPr>
      </p:sp>
      <p:sp>
        <p:nvSpPr>
          <p:cNvPr id="6" name="">
            <a:extLst xmlns:a="http://schemas.openxmlformats.org/drawingml/2006/main">
              <a:ext uri="{FF2B5EF4-FFF2-40B4-BE49-F238E27FC236}">
                <a16:creationId xmlns:a16="http://schemas.microsoft.com/office/drawing/2014/main" id="{57B43896-3953-4235-BF0B-3ADD16947451}"/>
              </a:ext>
            </a:extLst>
          </p:cNvPr>
          <p:cNvSpPr>
            <a:spLocks xmlns:a="http://schemas.openxmlformats.org/drawingml/2006/main" noGrp="1"/>
          </p:cNvSpPr>
          <p:nvPr/>
        </p:nvSpPr>
        <p:spPr>
          <a:xfrm xmlns:a="http://schemas.openxmlformats.org/drawingml/2006/main">
            <a:off x="609600" y="3181350"/>
            <a:ext cx="33051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2A2B"/>
                </a:solidFill>
                <a:latin typeface="Arial"/>
                <a:ea typeface="Arial"/>
                <a:cs typeface="Arial"/>
              </a:defRPr>
            </a:defPPr>
          </a:lstStyle>
          <a:p xmlns:a="http://schemas.openxmlformats.org/drawingml/2006/main">
            <a:pPr algn="l">
              <a:defRPr sz="2175" b="0">
                <a:solidFill>
                  <a:srgbClr val="152A2B"/>
                </a:solidFill>
                <a:latin typeface="Arial"/>
                <a:ea typeface="Arial"/>
                <a:cs typeface="Arial"/>
              </a:defRPr>
            </a:pPr>
            <a:r>
              <a:rPr sz="2175" b="0">
                <a:solidFill>
                  <a:srgbClr val="152A2B"/>
                </a:solidFill>
                <a:latin typeface="Arial"/>
                <a:ea typeface="Arial"/>
                <a:cs typeface="Arial"/>
              </a:rPr>
              <a:t>Response endpoint</a:t>
            </a:r>
          </a:p>
          <a:p xmlns:a="http://schemas.openxmlformats.org/drawingml/2006/main">
            <a:pPr algn="l">
              <a:defRPr sz="2175" b="0">
                <a:solidFill>
                  <a:srgbClr val="152A2B"/>
                </a:solidFill>
                <a:latin typeface="Arial"/>
                <a:ea typeface="Arial"/>
                <a:cs typeface="Arial"/>
              </a:defRPr>
            </a:pPr>
            <a:r>
              <a:rPr sz="2175" b="0">
                <a:solidFill>
                  <a:srgbClr val="152A2B"/>
                </a:solidFill>
                <a:latin typeface="Arial"/>
                <a:ea typeface="Arial"/>
                <a:cs typeface="Arial"/>
              </a:rPr>
              <a:t>Authoritative mIF score</a:t>
            </a:r>
          </a:p>
          <a:p xmlns:a="http://schemas.openxmlformats.org/drawingml/2006/main">
            <a:pPr algn="l">
              <a:defRPr sz="2175" b="0">
                <a:solidFill>
                  <a:srgbClr val="152A2B"/>
                </a:solidFill>
                <a:latin typeface="Arial"/>
                <a:ea typeface="Arial"/>
                <a:cs typeface="Arial"/>
              </a:defRPr>
            </a:pPr>
            <a:r>
              <a:rPr sz="2175" b="0">
                <a:solidFill>
                  <a:srgbClr val="152A2B"/>
                </a:solidFill>
                <a:latin typeface="Arial"/>
                <a:ea typeface="Arial"/>
                <a:cs typeface="Arial"/>
              </a:rPr>
              <a:t>Corrected clinical plots</a:t>
            </a:r>
          </a:p>
        </p:txBody>
      </p:sp>
      <p:sp>
        <p:nvSpPr>
          <p:cNvPr id="7" name="">
            <a:extLst xmlns:a="http://schemas.openxmlformats.org/drawingml/2006/main">
              <a:ext uri="{FF2B5EF4-FFF2-40B4-BE49-F238E27FC236}">
                <a16:creationId xmlns:a16="http://schemas.microsoft.com/office/drawing/2014/main" id="{A442E3BA-2A21-4BC1-B274-8D39F7C771D5}"/>
              </a:ext>
            </a:extLst>
          </p:cNvPr>
          <p:cNvSpPr>
            <a:spLocks xmlns:a="http://schemas.openxmlformats.org/drawingml/2006/main" noGrp="1"/>
          </p:cNvSpPr>
          <p:nvPr/>
        </p:nvSpPr>
        <p:spPr>
          <a:xfrm xmlns:a="http://schemas.openxmlformats.org/drawingml/2006/main">
            <a:off x="4314825" y="1857375"/>
            <a:ext cx="335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52A2B"/>
                </a:solidFill>
                <a:latin typeface="Arial"/>
                <a:ea typeface="Arial"/>
                <a:cs typeface="Arial"/>
              </a:defRPr>
            </a:defPPr>
          </a:lstStyle>
          <a:p xmlns:a="http://schemas.openxmlformats.org/drawingml/2006/main">
            <a:pPr algn="l">
              <a:defRPr sz="2400" b="1">
                <a:solidFill>
                  <a:srgbClr val="152A2B"/>
                </a:solidFill>
                <a:latin typeface="Arial"/>
                <a:ea typeface="Arial"/>
                <a:cs typeface="Arial"/>
              </a:defRPr>
            </a:pPr>
            <a:r>
              <a:rPr sz="2400" b="1">
                <a:solidFill>
                  <a:srgbClr val="152A2B"/>
                </a:solidFill>
                <a:latin typeface="Arial"/>
                <a:ea typeface="Arial"/>
                <a:cs typeface="Arial"/>
              </a:rPr>
              <a:t>Narrative acceptance</a:t>
            </a:r>
          </a:p>
        </p:txBody>
      </p:sp>
      <p:sp>
        <p:nvSpPr>
          <p:cNvPr id="8" name="">
            <a:extLst xmlns:a="http://schemas.openxmlformats.org/drawingml/2006/main">
              <a:ext uri="{FF2B5EF4-FFF2-40B4-BE49-F238E27FC236}">
                <a16:creationId xmlns:a16="http://schemas.microsoft.com/office/drawing/2014/main" id="{F27DB9ED-4F77-4550-BDCD-A6D495D61174}"/>
              </a:ext>
            </a:extLst>
          </p:cNvPr>
          <p:cNvSpPr>
            <a:spLocks xmlns:a="http://schemas.openxmlformats.org/drawingml/2006/main" noGrp="1"/>
          </p:cNvSpPr>
          <p:nvPr/>
        </p:nvSpPr>
        <p:spPr>
          <a:xfrm xmlns:a="http://schemas.openxmlformats.org/drawingml/2006/main">
            <a:off x="4314825" y="2781300"/>
            <a:ext cx="3286125" cy="28575"/>
          </a:xfrm>
          <a:prstGeom xmlns:a="http://schemas.openxmlformats.org/drawingml/2006/main" prst="rect">
            <a:avLst/>
          </a:prstGeom>
          <a:solidFill xmlns:a="http://schemas.openxmlformats.org/drawingml/2006/main">
            <a:srgbClr val="C7D3CD"/>
          </a:solidFill>
          <a:ln xmlns:a="http://schemas.openxmlformats.org/drawingml/2006/main" w="14288">
            <a:solidFill>
              <a:srgbClr val="C7D3CD"/>
            </a:solidFill>
          </a:ln>
        </p:spPr>
      </p:sp>
      <p:sp>
        <p:nvSpPr>
          <p:cNvPr id="9" name="">
            <a:extLst xmlns:a="http://schemas.openxmlformats.org/drawingml/2006/main">
              <a:ext uri="{FF2B5EF4-FFF2-40B4-BE49-F238E27FC236}">
                <a16:creationId xmlns:a16="http://schemas.microsoft.com/office/drawing/2014/main" id="{2FE41241-8C28-4FF0-A15D-B5BC0E1C7436}"/>
              </a:ext>
            </a:extLst>
          </p:cNvPr>
          <p:cNvSpPr>
            <a:spLocks xmlns:a="http://schemas.openxmlformats.org/drawingml/2006/main" noGrp="1"/>
          </p:cNvSpPr>
          <p:nvPr/>
        </p:nvSpPr>
        <p:spPr>
          <a:xfrm xmlns:a="http://schemas.openxmlformats.org/drawingml/2006/main">
            <a:off x="4314825" y="3181350"/>
            <a:ext cx="33051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2A2B"/>
                </a:solidFill>
                <a:latin typeface="Arial"/>
                <a:ea typeface="Arial"/>
                <a:cs typeface="Arial"/>
              </a:defRPr>
            </a:defPPr>
          </a:lstStyle>
          <a:p xmlns:a="http://schemas.openxmlformats.org/drawingml/2006/main">
            <a:pPr algn="l">
              <a:defRPr sz="2175" b="0">
                <a:solidFill>
                  <a:srgbClr val="152A2B"/>
                </a:solidFill>
                <a:latin typeface="Arial"/>
                <a:ea typeface="Arial"/>
                <a:cs typeface="Arial"/>
              </a:defRPr>
            </a:pPr>
            <a:r>
              <a:rPr sz="2175" b="0">
                <a:solidFill>
                  <a:srgbClr val="152A2B"/>
                </a:solidFill>
                <a:latin typeface="Arial"/>
                <a:ea typeface="Arial"/>
                <a:cs typeface="Arial"/>
              </a:rPr>
              <a:t>Expert review rubric</a:t>
            </a:r>
          </a:p>
          <a:p xmlns:a="http://schemas.openxmlformats.org/drawingml/2006/main">
            <a:pPr algn="l">
              <a:defRPr sz="2175" b="0">
                <a:solidFill>
                  <a:srgbClr val="152A2B"/>
                </a:solidFill>
                <a:latin typeface="Arial"/>
                <a:ea typeface="Arial"/>
                <a:cs typeface="Arial"/>
              </a:defRPr>
            </a:pPr>
            <a:r>
              <a:rPr sz="2175" b="0">
                <a:solidFill>
                  <a:srgbClr val="152A2B"/>
                </a:solidFill>
                <a:latin typeface="Arial"/>
                <a:ea typeface="Arial"/>
                <a:cs typeface="Arial"/>
              </a:rPr>
              <a:t>Representative cases</a:t>
            </a:r>
          </a:p>
          <a:p xmlns:a="http://schemas.openxmlformats.org/drawingml/2006/main">
            <a:pPr algn="l">
              <a:defRPr sz="2175" b="0">
                <a:solidFill>
                  <a:srgbClr val="152A2B"/>
                </a:solidFill>
                <a:latin typeface="Arial"/>
                <a:ea typeface="Arial"/>
                <a:cs typeface="Arial"/>
              </a:defRPr>
            </a:pPr>
            <a:r>
              <a:rPr sz="2175" b="0">
                <a:solidFill>
                  <a:srgbClr val="152A2B"/>
                </a:solidFill>
                <a:latin typeface="Arial"/>
                <a:ea typeface="Arial"/>
                <a:cs typeface="Arial"/>
              </a:rPr>
              <a:t>Model / prompt regression set</a:t>
            </a:r>
          </a:p>
        </p:txBody>
      </p:sp>
      <p:sp>
        <p:nvSpPr>
          <p:cNvPr id="10" name="">
            <a:extLst xmlns:a="http://schemas.openxmlformats.org/drawingml/2006/main">
              <a:ext uri="{FF2B5EF4-FFF2-40B4-BE49-F238E27FC236}">
                <a16:creationId xmlns:a16="http://schemas.microsoft.com/office/drawing/2014/main" id="{9E457AB9-9C88-4CCD-B167-B0A400186BF3}"/>
              </a:ext>
            </a:extLst>
          </p:cNvPr>
          <p:cNvSpPr>
            <a:spLocks xmlns:a="http://schemas.openxmlformats.org/drawingml/2006/main" noGrp="1"/>
          </p:cNvSpPr>
          <p:nvPr/>
        </p:nvSpPr>
        <p:spPr>
          <a:xfrm xmlns:a="http://schemas.openxmlformats.org/drawingml/2006/main">
            <a:off x="8020050" y="1857375"/>
            <a:ext cx="335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7F7B"/>
                </a:solidFill>
                <a:latin typeface="Arial"/>
                <a:ea typeface="Arial"/>
                <a:cs typeface="Arial"/>
              </a:defRPr>
            </a:defPPr>
          </a:lstStyle>
          <a:p xmlns:a="http://schemas.openxmlformats.org/drawingml/2006/main">
            <a:pPr algn="l">
              <a:defRPr sz="2400" b="1">
                <a:solidFill>
                  <a:srgbClr val="007F7B"/>
                </a:solidFill>
                <a:latin typeface="Arial"/>
                <a:ea typeface="Arial"/>
                <a:cs typeface="Arial"/>
              </a:defRPr>
            </a:pPr>
            <a:r>
              <a:rPr sz="2400" b="1">
                <a:solidFill>
                  <a:srgbClr val="007F7B"/>
                </a:solidFill>
                <a:latin typeface="Arial"/>
                <a:ea typeface="Arial"/>
                <a:cs typeface="Arial"/>
              </a:rPr>
              <a:t>Serving target</a:t>
            </a:r>
          </a:p>
        </p:txBody>
      </p:sp>
      <p:sp>
        <p:nvSpPr>
          <p:cNvPr id="11" name="">
            <a:extLst xmlns:a="http://schemas.openxmlformats.org/drawingml/2006/main">
              <a:ext uri="{FF2B5EF4-FFF2-40B4-BE49-F238E27FC236}">
                <a16:creationId xmlns:a16="http://schemas.microsoft.com/office/drawing/2014/main" id="{954F49A8-E949-4B8D-96C9-BFFC9CFDCD3A}"/>
              </a:ext>
            </a:extLst>
          </p:cNvPr>
          <p:cNvSpPr>
            <a:spLocks xmlns:a="http://schemas.openxmlformats.org/drawingml/2006/main" noGrp="1"/>
          </p:cNvSpPr>
          <p:nvPr/>
        </p:nvSpPr>
        <p:spPr>
          <a:xfrm xmlns:a="http://schemas.openxmlformats.org/drawingml/2006/main">
            <a:off x="8020050" y="2781300"/>
            <a:ext cx="3286125" cy="28575"/>
          </a:xfrm>
          <a:prstGeom xmlns:a="http://schemas.openxmlformats.org/drawingml/2006/main" prst="rect">
            <a:avLst/>
          </a:prstGeom>
          <a:solidFill xmlns:a="http://schemas.openxmlformats.org/drawingml/2006/main">
            <a:srgbClr val="76B900"/>
          </a:solidFill>
          <a:ln xmlns:a="http://schemas.openxmlformats.org/drawingml/2006/main" w="14288">
            <a:solidFill>
              <a:srgbClr val="76B900"/>
            </a:solidFill>
          </a:ln>
        </p:spPr>
      </p:sp>
      <p:sp>
        <p:nvSpPr>
          <p:cNvPr id="12" name="">
            <a:extLst xmlns:a="http://schemas.openxmlformats.org/drawingml/2006/main">
              <a:ext uri="{FF2B5EF4-FFF2-40B4-BE49-F238E27FC236}">
                <a16:creationId xmlns:a16="http://schemas.microsoft.com/office/drawing/2014/main" id="{3EFFDD13-8EE7-4014-AA09-F785EE0ACEA3}"/>
              </a:ext>
            </a:extLst>
          </p:cNvPr>
          <p:cNvSpPr>
            <a:spLocks xmlns:a="http://schemas.openxmlformats.org/drawingml/2006/main" noGrp="1"/>
          </p:cNvSpPr>
          <p:nvPr/>
        </p:nvSpPr>
        <p:spPr>
          <a:xfrm xmlns:a="http://schemas.openxmlformats.org/drawingml/2006/main">
            <a:off x="8020050" y="3181350"/>
            <a:ext cx="33051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2A2B"/>
                </a:solidFill>
                <a:latin typeface="Arial"/>
                <a:ea typeface="Arial"/>
                <a:cs typeface="Arial"/>
              </a:defRPr>
            </a:defPPr>
          </a:lstStyle>
          <a:p xmlns:a="http://schemas.openxmlformats.org/drawingml/2006/main">
            <a:pPr algn="l">
              <a:defRPr sz="2175" b="0">
                <a:solidFill>
                  <a:srgbClr val="152A2B"/>
                </a:solidFill>
                <a:latin typeface="Arial"/>
                <a:ea typeface="Arial"/>
                <a:cs typeface="Arial"/>
              </a:defRPr>
            </a:pPr>
            <a:r>
              <a:rPr sz="2175" b="0">
                <a:solidFill>
                  <a:srgbClr val="152A2B"/>
                </a:solidFill>
                <a:latin typeface="Arial"/>
                <a:ea typeface="Arial"/>
                <a:cs typeface="Arial"/>
              </a:rPr>
              <a:t>NIM model + GPU profile</a:t>
            </a:r>
          </a:p>
          <a:p xmlns:a="http://schemas.openxmlformats.org/drawingml/2006/main">
            <a:pPr algn="l">
              <a:defRPr sz="2175" b="0">
                <a:solidFill>
                  <a:srgbClr val="152A2B"/>
                </a:solidFill>
                <a:latin typeface="Arial"/>
                <a:ea typeface="Arial"/>
                <a:cs typeface="Arial"/>
              </a:defRPr>
            </a:pPr>
            <a:r>
              <a:rPr sz="2175" b="0">
                <a:solidFill>
                  <a:srgbClr val="152A2B"/>
                </a:solidFill>
                <a:latin typeface="Arial"/>
                <a:ea typeface="Arial"/>
                <a:cs typeface="Arial"/>
              </a:rPr>
              <a:t>Site access and container policy</a:t>
            </a:r>
          </a:p>
          <a:p xmlns:a="http://schemas.openxmlformats.org/drawingml/2006/main">
            <a:pPr algn="l">
              <a:defRPr sz="2175" b="0">
                <a:solidFill>
                  <a:srgbClr val="152A2B"/>
                </a:solidFill>
                <a:latin typeface="Arial"/>
                <a:ea typeface="Arial"/>
                <a:cs typeface="Arial"/>
              </a:defRPr>
            </a:pPr>
            <a:r>
              <a:rPr sz="2175" b="0">
                <a:solidFill>
                  <a:srgbClr val="152A2B"/>
                </a:solidFill>
                <a:latin typeface="Arial"/>
                <a:ea typeface="Arial"/>
                <a:cs typeface="Arial"/>
              </a:rPr>
              <a:t>Latency / concurrency targets</a:t>
            </a:r>
          </a:p>
        </p:txBody>
      </p:sp>
      <p:sp>
        <p:nvSpPr>
          <p:cNvPr id="13" name="">
            <a:extLst xmlns:a="http://schemas.openxmlformats.org/drawingml/2006/main">
              <a:ext uri="{FF2B5EF4-FFF2-40B4-BE49-F238E27FC236}">
                <a16:creationId xmlns:a16="http://schemas.microsoft.com/office/drawing/2014/main" id="{F6CA181E-984A-4DAA-93B6-58E4642B1F29}"/>
              </a:ext>
            </a:extLst>
          </p:cNvPr>
          <p:cNvSpPr>
            <a:spLocks xmlns:a="http://schemas.openxmlformats.org/drawingml/2006/main" noGrp="1"/>
          </p:cNvSpPr>
          <p:nvPr/>
        </p:nvSpPr>
        <p:spPr>
          <a:xfrm xmlns:a="http://schemas.openxmlformats.org/drawingml/2006/main">
            <a:off x="609600" y="60102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A6D6B"/>
                </a:solidFill>
                <a:latin typeface="Arial"/>
                <a:ea typeface="Arial"/>
                <a:cs typeface="Arial"/>
              </a:defRPr>
            </a:defPPr>
          </a:lstStyle>
          <a:p xmlns:a="http://schemas.openxmlformats.org/drawingml/2006/main">
            <a:pPr algn="l">
              <a:defRPr sz="1575" b="0">
                <a:solidFill>
                  <a:srgbClr val="5A6D6B"/>
                </a:solidFill>
                <a:latin typeface="Arial"/>
                <a:ea typeface="Arial"/>
                <a:cs typeface="Arial"/>
              </a:defRPr>
            </a:pPr>
            <a:r>
              <a:rPr sz="1575" b="0">
                <a:solidFill>
                  <a:srgbClr val="5A6D6B"/>
                </a:solidFill>
                <a:latin typeface="Arial"/>
                <a:ea typeface="Arial"/>
                <a:cs typeface="Arial"/>
              </a:rPr>
              <a:t>Stable patient and report contracts let the team change serving infrastructure without redesigning the UI.</a:t>
            </a:r>
          </a:p>
        </p:txBody>
      </p:sp>
    </p:spTree>
    <p:extLst>
      <p:ext uri="{BB962C8B-B14F-4D97-AF65-F5344CB8AC3E}">
        <p14:creationId xmlns:p14="http://schemas.microsoft.com/office/powerpoint/2010/main" val="390645910"/>
      </p:ext>
    </p:extLst>
  </p:cSld>
</p:sld>
</file>

<file path=ppt/slides/slide23.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5088D0F-B68E-43CE-A6BC-C67166487571}"/>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7F7B"/>
                </a:solidFill>
                <a:latin typeface="Arial"/>
                <a:ea typeface="Arial"/>
                <a:cs typeface="Arial"/>
              </a:defRPr>
            </a:defPPr>
          </a:lstStyle>
          <a:p xmlns:a="http://schemas.openxmlformats.org/drawingml/2006/main">
            <a:pPr algn="l">
              <a:defRPr sz="1350" b="1">
                <a:solidFill>
                  <a:srgbClr val="007F7B"/>
                </a:solidFill>
                <a:latin typeface="Arial"/>
                <a:ea typeface="Arial"/>
                <a:cs typeface="Arial"/>
              </a:defRPr>
            </a:pPr>
            <a:r>
              <a:rPr sz="1350" b="1">
                <a:solidFill>
                  <a:srgbClr val="007F7B"/>
                </a:solidFill>
                <a:latin typeface="Arial"/>
                <a:ea typeface="Arial"/>
                <a:cs typeface="Arial"/>
              </a:rPr>
              <a:t>SOURCES</a:t>
            </a:r>
          </a:p>
        </p:txBody>
      </p:sp>
      <p:sp>
        <p:nvSpPr>
          <p:cNvPr id="2" name="">
            <a:extLst xmlns:a="http://schemas.openxmlformats.org/drawingml/2006/main">
              <a:ext uri="{FF2B5EF4-FFF2-40B4-BE49-F238E27FC236}">
                <a16:creationId xmlns:a16="http://schemas.microsoft.com/office/drawing/2014/main" id="{0842B6DF-C332-42DA-B429-F3303AB3E78E}"/>
              </a:ext>
            </a:extLst>
          </p:cNvPr>
          <p:cNvSpPr>
            <a:spLocks xmlns:a="http://schemas.openxmlformats.org/drawingml/2006/main" noGrp="1"/>
          </p:cNvSpPr>
          <p:nvPr/>
        </p:nvSpPr>
        <p:spPr>
          <a:xfrm xmlns:a="http://schemas.openxmlformats.org/drawingml/2006/main">
            <a:off x="609600" y="742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A2B"/>
                </a:solidFill>
                <a:latin typeface="Arial"/>
                <a:ea typeface="Arial"/>
                <a:cs typeface="Arial"/>
              </a:defRPr>
            </a:defPPr>
          </a:lstStyle>
          <a:p xmlns:a="http://schemas.openxmlformats.org/drawingml/2006/main">
            <a:pPr algn="l">
              <a:defRPr sz="3300" b="1">
                <a:solidFill>
                  <a:srgbClr val="152A2B"/>
                </a:solidFill>
                <a:latin typeface="Arial"/>
                <a:ea typeface="Arial"/>
                <a:cs typeface="Arial"/>
              </a:defRPr>
            </a:pPr>
            <a:r>
              <a:rPr sz="3300" b="1">
                <a:solidFill>
                  <a:srgbClr val="152A2B"/>
                </a:solidFill>
                <a:latin typeface="Arial"/>
                <a:ea typeface="Arial"/>
                <a:cs typeface="Arial"/>
              </a:rPr>
              <a:t>References and implementation evidence</a:t>
            </a:r>
          </a:p>
        </p:txBody>
      </p:sp>
      <p:sp>
        <p:nvSpPr>
          <p:cNvPr id="3" name="">
            <a:extLst xmlns:a="http://schemas.openxmlformats.org/drawingml/2006/main">
              <a:ext uri="{FF2B5EF4-FFF2-40B4-BE49-F238E27FC236}">
                <a16:creationId xmlns:a16="http://schemas.microsoft.com/office/drawing/2014/main" id="{CA8574B1-AFE4-493A-BA3E-167CB6C6058E}"/>
              </a:ext>
            </a:extLst>
          </p:cNvPr>
          <p:cNvSpPr>
            <a:spLocks xmlns:a="http://schemas.openxmlformats.org/drawingml/2006/main" noGrp="1"/>
          </p:cNvSpPr>
          <p:nvPr/>
        </p:nvSpPr>
        <p:spPr>
          <a:xfrm xmlns:a="http://schemas.openxmlformats.org/drawingml/2006/main">
            <a:off x="11144250" y="64198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A6D6B"/>
                </a:solidFill>
                <a:latin typeface="Arial"/>
                <a:ea typeface="Arial"/>
                <a:cs typeface="Arial"/>
              </a:defRPr>
            </a:defPPr>
          </a:lstStyle>
          <a:p xmlns:a="http://schemas.openxmlformats.org/drawingml/2006/main">
            <a:pPr algn="r">
              <a:defRPr sz="1200" b="0">
                <a:solidFill>
                  <a:srgbClr val="5A6D6B"/>
                </a:solidFill>
                <a:latin typeface="Arial"/>
                <a:ea typeface="Arial"/>
                <a:cs typeface="Arial"/>
              </a:defRPr>
            </a:pPr>
            <a:r>
              <a:rPr sz="1200" b="0">
                <a:solidFill>
                  <a:srgbClr val="5A6D6B"/>
                </a:solidFill>
                <a:latin typeface="Arial"/>
                <a:ea typeface="Arial"/>
                <a:cs typeface="Arial"/>
              </a:rPr>
              <a:t>23</a:t>
            </a:r>
          </a:p>
        </p:txBody>
      </p:sp>
      <p:sp>
        <p:nvSpPr>
          <p:cNvPr id="4" name="">
            <a:extLst xmlns:a="http://schemas.openxmlformats.org/drawingml/2006/main">
              <a:ext uri="{FF2B5EF4-FFF2-40B4-BE49-F238E27FC236}">
                <a16:creationId xmlns:a16="http://schemas.microsoft.com/office/drawing/2014/main" id="{594CD754-353C-449D-97C5-9BBA3BBE0674}"/>
              </a:ext>
            </a:extLst>
          </p:cNvPr>
          <p:cNvSpPr>
            <a:spLocks xmlns:a="http://schemas.openxmlformats.org/drawingml/2006/main" noGrp="1"/>
          </p:cNvSpPr>
          <p:nvPr/>
        </p:nvSpPr>
        <p:spPr>
          <a:xfrm xmlns:a="http://schemas.openxmlformats.org/drawingml/2006/main">
            <a:off x="609600" y="1714500"/>
            <a:ext cx="2714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7B"/>
                </a:solidFill>
                <a:latin typeface="Arial"/>
                <a:ea typeface="Arial"/>
                <a:cs typeface="Arial"/>
              </a:defRPr>
            </a:defPPr>
          </a:lstStyle>
          <a:p xmlns:a="http://schemas.openxmlformats.org/drawingml/2006/main">
            <a:pPr algn="l">
              <a:defRPr sz="2100" b="1">
                <a:solidFill>
                  <a:srgbClr val="007F7B"/>
                </a:solidFill>
                <a:latin typeface="Arial"/>
                <a:ea typeface="Arial"/>
                <a:cs typeface="Arial"/>
              </a:defRPr>
            </a:pPr>
            <a:r>
              <a:rPr sz="2100" b="1">
                <a:solidFill>
                  <a:srgbClr val="007F7B"/>
                </a:solidFill>
                <a:latin typeface="Arial"/>
                <a:ea typeface="Arial"/>
                <a:cs typeface="Arial"/>
              </a:rPr>
              <a:t>Foundation study</a:t>
            </a:r>
          </a:p>
        </p:txBody>
      </p:sp>
      <p:sp>
        <p:nvSpPr>
          <p:cNvPr id="5" name="">
            <a:extLst xmlns:a="http://schemas.openxmlformats.org/drawingml/2006/main">
              <a:ext uri="{FF2B5EF4-FFF2-40B4-BE49-F238E27FC236}">
                <a16:creationId xmlns:a16="http://schemas.microsoft.com/office/drawing/2014/main" id="{564E8378-9F36-4BD5-BDEE-96978D310EF7}"/>
              </a:ext>
            </a:extLst>
          </p:cNvPr>
          <p:cNvSpPr>
            <a:spLocks xmlns:a="http://schemas.openxmlformats.org/drawingml/2006/main" noGrp="1"/>
          </p:cNvSpPr>
          <p:nvPr/>
        </p:nvSpPr>
        <p:spPr>
          <a:xfrm xmlns:a="http://schemas.openxmlformats.org/drawingml/2006/main">
            <a:off x="3714750" y="1714500"/>
            <a:ext cx="7810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52A2B"/>
                </a:solidFill>
                <a:latin typeface="Arial"/>
                <a:ea typeface="Arial"/>
                <a:cs typeface="Arial"/>
              </a:defRPr>
            </a:defPPr>
          </a:lstStyle>
          <a:p xmlns:a="http://schemas.openxmlformats.org/drawingml/2006/main">
            <a:pPr algn="l">
              <a:defRPr sz="1950" b="0">
                <a:solidFill>
                  <a:srgbClr val="152A2B"/>
                </a:solidFill>
                <a:latin typeface="Arial"/>
                <a:ea typeface="Arial"/>
                <a:cs typeface="Arial"/>
              </a:defRPr>
            </a:pPr>
            <a:r>
              <a:rPr sz="1950" b="0">
                <a:solidFill>
                  <a:srgbClr val="152A2B"/>
                </a:solidFill>
                <a:latin typeface="Arial"/>
                <a:ea typeface="Arial"/>
                <a:cs typeface="Arial"/>
              </a:rPr>
              <a:t>Pybus et al. 2026</a:t>
            </a:r>
          </a:p>
          <a:p xmlns:a="http://schemas.openxmlformats.org/drawingml/2006/main">
            <a:pPr algn="l">
              <a:defRPr sz="1950" b="0">
                <a:solidFill>
                  <a:srgbClr val="152A2B"/>
                </a:solidFill>
                <a:latin typeface="Arial"/>
                <a:ea typeface="Arial"/>
                <a:cs typeface="Arial"/>
              </a:defRPr>
            </a:pPr>
            <a:r>
              <a:rPr sz="1950" b="0">
                <a:solidFill>
                  <a:srgbClr val="152A2B"/>
                </a:solidFill>
                <a:latin typeface="Arial"/>
                <a:ea typeface="Arial"/>
                <a:cs typeface="Arial"/>
              </a:rPr>
              <a:t>npj Precision Oncology 10, 56</a:t>
            </a:r>
          </a:p>
          <a:p xmlns:a="http://schemas.openxmlformats.org/drawingml/2006/main">
            <a:pPr algn="l">
              <a:defRPr sz="1950" b="0">
                <a:solidFill>
                  <a:srgbClr val="152A2B"/>
                </a:solidFill>
                <a:latin typeface="Arial"/>
                <a:ea typeface="Arial"/>
                <a:cs typeface="Arial"/>
              </a:defRPr>
            </a:pPr>
            <a:r>
              <a:rPr sz="1950" b="0">
                <a:solidFill>
                  <a:srgbClr val="152A2B"/>
                </a:solidFill>
                <a:latin typeface="Arial"/>
                <a:ea typeface="Arial"/>
                <a:cs typeface="Arial"/>
              </a:rPr>
              <a:t>doi:10.1038/s41698-025-01250-8</a:t>
            </a:r>
          </a:p>
        </p:txBody>
      </p:sp>
      <p:sp>
        <p:nvSpPr>
          <p:cNvPr id="6" name="">
            <a:extLst xmlns:a="http://schemas.openxmlformats.org/drawingml/2006/main">
              <a:ext uri="{FF2B5EF4-FFF2-40B4-BE49-F238E27FC236}">
                <a16:creationId xmlns:a16="http://schemas.microsoft.com/office/drawing/2014/main" id="{6B1BF458-9385-41C5-BC97-89C460D30B8A}"/>
              </a:ext>
            </a:extLst>
          </p:cNvPr>
          <p:cNvSpPr>
            <a:spLocks xmlns:a="http://schemas.openxmlformats.org/drawingml/2006/main" noGrp="1"/>
          </p:cNvSpPr>
          <p:nvPr/>
        </p:nvSpPr>
        <p:spPr>
          <a:xfrm xmlns:a="http://schemas.openxmlformats.org/drawingml/2006/main">
            <a:off x="609600" y="2600325"/>
            <a:ext cx="10972800" cy="9525"/>
          </a:xfrm>
          <a:prstGeom xmlns:a="http://schemas.openxmlformats.org/drawingml/2006/main" prst="rect">
            <a:avLst/>
          </a:prstGeom>
          <a:solidFill xmlns:a="http://schemas.openxmlformats.org/drawingml/2006/main">
            <a:srgbClr val="C7D3CD"/>
          </a:solidFill>
          <a:ln xmlns:a="http://schemas.openxmlformats.org/drawingml/2006/main" w="14288">
            <a:solidFill>
              <a:srgbClr val="C7D3CD"/>
            </a:solidFill>
          </a:ln>
        </p:spPr>
      </p:sp>
      <p:sp>
        <p:nvSpPr>
          <p:cNvPr id="7" name="">
            <a:extLst xmlns:a="http://schemas.openxmlformats.org/drawingml/2006/main">
              <a:ext uri="{FF2B5EF4-FFF2-40B4-BE49-F238E27FC236}">
                <a16:creationId xmlns:a16="http://schemas.microsoft.com/office/drawing/2014/main" id="{6CB6C2DA-40A8-487A-9C0B-CFCCD9683459}"/>
              </a:ext>
            </a:extLst>
          </p:cNvPr>
          <p:cNvSpPr>
            <a:spLocks xmlns:a="http://schemas.openxmlformats.org/drawingml/2006/main" noGrp="1"/>
          </p:cNvSpPr>
          <p:nvPr/>
        </p:nvSpPr>
        <p:spPr>
          <a:xfrm xmlns:a="http://schemas.openxmlformats.org/drawingml/2006/main">
            <a:off x="609600" y="2724150"/>
            <a:ext cx="2714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7B"/>
                </a:solidFill>
                <a:latin typeface="Arial"/>
                <a:ea typeface="Arial"/>
                <a:cs typeface="Arial"/>
              </a:defRPr>
            </a:defPPr>
          </a:lstStyle>
          <a:p xmlns:a="http://schemas.openxmlformats.org/drawingml/2006/main">
            <a:pPr algn="l">
              <a:defRPr sz="2100" b="1">
                <a:solidFill>
                  <a:srgbClr val="007F7B"/>
                </a:solidFill>
                <a:latin typeface="Arial"/>
                <a:ea typeface="Arial"/>
                <a:cs typeface="Arial"/>
              </a:defRPr>
            </a:pPr>
            <a:r>
              <a:rPr sz="2100" b="1">
                <a:solidFill>
                  <a:srgbClr val="007F7B"/>
                </a:solidFill>
                <a:latin typeface="Arial"/>
                <a:ea typeface="Arial"/>
                <a:cs typeface="Arial"/>
              </a:rPr>
              <a:t>NVIDIA model</a:t>
            </a:r>
          </a:p>
        </p:txBody>
      </p:sp>
      <p:sp>
        <p:nvSpPr>
          <p:cNvPr id="8" name="">
            <a:extLst xmlns:a="http://schemas.openxmlformats.org/drawingml/2006/main">
              <a:ext uri="{FF2B5EF4-FFF2-40B4-BE49-F238E27FC236}">
                <a16:creationId xmlns:a16="http://schemas.microsoft.com/office/drawing/2014/main" id="{CB728C6C-8ACB-4973-853C-68B111EB1BC0}"/>
              </a:ext>
            </a:extLst>
          </p:cNvPr>
          <p:cNvSpPr>
            <a:spLocks xmlns:a="http://schemas.openxmlformats.org/drawingml/2006/main" noGrp="1"/>
          </p:cNvSpPr>
          <p:nvPr/>
        </p:nvSpPr>
        <p:spPr>
          <a:xfrm xmlns:a="http://schemas.openxmlformats.org/drawingml/2006/main">
            <a:off x="3714750" y="2724150"/>
            <a:ext cx="7810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52A2B"/>
                </a:solidFill>
                <a:latin typeface="Arial"/>
                <a:ea typeface="Arial"/>
                <a:cs typeface="Arial"/>
              </a:defRPr>
            </a:defPPr>
          </a:lstStyle>
          <a:p xmlns:a="http://schemas.openxmlformats.org/drawingml/2006/main">
            <a:pPr algn="l">
              <a:defRPr sz="1950" b="0">
                <a:solidFill>
                  <a:srgbClr val="152A2B"/>
                </a:solidFill>
                <a:latin typeface="Arial"/>
                <a:ea typeface="Arial"/>
                <a:cs typeface="Arial"/>
              </a:defRPr>
            </a:pPr>
            <a:r>
              <a:rPr sz="1950" b="0">
                <a:solidFill>
                  <a:srgbClr val="152A2B"/>
                </a:solidFill>
                <a:latin typeface="Arial"/>
                <a:ea typeface="Arial"/>
                <a:cs typeface="Arial"/>
              </a:rPr>
              <a:t>Nemotron-Mini-4B-Instruct</a:t>
            </a:r>
          </a:p>
          <a:p xmlns:a="http://schemas.openxmlformats.org/drawingml/2006/main">
            <a:pPr algn="l">
              <a:defRPr sz="1950" b="0">
                <a:solidFill>
                  <a:srgbClr val="152A2B"/>
                </a:solidFill>
                <a:latin typeface="Arial"/>
                <a:ea typeface="Arial"/>
                <a:cs typeface="Arial"/>
              </a:defRPr>
            </a:pPr>
            <a:r>
              <a:rPr sz="1950" b="0">
                <a:solidFill>
                  <a:srgbClr val="152A2B"/>
                </a:solidFill>
                <a:latin typeface="Arial"/>
                <a:ea typeface="Arial"/>
                <a:cs typeface="Arial"/>
              </a:rPr>
              <a:t>Model card + pinned revision 791833e</a:t>
            </a:r>
          </a:p>
        </p:txBody>
      </p:sp>
      <p:sp>
        <p:nvSpPr>
          <p:cNvPr id="9" name="">
            <a:extLst xmlns:a="http://schemas.openxmlformats.org/drawingml/2006/main">
              <a:ext uri="{FF2B5EF4-FFF2-40B4-BE49-F238E27FC236}">
                <a16:creationId xmlns:a16="http://schemas.microsoft.com/office/drawing/2014/main" id="{FC8B1D30-EEF5-4529-BBE1-CC170942CC21}"/>
              </a:ext>
            </a:extLst>
          </p:cNvPr>
          <p:cNvSpPr>
            <a:spLocks xmlns:a="http://schemas.openxmlformats.org/drawingml/2006/main" noGrp="1"/>
          </p:cNvSpPr>
          <p:nvPr/>
        </p:nvSpPr>
        <p:spPr>
          <a:xfrm xmlns:a="http://schemas.openxmlformats.org/drawingml/2006/main">
            <a:off x="609600" y="3609975"/>
            <a:ext cx="10972800" cy="9525"/>
          </a:xfrm>
          <a:prstGeom xmlns:a="http://schemas.openxmlformats.org/drawingml/2006/main" prst="rect">
            <a:avLst/>
          </a:prstGeom>
          <a:solidFill xmlns:a="http://schemas.openxmlformats.org/drawingml/2006/main">
            <a:srgbClr val="C7D3CD"/>
          </a:solidFill>
          <a:ln xmlns:a="http://schemas.openxmlformats.org/drawingml/2006/main" w="14288">
            <a:solidFill>
              <a:srgbClr val="C7D3CD"/>
            </a:solidFill>
          </a:ln>
        </p:spPr>
      </p:sp>
      <p:sp>
        <p:nvSpPr>
          <p:cNvPr id="10" name="">
            <a:extLst xmlns:a="http://schemas.openxmlformats.org/drawingml/2006/main">
              <a:ext uri="{FF2B5EF4-FFF2-40B4-BE49-F238E27FC236}">
                <a16:creationId xmlns:a16="http://schemas.microsoft.com/office/drawing/2014/main" id="{1C8BFE6E-53CE-4A13-8325-F1A6CF2959C4}"/>
              </a:ext>
            </a:extLst>
          </p:cNvPr>
          <p:cNvSpPr>
            <a:spLocks xmlns:a="http://schemas.openxmlformats.org/drawingml/2006/main" noGrp="1"/>
          </p:cNvSpPr>
          <p:nvPr/>
        </p:nvSpPr>
        <p:spPr>
          <a:xfrm xmlns:a="http://schemas.openxmlformats.org/drawingml/2006/main">
            <a:off x="609600" y="3733800"/>
            <a:ext cx="2714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7B"/>
                </a:solidFill>
                <a:latin typeface="Arial"/>
                <a:ea typeface="Arial"/>
                <a:cs typeface="Arial"/>
              </a:defRPr>
            </a:defPPr>
          </a:lstStyle>
          <a:p xmlns:a="http://schemas.openxmlformats.org/drawingml/2006/main">
            <a:pPr algn="l">
              <a:defRPr sz="2100" b="1">
                <a:solidFill>
                  <a:srgbClr val="007F7B"/>
                </a:solidFill>
                <a:latin typeface="Arial"/>
                <a:ea typeface="Arial"/>
                <a:cs typeface="Arial"/>
              </a:defRPr>
            </a:pPr>
            <a:r>
              <a:rPr sz="2100" b="1">
                <a:solidFill>
                  <a:srgbClr val="007F7B"/>
                </a:solidFill>
                <a:latin typeface="Arial"/>
                <a:ea typeface="Arial"/>
                <a:cs typeface="Arial"/>
              </a:rPr>
              <a:t>NVIDIA serving</a:t>
            </a:r>
          </a:p>
        </p:txBody>
      </p:sp>
      <p:sp>
        <p:nvSpPr>
          <p:cNvPr id="11" name="">
            <a:extLst xmlns:a="http://schemas.openxmlformats.org/drawingml/2006/main">
              <a:ext uri="{FF2B5EF4-FFF2-40B4-BE49-F238E27FC236}">
                <a16:creationId xmlns:a16="http://schemas.microsoft.com/office/drawing/2014/main" id="{94D64E6F-8603-425B-914F-3912DC815BD8}"/>
              </a:ext>
            </a:extLst>
          </p:cNvPr>
          <p:cNvSpPr>
            <a:spLocks xmlns:a="http://schemas.openxmlformats.org/drawingml/2006/main" noGrp="1"/>
          </p:cNvSpPr>
          <p:nvPr/>
        </p:nvSpPr>
        <p:spPr>
          <a:xfrm xmlns:a="http://schemas.openxmlformats.org/drawingml/2006/main">
            <a:off x="3714750" y="3733800"/>
            <a:ext cx="7810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52A2B"/>
                </a:solidFill>
                <a:latin typeface="Arial"/>
                <a:ea typeface="Arial"/>
                <a:cs typeface="Arial"/>
              </a:defRPr>
            </a:defPPr>
          </a:lstStyle>
          <a:p xmlns:a="http://schemas.openxmlformats.org/drawingml/2006/main">
            <a:pPr algn="l">
              <a:defRPr sz="1950" b="0">
                <a:solidFill>
                  <a:srgbClr val="152A2B"/>
                </a:solidFill>
                <a:latin typeface="Arial"/>
                <a:ea typeface="Arial"/>
                <a:cs typeface="Arial"/>
              </a:defRPr>
            </a:pPr>
            <a:r>
              <a:rPr sz="1950" b="0">
                <a:solidFill>
                  <a:srgbClr val="152A2B"/>
                </a:solidFill>
                <a:latin typeface="Arial"/>
                <a:ea typeface="Arial"/>
                <a:cs typeface="Arial"/>
              </a:rPr>
              <a:t>NIM overview, API docs and support matrix</a:t>
            </a:r>
          </a:p>
          <a:p xmlns:a="http://schemas.openxmlformats.org/drawingml/2006/main">
            <a:pPr algn="l">
              <a:defRPr sz="1950" b="0">
                <a:solidFill>
                  <a:srgbClr val="152A2B"/>
                </a:solidFill>
                <a:latin typeface="Arial"/>
                <a:ea typeface="Arial"/>
                <a:cs typeface="Arial"/>
              </a:defRPr>
            </a:pPr>
            <a:r>
              <a:rPr sz="1950" b="0">
                <a:solidFill>
                  <a:srgbClr val="152A2B"/>
                </a:solidFill>
                <a:latin typeface="Arial"/>
                <a:ea typeface="Arial"/>
                <a:cs typeface="Arial"/>
              </a:rPr>
              <a:t>NIM deployment and scaling guidance</a:t>
            </a:r>
          </a:p>
        </p:txBody>
      </p:sp>
      <p:sp>
        <p:nvSpPr>
          <p:cNvPr id="12" name="">
            <a:extLst xmlns:a="http://schemas.openxmlformats.org/drawingml/2006/main">
              <a:ext uri="{FF2B5EF4-FFF2-40B4-BE49-F238E27FC236}">
                <a16:creationId xmlns:a16="http://schemas.microsoft.com/office/drawing/2014/main" id="{86F9E602-C7A4-4162-98AC-D5BA62C1D8C7}"/>
              </a:ext>
            </a:extLst>
          </p:cNvPr>
          <p:cNvSpPr>
            <a:spLocks xmlns:a="http://schemas.openxmlformats.org/drawingml/2006/main" noGrp="1"/>
          </p:cNvSpPr>
          <p:nvPr/>
        </p:nvSpPr>
        <p:spPr>
          <a:xfrm xmlns:a="http://schemas.openxmlformats.org/drawingml/2006/main">
            <a:off x="609600" y="4619625"/>
            <a:ext cx="10972800" cy="9525"/>
          </a:xfrm>
          <a:prstGeom xmlns:a="http://schemas.openxmlformats.org/drawingml/2006/main" prst="rect">
            <a:avLst/>
          </a:prstGeom>
          <a:solidFill xmlns:a="http://schemas.openxmlformats.org/drawingml/2006/main">
            <a:srgbClr val="C7D3CD"/>
          </a:solidFill>
          <a:ln xmlns:a="http://schemas.openxmlformats.org/drawingml/2006/main" w="14288">
            <a:solidFill>
              <a:srgbClr val="C7D3CD"/>
            </a:solidFill>
          </a:ln>
        </p:spPr>
      </p:sp>
      <p:sp>
        <p:nvSpPr>
          <p:cNvPr id="13" name="">
            <a:extLst xmlns:a="http://schemas.openxmlformats.org/drawingml/2006/main">
              <a:ext uri="{FF2B5EF4-FFF2-40B4-BE49-F238E27FC236}">
                <a16:creationId xmlns:a16="http://schemas.microsoft.com/office/drawing/2014/main" id="{27E46795-5057-4936-9DA7-C6ACA982901D}"/>
              </a:ext>
            </a:extLst>
          </p:cNvPr>
          <p:cNvSpPr>
            <a:spLocks xmlns:a="http://schemas.openxmlformats.org/drawingml/2006/main" noGrp="1"/>
          </p:cNvSpPr>
          <p:nvPr/>
        </p:nvSpPr>
        <p:spPr>
          <a:xfrm xmlns:a="http://schemas.openxmlformats.org/drawingml/2006/main">
            <a:off x="609600" y="4743450"/>
            <a:ext cx="2714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7B"/>
                </a:solidFill>
                <a:latin typeface="Arial"/>
                <a:ea typeface="Arial"/>
                <a:cs typeface="Arial"/>
              </a:defRPr>
            </a:defPPr>
          </a:lstStyle>
          <a:p xmlns:a="http://schemas.openxmlformats.org/drawingml/2006/main">
            <a:pPr algn="l">
              <a:defRPr sz="2100" b="1">
                <a:solidFill>
                  <a:srgbClr val="007F7B"/>
                </a:solidFill>
                <a:latin typeface="Arial"/>
                <a:ea typeface="Arial"/>
                <a:cs typeface="Arial"/>
              </a:defRPr>
            </a:pPr>
            <a:r>
              <a:rPr sz="2100" b="1">
                <a:solidFill>
                  <a:srgbClr val="007F7B"/>
                </a:solidFill>
                <a:latin typeface="Arial"/>
                <a:ea typeface="Arial"/>
                <a:cs typeface="Arial"/>
              </a:rPr>
              <a:t>Project evidence</a:t>
            </a:r>
          </a:p>
        </p:txBody>
      </p:sp>
      <p:sp>
        <p:nvSpPr>
          <p:cNvPr id="14" name="">
            <a:extLst xmlns:a="http://schemas.openxmlformats.org/drawingml/2006/main">
              <a:ext uri="{FF2B5EF4-FFF2-40B4-BE49-F238E27FC236}">
                <a16:creationId xmlns:a16="http://schemas.microsoft.com/office/drawing/2014/main" id="{FA0E1F93-29A9-45F1-8029-644093E6D344}"/>
              </a:ext>
            </a:extLst>
          </p:cNvPr>
          <p:cNvSpPr>
            <a:spLocks xmlns:a="http://schemas.openxmlformats.org/drawingml/2006/main" noGrp="1"/>
          </p:cNvSpPr>
          <p:nvPr/>
        </p:nvSpPr>
        <p:spPr>
          <a:xfrm xmlns:a="http://schemas.openxmlformats.org/drawingml/2006/main">
            <a:off x="3714750" y="4743450"/>
            <a:ext cx="7810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52A2B"/>
                </a:solidFill>
                <a:latin typeface="Arial"/>
                <a:ea typeface="Arial"/>
                <a:cs typeface="Arial"/>
              </a:defRPr>
            </a:defPPr>
          </a:lstStyle>
          <a:p xmlns:a="http://schemas.openxmlformats.org/drawingml/2006/main">
            <a:pPr algn="l">
              <a:defRPr sz="1950" b="0">
                <a:solidFill>
                  <a:srgbClr val="152A2B"/>
                </a:solidFill>
                <a:latin typeface="Arial"/>
                <a:ea typeface="Arial"/>
                <a:cs typeface="Arial"/>
              </a:defRPr>
            </a:pPr>
            <a:r>
              <a:rPr sz="1950" b="0">
                <a:solidFill>
                  <a:srgbClr val="152A2B"/>
                </a:solidFill>
                <a:latin typeface="Arial"/>
                <a:ea typeface="Arial"/>
                <a:cs typeface="Arial"/>
              </a:rPr>
              <a:t>Skill v2.0, report renderer and API</a:t>
            </a:r>
          </a:p>
          <a:p xmlns:a="http://schemas.openxmlformats.org/drawingml/2006/main">
            <a:pPr algn="l">
              <a:defRPr sz="1950" b="0">
                <a:solidFill>
                  <a:srgbClr val="152A2B"/>
                </a:solidFill>
                <a:latin typeface="Arial"/>
                <a:ea typeface="Arial"/>
                <a:cs typeface="Arial"/>
              </a:defRPr>
            </a:pPr>
            <a:r>
              <a:rPr sz="1950" b="0">
                <a:solidFill>
                  <a:srgbClr val="152A2B"/>
                </a:solidFill>
                <a:latin typeface="Arial"/>
                <a:ea typeface="Arial"/>
                <a:cs typeface="Arial"/>
              </a:rPr>
              <a:t>Local run: 20261014T050421Z</a:t>
            </a:r>
          </a:p>
        </p:txBody>
      </p:sp>
    </p:spTree>
    <p:extLst>
      <p:ext uri="{BB962C8B-B14F-4D97-AF65-F5344CB8AC3E}">
        <p14:creationId xmlns:p14="http://schemas.microsoft.com/office/powerpoint/2010/main" val="10453313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2026-10-14T13:54:07.0890000Z</dcterms:created>
  <dcterms:modified xsi:type="dcterms:W3CDTF">2026-10-14T13:54:07.0900000Z</dcterms:modified>
</coreProperties>
</file>