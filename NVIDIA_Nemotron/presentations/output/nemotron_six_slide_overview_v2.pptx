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1a795632484b6e" /><Relationship Type="http://schemas.openxmlformats.org/officeDocument/2006/relationships/extended-properties" Target="/docProps/app.xml" Id="Rfd4a8479fc1142cc" /><Relationship Type="http://schemas.openxmlformats.org/officeDocument/2006/relationships/officeDocument" Target="/ppt/presentation.xml" Id="Raaf09a3818ef431b" /></Relationships>
</file>

<file path=ppt/presentation.xml><?xml version="1.0" encoding="utf-8"?>
<p:presentation xmlns:p="http://schemas.openxmlformats.org/presentationml/2006/main">
  <p:sldMasterIdLst>
    <p:sldMasterId xmlns:r="http://schemas.openxmlformats.org/officeDocument/2006/relationships" id="2147483648" r:id="R9be5c8087c9c4577"/>
  </p:sldMasterIdLst>
  <p:notesMasterIdLst>
    <p:notesMasterId xmlns:r="http://schemas.openxmlformats.org/officeDocument/2006/relationships" r:id="Rfe9b676e06384d82"/>
  </p:notesMasterIdLst>
  <p:sldIdLst>
    <p:sldId xmlns:r="http://schemas.openxmlformats.org/officeDocument/2006/relationships" id="256" r:id="R8ae0d40233fc4a02"/>
    <p:sldId xmlns:r="http://schemas.openxmlformats.org/officeDocument/2006/relationships" id="257" r:id="Rc7246ad70fc643c0"/>
    <p:sldId xmlns:r="http://schemas.openxmlformats.org/officeDocument/2006/relationships" id="258" r:id="R1dcf2a9f610b4650"/>
    <p:sldId xmlns:r="http://schemas.openxmlformats.org/officeDocument/2006/relationships" id="259" r:id="R9663bd02a24443be"/>
    <p:sldId xmlns:r="http://schemas.openxmlformats.org/officeDocument/2006/relationships" id="260" r:id="R6af41a7e19f64bb8"/>
    <p:sldId xmlns:r="http://schemas.openxmlformats.org/officeDocument/2006/relationships" id="261" r:id="R43666d0c0f794b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fbf5858f9449a6" /><Relationship Type="http://schemas.openxmlformats.org/officeDocument/2006/relationships/slideMaster" Target="/ppt/slideMasters/slideMaster1.xml" Id="R9be5c8087c9c4577" /><Relationship Type="http://schemas.openxmlformats.org/officeDocument/2006/relationships/notesMaster" Target="/ppt/notesMasters/notesMaster1.xml" Id="Rfe9b676e06384d82" /><Relationship Type="http://schemas.openxmlformats.org/officeDocument/2006/relationships/presProps" Target="/ppt/presProps.xml" Id="R7af774dd07bf4c38" /><Relationship Type="http://schemas.openxmlformats.org/officeDocument/2006/relationships/tableStyles" Target="/ppt/tableStyles.xml" Id="R2b7a9e59b4e74c4f" /><Relationship Type="http://schemas.openxmlformats.org/officeDocument/2006/relationships/slide" Target="/ppt/slides/slide1.xml" Id="R8ae0d40233fc4a02" /><Relationship Type="http://schemas.openxmlformats.org/officeDocument/2006/relationships/slide" Target="/ppt/slides/slide2.xml" Id="Rc7246ad70fc643c0" /><Relationship Type="http://schemas.openxmlformats.org/officeDocument/2006/relationships/slide" Target="/ppt/slides/slide3.xml" Id="R1dcf2a9f610b4650" /><Relationship Type="http://schemas.openxmlformats.org/officeDocument/2006/relationships/slide" Target="/ppt/slides/slide4.xml" Id="R9663bd02a24443be" /><Relationship Type="http://schemas.openxmlformats.org/officeDocument/2006/relationships/slide" Target="/ppt/slides/slide5.xml" Id="R6af41a7e19f64bb8" /><Relationship Type="http://schemas.openxmlformats.org/officeDocument/2006/relationships/slide" Target="/ppt/slides/slide6.xml" Id="R43666d0c0f794b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5fc9049fc245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78b08d1ad64d21" /><Relationship Type="http://schemas.openxmlformats.org/officeDocument/2006/relationships/notesMaster" Target="/ppt/notesMasters/notesMaster1.xml" Id="Rbf6404eb1bb1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7d7a175244434b" /><Relationship Type="http://schemas.openxmlformats.org/officeDocument/2006/relationships/notesMaster" Target="/ppt/notesMasters/notesMaster1.xml" Id="R6d96fa881251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6fa2bfe2b5461e" /><Relationship Type="http://schemas.openxmlformats.org/officeDocument/2006/relationships/notesMaster" Target="/ppt/notesMasters/notesMaster1.xml" Id="Rc9a30b4ce2d748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f7e774bf2349b5" /><Relationship Type="http://schemas.openxmlformats.org/officeDocument/2006/relationships/notesMaster" Target="/ppt/notesMasters/notesMaster1.xml" Id="R16fe88eb87b841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377a0ddf614db4" /><Relationship Type="http://schemas.openxmlformats.org/officeDocument/2006/relationships/notesMaster" Target="/ppt/notesMasters/notesMaster1.xml" Id="R48cdaee7976e4d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b6b4cf95a4eff" /><Relationship Type="http://schemas.openxmlformats.org/officeDocument/2006/relationships/notesMaster" Target="/ppt/notesMasters/notesMaster1.xml" Id="R5038dd5085f844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demonstration uses five simulated patients S01–S05. Each handoff record contains three precomputed scores (clinical, mIF and late fusion), five clinical features and ten mIF features. Clinical evidence includes signed SHAP contributions. mIF evidence includes attention contrasts. prepare-handoff validates identifiers, numeric fields and evidence correspondence, then writes one canonical JSONL record per patient. Exact scores remain application-owned. The wider project has48 clinical patients and29 with mIF, a separate cohort from these five synthetic examples. Raw plots and tile data stay outside current LLM prompts.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https://github.com/paulocilasjr/MyStudies_AppliedScripts/blob/336080c/NVIDIA_Nemotron/examples/paulo_handoff/HANDOFF_PAULO.md</a:t>
            </a:r>
          </a:p>
          <a:p xmlns:a="http://schemas.openxmlformats.org/drawingml/2006/main">
            <a:r>
              <a:t>https://github.com/paulocilasjr/MyStudies_AppliedScripts/blob/336080c/NVIDIA_Nemotron/src/icb_copilot/handoff.py</a:t>
            </a:r>
          </a:p>
          <a:p xmlns:a="http://schemas.openxmlformats.org/drawingml/2006/main">
            <a:r>
              <a:t>https://github.com/paulocilasjr/MyStudies_AppliedScripts/blob/336080c/NVIDIA_Nemotron/src/icb_copilot/schema.py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reference: Pybus et al., Predicting anti-PD-1 immune checkpoint blockade response in melanoma patients with spatially aware machine learning models, npj Precision Oncology10,56(2026), doi10.1038/s41698-025-01250-8. The study of12 patients and more than8million cells motivates spatial, multimarker context, not validation of the copilot. A curated feature lookup contains11 cited sources. SKILL.md supplies shared and task-specific rules, with six worked examples. The application selects evidence and constructs short prompts. Full paper text is not loaded into the model. This is inference-time guidance, with fixed Nemotron weights.</a:t>
            </a:r>
          </a:p>
          <a:p xmlns:a="http://schemas.openxmlformats.org/drawingml/2006/main">
            <a:r>
              <a:t/>
            </a:r>
          </a:p>
          <a:p xmlns:a="http://schemas.openxmlformats.org/drawingml/2006/main">
            <a:r>
              <a:t>Sources:</a:t>
            </a:r>
          </a:p>
          <a:p xmlns:a="http://schemas.openxmlformats.org/drawingml/2006/main">
            <a:r>
              <a:t>https://doi.org/10.1038/s41698-025-01250-8</a:t>
            </a:r>
          </a:p>
          <a:p xmlns:a="http://schemas.openxmlformats.org/drawingml/2006/main">
            <a:r>
              <a:t>https://github.com/paulocilasjr/MyStudies_AppliedScripts/blob/336080c/NVIDIA_Nemotron/src/icb_copilot/skills/icb-interpretation/SKILL.md</a:t>
            </a:r>
          </a:p>
          <a:p xmlns:a="http://schemas.openxmlformats.org/drawingml/2006/main">
            <a:r>
              <a:t>https://github.com/paulocilasjr/MyStudies_AppliedScripts/blob/336080c/NVIDIA_Nemotron/src/icb_copilot/skills/icb-interpretation/references/feature-literature.json</a:t>
            </a:r>
          </a:p>
          <a:p xmlns:a="http://schemas.openxmlformats.org/drawingml/2006/main">
            <a:r>
              <a:t>https://github.com/paulocilasjr/MyStudies_AppliedScripts/blob/336080c/NVIDIA_Nemotron/src/icb_copilot/prompts.py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current execution uses nvidia/Nemotron-Mini-4B-Instruct revision791833e through Transformers and PyTorch on Apple MPS, not NVIDIA GPU acceleration. Three focused generations produce prediction_summary, clinical_interpretation and conclusion, each with one JSON text field. The local run local-mvp-20261014T050421Z produced15 parts for5patients, with all5reports passing the automatic screen. This measures harness acceptance, not clinical validity. The NVIDIA A30/SLURM and CUDA/vLLM path is implemented but a completed HPC run is not evidenced here. Local custom API regeneration has also been tested. NIM serving is the next proposed integration.</a:t>
            </a:r>
          </a:p>
          <a:p xmlns:a="http://schemas.openxmlformats.org/drawingml/2006/main">
            <a:r>
              <a:t/>
            </a:r>
          </a:p>
          <a:p xmlns:a="http://schemas.openxmlformats.org/drawingml/2006/main">
            <a:r>
              <a:t>Sources:</a:t>
            </a:r>
          </a:p>
          <a:p xmlns:a="http://schemas.openxmlformats.org/drawingml/2006/main">
            <a:r>
              <a:t>https://huggingface.co/nvidia/Nemotron-Mini-4B-Instruct</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https://github.com/paulocilasjr/MyStudies_AppliedScripts/blob/336080c/NVIDIA_Nemotron/scripts/run_hpc.sh</a:t>
            </a:r>
          </a:p>
          <a:p xmlns:a="http://schemas.openxmlformats.org/drawingml/2006/main">
            <a:r>
              <a:t>Local evidence: results/local-mvp-20261014T050421Z/experiment/manifest.json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project API is POST /v1/interpret and is loopback-only. A future backend adapter will call a supported NVIDIA NIM model endpoint through its OpenAI-compatible chat-completions interface. NIM provides portable inference containers, GPU-specific optimized profiles and service metrics. The project retains evidence selection, output screening, deterministic fallback and report assembly. This requires implementation and qualification, not just replacing a URL. Confirm a supported model/GPU profile and decoding behavior. NIM is not yet deployed, and Mini4B plus A30 is not claimed as a supported NIM combination.</a:t>
            </a:r>
          </a:p>
          <a:p xmlns:a="http://schemas.openxmlformats.org/drawingml/2006/main">
            <a:r>
              <a:t/>
            </a:r>
          </a:p>
          <a:p xmlns:a="http://schemas.openxmlformats.org/drawingml/2006/main">
            <a:r>
              <a:t>Sources:</a:t>
            </a:r>
          </a:p>
          <a:p xmlns:a="http://schemas.openxmlformats.org/drawingml/2006/main">
            <a:r>
              <a:t>https://docs.api.nvidia.com/nim/docs/introduction</a:t>
            </a:r>
          </a:p>
          <a:p xmlns:a="http://schemas.openxmlformats.org/drawingml/2006/main">
            <a:r>
              <a:t>https://developer.nvidia.com/nim</a:t>
            </a:r>
          </a:p>
          <a:p xmlns:a="http://schemas.openxmlformats.org/drawingml/2006/main">
            <a:r>
              <a:t>https://docs.nvidia.com/nim/large-language-models/latest/reference/support-matrix.html</a:t>
            </a:r>
          </a:p>
          <a:p xmlns:a="http://schemas.openxmlformats.org/drawingml/2006/main">
            <a:r>
              <a:t>https://github.com/paulocilasjr/MyStudies_AppliedScripts/blob/336080c/NVIDIA_Nemotron/src/icb_copilot/server.py</a:t>
            </a:r>
          </a:p>
          <a:p xmlns:a="http://schemas.openxmlformats.org/drawingml/2006/main">
            <a:r>
              <a:t>https://github.com/paulocilasjr/MyStudies_AppliedScripts/blob/336080c/NVIDIA_Nemotron/src/icb_copilot/backends.py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target architecture: authenticated UI and batch clients use the copilot service, which queues and routes generation to NIM replicas on approved GPU infrastructure. Containers and standard APIs ease deployment. NIM documentation describes Helm/Kubernetes deployment and observability. Access control, request queues, cache policy, autoscaling policy and load testing are project responsibilities. Monitor latency, queue depth, fallback rate and GPU memory before adding capacity. Future clinical/mIF/fusion outputs can use the current contract. Additional modalities such as H&amp;E require a versioned input adapter and contract validation while preserving the report interface for the UI. Optional retrieval and vision services require separate evaluation. No current NIM deployment or throughput claim is made.</a:t>
            </a:r>
          </a:p>
          <a:p xmlns:a="http://schemas.openxmlformats.org/drawingml/2006/main">
            <a:r>
              <a:t/>
            </a:r>
          </a:p>
          <a:p xmlns:a="http://schemas.openxmlformats.org/drawingml/2006/main">
            <a:r>
              <a:t>Sources:</a:t>
            </a:r>
          </a:p>
          <a:p xmlns:a="http://schemas.openxmlformats.org/drawingml/2006/main">
            <a:r>
              <a:t>https://docs.api.nvidia.com/nim/docs/introduction</a:t>
            </a:r>
          </a:p>
          <a:p xmlns:a="http://schemas.openxmlformats.org/drawingml/2006/main">
            <a:r>
              <a:t>https://developer.nvidia.com/nim</a:t>
            </a:r>
          </a:p>
          <a:p xmlns:a="http://schemas.openxmlformats.org/drawingml/2006/main">
            <a:r>
              <a:t>https://docs.nvidia.com/nim/large-language-models/latest/reference/support-matrix.html</a:t>
            </a:r>
          </a:p>
          <a:p xmlns:a="http://schemas.openxmlformats.org/drawingml/2006/main">
            <a:r>
              <a:t>https://github.com/paulocilasjr/MyStudies_AppliedScripts/blob/336080c/NVIDIA_Nemotron/src/icb_copilot/schema.py</a:t>
            </a:r>
          </a:p>
          <a:p xmlns:a="http://schemas.openxmlformats.org/drawingml/2006/main">
            <a:r>
              <a:t>https://github.com/paulocilasjr/MyStudies_AppliedScripts/blob/336080c/NVIDIA_Nemotron/src/icb_copilot/report.py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Nemotron emits three one-key JSON objects, one each for prediction_summary, clinical_interpretation and conclusion. Copilot validates them, or replaces all three with deterministic prose if any part fails. Application code preserves exact scores, full feature lists and literature notes and renders four numbered sections. Immune evaluation is entirely deterministic. The full JSON result includes patient_id, predictions, narrative, source, quality, limitations and provenance, with review_required true. The UI export maps patient IDs to completed narrative text in narratives.json and joins scores and original plots. Both live Streamlit and saved offline HTML present these results. The UI does not render unchecked raw model responses.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https://github.com/paulocilasjr/MyStudies_AppliedScripts/blob/336080c/NVIDIA_Nemotron/src/icb_copilot/report.py</a:t>
            </a:r>
          </a:p>
          <a:p xmlns:a="http://schemas.openxmlformats.org/drawingml/2006/main">
            <a:r>
              <a:t>https://github.com/paulocilasjr/MyStudies_AppliedScripts/blob/336080c/NVIDIA_Nemotron/src/icb_copilot/copilot.py</a:t>
            </a:r>
          </a:p>
          <a:p xmlns:a="http://schemas.openxmlformats.org/drawingml/2006/main">
            <a:r>
              <a:t>https://github.com/paulocilasjr/MyStudies_AppliedScripts/blob/336080c/NVIDIA_Nemotron/src/icb_copilot/ui_export.py</a:t>
            </a:r>
          </a:p>
          <a:p xmlns:a="http://schemas.openxmlformats.org/drawingml/2006/main">
            <a:r>
              <a:t>https://github.com/paulocilasjr/MyStudies_AppliedScripts/blob/336080c/NVIDIA_Nemotron/demo/handoff_app.py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3160a43b7a4f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9d84b39c5346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7c1faab5d641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78ca84041f4d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43a2892a1f47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5ae218720348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2AAE6F-C42E-4A6E-892E-BA2012B76C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643467-2E82-4F78-8BA7-A5854F4E02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00619B-01F0-42B1-9E51-B656C334EB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1D115C-60CD-4E5F-8E79-E737EB8C81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231D75-386E-40C2-B1F4-3EDDD27415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64FC50-1D76-4CF3-B3A4-898C4A0C0E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A0F3EB-41DA-41B4-B7AB-791D3CA4A7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F91710-4A4F-4439-90AC-8FBFF65BA4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7EAD4B-9209-4E67-B550-4582D526FC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D3D67A-C958-403F-A9F6-C6671E2324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de8eaf63334f19" /><Relationship Type="http://schemas.openxmlformats.org/officeDocument/2006/relationships/slideLayout" Target="/ppt/slideLayouts/slideLayout1.xml" Id="R5e1875df7b614fd0" /><Relationship Type="http://schemas.openxmlformats.org/officeDocument/2006/relationships/slideLayout" Target="/ppt/slideLayouts/slideLayout2.xml" Id="R42df6b2eeb0f487a" /><Relationship Type="http://schemas.openxmlformats.org/officeDocument/2006/relationships/slideLayout" Target="/ppt/slideLayouts/slideLayout3.xml" Id="R67eda722deaa455a" /><Relationship Type="http://schemas.openxmlformats.org/officeDocument/2006/relationships/slideLayout" Target="/ppt/slideLayouts/slideLayout4.xml" Id="R0e7995cbf9b14a5c" /><Relationship Type="http://schemas.openxmlformats.org/officeDocument/2006/relationships/slideLayout" Target="/ppt/slideLayouts/slideLayout5.xml" Id="R142c105109db4e7e" /><Relationship Type="http://schemas.openxmlformats.org/officeDocument/2006/relationships/slideLayout" Target="/ppt/slideLayouts/slideLayout6.xml" Id="R08049e64a7cb43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1875df7b614fd0"/>
    <p:sldLayoutId xmlns:r="http://schemas.openxmlformats.org/officeDocument/2006/relationships" id="2147483650" r:id="R42df6b2eeb0f487a"/>
    <p:sldLayoutId xmlns:r="http://schemas.openxmlformats.org/officeDocument/2006/relationships" id="2147483651" r:id="R67eda722deaa455a"/>
    <p:sldLayoutId xmlns:r="http://schemas.openxmlformats.org/officeDocument/2006/relationships" id="2147483652" r:id="R0e7995cbf9b14a5c"/>
    <p:sldLayoutId xmlns:r="http://schemas.openxmlformats.org/officeDocument/2006/relationships" id="2147483653" r:id="R142c105109db4e7e"/>
    <p:sldLayoutId xmlns:r="http://schemas.openxmlformats.org/officeDocument/2006/relationships" id="2147483654" r:id="R08049e64a7cb43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bf5bac2c6c4f3b" /><Relationship Type="http://schemas.openxmlformats.org/officeDocument/2006/relationships/notesSlide" Target="/ppt/notesSlides/notesSlide1.xml" Id="R288d23bd7a454b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1a405c0e6e44f9" /><Relationship Type="http://schemas.openxmlformats.org/officeDocument/2006/relationships/notesSlide" Target="/ppt/notesSlides/notesSlide2.xml" Id="Rabece42b68b942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f264e88f7f4ced" /><Relationship Type="http://schemas.openxmlformats.org/officeDocument/2006/relationships/notesSlide" Target="/ppt/notesSlides/notesSlide3.xml" Id="Rfc4e715b32fc44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178d74715a427c" /><Relationship Type="http://schemas.openxmlformats.org/officeDocument/2006/relationships/notesSlide" Target="/ppt/notesSlides/notesSlide4.xml" Id="Rb06312e7604744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fb5708c3cc4a93" /><Relationship Type="http://schemas.openxmlformats.org/officeDocument/2006/relationships/notesSlide" Target="/ppt/notesSlides/notesSlide5.xml" Id="R4c853e8ed9c641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9d022f62a04f02" /><Relationship Type="http://schemas.openxmlformats.org/officeDocument/2006/relationships/notesSlide" Target="/ppt/notesSlides/notesSlide6.xml" Id="R0abe77d165134fe3" /></Relationships>
</file>

<file path=ppt/slides/slide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EF22215-0DFA-4906-BD51-DD79347C24D6}"/>
              </a:ext>
            </a:extLst>
          </p:cNvPr>
          <p:cNvCxnSpPr>
            <a:stCxn xmlns:a="http://schemas.openxmlformats.org/drawingml/2006/main" id="9" idx="3"/>
            <a:endCxn xmlns:a="http://schemas.openxmlformats.org/drawingml/2006/main" id="10" idx="1"/>
          </p:cNvCxnSpPr>
          <p:nvPr/>
        </p:nvCxnSpPr>
        <p:spPr>
          <a:xfrm xmlns:a="http://schemas.openxmlformats.org/drawingml/2006/main">
            <a:off x="7515225" y="4248150"/>
            <a:ext cx="100012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E908945-6036-4680-A7F4-8BA9BBC4164B}"/>
              </a:ext>
            </a:extLst>
          </p:cNvPr>
          <p:cNvCxnSpPr>
            <a:stCxn xmlns:a="http://schemas.openxmlformats.org/drawingml/2006/main" id="8" idx="3"/>
            <a:endCxn xmlns:a="http://schemas.openxmlformats.org/drawingml/2006/main" id="9" idx="1"/>
          </p:cNvCxnSpPr>
          <p:nvPr/>
        </p:nvCxnSpPr>
        <p:spPr>
          <a:xfrm xmlns:a="http://schemas.openxmlformats.org/drawingml/2006/main">
            <a:off x="3562350" y="4248150"/>
            <a:ext cx="100012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4" name="">
            <a:extLst xmlns:a="http://schemas.openxmlformats.org/drawingml/2006/main">
              <a:ext uri="{FF2B5EF4-FFF2-40B4-BE49-F238E27FC236}">
                <a16:creationId xmlns:a16="http://schemas.microsoft.com/office/drawing/2014/main" id="{0EDD3126-1F8E-4851-83CA-85DF0D6E034E}"/>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a:t>
            </a:r>
          </a:p>
        </p:txBody>
      </p:sp>
      <p:sp>
        <p:nvSpPr>
          <p:cNvPr id="2" name="">
            <a:extLst xmlns:a="http://schemas.openxmlformats.org/drawingml/2006/main">
              <a:ext uri="{FF2B5EF4-FFF2-40B4-BE49-F238E27FC236}">
                <a16:creationId xmlns:a16="http://schemas.microsoft.com/office/drawing/2014/main" id="{5EC73C2D-288C-4ECF-9413-7DC23AF757A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Patient inputs and preparation</a:t>
            </a:r>
          </a:p>
        </p:txBody>
      </p:sp>
      <p:sp>
        <p:nvSpPr>
          <p:cNvPr id="3" name="">
            <a:extLst xmlns:a="http://schemas.openxmlformats.org/drawingml/2006/main">
              <a:ext uri="{FF2B5EF4-FFF2-40B4-BE49-F238E27FC236}">
                <a16:creationId xmlns:a16="http://schemas.microsoft.com/office/drawing/2014/main" id="{58734FE5-9225-4ECA-A608-CE9AC2B6CC22}"/>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1AF82C9-9D3F-4A23-B214-3E743F54372B}"/>
              </a:ext>
            </a:extLst>
          </p:cNvPr>
          <p:cNvSpPr>
            <a:spLocks xmlns:a="http://schemas.openxmlformats.org/drawingml/2006/main" noGrp="1"/>
          </p:cNvSpPr>
          <p:nvPr/>
        </p:nvSpPr>
        <p:spPr>
          <a:xfrm xmlns:a="http://schemas.openxmlformats.org/drawingml/2006/main">
            <a:off x="609600" y="1695450"/>
            <a:ext cx="1524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76B900"/>
                </a:solidFill>
                <a:latin typeface="Arial"/>
                <a:ea typeface="Arial"/>
                <a:cs typeface="Arial"/>
              </a:defRPr>
            </a:defPPr>
          </a:lstStyle>
          <a:p xmlns:a="http://schemas.openxmlformats.org/drawingml/2006/main">
            <a:pPr algn="l">
              <a:defRPr sz="7050" b="1">
                <a:solidFill>
                  <a:srgbClr val="76B900"/>
                </a:solidFill>
                <a:latin typeface="Arial"/>
                <a:ea typeface="Arial"/>
                <a:cs typeface="Arial"/>
              </a:defRPr>
            </a:pPr>
            <a:r>
              <a:rPr sz="7050" b="1">
                <a:solidFill>
                  <a:srgbClr val="76B900"/>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822CB9D3-0DEC-40AB-BFF1-6168D91FB2ED}"/>
              </a:ext>
            </a:extLst>
          </p:cNvPr>
          <p:cNvSpPr>
            <a:spLocks xmlns:a="http://schemas.openxmlformats.org/drawingml/2006/main" noGrp="1"/>
          </p:cNvSpPr>
          <p:nvPr/>
        </p:nvSpPr>
        <p:spPr>
          <a:xfrm xmlns:a="http://schemas.openxmlformats.org/drawingml/2006/main">
            <a:off x="2190750" y="18573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A2B"/>
                </a:solidFill>
                <a:latin typeface="Arial"/>
                <a:ea typeface="Arial"/>
                <a:cs typeface="Arial"/>
              </a:defRPr>
            </a:defPPr>
          </a:lstStyle>
          <a:p xmlns:a="http://schemas.openxmlformats.org/drawingml/2006/main">
            <a:pPr algn="l">
              <a:defRPr sz="2400" b="1">
                <a:solidFill>
                  <a:srgbClr val="152A2B"/>
                </a:solidFill>
                <a:latin typeface="Arial"/>
                <a:ea typeface="Arial"/>
                <a:cs typeface="Arial"/>
              </a:defRPr>
            </a:pPr>
            <a:r>
              <a:rPr sz="2400" b="1">
                <a:solidFill>
                  <a:srgbClr val="152A2B"/>
                </a:solidFill>
                <a:latin typeface="Arial"/>
                <a:ea typeface="Arial"/>
                <a:cs typeface="Arial"/>
              </a:rPr>
              <a:t>simulated</a:t>
            </a:r>
          </a:p>
          <a:p xmlns:a="http://schemas.openxmlformats.org/drawingml/2006/main">
            <a:pPr algn="l">
              <a:defRPr sz="2400" b="1">
                <a:solidFill>
                  <a:srgbClr val="152A2B"/>
                </a:solidFill>
                <a:latin typeface="Arial"/>
                <a:ea typeface="Arial"/>
                <a:cs typeface="Arial"/>
              </a:defRPr>
            </a:pPr>
            <a:r>
              <a:rPr sz="2400" b="1">
                <a:solidFill>
                  <a:srgbClr val="152A2B"/>
                </a:solidFill>
                <a:latin typeface="Arial"/>
                <a:ea typeface="Arial"/>
                <a:cs typeface="Arial"/>
              </a:rPr>
              <a:t>patients</a:t>
            </a:r>
          </a:p>
        </p:txBody>
      </p:sp>
      <p:sp>
        <p:nvSpPr>
          <p:cNvPr id="6" name="">
            <a:extLst xmlns:a="http://schemas.openxmlformats.org/drawingml/2006/main">
              <a:ext uri="{FF2B5EF4-FFF2-40B4-BE49-F238E27FC236}">
                <a16:creationId xmlns:a16="http://schemas.microsoft.com/office/drawing/2014/main" id="{804DA973-B950-4E4E-8D71-06B43B2BDCDE}"/>
              </a:ext>
            </a:extLst>
          </p:cNvPr>
          <p:cNvSpPr>
            <a:spLocks xmlns:a="http://schemas.openxmlformats.org/drawingml/2006/main" noGrp="1"/>
          </p:cNvSpPr>
          <p:nvPr/>
        </p:nvSpPr>
        <p:spPr>
          <a:xfrm xmlns:a="http://schemas.openxmlformats.org/drawingml/2006/main">
            <a:off x="6048375" y="1809750"/>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B"/>
                </a:solidFill>
                <a:latin typeface="Arial"/>
                <a:ea typeface="Arial"/>
                <a:cs typeface="Arial"/>
              </a:defRPr>
            </a:defPPr>
          </a:lstStyle>
          <a:p xmlns:a="http://schemas.openxmlformats.org/drawingml/2006/main">
            <a:pPr algn="l">
              <a:defRPr sz="2550" b="1">
                <a:solidFill>
                  <a:srgbClr val="007F7B"/>
                </a:solidFill>
                <a:latin typeface="Arial"/>
                <a:ea typeface="Arial"/>
                <a:cs typeface="Arial"/>
              </a:defRPr>
            </a:pPr>
            <a:r>
              <a:rPr sz="2550" b="1">
                <a:solidFill>
                  <a:srgbClr val="007F7B"/>
                </a:solidFill>
                <a:latin typeface="Arial"/>
                <a:ea typeface="Arial"/>
                <a:cs typeface="Arial"/>
              </a:rPr>
              <a:t>3 scores per patient</a:t>
            </a:r>
          </a:p>
        </p:txBody>
      </p:sp>
      <p:sp>
        <p:nvSpPr>
          <p:cNvPr id="7" name="">
            <a:extLst xmlns:a="http://schemas.openxmlformats.org/drawingml/2006/main">
              <a:ext uri="{FF2B5EF4-FFF2-40B4-BE49-F238E27FC236}">
                <a16:creationId xmlns:a16="http://schemas.microsoft.com/office/drawing/2014/main" id="{96231588-38AD-4480-B9E4-0A974ACEA188}"/>
              </a:ext>
            </a:extLst>
          </p:cNvPr>
          <p:cNvSpPr>
            <a:spLocks xmlns:a="http://schemas.openxmlformats.org/drawingml/2006/main" noGrp="1"/>
          </p:cNvSpPr>
          <p:nvPr/>
        </p:nvSpPr>
        <p:spPr>
          <a:xfrm xmlns:a="http://schemas.openxmlformats.org/drawingml/2006/main">
            <a:off x="6048375" y="24193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2A2B"/>
                </a:solidFill>
                <a:latin typeface="Arial"/>
                <a:ea typeface="Arial"/>
                <a:cs typeface="Arial"/>
              </a:defRPr>
            </a:defPPr>
          </a:lstStyle>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5 clinical + 10 mIF features</a:t>
            </a:r>
          </a:p>
        </p:txBody>
      </p:sp>
      <p:sp>
        <p:nvSpPr>
          <p:cNvPr id="8" name="">
            <a:extLst xmlns:a="http://schemas.openxmlformats.org/drawingml/2006/main">
              <a:ext uri="{FF2B5EF4-FFF2-40B4-BE49-F238E27FC236}">
                <a16:creationId xmlns:a16="http://schemas.microsoft.com/office/drawing/2014/main" id="{E5A20D8A-037D-4DB0-ABEF-AC909E5DD22F}"/>
              </a:ext>
            </a:extLst>
          </p:cNvPr>
          <p:cNvSpPr>
            <a:spLocks xmlns:a="http://schemas.openxmlformats.org/drawingml/2006/main" noGrp="1"/>
          </p:cNvSpPr>
          <p:nvPr/>
        </p:nvSpPr>
        <p:spPr>
          <a:xfrm xmlns:a="http://schemas.openxmlformats.org/drawingml/2006/main">
            <a:off x="609600" y="3676650"/>
            <a:ext cx="295275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Prediction CSV</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Feature JSON</a:t>
            </a:r>
          </a:p>
        </p:txBody>
      </p:sp>
      <p:sp>
        <p:nvSpPr>
          <p:cNvPr id="9" name="">
            <a:extLst xmlns:a="http://schemas.openxmlformats.org/drawingml/2006/main">
              <a:ext uri="{FF2B5EF4-FFF2-40B4-BE49-F238E27FC236}">
                <a16:creationId xmlns:a16="http://schemas.microsoft.com/office/drawing/2014/main" id="{F17084D4-3D30-4CD8-A3D1-0B0A1247D5BA}"/>
              </a:ext>
            </a:extLst>
          </p:cNvPr>
          <p:cNvSpPr>
            <a:spLocks xmlns:a="http://schemas.openxmlformats.org/drawingml/2006/main" noGrp="1"/>
          </p:cNvSpPr>
          <p:nvPr/>
        </p:nvSpPr>
        <p:spPr>
          <a:xfrm xmlns:a="http://schemas.openxmlformats.org/drawingml/2006/main">
            <a:off x="4562475" y="3676650"/>
            <a:ext cx="2952750" cy="11430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Validate + prepare</a:t>
            </a:r>
          </a:p>
        </p:txBody>
      </p:sp>
      <p:sp>
        <p:nvSpPr>
          <p:cNvPr id="10" name="">
            <a:extLst xmlns:a="http://schemas.openxmlformats.org/drawingml/2006/main">
              <a:ext uri="{FF2B5EF4-FFF2-40B4-BE49-F238E27FC236}">
                <a16:creationId xmlns:a16="http://schemas.microsoft.com/office/drawing/2014/main" id="{3933E018-64A0-4129-8F5D-4F870004E269}"/>
              </a:ext>
            </a:extLst>
          </p:cNvPr>
          <p:cNvSpPr>
            <a:spLocks xmlns:a="http://schemas.openxmlformats.org/drawingml/2006/main" noGrp="1"/>
          </p:cNvSpPr>
          <p:nvPr/>
        </p:nvSpPr>
        <p:spPr>
          <a:xfrm xmlns:a="http://schemas.openxmlformats.org/drawingml/2006/main">
            <a:off x="8515350" y="3676650"/>
            <a:ext cx="306705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patients.jsonl</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1 record / patient</a:t>
            </a:r>
          </a:p>
        </p:txBody>
      </p:sp>
      <p:sp>
        <p:nvSpPr>
          <p:cNvPr id="13" name="">
            <a:extLst xmlns:a="http://schemas.openxmlformats.org/drawingml/2006/main">
              <a:ext uri="{FF2B5EF4-FFF2-40B4-BE49-F238E27FC236}">
                <a16:creationId xmlns:a16="http://schemas.microsoft.com/office/drawing/2014/main" id="{CD746924-E0BB-45B1-84BF-1EEE60685693}"/>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Clinical + mIF + fused predictions enter one contract. Plots remain UI assets.</a:t>
            </a:r>
          </a:p>
        </p:txBody>
      </p:sp>
    </p:spTree>
    <p:extLst>
      <p:ext uri="{BB962C8B-B14F-4D97-AF65-F5344CB8AC3E}">
        <p14:creationId xmlns:p14="http://schemas.microsoft.com/office/powerpoint/2010/main" val="987874021"/>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1860DB1-9B41-4B37-B6A6-A2179721CE65}"/>
              </a:ext>
            </a:extLst>
          </p:cNvPr>
          <p:cNvCxnSpPr>
            <a:stCxn xmlns:a="http://schemas.openxmlformats.org/drawingml/2006/main" id="7" idx="3"/>
            <a:endCxn xmlns:a="http://schemas.openxmlformats.org/drawingml/2006/main" id="8" idx="1"/>
          </p:cNvCxnSpPr>
          <p:nvPr/>
        </p:nvCxnSpPr>
        <p:spPr>
          <a:xfrm xmlns:a="http://schemas.openxmlformats.org/drawingml/2006/main" flipV="1">
            <a:off x="7620000" y="3548063"/>
            <a:ext cx="914400" cy="104775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0CBC8137-0169-4FAD-B059-E2B302246AA6}"/>
              </a:ext>
            </a:extLst>
          </p:cNvPr>
          <p:cNvCxnSpPr>
            <a:stCxn xmlns:a="http://schemas.openxmlformats.org/drawingml/2006/main" id="5" idx="3"/>
            <a:endCxn xmlns:a="http://schemas.openxmlformats.org/drawingml/2006/main" id="8" idx="1"/>
          </p:cNvCxnSpPr>
          <p:nvPr/>
        </p:nvCxnSpPr>
        <p:spPr>
          <a:xfrm xmlns:a="http://schemas.openxmlformats.org/drawingml/2006/main">
            <a:off x="7620000" y="2490788"/>
            <a:ext cx="914400" cy="105727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9B66616E-E176-4B87-831D-20DC94BA65DF}"/>
              </a:ext>
            </a:extLst>
          </p:cNvPr>
          <p:cNvCxnSpPr>
            <a:stCxn xmlns:a="http://schemas.openxmlformats.org/drawingml/2006/main" id="4" idx="3"/>
            <a:endCxn xmlns:a="http://schemas.openxmlformats.org/drawingml/2006/main" id="5" idx="1"/>
          </p:cNvCxnSpPr>
          <p:nvPr/>
        </p:nvCxnSpPr>
        <p:spPr>
          <a:xfrm xmlns:a="http://schemas.openxmlformats.org/drawingml/2006/main">
            <a:off x="3810000" y="2490788"/>
            <a:ext cx="7620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3" name="">
            <a:extLst xmlns:a="http://schemas.openxmlformats.org/drawingml/2006/main">
              <a:ext uri="{FF2B5EF4-FFF2-40B4-BE49-F238E27FC236}">
                <a16:creationId xmlns:a16="http://schemas.microsoft.com/office/drawing/2014/main" id="{E553CE24-B5BE-4A86-9155-E456F3F10FB2}"/>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SKILL AND REFERENCE PAPER</a:t>
            </a:r>
          </a:p>
        </p:txBody>
      </p:sp>
      <p:sp>
        <p:nvSpPr>
          <p:cNvPr id="2" name="">
            <a:extLst xmlns:a="http://schemas.openxmlformats.org/drawingml/2006/main">
              <a:ext uri="{FF2B5EF4-FFF2-40B4-BE49-F238E27FC236}">
                <a16:creationId xmlns:a16="http://schemas.microsoft.com/office/drawing/2014/main" id="{15BA1936-A2E0-443D-834D-277E2E268791}"/>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A literature-guided skill focuses interpretation</a:t>
            </a:r>
          </a:p>
        </p:txBody>
      </p:sp>
      <p:sp>
        <p:nvSpPr>
          <p:cNvPr id="3" name="">
            <a:extLst xmlns:a="http://schemas.openxmlformats.org/drawingml/2006/main">
              <a:ext uri="{FF2B5EF4-FFF2-40B4-BE49-F238E27FC236}">
                <a16:creationId xmlns:a16="http://schemas.microsoft.com/office/drawing/2014/main" id="{7F3ADF84-1D60-4F54-8971-586ADA8E7D26}"/>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233C37C-A6B3-44D8-BE5D-8EB02085035E}"/>
              </a:ext>
            </a:extLst>
          </p:cNvPr>
          <p:cNvSpPr>
            <a:spLocks xmlns:a="http://schemas.openxmlformats.org/drawingml/2006/main" noGrp="1"/>
          </p:cNvSpPr>
          <p:nvPr/>
        </p:nvSpPr>
        <p:spPr>
          <a:xfrm xmlns:a="http://schemas.openxmlformats.org/drawingml/2006/main">
            <a:off x="609600" y="1943100"/>
            <a:ext cx="3200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Pybus et al. 2026</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Spatial ML + ICB response</a:t>
            </a:r>
          </a:p>
        </p:txBody>
      </p:sp>
      <p:sp>
        <p:nvSpPr>
          <p:cNvPr id="5" name="">
            <a:extLst xmlns:a="http://schemas.openxmlformats.org/drawingml/2006/main">
              <a:ext uri="{FF2B5EF4-FFF2-40B4-BE49-F238E27FC236}">
                <a16:creationId xmlns:a16="http://schemas.microsoft.com/office/drawing/2014/main" id="{9B90E7D6-8039-4862-8706-9591DCEC4B7F}"/>
              </a:ext>
            </a:extLst>
          </p:cNvPr>
          <p:cNvSpPr>
            <a:spLocks xmlns:a="http://schemas.openxmlformats.org/drawingml/2006/main" noGrp="1"/>
          </p:cNvSpPr>
          <p:nvPr/>
        </p:nvSpPr>
        <p:spPr>
          <a:xfrm xmlns:a="http://schemas.openxmlformats.org/drawingml/2006/main">
            <a:off x="4572000" y="1943100"/>
            <a:ext cx="3048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Curated feature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literature</a:t>
            </a:r>
          </a:p>
        </p:txBody>
      </p:sp>
      <p:sp>
        <p:nvSpPr>
          <p:cNvPr id="7" name="">
            <a:extLst xmlns:a="http://schemas.openxmlformats.org/drawingml/2006/main">
              <a:ext uri="{FF2B5EF4-FFF2-40B4-BE49-F238E27FC236}">
                <a16:creationId xmlns:a16="http://schemas.microsoft.com/office/drawing/2014/main" id="{E6B5362E-FE03-429B-87E0-26E6883B35AF}"/>
              </a:ext>
            </a:extLst>
          </p:cNvPr>
          <p:cNvSpPr>
            <a:spLocks xmlns:a="http://schemas.openxmlformats.org/drawingml/2006/main" noGrp="1"/>
          </p:cNvSpPr>
          <p:nvPr/>
        </p:nvSpPr>
        <p:spPr>
          <a:xfrm xmlns:a="http://schemas.openxmlformats.org/drawingml/2006/main">
            <a:off x="4572000" y="4048125"/>
            <a:ext cx="3048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Task rules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6 worked examples</a:t>
            </a:r>
          </a:p>
        </p:txBody>
      </p:sp>
      <p:sp>
        <p:nvSpPr>
          <p:cNvPr id="8" name="">
            <a:extLst xmlns:a="http://schemas.openxmlformats.org/drawingml/2006/main">
              <a:ext uri="{FF2B5EF4-FFF2-40B4-BE49-F238E27FC236}">
                <a16:creationId xmlns:a16="http://schemas.microsoft.com/office/drawing/2014/main" id="{E4C8D227-E71D-4441-ABAF-4970C6638AF7}"/>
              </a:ext>
            </a:extLst>
          </p:cNvPr>
          <p:cNvSpPr>
            <a:spLocks xmlns:a="http://schemas.openxmlformats.org/drawingml/2006/main" noGrp="1"/>
          </p:cNvSpPr>
          <p:nvPr/>
        </p:nvSpPr>
        <p:spPr>
          <a:xfrm xmlns:a="http://schemas.openxmlformats.org/drawingml/2006/main">
            <a:off x="8534400" y="2952750"/>
            <a:ext cx="3048000" cy="11906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SKILL.md</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Focused prompt</a:t>
            </a:r>
          </a:p>
        </p:txBody>
      </p:sp>
      <p:sp>
        <p:nvSpPr>
          <p:cNvPr id="11" name="">
            <a:extLst xmlns:a="http://schemas.openxmlformats.org/drawingml/2006/main">
              <a:ext uri="{FF2B5EF4-FFF2-40B4-BE49-F238E27FC236}">
                <a16:creationId xmlns:a16="http://schemas.microsoft.com/office/drawing/2014/main" id="{CB27B478-663E-48C0-99B7-8E5C8B95BAEA}"/>
              </a:ext>
            </a:extLst>
          </p:cNvPr>
          <p:cNvSpPr>
            <a:spLocks xmlns:a="http://schemas.openxmlformats.org/drawingml/2006/main" noGrp="1"/>
          </p:cNvSpPr>
          <p:nvPr/>
        </p:nvSpPr>
        <p:spPr>
          <a:xfrm xmlns:a="http://schemas.openxmlformats.org/drawingml/2006/main">
            <a:off x="609600" y="3943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B"/>
                </a:solidFill>
                <a:latin typeface="Arial"/>
                <a:ea typeface="Arial"/>
                <a:cs typeface="Arial"/>
              </a:defRPr>
            </a:defPPr>
          </a:lstStyle>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Spatial context</a:t>
            </a:r>
          </a:p>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 clinical evidence</a:t>
            </a:r>
          </a:p>
        </p:txBody>
      </p:sp>
      <p:sp>
        <p:nvSpPr>
          <p:cNvPr id="12" name="">
            <a:extLst xmlns:a="http://schemas.openxmlformats.org/drawingml/2006/main">
              <a:ext uri="{FF2B5EF4-FFF2-40B4-BE49-F238E27FC236}">
                <a16:creationId xmlns:a16="http://schemas.microsoft.com/office/drawing/2014/main" id="{1EC89B39-C81C-4FB6-9B80-64A076BF64B1}"/>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Instructions guide fixed model weights. SHAP contribution and literature context remain distinct.</a:t>
            </a:r>
          </a:p>
        </p:txBody>
      </p:sp>
    </p:spTree>
    <p:extLst>
      <p:ext uri="{BB962C8B-B14F-4D97-AF65-F5344CB8AC3E}">
        <p14:creationId xmlns:p14="http://schemas.microsoft.com/office/powerpoint/2010/main" val="144338109"/>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788EAD8-E54C-4DB2-83F7-56724AF0D996}"/>
              </a:ext>
            </a:extLst>
          </p:cNvPr>
          <p:cNvCxnSpPr>
            <a:stCxn xmlns:a="http://schemas.openxmlformats.org/drawingml/2006/main" id="12" idx="3"/>
            <a:endCxn xmlns:a="http://schemas.openxmlformats.org/drawingml/2006/main" id="13" idx="1"/>
          </p:cNvCxnSpPr>
          <p:nvPr/>
        </p:nvCxnSpPr>
        <p:spPr>
          <a:xfrm xmlns:a="http://schemas.openxmlformats.org/drawingml/2006/main">
            <a:off x="7496175" y="5095875"/>
            <a:ext cx="8382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8CC8BD4C-FE59-44EC-8816-6BBF7970E13F}"/>
              </a:ext>
            </a:extLst>
          </p:cNvPr>
          <p:cNvCxnSpPr>
            <a:stCxn xmlns:a="http://schemas.openxmlformats.org/drawingml/2006/main" id="11" idx="3"/>
            <a:endCxn xmlns:a="http://schemas.openxmlformats.org/drawingml/2006/main" id="12" idx="1"/>
          </p:cNvCxnSpPr>
          <p:nvPr/>
        </p:nvCxnSpPr>
        <p:spPr>
          <a:xfrm xmlns:a="http://schemas.openxmlformats.org/drawingml/2006/main">
            <a:off x="3800475" y="5095875"/>
            <a:ext cx="8382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F16F149-7B9C-40EE-AB2A-4EA2873A5420}"/>
              </a:ext>
            </a:extLst>
          </p:cNvPr>
          <p:cNvCxnSpPr>
            <a:stCxn xmlns:a="http://schemas.openxmlformats.org/drawingml/2006/main" id="6" idx="3"/>
            <a:endCxn xmlns:a="http://schemas.openxmlformats.org/drawingml/2006/main" id="7" idx="1"/>
          </p:cNvCxnSpPr>
          <p:nvPr/>
        </p:nvCxnSpPr>
        <p:spPr>
          <a:xfrm xmlns:a="http://schemas.openxmlformats.org/drawingml/2006/main">
            <a:off x="7496175" y="2838450"/>
            <a:ext cx="8382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2B1FC775-0221-47D1-98FD-C23565E855A0}"/>
              </a:ext>
            </a:extLst>
          </p:cNvPr>
          <p:cNvCxnSpPr>
            <a:stCxn xmlns:a="http://schemas.openxmlformats.org/drawingml/2006/main" id="5" idx="3"/>
            <a:endCxn xmlns:a="http://schemas.openxmlformats.org/drawingml/2006/main" id="6" idx="1"/>
          </p:cNvCxnSpPr>
          <p:nvPr/>
        </p:nvCxnSpPr>
        <p:spPr>
          <a:xfrm xmlns:a="http://schemas.openxmlformats.org/drawingml/2006/main">
            <a:off x="3800475" y="2838450"/>
            <a:ext cx="8382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7" name="">
            <a:extLst xmlns:a="http://schemas.openxmlformats.org/drawingml/2006/main">
              <a:ext uri="{FF2B5EF4-FFF2-40B4-BE49-F238E27FC236}">
                <a16:creationId xmlns:a16="http://schemas.microsoft.com/office/drawing/2014/main" id="{233E554E-8026-47B4-A901-2FD485F1C25D}"/>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NVIDIA FOUNDATION TODAY</a:t>
            </a:r>
          </a:p>
        </p:txBody>
      </p:sp>
      <p:sp>
        <p:nvSpPr>
          <p:cNvPr id="2" name="">
            <a:extLst xmlns:a="http://schemas.openxmlformats.org/drawingml/2006/main">
              <a:ext uri="{FF2B5EF4-FFF2-40B4-BE49-F238E27FC236}">
                <a16:creationId xmlns:a16="http://schemas.microsoft.com/office/drawing/2014/main" id="{A77C8359-695E-443E-9C71-5E3F8BB1F9D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NVIDIA Nemotron powers local generation</a:t>
            </a:r>
          </a:p>
        </p:txBody>
      </p:sp>
      <p:sp>
        <p:nvSpPr>
          <p:cNvPr id="3" name="">
            <a:extLst xmlns:a="http://schemas.openxmlformats.org/drawingml/2006/main">
              <a:ext uri="{FF2B5EF4-FFF2-40B4-BE49-F238E27FC236}">
                <a16:creationId xmlns:a16="http://schemas.microsoft.com/office/drawing/2014/main" id="{C4CFA709-F9AA-4DC1-90D8-43A592EF726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F245FB9-3F37-405F-85BF-7B85E47EF442}"/>
              </a:ext>
            </a:extLst>
          </p:cNvPr>
          <p:cNvSpPr>
            <a:spLocks xmlns:a="http://schemas.openxmlformats.org/drawingml/2006/main" noGrp="1"/>
          </p:cNvSpPr>
          <p:nvPr/>
        </p:nvSpPr>
        <p:spPr>
          <a:xfrm xmlns:a="http://schemas.openxmlformats.org/drawingml/2006/main">
            <a:off x="609600" y="17145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B"/>
                </a:solidFill>
                <a:latin typeface="Arial"/>
                <a:ea typeface="Arial"/>
                <a:cs typeface="Arial"/>
              </a:defRPr>
            </a:defPPr>
          </a:lstStyle>
          <a:p xmlns:a="http://schemas.openxmlformats.org/drawingml/2006/main">
            <a:pPr algn="l">
              <a:defRPr sz="1800" b="0">
                <a:solidFill>
                  <a:srgbClr val="007F7B"/>
                </a:solidFill>
                <a:latin typeface="Arial"/>
                <a:ea typeface="Arial"/>
                <a:cs typeface="Arial"/>
              </a:defRPr>
            </a:pPr>
            <a:r>
              <a:rPr sz="1800" b="0">
                <a:solidFill>
                  <a:srgbClr val="007F7B"/>
                </a:solidFill>
                <a:latin typeface="Arial"/>
                <a:ea typeface="Arial"/>
                <a:cs typeface="Arial"/>
              </a:rPr>
              <a:t>VERIFIED LOCALLY</a:t>
            </a:r>
          </a:p>
        </p:txBody>
      </p:sp>
      <p:sp>
        <p:nvSpPr>
          <p:cNvPr id="5" name="">
            <a:extLst xmlns:a="http://schemas.openxmlformats.org/drawingml/2006/main">
              <a:ext uri="{FF2B5EF4-FFF2-40B4-BE49-F238E27FC236}">
                <a16:creationId xmlns:a16="http://schemas.microsoft.com/office/drawing/2014/main" id="{5925A7F0-6703-4E12-A3FF-68B60E05E674}"/>
              </a:ext>
            </a:extLst>
          </p:cNvPr>
          <p:cNvSpPr>
            <a:spLocks xmlns:a="http://schemas.openxmlformats.org/drawingml/2006/main" noGrp="1"/>
          </p:cNvSpPr>
          <p:nvPr/>
        </p:nvSpPr>
        <p:spPr>
          <a:xfrm xmlns:a="http://schemas.openxmlformats.org/drawingml/2006/main">
            <a:off x="609600" y="2266950"/>
            <a:ext cx="3190875" cy="11430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250" b="1">
                <a:solidFill>
                  <a:srgbClr val="152A2B"/>
                </a:solidFill>
                <a:latin typeface="Arial"/>
                <a:ea typeface="Arial"/>
                <a:cs typeface="Arial"/>
              </a:defRPr>
            </a:defPPr>
          </a:lstStyle>
          <a:p xmlns:a="http://schemas.openxmlformats.org/drawingml/2006/main">
            <a:pPr algn="ctr">
              <a:defRPr sz="2250" b="1">
                <a:solidFill>
                  <a:srgbClr val="152A2B"/>
                </a:solidFill>
                <a:latin typeface="Arial"/>
                <a:ea typeface="Arial"/>
                <a:cs typeface="Arial"/>
              </a:defRPr>
            </a:pPr>
            <a:r>
              <a:rPr sz="2250" b="1">
                <a:solidFill>
                  <a:srgbClr val="152A2B"/>
                </a:solidFill>
                <a:latin typeface="Arial"/>
                <a:ea typeface="Arial"/>
                <a:cs typeface="Arial"/>
              </a:rPr>
              <a:t>NVIDIA Nemotron</a:t>
            </a:r>
          </a:p>
          <a:p xmlns:a="http://schemas.openxmlformats.org/drawingml/2006/main">
            <a:pPr algn="ctr">
              <a:defRPr sz="2250" b="1">
                <a:solidFill>
                  <a:srgbClr val="152A2B"/>
                </a:solidFill>
                <a:latin typeface="Arial"/>
                <a:ea typeface="Arial"/>
                <a:cs typeface="Arial"/>
              </a:defRPr>
            </a:pPr>
            <a:r>
              <a:rPr sz="2250" b="1">
                <a:solidFill>
                  <a:srgbClr val="152A2B"/>
                </a:solidFill>
                <a:latin typeface="Arial"/>
                <a:ea typeface="Arial"/>
                <a:cs typeface="Arial"/>
              </a:rPr>
              <a:t>Mini 4B Instruct</a:t>
            </a:r>
          </a:p>
        </p:txBody>
      </p:sp>
      <p:sp>
        <p:nvSpPr>
          <p:cNvPr id="6" name="">
            <a:extLst xmlns:a="http://schemas.openxmlformats.org/drawingml/2006/main">
              <a:ext uri="{FF2B5EF4-FFF2-40B4-BE49-F238E27FC236}">
                <a16:creationId xmlns:a16="http://schemas.microsoft.com/office/drawing/2014/main" id="{1EB8101B-0EC9-4986-9954-3AA9B1F97BE6}"/>
              </a:ext>
            </a:extLst>
          </p:cNvPr>
          <p:cNvSpPr>
            <a:spLocks xmlns:a="http://schemas.openxmlformats.org/drawingml/2006/main" noGrp="1"/>
          </p:cNvSpPr>
          <p:nvPr/>
        </p:nvSpPr>
        <p:spPr>
          <a:xfrm xmlns:a="http://schemas.openxmlformats.org/drawingml/2006/main">
            <a:off x="4638675" y="2266950"/>
            <a:ext cx="28575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Transformers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Apple MPS</a:t>
            </a:r>
          </a:p>
        </p:txBody>
      </p:sp>
      <p:sp>
        <p:nvSpPr>
          <p:cNvPr id="7" name="">
            <a:extLst xmlns:a="http://schemas.openxmlformats.org/drawingml/2006/main">
              <a:ext uri="{FF2B5EF4-FFF2-40B4-BE49-F238E27FC236}">
                <a16:creationId xmlns:a16="http://schemas.microsoft.com/office/drawing/2014/main" id="{6E0DF728-ED6B-4912-93E5-8C8330D38D0D}"/>
              </a:ext>
            </a:extLst>
          </p:cNvPr>
          <p:cNvSpPr>
            <a:spLocks xmlns:a="http://schemas.openxmlformats.org/drawingml/2006/main" noGrp="1"/>
          </p:cNvSpPr>
          <p:nvPr/>
        </p:nvSpPr>
        <p:spPr>
          <a:xfrm xmlns:a="http://schemas.openxmlformats.org/drawingml/2006/main">
            <a:off x="8334375" y="2266950"/>
            <a:ext cx="3248025"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3 short JSON</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responses / patient</a:t>
            </a:r>
          </a:p>
        </p:txBody>
      </p:sp>
      <p:sp>
        <p:nvSpPr>
          <p:cNvPr id="10" name="">
            <a:extLst xmlns:a="http://schemas.openxmlformats.org/drawingml/2006/main">
              <a:ext uri="{FF2B5EF4-FFF2-40B4-BE49-F238E27FC236}">
                <a16:creationId xmlns:a16="http://schemas.microsoft.com/office/drawing/2014/main" id="{5E970D19-FDCE-4F0F-AAFC-17BB1B6D50CA}"/>
              </a:ext>
            </a:extLst>
          </p:cNvPr>
          <p:cNvSpPr>
            <a:spLocks xmlns:a="http://schemas.openxmlformats.org/drawingml/2006/main" noGrp="1"/>
          </p:cNvSpPr>
          <p:nvPr/>
        </p:nvSpPr>
        <p:spPr>
          <a:xfrm xmlns:a="http://schemas.openxmlformats.org/drawingml/2006/main">
            <a:off x="609600" y="40290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A6D6B"/>
                </a:solidFill>
                <a:latin typeface="Arial"/>
                <a:ea typeface="Arial"/>
                <a:cs typeface="Arial"/>
              </a:defRPr>
            </a:defPPr>
          </a:lstStyle>
          <a:p xmlns:a="http://schemas.openxmlformats.org/drawingml/2006/main">
            <a:pPr algn="l">
              <a:defRPr sz="1800" b="0">
                <a:solidFill>
                  <a:srgbClr val="5A6D6B"/>
                </a:solidFill>
                <a:latin typeface="Arial"/>
                <a:ea typeface="Arial"/>
                <a:cs typeface="Arial"/>
              </a:defRPr>
            </a:pPr>
            <a:r>
              <a:rPr sz="1800" b="0">
                <a:solidFill>
                  <a:srgbClr val="5A6D6B"/>
                </a:solidFill>
                <a:latin typeface="Arial"/>
                <a:ea typeface="Arial"/>
                <a:cs typeface="Arial"/>
              </a:rPr>
              <a:t>NVIDIA HPC PATH IMPLEMENTED / RUN PENDING</a:t>
            </a:r>
          </a:p>
        </p:txBody>
      </p:sp>
      <p:sp>
        <p:nvSpPr>
          <p:cNvPr id="11" name="">
            <a:extLst xmlns:a="http://schemas.openxmlformats.org/drawingml/2006/main">
              <a:ext uri="{FF2B5EF4-FFF2-40B4-BE49-F238E27FC236}">
                <a16:creationId xmlns:a16="http://schemas.microsoft.com/office/drawing/2014/main" id="{B2CC2265-04E7-4D52-97B8-91B671854F63}"/>
              </a:ext>
            </a:extLst>
          </p:cNvPr>
          <p:cNvSpPr>
            <a:spLocks xmlns:a="http://schemas.openxmlformats.org/drawingml/2006/main" noGrp="1"/>
          </p:cNvSpPr>
          <p:nvPr/>
        </p:nvSpPr>
        <p:spPr>
          <a:xfrm xmlns:a="http://schemas.openxmlformats.org/drawingml/2006/main">
            <a:off x="609600" y="4638675"/>
            <a:ext cx="3190875"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NVIDIA A30</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SLURM</a:t>
            </a:r>
          </a:p>
        </p:txBody>
      </p:sp>
      <p:sp>
        <p:nvSpPr>
          <p:cNvPr id="12" name="">
            <a:extLst xmlns:a="http://schemas.openxmlformats.org/drawingml/2006/main">
              <a:ext uri="{FF2B5EF4-FFF2-40B4-BE49-F238E27FC236}">
                <a16:creationId xmlns:a16="http://schemas.microsoft.com/office/drawing/2014/main" id="{197F2D66-DFD1-4FC8-9823-D2AC7C5EF1A8}"/>
              </a:ext>
            </a:extLst>
          </p:cNvPr>
          <p:cNvSpPr>
            <a:spLocks xmlns:a="http://schemas.openxmlformats.org/drawingml/2006/main" noGrp="1"/>
          </p:cNvSpPr>
          <p:nvPr/>
        </p:nvSpPr>
        <p:spPr>
          <a:xfrm xmlns:a="http://schemas.openxmlformats.org/drawingml/2006/main">
            <a:off x="4638675" y="4638675"/>
            <a:ext cx="28575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CUDA + vLLM</a:t>
            </a:r>
          </a:p>
        </p:txBody>
      </p:sp>
      <p:sp>
        <p:nvSpPr>
          <p:cNvPr id="13" name="">
            <a:extLst xmlns:a="http://schemas.openxmlformats.org/drawingml/2006/main">
              <a:ext uri="{FF2B5EF4-FFF2-40B4-BE49-F238E27FC236}">
                <a16:creationId xmlns:a16="http://schemas.microsoft.com/office/drawing/2014/main" id="{324B1E2F-D5EA-423D-AA3A-633EF611C70E}"/>
              </a:ext>
            </a:extLst>
          </p:cNvPr>
          <p:cNvSpPr>
            <a:spLocks xmlns:a="http://schemas.openxmlformats.org/drawingml/2006/main" noGrp="1"/>
          </p:cNvSpPr>
          <p:nvPr/>
        </p:nvSpPr>
        <p:spPr>
          <a:xfrm xmlns:a="http://schemas.openxmlformats.org/drawingml/2006/main">
            <a:off x="8334375" y="4638675"/>
            <a:ext cx="3248025"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Same prompt</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report contract</a:t>
            </a:r>
          </a:p>
        </p:txBody>
      </p:sp>
      <p:sp>
        <p:nvSpPr>
          <p:cNvPr id="16" name="">
            <a:extLst xmlns:a="http://schemas.openxmlformats.org/drawingml/2006/main">
              <a:ext uri="{FF2B5EF4-FFF2-40B4-BE49-F238E27FC236}">
                <a16:creationId xmlns:a16="http://schemas.microsoft.com/office/drawing/2014/main" id="{7E2CCFD9-6877-4976-B179-A002AF43C4D0}"/>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Observed local demo: 5 / 5 reports passed the automatic screen. Clinical review remains required.</a:t>
            </a:r>
          </a:p>
        </p:txBody>
      </p:sp>
    </p:spTree>
    <p:extLst>
      <p:ext uri="{BB962C8B-B14F-4D97-AF65-F5344CB8AC3E}">
        <p14:creationId xmlns:p14="http://schemas.microsoft.com/office/powerpoint/2010/main" val="199305587"/>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5DA08E45-5330-4AA9-A72A-7136330B69AB}"/>
              </a:ext>
            </a:extLst>
          </p:cNvPr>
          <p:cNvCxnSpPr>
            <a:stCxn xmlns:a="http://schemas.openxmlformats.org/drawingml/2006/main" id="10" idx="1"/>
            <a:endCxn xmlns:a="http://schemas.openxmlformats.org/drawingml/2006/main" id="12" idx="3"/>
          </p:cNvCxnSpPr>
          <p:nvPr/>
        </p:nvCxnSpPr>
        <p:spPr>
          <a:xfrm xmlns:a="http://schemas.openxmlformats.org/drawingml/2006/main" flipH="1">
            <a:off x="2943225" y="4972050"/>
            <a:ext cx="7905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96E74A6-6134-4381-B22B-91BD449C1EB4}"/>
              </a:ext>
            </a:extLst>
          </p:cNvPr>
          <p:cNvCxnSpPr>
            <a:stCxn xmlns:a="http://schemas.openxmlformats.org/drawingml/2006/main" id="6" idx="2"/>
            <a:endCxn xmlns:a="http://schemas.openxmlformats.org/drawingml/2006/main" id="10" idx="3"/>
          </p:cNvCxnSpPr>
          <p:nvPr/>
        </p:nvCxnSpPr>
        <p:spPr>
          <a:xfrm xmlns:a="http://schemas.openxmlformats.org/drawingml/2006/main" flipH="1">
            <a:off x="6781800" y="2990850"/>
            <a:ext cx="2952750" cy="1981200"/>
          </a:xfrm>
          <a:prstGeom xmlns:a="http://schemas.openxmlformats.org/drawingml/2006/main" prst="bentConnector5">
            <a:avLst>
              <a:gd name="adj1" fmla="val 0"/>
              <a:gd name="adj2" fmla="val 11538"/>
              <a:gd name="adj3" fmla="val 92258"/>
            </a:avLst>
          </a:prstGeom>
          <a:ln xmlns:a="http://schemas.openxmlformats.org/drawingml/2006/main" w="23813">
            <a:solidFill>
              <a:srgbClr val="5A6D6B"/>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FBBA2564-4521-4A04-ABEA-3C8F0FF0AF8C}"/>
              </a:ext>
            </a:extLst>
          </p:cNvPr>
          <p:cNvCxnSpPr>
            <a:stCxn xmlns:a="http://schemas.openxmlformats.org/drawingml/2006/main" id="5" idx="3"/>
            <a:endCxn xmlns:a="http://schemas.openxmlformats.org/drawingml/2006/main" id="6" idx="1"/>
          </p:cNvCxnSpPr>
          <p:nvPr/>
        </p:nvCxnSpPr>
        <p:spPr>
          <a:xfrm xmlns:a="http://schemas.openxmlformats.org/drawingml/2006/main">
            <a:off x="6781800" y="2486025"/>
            <a:ext cx="11049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7" name="">
            <a:extLst xmlns:a="http://schemas.openxmlformats.org/drawingml/2006/main">
              <a:ext uri="{FF2B5EF4-FFF2-40B4-BE49-F238E27FC236}">
                <a16:creationId xmlns:a16="http://schemas.microsoft.com/office/drawing/2014/main" id="{1B7E84B8-1454-4810-879B-9D5078596DD6}"/>
              </a:ext>
            </a:extLst>
          </p:cNvPr>
          <p:cNvCxnSpPr>
            <a:stCxn xmlns:a="http://schemas.openxmlformats.org/drawingml/2006/main" id="4" idx="3"/>
            <a:endCxn xmlns:a="http://schemas.openxmlformats.org/drawingml/2006/main" id="5" idx="1"/>
          </p:cNvCxnSpPr>
          <p:nvPr/>
        </p:nvCxnSpPr>
        <p:spPr>
          <a:xfrm xmlns:a="http://schemas.openxmlformats.org/drawingml/2006/main">
            <a:off x="2943225" y="2486025"/>
            <a:ext cx="7905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5" name="">
            <a:extLst xmlns:a="http://schemas.openxmlformats.org/drawingml/2006/main">
              <a:ext uri="{FF2B5EF4-FFF2-40B4-BE49-F238E27FC236}">
                <a16:creationId xmlns:a16="http://schemas.microsoft.com/office/drawing/2014/main" id="{B980200E-F572-4405-99EF-E788C83703AD}"/>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API INTEGRATION</a:t>
            </a:r>
          </a:p>
        </p:txBody>
      </p:sp>
      <p:sp>
        <p:nvSpPr>
          <p:cNvPr id="2" name="">
            <a:extLst xmlns:a="http://schemas.openxmlformats.org/drawingml/2006/main">
              <a:ext uri="{FF2B5EF4-FFF2-40B4-BE49-F238E27FC236}">
                <a16:creationId xmlns:a16="http://schemas.microsoft.com/office/drawing/2014/main" id="{A56B815C-7230-49E6-8D83-33A5FD1E272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NVIDIA NIM is the next serving layer</a:t>
            </a:r>
          </a:p>
        </p:txBody>
      </p:sp>
      <p:sp>
        <p:nvSpPr>
          <p:cNvPr id="3" name="">
            <a:extLst xmlns:a="http://schemas.openxmlformats.org/drawingml/2006/main">
              <a:ext uri="{FF2B5EF4-FFF2-40B4-BE49-F238E27FC236}">
                <a16:creationId xmlns:a16="http://schemas.microsoft.com/office/drawing/2014/main" id="{792D45BE-E28E-4B12-AF18-EAADB5152470}"/>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E302FCF0-9E02-4ED1-BBC1-679B5C391274}"/>
              </a:ext>
            </a:extLst>
          </p:cNvPr>
          <p:cNvSpPr>
            <a:spLocks xmlns:a="http://schemas.openxmlformats.org/drawingml/2006/main" noGrp="1"/>
          </p:cNvSpPr>
          <p:nvPr/>
        </p:nvSpPr>
        <p:spPr>
          <a:xfrm xmlns:a="http://schemas.openxmlformats.org/drawingml/2006/main">
            <a:off x="609600" y="1981200"/>
            <a:ext cx="2333625" cy="1009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 / batch</a:t>
            </a:r>
          </a:p>
        </p:txBody>
      </p:sp>
      <p:sp>
        <p:nvSpPr>
          <p:cNvPr id="5" name="">
            <a:extLst xmlns:a="http://schemas.openxmlformats.org/drawingml/2006/main">
              <a:ext uri="{FF2B5EF4-FFF2-40B4-BE49-F238E27FC236}">
                <a16:creationId xmlns:a16="http://schemas.microsoft.com/office/drawing/2014/main" id="{9FF479FA-A417-4EEC-9A16-4B40A5092574}"/>
              </a:ext>
            </a:extLst>
          </p:cNvPr>
          <p:cNvSpPr>
            <a:spLocks xmlns:a="http://schemas.openxmlformats.org/drawingml/2006/main" noGrp="1"/>
          </p:cNvSpPr>
          <p:nvPr/>
        </p:nvSpPr>
        <p:spPr>
          <a:xfrm xmlns:a="http://schemas.openxmlformats.org/drawingml/2006/main">
            <a:off x="3733800" y="1981200"/>
            <a:ext cx="3048000" cy="1009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Copilot API</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NIM adapter</a:t>
            </a:r>
          </a:p>
        </p:txBody>
      </p:sp>
      <p:sp>
        <p:nvSpPr>
          <p:cNvPr id="6" name="">
            <a:extLst xmlns:a="http://schemas.openxmlformats.org/drawingml/2006/main">
              <a:ext uri="{FF2B5EF4-FFF2-40B4-BE49-F238E27FC236}">
                <a16:creationId xmlns:a16="http://schemas.microsoft.com/office/drawing/2014/main" id="{ADF7231A-0F22-44F3-8D81-C4D198574C2D}"/>
              </a:ext>
            </a:extLst>
          </p:cNvPr>
          <p:cNvSpPr>
            <a:spLocks xmlns:a="http://schemas.openxmlformats.org/drawingml/2006/main" noGrp="1"/>
          </p:cNvSpPr>
          <p:nvPr/>
        </p:nvSpPr>
        <p:spPr>
          <a:xfrm xmlns:a="http://schemas.openxmlformats.org/drawingml/2006/main">
            <a:off x="7886700" y="1981200"/>
            <a:ext cx="3695700" cy="10096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NVIDIA NIM</a:t>
            </a:r>
          </a:p>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Model endpoint</a:t>
            </a:r>
          </a:p>
        </p:txBody>
      </p:sp>
      <p:sp>
        <p:nvSpPr>
          <p:cNvPr id="9" name="">
            <a:extLst xmlns:a="http://schemas.openxmlformats.org/drawingml/2006/main">
              <a:ext uri="{FF2B5EF4-FFF2-40B4-BE49-F238E27FC236}">
                <a16:creationId xmlns:a16="http://schemas.microsoft.com/office/drawing/2014/main" id="{673BF8B1-C3E9-4D5D-A1B0-568B37AAA616}"/>
              </a:ext>
            </a:extLst>
          </p:cNvPr>
          <p:cNvSpPr>
            <a:spLocks xmlns:a="http://schemas.openxmlformats.org/drawingml/2006/main" noGrp="1"/>
          </p:cNvSpPr>
          <p:nvPr/>
        </p:nvSpPr>
        <p:spPr>
          <a:xfrm xmlns:a="http://schemas.openxmlformats.org/drawingml/2006/main">
            <a:off x="8124825" y="347662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Portable container</a:t>
            </a:r>
          </a:p>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GPU-optimized profile</a:t>
            </a:r>
          </a:p>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Service metrics</a:t>
            </a:r>
          </a:p>
        </p:txBody>
      </p:sp>
      <p:sp>
        <p:nvSpPr>
          <p:cNvPr id="10" name="">
            <a:extLst xmlns:a="http://schemas.openxmlformats.org/drawingml/2006/main">
              <a:ext uri="{FF2B5EF4-FFF2-40B4-BE49-F238E27FC236}">
                <a16:creationId xmlns:a16="http://schemas.microsoft.com/office/drawing/2014/main" id="{E05C4D16-0729-4A48-9E76-C897854FFC95}"/>
              </a:ext>
            </a:extLst>
          </p:cNvPr>
          <p:cNvSpPr>
            <a:spLocks xmlns:a="http://schemas.openxmlformats.org/drawingml/2006/main" noGrp="1"/>
          </p:cNvSpPr>
          <p:nvPr/>
        </p:nvSpPr>
        <p:spPr>
          <a:xfrm xmlns:a="http://schemas.openxmlformats.org/drawingml/2006/main">
            <a:off x="3733800" y="4438650"/>
            <a:ext cx="304800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Output checks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report assembly</a:t>
            </a:r>
          </a:p>
        </p:txBody>
      </p:sp>
      <p:sp>
        <p:nvSpPr>
          <p:cNvPr id="12" name="">
            <a:extLst xmlns:a="http://schemas.openxmlformats.org/drawingml/2006/main">
              <a:ext uri="{FF2B5EF4-FFF2-40B4-BE49-F238E27FC236}">
                <a16:creationId xmlns:a16="http://schemas.microsoft.com/office/drawing/2014/main" id="{D76E2E89-D45D-4528-AB4F-08FF51BA72A8}"/>
              </a:ext>
            </a:extLst>
          </p:cNvPr>
          <p:cNvSpPr>
            <a:spLocks xmlns:a="http://schemas.openxmlformats.org/drawingml/2006/main" noGrp="1"/>
          </p:cNvSpPr>
          <p:nvPr/>
        </p:nvSpPr>
        <p:spPr>
          <a:xfrm xmlns:a="http://schemas.openxmlformats.org/drawingml/2006/main">
            <a:off x="609600" y="4438650"/>
            <a:ext cx="233362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UI-ready JSON</a:t>
            </a:r>
          </a:p>
        </p:txBody>
      </p:sp>
      <p:sp>
        <p:nvSpPr>
          <p:cNvPr id="14" name="">
            <a:extLst xmlns:a="http://schemas.openxmlformats.org/drawingml/2006/main">
              <a:ext uri="{FF2B5EF4-FFF2-40B4-BE49-F238E27FC236}">
                <a16:creationId xmlns:a16="http://schemas.microsoft.com/office/drawing/2014/main" id="{0769CFB7-1D21-4146-8BD3-A477D5C264AD}"/>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Next gate: qualify the NIM model + GPU profile, then verify the same output contract.</a:t>
            </a:r>
          </a:p>
        </p:txBody>
      </p:sp>
    </p:spTree>
    <p:extLst>
      <p:ext uri="{BB962C8B-B14F-4D97-AF65-F5344CB8AC3E}">
        <p14:creationId xmlns:p14="http://schemas.microsoft.com/office/powerpoint/2010/main" val="995543151"/>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719E4A2C-3DE5-4A89-A70D-E5B3F4147C0F}"/>
              </a:ext>
            </a:extLst>
          </p:cNvPr>
          <p:cNvCxnSpPr>
            <a:stCxn xmlns:a="http://schemas.openxmlformats.org/drawingml/2006/main" id="6" idx="3"/>
            <a:endCxn xmlns:a="http://schemas.openxmlformats.org/drawingml/2006/main" id="10" idx="1"/>
          </p:cNvCxnSpPr>
          <p:nvPr/>
        </p:nvCxnSpPr>
        <p:spPr>
          <a:xfrm xmlns:a="http://schemas.openxmlformats.org/drawingml/2006/main">
            <a:off x="7305675" y="3419475"/>
            <a:ext cx="1247775" cy="866775"/>
          </a:xfrm>
          <a:prstGeom xmlns:a="http://schemas.openxmlformats.org/drawingml/2006/main" prst="bentConnector3">
            <a:avLst>
              <a:gd name="adj1" fmla="val 50000"/>
            </a:avLst>
          </a:prstGeom>
          <a:ln xmlns:a="http://schemas.openxmlformats.org/drawingml/2006/main" w="23813">
            <a:solidFill>
              <a:srgbClr val="5A6D6B"/>
            </a:solidFill>
            <a:prstDash val="dash"/>
            <a:tailEnd type="arrow" w="med" len="med"/>
          </a:ln>
        </p:spPr>
      </p:cxnSp>
      <p:cxnSp>
        <p:nvCxnSpPr>
          <p:cNvPr id="11" name="">
            <a:extLst xmlns:a="http://schemas.openxmlformats.org/drawingml/2006/main">
              <a:ext uri="{FF2B5EF4-FFF2-40B4-BE49-F238E27FC236}">
                <a16:creationId xmlns:a16="http://schemas.microsoft.com/office/drawing/2014/main" id="{ACEE75FB-9EBC-46F6-B0E7-AEADE73400CD}"/>
              </a:ext>
            </a:extLst>
          </p:cNvPr>
          <p:cNvCxnSpPr>
            <a:stCxn xmlns:a="http://schemas.openxmlformats.org/drawingml/2006/main" id="6" idx="3"/>
            <a:endCxn xmlns:a="http://schemas.openxmlformats.org/drawingml/2006/main" id="9" idx="1"/>
          </p:cNvCxnSpPr>
          <p:nvPr/>
        </p:nvCxnSpPr>
        <p:spPr>
          <a:xfrm xmlns:a="http://schemas.openxmlformats.org/drawingml/2006/main" flipV="1">
            <a:off x="7305675" y="2562225"/>
            <a:ext cx="1247775" cy="857250"/>
          </a:xfrm>
          <a:prstGeom xmlns:a="http://schemas.openxmlformats.org/drawingml/2006/main" prst="bentConnector3">
            <a:avLst>
              <a:gd name="adj1" fmla="val 50000"/>
            </a:avLst>
          </a:prstGeom>
          <a:ln xmlns:a="http://schemas.openxmlformats.org/drawingml/2006/main" w="23813">
            <a:solidFill>
              <a:srgbClr val="5A6D6B"/>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760C7458-EA00-44C6-83A3-E107850F0A8F}"/>
              </a:ext>
            </a:extLst>
          </p:cNvPr>
          <p:cNvCxnSpPr>
            <a:stCxn xmlns:a="http://schemas.openxmlformats.org/drawingml/2006/main" id="5" idx="3"/>
            <a:endCxn xmlns:a="http://schemas.openxmlformats.org/drawingml/2006/main" id="6" idx="1"/>
          </p:cNvCxnSpPr>
          <p:nvPr/>
        </p:nvCxnSpPr>
        <p:spPr>
          <a:xfrm xmlns:a="http://schemas.openxmlformats.org/drawingml/2006/main" flipV="1">
            <a:off x="2895600" y="3419475"/>
            <a:ext cx="1152525" cy="80010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33FBC424-265D-415A-87FC-D0DEAC51CB21}"/>
              </a:ext>
            </a:extLst>
          </p:cNvPr>
          <p:cNvCxnSpPr>
            <a:stCxn xmlns:a="http://schemas.openxmlformats.org/drawingml/2006/main" id="4" idx="3"/>
            <a:endCxn xmlns:a="http://schemas.openxmlformats.org/drawingml/2006/main" id="6" idx="1"/>
          </p:cNvCxnSpPr>
          <p:nvPr/>
        </p:nvCxnSpPr>
        <p:spPr>
          <a:xfrm xmlns:a="http://schemas.openxmlformats.org/drawingml/2006/main">
            <a:off x="2895600" y="2495550"/>
            <a:ext cx="1152525" cy="92392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sp>
        <p:nvSpPr>
          <p:cNvPr id="16" name="">
            <a:extLst xmlns:a="http://schemas.openxmlformats.org/drawingml/2006/main">
              <a:ext uri="{FF2B5EF4-FFF2-40B4-BE49-F238E27FC236}">
                <a16:creationId xmlns:a16="http://schemas.microsoft.com/office/drawing/2014/main" id="{45221106-22C5-420F-A0E1-0B3E5A1D5223}"/>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FUTURE SCALING</a:t>
            </a:r>
          </a:p>
        </p:txBody>
      </p:sp>
      <p:sp>
        <p:nvSpPr>
          <p:cNvPr id="2" name="">
            <a:extLst xmlns:a="http://schemas.openxmlformats.org/drawingml/2006/main">
              <a:ext uri="{FF2B5EF4-FFF2-40B4-BE49-F238E27FC236}">
                <a16:creationId xmlns:a16="http://schemas.microsoft.com/office/drawing/2014/main" id="{79D4D5D0-BCBF-414A-ABCD-A4D1A321E6D2}"/>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NIM supports a path to shared GPU capacity</a:t>
            </a:r>
          </a:p>
        </p:txBody>
      </p:sp>
      <p:sp>
        <p:nvSpPr>
          <p:cNvPr id="3" name="">
            <a:extLst xmlns:a="http://schemas.openxmlformats.org/drawingml/2006/main">
              <a:ext uri="{FF2B5EF4-FFF2-40B4-BE49-F238E27FC236}">
                <a16:creationId xmlns:a16="http://schemas.microsoft.com/office/drawing/2014/main" id="{0F8C3837-FC8A-4A4F-85B0-7F75025FA1F5}"/>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48F34D4-BA3E-4EE8-B1AF-0388763D6A02}"/>
              </a:ext>
            </a:extLst>
          </p:cNvPr>
          <p:cNvSpPr>
            <a:spLocks xmlns:a="http://schemas.openxmlformats.org/drawingml/2006/main" noGrp="1"/>
          </p:cNvSpPr>
          <p:nvPr/>
        </p:nvSpPr>
        <p:spPr>
          <a:xfrm xmlns:a="http://schemas.openxmlformats.org/drawingml/2006/main">
            <a:off x="609600" y="2085975"/>
            <a:ext cx="228600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 users</a:t>
            </a:r>
          </a:p>
        </p:txBody>
      </p:sp>
      <p:sp>
        <p:nvSpPr>
          <p:cNvPr id="5" name="">
            <a:extLst xmlns:a="http://schemas.openxmlformats.org/drawingml/2006/main">
              <a:ext uri="{FF2B5EF4-FFF2-40B4-BE49-F238E27FC236}">
                <a16:creationId xmlns:a16="http://schemas.microsoft.com/office/drawing/2014/main" id="{1D1F0D64-0FE6-4FF0-B0DB-75CFD5DBBA23}"/>
              </a:ext>
            </a:extLst>
          </p:cNvPr>
          <p:cNvSpPr>
            <a:spLocks xmlns:a="http://schemas.openxmlformats.org/drawingml/2006/main" noGrp="1"/>
          </p:cNvSpPr>
          <p:nvPr/>
        </p:nvSpPr>
        <p:spPr>
          <a:xfrm xmlns:a="http://schemas.openxmlformats.org/drawingml/2006/main">
            <a:off x="609600" y="3810000"/>
            <a:ext cx="228600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Model pipelines</a:t>
            </a:r>
          </a:p>
        </p:txBody>
      </p:sp>
      <p:sp>
        <p:nvSpPr>
          <p:cNvPr id="6" name="">
            <a:extLst xmlns:a="http://schemas.openxmlformats.org/drawingml/2006/main">
              <a:ext uri="{FF2B5EF4-FFF2-40B4-BE49-F238E27FC236}">
                <a16:creationId xmlns:a16="http://schemas.microsoft.com/office/drawing/2014/main" id="{6E10E3E6-2E93-4EA3-80B6-693F8384DAD2}"/>
              </a:ext>
            </a:extLst>
          </p:cNvPr>
          <p:cNvSpPr>
            <a:spLocks xmlns:a="http://schemas.openxmlformats.org/drawingml/2006/main" noGrp="1"/>
          </p:cNvSpPr>
          <p:nvPr/>
        </p:nvSpPr>
        <p:spPr>
          <a:xfrm xmlns:a="http://schemas.openxmlformats.org/drawingml/2006/main">
            <a:off x="4048125" y="2857500"/>
            <a:ext cx="325755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Copilot service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Queue + cache</a:t>
            </a:r>
          </a:p>
        </p:txBody>
      </p:sp>
      <p:sp>
        <p:nvSpPr>
          <p:cNvPr id="9" name="">
            <a:extLst xmlns:a="http://schemas.openxmlformats.org/drawingml/2006/main">
              <a:ext uri="{FF2B5EF4-FFF2-40B4-BE49-F238E27FC236}">
                <a16:creationId xmlns:a16="http://schemas.microsoft.com/office/drawing/2014/main" id="{A26168C2-0169-47F2-887F-7EB0E3460087}"/>
              </a:ext>
            </a:extLst>
          </p:cNvPr>
          <p:cNvSpPr>
            <a:spLocks xmlns:a="http://schemas.openxmlformats.org/drawingml/2006/main" noGrp="1"/>
          </p:cNvSpPr>
          <p:nvPr/>
        </p:nvSpPr>
        <p:spPr>
          <a:xfrm xmlns:a="http://schemas.openxmlformats.org/drawingml/2006/main">
            <a:off x="8553450" y="2085975"/>
            <a:ext cx="3028950" cy="9525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replica A</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NVIDIA GPU</a:t>
            </a:r>
          </a:p>
        </p:txBody>
      </p:sp>
      <p:sp>
        <p:nvSpPr>
          <p:cNvPr id="10" name="">
            <a:extLst xmlns:a="http://schemas.openxmlformats.org/drawingml/2006/main">
              <a:ext uri="{FF2B5EF4-FFF2-40B4-BE49-F238E27FC236}">
                <a16:creationId xmlns:a16="http://schemas.microsoft.com/office/drawing/2014/main" id="{EEFDAFAF-6969-40BD-8F87-468A8FA1B4C2}"/>
              </a:ext>
            </a:extLst>
          </p:cNvPr>
          <p:cNvSpPr>
            <a:spLocks xmlns:a="http://schemas.openxmlformats.org/drawingml/2006/main" noGrp="1"/>
          </p:cNvSpPr>
          <p:nvPr/>
        </p:nvSpPr>
        <p:spPr>
          <a:xfrm xmlns:a="http://schemas.openxmlformats.org/drawingml/2006/main">
            <a:off x="8553450" y="3810000"/>
            <a:ext cx="3028950" cy="9525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replica B</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NVIDIA GPU</a:t>
            </a:r>
          </a:p>
        </p:txBody>
      </p:sp>
      <p:sp>
        <p:nvSpPr>
          <p:cNvPr id="13" name="">
            <a:extLst xmlns:a="http://schemas.openxmlformats.org/drawingml/2006/main">
              <a:ext uri="{FF2B5EF4-FFF2-40B4-BE49-F238E27FC236}">
                <a16:creationId xmlns:a16="http://schemas.microsoft.com/office/drawing/2014/main" id="{6CF34E13-BE22-460F-A8F9-A4C8ADE29D65}"/>
              </a:ext>
            </a:extLst>
          </p:cNvPr>
          <p:cNvSpPr>
            <a:spLocks xmlns:a="http://schemas.openxmlformats.org/drawingml/2006/main" noGrp="1"/>
          </p:cNvSpPr>
          <p:nvPr/>
        </p:nvSpPr>
        <p:spPr>
          <a:xfrm xmlns:a="http://schemas.openxmlformats.org/drawingml/2006/main">
            <a:off x="8553450" y="5143500"/>
            <a:ext cx="3028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Kubernetes / Helm</a:t>
            </a:r>
          </a:p>
        </p:txBody>
      </p:sp>
      <p:sp>
        <p:nvSpPr>
          <p:cNvPr id="14" name="">
            <a:extLst xmlns:a="http://schemas.openxmlformats.org/drawingml/2006/main">
              <a:ext uri="{FF2B5EF4-FFF2-40B4-BE49-F238E27FC236}">
                <a16:creationId xmlns:a16="http://schemas.microsoft.com/office/drawing/2014/main" id="{21F8DC12-6E11-4464-9BBE-2BE49F3D9D2C}"/>
              </a:ext>
            </a:extLst>
          </p:cNvPr>
          <p:cNvSpPr>
            <a:spLocks xmlns:a="http://schemas.openxmlformats.org/drawingml/2006/main" noGrp="1"/>
          </p:cNvSpPr>
          <p:nvPr/>
        </p:nvSpPr>
        <p:spPr>
          <a:xfrm xmlns:a="http://schemas.openxmlformats.org/drawingml/2006/main">
            <a:off x="609600" y="5257800"/>
            <a:ext cx="738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A2B"/>
                </a:solidFill>
                <a:latin typeface="Arial"/>
                <a:ea typeface="Arial"/>
                <a:cs typeface="Arial"/>
              </a:defRPr>
            </a:defPPr>
          </a:lstStyle>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Future models connect through versioned input adapters</a:t>
            </a:r>
          </a:p>
        </p:txBody>
      </p:sp>
      <p:sp>
        <p:nvSpPr>
          <p:cNvPr id="15" name="">
            <a:extLst xmlns:a="http://schemas.openxmlformats.org/drawingml/2006/main">
              <a:ext uri="{FF2B5EF4-FFF2-40B4-BE49-F238E27FC236}">
                <a16:creationId xmlns:a16="http://schemas.microsoft.com/office/drawing/2014/main" id="{A3FA00A0-9F84-4422-92F4-0739A62B5049}"/>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Scale against measured latency and demand. Keep output checks and review at every replica.</a:t>
            </a:r>
          </a:p>
        </p:txBody>
      </p:sp>
    </p:spTree>
    <p:extLst>
      <p:ext uri="{BB962C8B-B14F-4D97-AF65-F5344CB8AC3E}">
        <p14:creationId xmlns:p14="http://schemas.microsoft.com/office/powerpoint/2010/main" val="1592223707"/>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511F453A-381C-48DA-B23B-E567FDD62890}"/>
              </a:ext>
            </a:extLst>
          </p:cNvPr>
          <p:cNvCxnSpPr>
            <a:stCxn xmlns:a="http://schemas.openxmlformats.org/drawingml/2006/main" id="5" idx="3"/>
            <a:endCxn xmlns:a="http://schemas.openxmlformats.org/drawingml/2006/main" id="20" idx="1"/>
          </p:cNvCxnSpPr>
          <p:nvPr/>
        </p:nvCxnSpPr>
        <p:spPr>
          <a:xfrm xmlns:a="http://schemas.openxmlformats.org/drawingml/2006/main">
            <a:off x="3524250" y="4529138"/>
            <a:ext cx="8763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41BAE67F-CEE5-40F0-BA15-C6D8ACB79431}"/>
              </a:ext>
            </a:extLst>
          </p:cNvPr>
          <p:cNvCxnSpPr>
            <a:stCxn xmlns:a="http://schemas.openxmlformats.org/drawingml/2006/main" id="4" idx="2"/>
            <a:endCxn xmlns:a="http://schemas.openxmlformats.org/drawingml/2006/main" id="5" idx="0"/>
          </p:cNvCxnSpPr>
          <p:nvPr/>
        </p:nvCxnSpPr>
        <p:spPr>
          <a:xfrm xmlns:a="http://schemas.openxmlformats.org/drawingml/2006/main">
            <a:off x="2066925" y="2962275"/>
            <a:ext cx="0" cy="106680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23" name="">
            <a:extLst xmlns:a="http://schemas.openxmlformats.org/drawingml/2006/main">
              <a:ext uri="{FF2B5EF4-FFF2-40B4-BE49-F238E27FC236}">
                <a16:creationId xmlns:a16="http://schemas.microsoft.com/office/drawing/2014/main" id="{2D1F53EA-760D-446D-BBE9-0BFC03F986AE}"/>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03  OUTPUT AND UI</a:t>
            </a:r>
          </a:p>
        </p:txBody>
      </p:sp>
      <p:sp>
        <p:nvSpPr>
          <p:cNvPr id="2" name="">
            <a:extLst xmlns:a="http://schemas.openxmlformats.org/drawingml/2006/main">
              <a:ext uri="{FF2B5EF4-FFF2-40B4-BE49-F238E27FC236}">
                <a16:creationId xmlns:a16="http://schemas.microsoft.com/office/drawing/2014/main" id="{A7940665-ABF3-4B3B-A1C4-41549A70C98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Structured output becomes a readable UI report</a:t>
            </a:r>
          </a:p>
        </p:txBody>
      </p:sp>
      <p:sp>
        <p:nvSpPr>
          <p:cNvPr id="3" name="">
            <a:extLst xmlns:a="http://schemas.openxmlformats.org/drawingml/2006/main">
              <a:ext uri="{FF2B5EF4-FFF2-40B4-BE49-F238E27FC236}">
                <a16:creationId xmlns:a16="http://schemas.microsoft.com/office/drawing/2014/main" id="{3A1F1E50-495D-4138-AB9F-F65E835F179B}"/>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B76A6D4-96C0-472A-8C05-225DB4D595BE}"/>
              </a:ext>
            </a:extLst>
          </p:cNvPr>
          <p:cNvSpPr>
            <a:spLocks xmlns:a="http://schemas.openxmlformats.org/drawingml/2006/main" noGrp="1"/>
          </p:cNvSpPr>
          <p:nvPr/>
        </p:nvSpPr>
        <p:spPr>
          <a:xfrm xmlns:a="http://schemas.openxmlformats.org/drawingml/2006/main">
            <a:off x="609600" y="1962150"/>
            <a:ext cx="2914650" cy="10001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Nemotron JSON</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{"text": "…"}</a:t>
            </a:r>
          </a:p>
        </p:txBody>
      </p:sp>
      <p:sp>
        <p:nvSpPr>
          <p:cNvPr id="5" name="">
            <a:extLst xmlns:a="http://schemas.openxmlformats.org/drawingml/2006/main">
              <a:ext uri="{FF2B5EF4-FFF2-40B4-BE49-F238E27FC236}">
                <a16:creationId xmlns:a16="http://schemas.microsoft.com/office/drawing/2014/main" id="{D09B5CF8-6A2C-40B5-892E-A3996814F460}"/>
              </a:ext>
            </a:extLst>
          </p:cNvPr>
          <p:cNvSpPr>
            <a:spLocks xmlns:a="http://schemas.openxmlformats.org/drawingml/2006/main" noGrp="1"/>
          </p:cNvSpPr>
          <p:nvPr/>
        </p:nvSpPr>
        <p:spPr>
          <a:xfrm xmlns:a="http://schemas.openxmlformats.org/drawingml/2006/main">
            <a:off x="609600" y="4029075"/>
            <a:ext cx="29146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Validate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add exact facts</a:t>
            </a:r>
          </a:p>
        </p:txBody>
      </p:sp>
      <p:sp>
        <p:nvSpPr>
          <p:cNvPr id="7" name="">
            <a:extLst xmlns:a="http://schemas.openxmlformats.org/drawingml/2006/main">
              <a:ext uri="{FF2B5EF4-FFF2-40B4-BE49-F238E27FC236}">
                <a16:creationId xmlns:a16="http://schemas.microsoft.com/office/drawing/2014/main" id="{51B2594F-68DD-4074-B8A6-5EC0DA7989E2}"/>
              </a:ext>
            </a:extLst>
          </p:cNvPr>
          <p:cNvSpPr>
            <a:spLocks xmlns:a="http://schemas.openxmlformats.org/drawingml/2006/main" noGrp="1"/>
          </p:cNvSpPr>
          <p:nvPr/>
        </p:nvSpPr>
        <p:spPr>
          <a:xfrm xmlns:a="http://schemas.openxmlformats.org/drawingml/2006/main">
            <a:off x="4762500" y="168592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B"/>
                </a:solidFill>
                <a:latin typeface="Arial"/>
                <a:ea typeface="Arial"/>
                <a:cs typeface="Arial"/>
              </a:defRPr>
            </a:defPPr>
          </a:lstStyle>
          <a:p xmlns:a="http://schemas.openxmlformats.org/drawingml/2006/main">
            <a:pPr algn="l">
              <a:defRPr sz="2325" b="1">
                <a:solidFill>
                  <a:srgbClr val="007F7B"/>
                </a:solidFill>
                <a:latin typeface="Arial"/>
                <a:ea typeface="Arial"/>
                <a:cs typeface="Arial"/>
              </a:defRPr>
            </a:pPr>
            <a:r>
              <a:rPr sz="2325" b="1">
                <a:solidFill>
                  <a:srgbClr val="007F7B"/>
                </a:solidFill>
                <a:latin typeface="Arial"/>
                <a:ea typeface="Arial"/>
                <a:cs typeface="Arial"/>
              </a:rPr>
              <a:t>Four report sections</a:t>
            </a:r>
          </a:p>
        </p:txBody>
      </p:sp>
      <p:sp>
        <p:nvSpPr>
          <p:cNvPr id="8" name="">
            <a:extLst xmlns:a="http://schemas.openxmlformats.org/drawingml/2006/main">
              <a:ext uri="{FF2B5EF4-FFF2-40B4-BE49-F238E27FC236}">
                <a16:creationId xmlns:a16="http://schemas.microsoft.com/office/drawing/2014/main" id="{F3D6C2AF-AEF6-4773-9A39-63D99E39D5C1}"/>
              </a:ext>
            </a:extLst>
          </p:cNvPr>
          <p:cNvSpPr>
            <a:spLocks xmlns:a="http://schemas.openxmlformats.org/drawingml/2006/main" noGrp="1"/>
          </p:cNvSpPr>
          <p:nvPr/>
        </p:nvSpPr>
        <p:spPr>
          <a:xfrm xmlns:a="http://schemas.openxmlformats.org/drawingml/2006/main">
            <a:off x="4762500" y="2362200"/>
            <a:ext cx="6819900" cy="638175"/>
          </a:xfrm>
          <a:prstGeom xmlns:a="http://schemas.openxmlformats.org/drawingml/2006/main" prst="rect">
            <a:avLst/>
          </a:prstGeom>
          <a:solidFill xmlns:a="http://schemas.openxmlformats.org/drawingml/2006/main">
            <a:srgbClr val="E9F0E9"/>
          </a:solidFill>
          <a:ln xmlns:a="http://schemas.openxmlformats.org/drawingml/2006/main" w="14288">
            <a:solidFill>
              <a:srgbClr val="C7D3CD"/>
            </a:solidFill>
          </a:ln>
        </p:spPr>
      </p:sp>
      <p:sp>
        <p:nvSpPr>
          <p:cNvPr id="9" name="">
            <a:extLst xmlns:a="http://schemas.openxmlformats.org/drawingml/2006/main">
              <a:ext uri="{FF2B5EF4-FFF2-40B4-BE49-F238E27FC236}">
                <a16:creationId xmlns:a16="http://schemas.microsoft.com/office/drawing/2014/main" id="{E28EE372-6437-4A9E-AE1D-7F1D2B3A5E1E}"/>
              </a:ext>
            </a:extLst>
          </p:cNvPr>
          <p:cNvSpPr>
            <a:spLocks xmlns:a="http://schemas.openxmlformats.org/drawingml/2006/main" noGrp="1"/>
          </p:cNvSpPr>
          <p:nvPr/>
        </p:nvSpPr>
        <p:spPr>
          <a:xfrm xmlns:a="http://schemas.openxmlformats.org/drawingml/2006/main">
            <a:off x="4953000" y="2514600"/>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A2B"/>
                </a:solidFill>
                <a:latin typeface="Arial"/>
                <a:ea typeface="Arial"/>
                <a:cs typeface="Arial"/>
              </a:defRPr>
            </a:defPPr>
          </a:lstStyle>
          <a:p xmlns:a="http://schemas.openxmlformats.org/drawingml/2006/main">
            <a:pPr algn="l">
              <a:defRPr sz="2025" b="1">
                <a:solidFill>
                  <a:srgbClr val="152A2B"/>
                </a:solidFill>
                <a:latin typeface="Arial"/>
                <a:ea typeface="Arial"/>
                <a:cs typeface="Arial"/>
              </a:defRPr>
            </a:pPr>
            <a:r>
              <a:rPr sz="2025" b="1">
                <a:solidFill>
                  <a:srgbClr val="152A2B"/>
                </a:solidFill>
                <a:latin typeface="Arial"/>
                <a:ea typeface="Arial"/>
                <a:cs typeface="Arial"/>
              </a:rPr>
              <a:t>1  Model predictions</a:t>
            </a:r>
          </a:p>
        </p:txBody>
      </p:sp>
      <p:sp>
        <p:nvSpPr>
          <p:cNvPr id="10" name="">
            <a:extLst xmlns:a="http://schemas.openxmlformats.org/drawingml/2006/main">
              <a:ext uri="{FF2B5EF4-FFF2-40B4-BE49-F238E27FC236}">
                <a16:creationId xmlns:a16="http://schemas.microsoft.com/office/drawing/2014/main" id="{4A999CDB-0F18-44B4-AF40-A74BF00B318E}"/>
              </a:ext>
            </a:extLst>
          </p:cNvPr>
          <p:cNvSpPr>
            <a:spLocks xmlns:a="http://schemas.openxmlformats.org/drawingml/2006/main" noGrp="1"/>
          </p:cNvSpPr>
          <p:nvPr/>
        </p:nvSpPr>
        <p:spPr>
          <a:xfrm xmlns:a="http://schemas.openxmlformats.org/drawingml/2006/main">
            <a:off x="8410575" y="2524125"/>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D6B"/>
                </a:solidFill>
                <a:latin typeface="Arial"/>
                <a:ea typeface="Arial"/>
                <a:cs typeface="Arial"/>
              </a:defRPr>
            </a:defPPr>
          </a:lstStyle>
          <a:p xmlns:a="http://schemas.openxmlformats.org/drawingml/2006/main">
            <a:pPr algn="l">
              <a:defRPr sz="1725" b="0">
                <a:solidFill>
                  <a:srgbClr val="5A6D6B"/>
                </a:solidFill>
                <a:latin typeface="Arial"/>
                <a:ea typeface="Arial"/>
                <a:cs typeface="Arial"/>
              </a:defRPr>
            </a:pPr>
            <a:r>
              <a:rPr sz="1725" b="0">
                <a:solidFill>
                  <a:srgbClr val="5A6D6B"/>
                </a:solidFill>
                <a:latin typeface="Arial"/>
                <a:ea typeface="Arial"/>
                <a:cs typeface="Arial"/>
              </a:rPr>
              <a:t>Scores + prose</a:t>
            </a:r>
          </a:p>
        </p:txBody>
      </p:sp>
      <p:sp>
        <p:nvSpPr>
          <p:cNvPr id="11" name="">
            <a:extLst xmlns:a="http://schemas.openxmlformats.org/drawingml/2006/main">
              <a:ext uri="{FF2B5EF4-FFF2-40B4-BE49-F238E27FC236}">
                <a16:creationId xmlns:a16="http://schemas.microsoft.com/office/drawing/2014/main" id="{DA6D46C3-1434-43A4-87A3-0B19E088C60F}"/>
              </a:ext>
            </a:extLst>
          </p:cNvPr>
          <p:cNvSpPr>
            <a:spLocks xmlns:a="http://schemas.openxmlformats.org/drawingml/2006/main" noGrp="1"/>
          </p:cNvSpPr>
          <p:nvPr/>
        </p:nvSpPr>
        <p:spPr>
          <a:xfrm xmlns:a="http://schemas.openxmlformats.org/drawingml/2006/main">
            <a:off x="4762500" y="3105150"/>
            <a:ext cx="6819900" cy="638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sp>
      <p:sp>
        <p:nvSpPr>
          <p:cNvPr id="12" name="">
            <a:extLst xmlns:a="http://schemas.openxmlformats.org/drawingml/2006/main">
              <a:ext uri="{FF2B5EF4-FFF2-40B4-BE49-F238E27FC236}">
                <a16:creationId xmlns:a16="http://schemas.microsoft.com/office/drawing/2014/main" id="{5B9FED56-A6AD-449F-9A03-9779BA4A7B2A}"/>
              </a:ext>
            </a:extLst>
          </p:cNvPr>
          <p:cNvSpPr>
            <a:spLocks xmlns:a="http://schemas.openxmlformats.org/drawingml/2006/main" noGrp="1"/>
          </p:cNvSpPr>
          <p:nvPr/>
        </p:nvSpPr>
        <p:spPr>
          <a:xfrm xmlns:a="http://schemas.openxmlformats.org/drawingml/2006/main">
            <a:off x="4953000" y="3257550"/>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A2B"/>
                </a:solidFill>
                <a:latin typeface="Arial"/>
                <a:ea typeface="Arial"/>
                <a:cs typeface="Arial"/>
              </a:defRPr>
            </a:defPPr>
          </a:lstStyle>
          <a:p xmlns:a="http://schemas.openxmlformats.org/drawingml/2006/main">
            <a:pPr algn="l">
              <a:defRPr sz="2025" b="1">
                <a:solidFill>
                  <a:srgbClr val="152A2B"/>
                </a:solidFill>
                <a:latin typeface="Arial"/>
                <a:ea typeface="Arial"/>
                <a:cs typeface="Arial"/>
              </a:defRPr>
            </a:pPr>
            <a:r>
              <a:rPr sz="2025" b="1">
                <a:solidFill>
                  <a:srgbClr val="152A2B"/>
                </a:solidFill>
                <a:latin typeface="Arial"/>
                <a:ea typeface="Arial"/>
                <a:cs typeface="Arial"/>
              </a:rPr>
              <a:t>2  Clinical evaluation</a:t>
            </a:r>
          </a:p>
        </p:txBody>
      </p:sp>
      <p:sp>
        <p:nvSpPr>
          <p:cNvPr id="13" name="">
            <a:extLst xmlns:a="http://schemas.openxmlformats.org/drawingml/2006/main">
              <a:ext uri="{FF2B5EF4-FFF2-40B4-BE49-F238E27FC236}">
                <a16:creationId xmlns:a16="http://schemas.microsoft.com/office/drawing/2014/main" id="{FF285C97-03E4-4B97-91FE-451B2F108CE8}"/>
              </a:ext>
            </a:extLst>
          </p:cNvPr>
          <p:cNvSpPr>
            <a:spLocks xmlns:a="http://schemas.openxmlformats.org/drawingml/2006/main" noGrp="1"/>
          </p:cNvSpPr>
          <p:nvPr/>
        </p:nvSpPr>
        <p:spPr>
          <a:xfrm xmlns:a="http://schemas.openxmlformats.org/drawingml/2006/main">
            <a:off x="8410575" y="3267075"/>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D6B"/>
                </a:solidFill>
                <a:latin typeface="Arial"/>
                <a:ea typeface="Arial"/>
                <a:cs typeface="Arial"/>
              </a:defRPr>
            </a:defPPr>
          </a:lstStyle>
          <a:p xmlns:a="http://schemas.openxmlformats.org/drawingml/2006/main">
            <a:pPr algn="l">
              <a:defRPr sz="1725" b="0">
                <a:solidFill>
                  <a:srgbClr val="5A6D6B"/>
                </a:solidFill>
                <a:latin typeface="Arial"/>
                <a:ea typeface="Arial"/>
                <a:cs typeface="Arial"/>
              </a:defRPr>
            </a:pPr>
            <a:r>
              <a:rPr sz="1725" b="0">
                <a:solidFill>
                  <a:srgbClr val="5A6D6B"/>
                </a:solidFill>
                <a:latin typeface="Arial"/>
                <a:ea typeface="Arial"/>
                <a:cs typeface="Arial"/>
              </a:rPr>
              <a:t>SHAP + literature + prose</a:t>
            </a:r>
          </a:p>
        </p:txBody>
      </p:sp>
      <p:sp>
        <p:nvSpPr>
          <p:cNvPr id="14" name="">
            <a:extLst xmlns:a="http://schemas.openxmlformats.org/drawingml/2006/main">
              <a:ext uri="{FF2B5EF4-FFF2-40B4-BE49-F238E27FC236}">
                <a16:creationId xmlns:a16="http://schemas.microsoft.com/office/drawing/2014/main" id="{BC4AB190-66AD-45D9-80BE-D2F96AB3BA7D}"/>
              </a:ext>
            </a:extLst>
          </p:cNvPr>
          <p:cNvSpPr>
            <a:spLocks xmlns:a="http://schemas.openxmlformats.org/drawingml/2006/main" noGrp="1"/>
          </p:cNvSpPr>
          <p:nvPr/>
        </p:nvSpPr>
        <p:spPr>
          <a:xfrm xmlns:a="http://schemas.openxmlformats.org/drawingml/2006/main">
            <a:off x="4762500" y="3848100"/>
            <a:ext cx="6819900" cy="638175"/>
          </a:xfrm>
          <a:prstGeom xmlns:a="http://schemas.openxmlformats.org/drawingml/2006/main" prst="rect">
            <a:avLst/>
          </a:prstGeom>
          <a:solidFill xmlns:a="http://schemas.openxmlformats.org/drawingml/2006/main">
            <a:srgbClr val="E9F0E9"/>
          </a:solidFill>
          <a:ln xmlns:a="http://schemas.openxmlformats.org/drawingml/2006/main" w="14288">
            <a:solidFill>
              <a:srgbClr val="C7D3CD"/>
            </a:solidFill>
          </a:ln>
        </p:spPr>
      </p:sp>
      <p:sp>
        <p:nvSpPr>
          <p:cNvPr id="15" name="">
            <a:extLst xmlns:a="http://schemas.openxmlformats.org/drawingml/2006/main">
              <a:ext uri="{FF2B5EF4-FFF2-40B4-BE49-F238E27FC236}">
                <a16:creationId xmlns:a16="http://schemas.microsoft.com/office/drawing/2014/main" id="{D4B9B26E-898F-4432-A5BC-83EB9CAB10A5}"/>
              </a:ext>
            </a:extLst>
          </p:cNvPr>
          <p:cNvSpPr>
            <a:spLocks xmlns:a="http://schemas.openxmlformats.org/drawingml/2006/main" noGrp="1"/>
          </p:cNvSpPr>
          <p:nvPr/>
        </p:nvSpPr>
        <p:spPr>
          <a:xfrm xmlns:a="http://schemas.openxmlformats.org/drawingml/2006/main">
            <a:off x="4953000" y="4000500"/>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A2B"/>
                </a:solidFill>
                <a:latin typeface="Arial"/>
                <a:ea typeface="Arial"/>
                <a:cs typeface="Arial"/>
              </a:defRPr>
            </a:defPPr>
          </a:lstStyle>
          <a:p xmlns:a="http://schemas.openxmlformats.org/drawingml/2006/main">
            <a:pPr algn="l">
              <a:defRPr sz="2025" b="1">
                <a:solidFill>
                  <a:srgbClr val="152A2B"/>
                </a:solidFill>
                <a:latin typeface="Arial"/>
                <a:ea typeface="Arial"/>
                <a:cs typeface="Arial"/>
              </a:defRPr>
            </a:pPr>
            <a:r>
              <a:rPr sz="2025" b="1">
                <a:solidFill>
                  <a:srgbClr val="152A2B"/>
                </a:solidFill>
                <a:latin typeface="Arial"/>
                <a:ea typeface="Arial"/>
                <a:cs typeface="Arial"/>
              </a:rPr>
              <a:t>3  Immune evaluation</a:t>
            </a:r>
          </a:p>
        </p:txBody>
      </p:sp>
      <p:sp>
        <p:nvSpPr>
          <p:cNvPr id="16" name="">
            <a:extLst xmlns:a="http://schemas.openxmlformats.org/drawingml/2006/main">
              <a:ext uri="{FF2B5EF4-FFF2-40B4-BE49-F238E27FC236}">
                <a16:creationId xmlns:a16="http://schemas.microsoft.com/office/drawing/2014/main" id="{AFC952D0-ED27-4AAC-ABF0-09C69C60105A}"/>
              </a:ext>
            </a:extLst>
          </p:cNvPr>
          <p:cNvSpPr>
            <a:spLocks xmlns:a="http://schemas.openxmlformats.org/drawingml/2006/main" noGrp="1"/>
          </p:cNvSpPr>
          <p:nvPr/>
        </p:nvSpPr>
        <p:spPr>
          <a:xfrm xmlns:a="http://schemas.openxmlformats.org/drawingml/2006/main">
            <a:off x="8410575" y="4010025"/>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D6B"/>
                </a:solidFill>
                <a:latin typeface="Arial"/>
                <a:ea typeface="Arial"/>
                <a:cs typeface="Arial"/>
              </a:defRPr>
            </a:defPPr>
          </a:lstStyle>
          <a:p xmlns:a="http://schemas.openxmlformats.org/drawingml/2006/main">
            <a:pPr algn="l">
              <a:defRPr sz="1725" b="0">
                <a:solidFill>
                  <a:srgbClr val="5A6D6B"/>
                </a:solidFill>
                <a:latin typeface="Arial"/>
                <a:ea typeface="Arial"/>
                <a:cs typeface="Arial"/>
              </a:defRPr>
            </a:pPr>
            <a:r>
              <a:rPr sz="1725" b="0">
                <a:solidFill>
                  <a:srgbClr val="5A6D6B"/>
                </a:solidFill>
                <a:latin typeface="Arial"/>
                <a:ea typeface="Arial"/>
                <a:cs typeface="Arial"/>
              </a:rPr>
              <a:t>mIF + literature</a:t>
            </a:r>
          </a:p>
        </p:txBody>
      </p:sp>
      <p:sp>
        <p:nvSpPr>
          <p:cNvPr id="17" name="">
            <a:extLst xmlns:a="http://schemas.openxmlformats.org/drawingml/2006/main">
              <a:ext uri="{FF2B5EF4-FFF2-40B4-BE49-F238E27FC236}">
                <a16:creationId xmlns:a16="http://schemas.microsoft.com/office/drawing/2014/main" id="{10BD6628-CCF2-4730-881C-65CA25B40C08}"/>
              </a:ext>
            </a:extLst>
          </p:cNvPr>
          <p:cNvSpPr>
            <a:spLocks xmlns:a="http://schemas.openxmlformats.org/drawingml/2006/main" noGrp="1"/>
          </p:cNvSpPr>
          <p:nvPr/>
        </p:nvSpPr>
        <p:spPr>
          <a:xfrm xmlns:a="http://schemas.openxmlformats.org/drawingml/2006/main">
            <a:off x="4762500" y="4591050"/>
            <a:ext cx="6819900" cy="638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sp>
      <p:sp>
        <p:nvSpPr>
          <p:cNvPr id="18" name="">
            <a:extLst xmlns:a="http://schemas.openxmlformats.org/drawingml/2006/main">
              <a:ext uri="{FF2B5EF4-FFF2-40B4-BE49-F238E27FC236}">
                <a16:creationId xmlns:a16="http://schemas.microsoft.com/office/drawing/2014/main" id="{2BAD131E-B458-4415-B59A-B8583AB50B03}"/>
              </a:ext>
            </a:extLst>
          </p:cNvPr>
          <p:cNvSpPr>
            <a:spLocks xmlns:a="http://schemas.openxmlformats.org/drawingml/2006/main" noGrp="1"/>
          </p:cNvSpPr>
          <p:nvPr/>
        </p:nvSpPr>
        <p:spPr>
          <a:xfrm xmlns:a="http://schemas.openxmlformats.org/drawingml/2006/main">
            <a:off x="4953000" y="4743450"/>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A2B"/>
                </a:solidFill>
                <a:latin typeface="Arial"/>
                <a:ea typeface="Arial"/>
                <a:cs typeface="Arial"/>
              </a:defRPr>
            </a:defPPr>
          </a:lstStyle>
          <a:p xmlns:a="http://schemas.openxmlformats.org/drawingml/2006/main">
            <a:pPr algn="l">
              <a:defRPr sz="2025" b="1">
                <a:solidFill>
                  <a:srgbClr val="152A2B"/>
                </a:solidFill>
                <a:latin typeface="Arial"/>
                <a:ea typeface="Arial"/>
                <a:cs typeface="Arial"/>
              </a:defRPr>
            </a:pPr>
            <a:r>
              <a:rPr sz="2025" b="1">
                <a:solidFill>
                  <a:srgbClr val="152A2B"/>
                </a:solidFill>
                <a:latin typeface="Arial"/>
                <a:ea typeface="Arial"/>
                <a:cs typeface="Arial"/>
              </a:rPr>
              <a:t>4  Conclusions</a:t>
            </a:r>
          </a:p>
        </p:txBody>
      </p:sp>
      <p:sp>
        <p:nvSpPr>
          <p:cNvPr id="19" name="">
            <a:extLst xmlns:a="http://schemas.openxmlformats.org/drawingml/2006/main">
              <a:ext uri="{FF2B5EF4-FFF2-40B4-BE49-F238E27FC236}">
                <a16:creationId xmlns:a16="http://schemas.microsoft.com/office/drawing/2014/main" id="{C63FFB1F-D0B1-4A4E-96C0-F72315FAA966}"/>
              </a:ext>
            </a:extLst>
          </p:cNvPr>
          <p:cNvSpPr>
            <a:spLocks xmlns:a="http://schemas.openxmlformats.org/drawingml/2006/main" noGrp="1"/>
          </p:cNvSpPr>
          <p:nvPr/>
        </p:nvSpPr>
        <p:spPr>
          <a:xfrm xmlns:a="http://schemas.openxmlformats.org/drawingml/2006/main">
            <a:off x="8410575" y="4752975"/>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D6B"/>
                </a:solidFill>
                <a:latin typeface="Arial"/>
                <a:ea typeface="Arial"/>
                <a:cs typeface="Arial"/>
              </a:defRPr>
            </a:defPPr>
          </a:lstStyle>
          <a:p xmlns:a="http://schemas.openxmlformats.org/drawingml/2006/main">
            <a:pPr algn="l">
              <a:defRPr sz="1725" b="0">
                <a:solidFill>
                  <a:srgbClr val="5A6D6B"/>
                </a:solidFill>
                <a:latin typeface="Arial"/>
                <a:ea typeface="Arial"/>
                <a:cs typeface="Arial"/>
              </a:defRPr>
            </a:pPr>
            <a:r>
              <a:rPr sz="1725" b="0">
                <a:solidFill>
                  <a:srgbClr val="5A6D6B"/>
                </a:solidFill>
                <a:latin typeface="Arial"/>
                <a:ea typeface="Arial"/>
                <a:cs typeface="Arial"/>
              </a:rPr>
              <a:t>Hypothesis + uncertainty</a:t>
            </a:r>
          </a:p>
        </p:txBody>
      </p:sp>
      <p:sp>
        <p:nvSpPr>
          <p:cNvPr id="20" name="">
            <a:extLst xmlns:a="http://schemas.openxmlformats.org/drawingml/2006/main">
              <a:ext uri="{FF2B5EF4-FFF2-40B4-BE49-F238E27FC236}">
                <a16:creationId xmlns:a16="http://schemas.microsoft.com/office/drawing/2014/main" id="{AB22BF22-B312-47A6-A09B-D1EE5987D09C}"/>
              </a:ext>
            </a:extLst>
          </p:cNvPr>
          <p:cNvSpPr>
            <a:spLocks xmlns:a="http://schemas.openxmlformats.org/drawingml/2006/main" noGrp="1"/>
          </p:cNvSpPr>
          <p:nvPr/>
        </p:nvSpPr>
        <p:spPr>
          <a:xfrm xmlns:a="http://schemas.openxmlformats.org/drawingml/2006/main">
            <a:off x="4400550" y="4524375"/>
            <a:ext cx="9525" cy="9525"/>
          </a:xfrm>
          <a:prstGeom xmlns:a="http://schemas.openxmlformats.org/drawingml/2006/main" prst="rect">
            <a:avLst/>
          </a:prstGeom>
          <a:solidFill xmlns:a="http://schemas.openxmlformats.org/drawingml/2006/main">
            <a:srgbClr val="F5F7F2"/>
          </a:solidFill>
          <a:ln xmlns:a="http://schemas.openxmlformats.org/drawingml/2006/main" w="14288">
            <a:solidFill>
              <a:srgbClr val="F5F7F2"/>
            </a:solidFill>
          </a:ln>
        </p:spPr>
      </p:sp>
      <p:sp>
        <p:nvSpPr>
          <p:cNvPr id="22" name="">
            <a:extLst xmlns:a="http://schemas.openxmlformats.org/drawingml/2006/main">
              <a:ext uri="{FF2B5EF4-FFF2-40B4-BE49-F238E27FC236}">
                <a16:creationId xmlns:a16="http://schemas.microsoft.com/office/drawing/2014/main" id="{618EC21E-E521-4838-B88D-F4A295B31252}"/>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Application JSON carries the finished narrative. The UI joins it to scores and plots by patient ID.</a:t>
            </a:r>
          </a:p>
        </p:txBody>
      </p:sp>
    </p:spTree>
    <p:extLst>
      <p:ext uri="{BB962C8B-B14F-4D97-AF65-F5344CB8AC3E}">
        <p14:creationId xmlns:p14="http://schemas.microsoft.com/office/powerpoint/2010/main" val="499162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2026-10-14T14:28:38.8570000Z</dcterms:created>
  <dcterms:modified xsi:type="dcterms:W3CDTF">2026-10-14T14:28:38.8570000Z</dcterms:modified>
</coreProperties>
</file>