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67f154c76ec4432" /><Relationship Type="http://schemas.openxmlformats.org/officeDocument/2006/relationships/extended-properties" Target="/docProps/app.xml" Id="R44c86f9a7e3d43b5" /><Relationship Type="http://schemas.openxmlformats.org/officeDocument/2006/relationships/officeDocument" Target="/ppt/presentation.xml" Id="R4e590d8e859a4d5d" /></Relationships>
</file>

<file path=ppt/presentation.xml><?xml version="1.0" encoding="utf-8"?>
<p:presentation xmlns:p="http://schemas.openxmlformats.org/presentationml/2006/main">
  <p:sldMasterIdLst>
    <p:sldMasterId xmlns:r="http://schemas.openxmlformats.org/officeDocument/2006/relationships" id="2147483648" r:id="R86f8191ef0b9449f"/>
  </p:sldMasterIdLst>
  <p:notesMasterIdLst>
    <p:notesMasterId xmlns:r="http://schemas.openxmlformats.org/officeDocument/2006/relationships" r:id="Rcbadf72888db4497"/>
  </p:notesMasterIdLst>
  <p:sldIdLst>
    <p:sldId xmlns:r="http://schemas.openxmlformats.org/officeDocument/2006/relationships" id="256" r:id="R2eeeca3d2ca548f7"/>
    <p:sldId xmlns:r="http://schemas.openxmlformats.org/officeDocument/2006/relationships" id="257" r:id="R1ff6e33d89bb4568"/>
    <p:sldId xmlns:r="http://schemas.openxmlformats.org/officeDocument/2006/relationships" id="258" r:id="Rcfadd39342b8499e"/>
    <p:sldId xmlns:r="http://schemas.openxmlformats.org/officeDocument/2006/relationships" id="259" r:id="R6b2b784af23e4c9e"/>
    <p:sldId xmlns:r="http://schemas.openxmlformats.org/officeDocument/2006/relationships" id="260" r:id="R1849992686bd4cff"/>
    <p:sldId xmlns:r="http://schemas.openxmlformats.org/officeDocument/2006/relationships" id="261" r:id="R6ff7c679e66a476b"/>
    <p:sldId xmlns:r="http://schemas.openxmlformats.org/officeDocument/2006/relationships" id="262" r:id="R77014e4e155c418c"/>
    <p:sldId xmlns:r="http://schemas.openxmlformats.org/officeDocument/2006/relationships" id="263" r:id="Re57bb3d3294840cd"/>
    <p:sldId xmlns:r="http://schemas.openxmlformats.org/officeDocument/2006/relationships" id="264" r:id="R90408c90e2f94413"/>
    <p:sldId xmlns:r="http://schemas.openxmlformats.org/officeDocument/2006/relationships" id="265" r:id="R122d32b57a994b70"/>
    <p:sldId xmlns:r="http://schemas.openxmlformats.org/officeDocument/2006/relationships" id="266" r:id="Rac534912542648a9"/>
    <p:sldId xmlns:r="http://schemas.openxmlformats.org/officeDocument/2006/relationships" id="267" r:id="R30008ac052a449c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58b023c86764e10" /><Relationship Type="http://schemas.openxmlformats.org/officeDocument/2006/relationships/slideMaster" Target="/ppt/slideMasters/slideMaster1.xml" Id="R86f8191ef0b9449f" /><Relationship Type="http://schemas.openxmlformats.org/officeDocument/2006/relationships/notesMaster" Target="/ppt/notesMasters/notesMaster1.xml" Id="Rcbadf72888db4497" /><Relationship Type="http://schemas.openxmlformats.org/officeDocument/2006/relationships/presProps" Target="/ppt/presProps.xml" Id="R6a6098f91e7443ca" /><Relationship Type="http://schemas.openxmlformats.org/officeDocument/2006/relationships/tableStyles" Target="/ppt/tableStyles.xml" Id="Rfbc9bf77580a445b" /><Relationship Type="http://schemas.openxmlformats.org/officeDocument/2006/relationships/slide" Target="/ppt/slides/slide1.xml" Id="R2eeeca3d2ca548f7" /><Relationship Type="http://schemas.openxmlformats.org/officeDocument/2006/relationships/slide" Target="/ppt/slides/slide2.xml" Id="R1ff6e33d89bb4568" /><Relationship Type="http://schemas.openxmlformats.org/officeDocument/2006/relationships/slide" Target="/ppt/slides/slide3.xml" Id="Rcfadd39342b8499e" /><Relationship Type="http://schemas.openxmlformats.org/officeDocument/2006/relationships/slide" Target="/ppt/slides/slide4.xml" Id="R6b2b784af23e4c9e" /><Relationship Type="http://schemas.openxmlformats.org/officeDocument/2006/relationships/slide" Target="/ppt/slides/slide5.xml" Id="R1849992686bd4cff" /><Relationship Type="http://schemas.openxmlformats.org/officeDocument/2006/relationships/slide" Target="/ppt/slides/slide6.xml" Id="R6ff7c679e66a476b" /><Relationship Type="http://schemas.openxmlformats.org/officeDocument/2006/relationships/slide" Target="/ppt/slides/slide7.xml" Id="R77014e4e155c418c" /><Relationship Type="http://schemas.openxmlformats.org/officeDocument/2006/relationships/slide" Target="/ppt/slides/slide8.xml" Id="Re57bb3d3294840cd" /><Relationship Type="http://schemas.openxmlformats.org/officeDocument/2006/relationships/slide" Target="/ppt/slides/slide9.xml" Id="R90408c90e2f94413" /><Relationship Type="http://schemas.openxmlformats.org/officeDocument/2006/relationships/slide" Target="/ppt/slides/slide10.xml" Id="R122d32b57a994b70" /><Relationship Type="http://schemas.openxmlformats.org/officeDocument/2006/relationships/slide" Target="/ppt/slides/slide11.xml" Id="Rac534912542648a9" /><Relationship Type="http://schemas.openxmlformats.org/officeDocument/2006/relationships/slide" Target="/ppt/slides/slide12.xml" Id="R30008ac052a449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c3daa971b742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c2db5926764444" /><Relationship Type="http://schemas.openxmlformats.org/officeDocument/2006/relationships/notesMaster" Target="/ppt/notesMasters/notesMaster1.xml" Id="Ra4b3f999bbbc45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e91f0bbfb804fff" /><Relationship Type="http://schemas.openxmlformats.org/officeDocument/2006/relationships/notesMaster" Target="/ppt/notesMasters/notesMaster1.xml" Id="Rb0f09d25d22543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0b2935724a403e" /><Relationship Type="http://schemas.openxmlformats.org/officeDocument/2006/relationships/notesMaster" Target="/ppt/notesMasters/notesMaster1.xml" Id="R5c7bb8cc5d744b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b04dc18adf4934" /><Relationship Type="http://schemas.openxmlformats.org/officeDocument/2006/relationships/notesMaster" Target="/ppt/notesMasters/notesMaster1.xml" Id="R70e7c4d331af44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cf026ae3fb4c1d" /><Relationship Type="http://schemas.openxmlformats.org/officeDocument/2006/relationships/notesMaster" Target="/ppt/notesMasters/notesMaster1.xml" Id="R7900ca2c16784ec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6b5b66b40e4d3a" /><Relationship Type="http://schemas.openxmlformats.org/officeDocument/2006/relationships/notesMaster" Target="/ppt/notesMasters/notesMaster1.xml" Id="Rca1a3ba48adb4e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141a7b62474de1" /><Relationship Type="http://schemas.openxmlformats.org/officeDocument/2006/relationships/notesMaster" Target="/ppt/notesMasters/notesMaster1.xml" Id="R7a5e7b5a1bf846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8bcdc9c80143c6" /><Relationship Type="http://schemas.openxmlformats.org/officeDocument/2006/relationships/notesMaster" Target="/ppt/notesMasters/notesMaster1.xml" Id="Rdb7a4ecb06ef49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3683ab0da95d4594" /><Relationship Type="http://schemas.openxmlformats.org/officeDocument/2006/relationships/notesMaster" Target="/ppt/notesMasters/notesMaster1.xml" Id="R0f2f014f25374b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31832dd02ea48a4" /><Relationship Type="http://schemas.openxmlformats.org/officeDocument/2006/relationships/notesMaster" Target="/ppt/notesMasters/notesMaster1.xml" Id="R93b20c454bdd4cc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476341bb3140f3" /><Relationship Type="http://schemas.openxmlformats.org/officeDocument/2006/relationships/notesMaster" Target="/ppt/notesMasters/notesMaster1.xml" Id="Rc3b3d4a15eb0406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64e3970b46f4def" /><Relationship Type="http://schemas.openxmlformats.org/officeDocument/2006/relationships/notesMaster" Target="/ppt/notesMasters/notesMaster1.xml" Id="Rd71b1253105b44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explains Paulo’s local interpretation component and the interfaces that will connect the clinical, mIF and fusion models to Junhao’s demo. The copilot uses NVIDIA Nemotron-Mini-4B-Instruct through local vLLM. NVIDIA describes it as a general instruction model, rather than a clinically tuned model. Upstream model integration, UI implementation and actual A30 generation remain pending. The cover is a conceptual AI illustration, not a pathology image. Visual provenance: built-in ImageGen, presentations/assets/cover.png. Prompts are recorded in presentations/assets/image_prompts.md.</a:t>
            </a:r>
          </a:p>
          <a:p xmlns:a="http://schemas.openxmlformats.org/drawingml/2006/main">
            <a:r>
              <a:t/>
            </a:r>
          </a:p>
          <a:p xmlns:a="http://schemas.openxmlformats.org/drawingml/2006/main">
            <a:r>
              <a:t>Sources:</a:t>
            </a:r>
          </a:p>
          <a:p xmlns:a="http://schemas.openxmlformats.org/drawingml/2006/main">
            <a:r>
              <a:t>User-provided hackathon scope</a:t>
            </a:r>
          </a:p>
          <a:p xmlns:a="http://schemas.openxmlformats.org/drawingml/2006/main">
            <a:r>
              <a:t>https://github.com/paulocilasjr/MyStudies_AppliedScripts/blob/103f5af/NVIDIA_Nemotron/README.md</a:t>
            </a:r>
          </a:p>
          <a:p xmlns:a="http://schemas.openxmlformats.org/drawingml/2006/main">
            <a:r>
              <a:t>https://huggingface.co/nvidia/Nemotron-Mini-4B-Instruct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reports 48 patients with clinical data and 29 of those with mIF. The 29 paired patients form the target comparison cohort, but the actual evaluable count depends on complete predictions, labels, an agreed endpoint and declared test/out-of-fold status. The extra mIF cases have substantial batch effects. H&amp;E remains pending. Counts describe available data, not completed model experiments.</a:t>
            </a:r>
          </a:p>
          <a:p xmlns:a="http://schemas.openxmlformats.org/drawingml/2006/main">
            <a:r>
              <a:t/>
            </a:r>
          </a:p>
          <a:p xmlns:a="http://schemas.openxmlformats.org/drawingml/2006/main">
            <a:r>
              <a:t>Sources:</a:t>
            </a:r>
          </a:p>
          <a:p xmlns:a="http://schemas.openxmlformats.org/drawingml/2006/main">
            <a:r>
              <a:t>User-provided hackathon scope</a:t>
            </a:r>
          </a:p>
          <a:p xmlns:a="http://schemas.openxmlformats.org/drawingml/2006/main">
            <a:r>
              <a:t>https://github.com/paulocilasjr/MyStudies_AppliedScripts/blob/103f5af/NVIDIA_Nemotron/docs/research_review.md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Upstream clinical and mIF models provide scores to a future late-fusion model. Clinical, mIF and fused outputs each independently enter the shared patient contract, which preserves missing modalities and permits clinical-only records. Raw clinical data and image data remain in upstream model workflows. The copilot consumes exported predictions, feature measurements, optional signed model attributions and supplied context. All upstream models and the demo UI are separate workstreams. This repository implements the copilot and its Python, CLI and local HTTP integration interfaces. The image is a conceptual architecture diagram generated with built-in ImageGen; exact prompt is in presentations/assets/image_prompts.md. Diagram labels and seven edges were inspected against the implementation.</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https://github.com/paulocilasjr/MyStudies_AppliedScripts/blob/103f5af/NVIDIA_Nemotron/docs/integration.md</a:t>
            </a:r>
          </a:p>
          <a:p xmlns:a="http://schemas.openxmlformats.org/drawingml/2006/main">
            <a:r>
              <a:t>https://github.com/paulocilasjr/MyStudies_AppliedScripts/blob/103f5af/NVIDIA_Nemotron/src/icb_copilot/io.py</a:t>
            </a:r>
          </a:p>
          <a:p xmlns:a="http://schemas.openxmlformats.org/drawingml/2006/main">
            <a:r>
              <a:t>https://github.com/paulocilasjr/MyStudies_AppliedScripts/blob/103f5af/NVIDIA_Nemotron/src/icb_copilot/copilot.py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module validates all inputs before generation and revalidates dataclass inputs. It joins by patient ID, rejects duplicates and never synthesizes a missing modality score. The application builds the factual score/feature sentence directly from canonical inputs. Ground-truth labels never enter the prompt. The local backend applies the model chat template, checks the 4,096-token context budget and uses guided JSON decoding. Screening is a conservative heuristic and cannot establish clinical correctness. Rejected generated prose becomes deterministic fallback text. Model initialization/runtime failures propagate, without becoming mock. Batch artifacts are staged and published only on success.</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https://github.com/paulocilasjr/MyStudies_AppliedScripts/blob/103f5af/NVIDIA_Nemotron/src/icb_copilot/schema.py</a:t>
            </a:r>
          </a:p>
          <a:p xmlns:a="http://schemas.openxmlformats.org/drawingml/2006/main">
            <a:r>
              <a:t>https://github.com/paulocilasjr/MyStudies_AppliedScripts/blob/103f5af/NVIDIA_Nemotron/src/icb_copilot/copilot.py</a:t>
            </a:r>
          </a:p>
          <a:p xmlns:a="http://schemas.openxmlformats.org/drawingml/2006/main">
            <a:r>
              <a:t>https://github.com/paulocilasjr/MyStudies_AppliedScripts/blob/103f5af/NVIDIA_Nemotron/src/icb_copilot/backends.py</a:t>
            </a:r>
          </a:p>
          <a:p xmlns:a="http://schemas.openxmlformats.org/drawingml/2006/main">
            <a:r>
              <a:t>https://github.com/paulocilasjr/MyStudies_AppliedScripts/blob/103f5af/NVIDIA_Nemotron/src/icb_copilot/experiment.py</a:t>
            </a:r>
          </a:p>
          <a:p xmlns:a="http://schemas.openxmlformats.org/drawingml/2006/main">
            <a:r>
              <a:t>https://huggingface.co/nvidia/Nemotron-Mini-4B-Instruct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compact example intentionally leaves the responder endpoint unspecified. The canonical schema supports clinical, mif and fused keys, each with probability and optional model_id, calibration and decision_threshold. Probability must be numeric, finite and in [0,1]. Missing scores remain absent. Top features carry value, unit, measurement direction and an optional signed attribution with method and scale. All scores and attribution signs must refer to the responder class. Unsupported keys, including a future H&amp;E modality, require an explicit versioned extension. This example omits feature/context metadata only for readability.</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https://github.com/paulocilasjr/MyStudies_AppliedScripts/blob/103f5af/NVIDIA_Nemotron/docs/integration.md</a:t>
            </a:r>
          </a:p>
          <a:p xmlns:a="http://schemas.openxmlformats.org/drawingml/2006/main">
            <a:r>
              <a:t>https://github.com/paulocilasjr/MyStudies_AppliedScripts/blob/103f5af/NVIDIA_Nemotron/src/icb_copilot/schema.py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P12 is entirely synthetic. The scores are clinical 0.21, mIF 0.78 and fused 0.57, with unknown calibration. The absolute clinical/mIF score gap is 0.57, exceeding the configurable presentation cutoff of 0.20. This cutoff is heuristic and is not a clinical uncertainty threshold. The supplied 0.5 classification thresholds also yield disagreement. The quoted text is an exact sentence from the deterministic mock interpretation. The fused score comes from the fixture and does not demonstrate an improvement in accuracy, clinical decisions or outcomes.</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https://github.com/paulocilasjr/MyStudies_AppliedScripts/blob/103f5af/NVIDIA_Nemotron/examples/mock_predictions.jsonl</a:t>
            </a:r>
          </a:p>
          <a:p xmlns:a="http://schemas.openxmlformats.org/drawingml/2006/main">
            <a:r>
              <a:t>https://github.com/paulocilasjr/MyStudies_AppliedScripts/blob/103f5af/NVIDIA_Nemotron/src/icb_copilot/copilot.py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bash run_hpc.sh submits an asynchronous sbatch job and prints job ID and log locations. The job runs on red with one A30, 32 GB host memory and a four-hour limit by default. It loads the Anaconda module, creates an isolated Python 3.11 environment, installs pinned vLLM/PyTorch CUDA 12.8 dependencies, runs doctor checks, prepares the pinned public NVIDIA snapshot and then runs local offline-library inference. It does not load the site PyTorch/CUDA13 modules. Setup uses a fingerprint and lock. If compute nodes cannot download artifacts, use --prepare-only on an approved network-connected node, then submit --offline. These flags do not create a network firewall. A30 loading and generation remain a site verification step. Generated results default to results/hpc-&lt;jobid&gt;/.</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https://github.com/paulocilasjr/MyStudies_AppliedScripts/blob/103f5af/NVIDIA_Nemotron/scripts/run_hpc.sh</a:t>
            </a:r>
          </a:p>
          <a:p xmlns:a="http://schemas.openxmlformats.org/drawingml/2006/main">
            <a:r>
              <a:t>https://github.com/paulocilasjr/MyStudies_AppliedScripts/blob/103f5af/NVIDIA_Nemotron/config/hpc.env.example</a:t>
            </a:r>
          </a:p>
          <a:p xmlns:a="http://schemas.openxmlformats.org/drawingml/2006/main">
            <a:r>
              <a:t>https://github.com/paulocilasjr/MyStudies_AppliedScripts/blob/103f5af/NVIDIA_Nemotron/requirements-vllm.txt</a:t>
            </a:r>
          </a:p>
          <a:p xmlns:a="http://schemas.openxmlformats.org/drawingml/2006/main">
            <a:r>
              <a:t>https://github.com/paulocilasjr/MyStudies_AppliedScripts/blob/103f5af/NVIDIA_Nemotron/docs/hpc.md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planned team workstreams and the interfaces they will provide once their models are ready. Isis owns clinical preprocessing/modeling, Alyssa owns mIF preprocessing/modeling, Paulo owns this copilot and Junhao owns the UI. A fusion owner has not been assigned in the supplied plan. Clinical, mIF and fused CSVs each include patient_id and probability, with optional metadata. A context JSONL sidecar carries features, clinical context, response definition, labels and evaluation partition. Slide mapping and aggregation belong upstream. assemble joins the patient union and preserves missing modalities. H&amp;E requires a new model plus explicit schema, adapter and evaluation changes because the current schema accepts only clinical/mif/fused.</a:t>
            </a:r>
          </a:p>
          <a:p xmlns:a="http://schemas.openxmlformats.org/drawingml/2006/main">
            <a:r>
              <a:t/>
            </a:r>
          </a:p>
          <a:p xmlns:a="http://schemas.openxmlformats.org/drawingml/2006/main">
            <a:r>
              <a:t>Sources:</a:t>
            </a:r>
          </a:p>
          <a:p xmlns:a="http://schemas.openxmlformats.org/drawingml/2006/main">
            <a:r>
              <a:t>User-provided team responsibilities</a:t>
            </a:r>
          </a:p>
          <a:p xmlns:a="http://schemas.openxmlformats.org/drawingml/2006/main">
            <a:r>
              <a:t>https://github.com/paulocilasjr/MyStudies_AppliedScripts/blob/103f5af/NVIDIA_Nemotron/docs/integration.md</a:t>
            </a:r>
          </a:p>
          <a:p xmlns:a="http://schemas.openxmlformats.org/drawingml/2006/main">
            <a:r>
              <a:t>https://github.com/paulocilasjr/MyStudies_AppliedScripts/blob/103f5af/NVIDIA_Nemotron/src/icb_copilot/io.py</a:t>
            </a:r>
          </a:p>
          <a:p xmlns:a="http://schemas.openxmlformats.org/drawingml/2006/main">
            <a:r>
              <a:t>https://github.com/paulocilasjr/MyStudies_AppliedScripts/blob/103f5af/NVIDIA_Nemotron/src/icb_copilot/schema.py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default is a file-based hackathon demo that reads completed narratives.jsonl, reducing the need for a live GPU process during presentation. This is a recommendation, not a team decision. JSONL results include unchanged model scores, supplied features/context, response_definition, comparison, narrative, narrative_source, quality, limitations, review_required and provenance. Other artifacts are narratives.csv, report.md, manifest.json and metrics.json. The optional HTTP server binds only to loopback, provides GET /health, POST /v1/interpret and POST /v1/interpret-batch, and uses a reused/lazy-loaded local model. Browser UIs should call through their backend if they use another origin. Same-node or approved SSH-tunnel access must respect site data handling. /health does not certify a GPU model load.</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https://github.com/paulocilasjr/MyStudies_AppliedScripts/blob/103f5af/NVIDIA_Nemotron/docs/integration.md</a:t>
            </a:r>
          </a:p>
          <a:p xmlns:a="http://schemas.openxmlformats.org/drawingml/2006/main">
            <a:r>
              <a:t>https://github.com/paulocilasjr/MyStudies_AppliedScripts/blob/103f5af/NVIDIA_Nemotron/src/icb_copilot/server.py</a:t>
            </a:r>
          </a:p>
          <a:p xmlns:a="http://schemas.openxmlformats.org/drawingml/2006/main">
            <a:r>
              <a:t>https://github.com/paulocilasjr/MyStudies_AppliedScripts/blob/103f5af/NVIDIA_Nemotron/src/icb_copilot/experiment.py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evaluator computes exploratory AUROC and Brier score for explicitly labeled test/out_of_fold records with a specified response definition. It separates partition/endpoint strings but does not prove true held-out status or fold construction. available_cohorts can have different patient sets. paired_all_modalities includes only records with all three outputs and is the relevant paired comparison. Accuracy uses only supplied thresholds and may have a different denominator. Multiple model IDs are listed and require producer review. Synthetic/unlabeled records do not establish performance. The current four synthetic cases yield no eligible performance cohort. The implementation does not compute confidence intervals or significance. Independent narrative review must examine exact facts, evidence, source and limitations. Guided JSON controls format, not medical correctness.</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https://github.com/paulocilasjr/MyStudies_AppliedScripts/blob/103f5af/NVIDIA_Nemotron/src/icb_copilot/evaluate.py</a:t>
            </a:r>
          </a:p>
          <a:p xmlns:a="http://schemas.openxmlformats.org/drawingml/2006/main">
            <a:r>
              <a:t>https://github.com/paulocilasjr/MyStudies_AppliedScripts/blob/103f5af/NVIDIA_Nemotron/docs/research_review.md</a:t>
            </a:r>
          </a:p>
          <a:p xmlns:a="http://schemas.openxmlformats.org/drawingml/2006/main">
            <a:r>
              <a:t>https://github.com/paulocilasjr/MyStudies_AppliedScripts/blob/103f5af/NVIDIA_Nemotron/src/icb_copilot/copilot.py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owner assignments and defaults below are proposals to confirm with the team. The responder definition is explicitly undecided in the user’s reply. There is no supplied fusion owner or clinical reviewer, so those remain TBD. A prespecified simple late-fusion baseline is a proposed starting point rather than implemented fusion. Avoid training or tuning fusion on evaluation predictions; use appropriately constructed training/OOF data and a shared independent evaluation design. Unknown calibration and null thresholds should remain until the modeling team provides supported metadata. The artifact-first recommendation reflects demo reliability, not an adopted team choice. Extra batches and H&amp;E remain pending extensions.</a:t>
            </a:r>
          </a:p>
          <a:p xmlns:a="http://schemas.openxmlformats.org/drawingml/2006/main">
            <a:r>
              <a:t/>
            </a:r>
          </a:p>
          <a:p xmlns:a="http://schemas.openxmlformats.org/drawingml/2006/main">
            <a:r>
              <a:t>Sources:</a:t>
            </a:r>
          </a:p>
          <a:p xmlns:a="http://schemas.openxmlformats.org/drawingml/2006/main">
            <a:r>
              <a:t>User reply: responder definition still undecided</a:t>
            </a:r>
          </a:p>
          <a:p xmlns:a="http://schemas.openxmlformats.org/drawingml/2006/main">
            <a:r>
              <a:t>User-provided team responsibilities</a:t>
            </a:r>
          </a:p>
          <a:p xmlns:a="http://schemas.openxmlformats.org/drawingml/2006/main">
            <a:r>
              <a:t>https://github.com/paulocilasjr/MyStudies_AppliedScripts/blob/103f5af/NVIDIA_Nemotron/docs/integration.md</a:t>
            </a:r>
          </a:p>
          <a:p xmlns:a="http://schemas.openxmlformats.org/drawingml/2006/main">
            <a:r>
              <a:t>https://github.com/paulocilasjr/MyStudies_AppliedScripts/blob/103f5af/NVIDIA_Nemotron/docs/research_review.md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checkpoints with no invented dates. Current implementation and synthetic interface tests are complete, but no real A30 model generation has occurred in this local task. The team must agree endpoint and exports, verify model generation on HPC, provide correctly held-out model predictions and fusion, run the copilot on the resulting records, review representative narratives and integrate the UI. Acceptance must distinguish real vLLM output from deterministic fallback and show limitations/source/review flags. H&amp;E and batch expansion can remain later work until schema and evaluation plans are agreed. The one-command path provides the runnable setup/experiment mechanism once transferred to the approved site filesystem.</a:t>
            </a:r>
          </a:p>
          <a:p xmlns:a="http://schemas.openxmlformats.org/drawingml/2006/main">
            <a:r>
              <a:t/>
            </a:r>
          </a:p>
          <a:p xmlns:a="http://schemas.openxmlformats.org/drawingml/2006/main">
            <a:r>
              <a:t>Sources:</a:t>
            </a:r>
          </a:p>
          <a:p xmlns:a="http://schemas.openxmlformats.org/drawingml/2006/main">
            <a:r>
              <a:t>https://github.com/paulocilasjr/MyStudies_AppliedScripts/blob/103f5af/NVIDIA_Nemotron/README.md</a:t>
            </a:r>
          </a:p>
          <a:p xmlns:a="http://schemas.openxmlformats.org/drawingml/2006/main">
            <a:r>
              <a:t>https://github.com/paulocilasjr/MyStudies_AppliedScripts/blob/103f5af/NVIDIA_Nemotron/docs/hpc.md</a:t>
            </a:r>
          </a:p>
          <a:p xmlns:a="http://schemas.openxmlformats.org/drawingml/2006/main">
            <a:r>
              <a:t>https://github.com/paulocilasjr/MyStudies_AppliedScripts/blob/103f5af/NVIDIA_Nemotron/docs/research_review.md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d45fcd23f949a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95bfcb131b346e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90611b05c6041b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32c422fdceb41d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f4605b9400743b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be6d8e6623b4f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79F627-113E-4074-859F-82267C3A84C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B7E9CFC-5E85-4F71-8F04-3DA98EFEDF1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A027976-780C-483E-BE80-AF95790755C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18B022-DFD4-409A-908E-A007D30B61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B08C168-DF08-4B2B-8331-BB3CE1BBDB3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E4C2764-CBF2-4D52-ADBE-C2B2C7F5FE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E4FFF4-17D6-4673-824C-9F3908D29AC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5925540-373D-48E0-91E6-7DB26429A3F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FC947A-F50E-4E24-8582-E63264EB49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F0BE2A6-A4B7-490A-882F-781AECB062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ce1834949b4fe8" /><Relationship Type="http://schemas.openxmlformats.org/officeDocument/2006/relationships/slideLayout" Target="/ppt/slideLayouts/slideLayout1.xml" Id="Rd7dea6301e7e4af5" /><Relationship Type="http://schemas.openxmlformats.org/officeDocument/2006/relationships/slideLayout" Target="/ppt/slideLayouts/slideLayout2.xml" Id="R4f6fcef254fe411f" /><Relationship Type="http://schemas.openxmlformats.org/officeDocument/2006/relationships/slideLayout" Target="/ppt/slideLayouts/slideLayout3.xml" Id="R8d072a3d0dbf4f63" /><Relationship Type="http://schemas.openxmlformats.org/officeDocument/2006/relationships/slideLayout" Target="/ppt/slideLayouts/slideLayout4.xml" Id="R7ee9788fe6c643f2" /><Relationship Type="http://schemas.openxmlformats.org/officeDocument/2006/relationships/slideLayout" Target="/ppt/slideLayouts/slideLayout5.xml" Id="Rec91ecda961d4570" /><Relationship Type="http://schemas.openxmlformats.org/officeDocument/2006/relationships/slideLayout" Target="/ppt/slideLayouts/slideLayout6.xml" Id="R26c07b6fca894e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dea6301e7e4af5"/>
    <p:sldLayoutId xmlns:r="http://schemas.openxmlformats.org/officeDocument/2006/relationships" id="2147483650" r:id="R4f6fcef254fe411f"/>
    <p:sldLayoutId xmlns:r="http://schemas.openxmlformats.org/officeDocument/2006/relationships" id="2147483651" r:id="R8d072a3d0dbf4f63"/>
    <p:sldLayoutId xmlns:r="http://schemas.openxmlformats.org/officeDocument/2006/relationships" id="2147483652" r:id="R7ee9788fe6c643f2"/>
    <p:sldLayoutId xmlns:r="http://schemas.openxmlformats.org/officeDocument/2006/relationships" id="2147483653" r:id="Rec91ecda961d4570"/>
    <p:sldLayoutId xmlns:r="http://schemas.openxmlformats.org/officeDocument/2006/relationships" id="2147483654" r:id="R26c07b6fca894e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6feb71a9cf74111" /><Relationship Type="http://schemas.openxmlformats.org/officeDocument/2006/relationships/image" Target="/ppt/media/image.png" Id="Rb823bc757ed64e05" /><Relationship Type="http://schemas.openxmlformats.org/officeDocument/2006/relationships/notesSlide" Target="/ppt/notesSlides/notesSlide1.xml" Id="Rf255da5c27854e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e9e5c0ee2a948a6" /><Relationship Type="http://schemas.openxmlformats.org/officeDocument/2006/relationships/chart" Target="/ppt/slides/charts/chart1.xml" Id="R8110ea5ec2ec4bb6" /><Relationship Type="http://schemas.openxmlformats.org/officeDocument/2006/relationships/notesSlide" Target="/ppt/notesSlides/notesSlide2.xml" Id="Rc6ba3a72be5949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bb061b9e61e47f4" /><Relationship Type="http://schemas.openxmlformats.org/officeDocument/2006/relationships/image" Target="/ppt/media/image2.png" Id="R8a258aeb8f1443cb" /><Relationship Type="http://schemas.openxmlformats.org/officeDocument/2006/relationships/notesSlide" Target="/ppt/notesSlides/notesSlide3.xml" Id="R7df7e5ededb842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1450ada0fd847b4" /><Relationship Type="http://schemas.openxmlformats.org/officeDocument/2006/relationships/notesSlide" Target="/ppt/notesSlides/notesSlide4.xml" Id="Rfade266a4aec41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8e505f53f6041ef" /><Relationship Type="http://schemas.openxmlformats.org/officeDocument/2006/relationships/notesSlide" Target="/ppt/notesSlides/notesSlide5.xml" Id="R2b28c8fbeadb48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abd93e6a35c413c" /><Relationship Type="http://schemas.openxmlformats.org/officeDocument/2006/relationships/chart" Target="/ppt/slides/charts/chart2.xml" Id="R2a8ed627a6ec4b35" /><Relationship Type="http://schemas.openxmlformats.org/officeDocument/2006/relationships/notesSlide" Target="/ppt/notesSlides/notesSlide6.xml" Id="Rfe42d0cbb94d41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67c9eb548924db4" /><Relationship Type="http://schemas.openxmlformats.org/officeDocument/2006/relationships/notesSlide" Target="/ppt/notesSlides/notesSlide7.xml" Id="R68d015080b124e4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f0ed67f7b48435c" /><Relationship Type="http://schemas.openxmlformats.org/officeDocument/2006/relationships/notesSlide" Target="/ppt/notesSlides/notesSlide8.xml" Id="R18edad5bb8dd44d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cbfb58b35c44be3" /><Relationship Type="http://schemas.openxmlformats.org/officeDocument/2006/relationships/notesSlide" Target="/ppt/notesSlides/notesSlide9.xml" Id="Ra4f35f6ab9fe42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f1964dd6dea454d" /><Relationship Type="http://schemas.openxmlformats.org/officeDocument/2006/relationships/notesSlide" Target="/ppt/notesSlides/notesSlide10.xml" Id="Rafc5d277903b477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f53d2f8fed7448b" /><Relationship Type="http://schemas.openxmlformats.org/officeDocument/2006/relationships/notesSlide" Target="/ppt/notesSlides/notesSlide11.xml" Id="R259945ae1fe640f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a2a5d6bd4b2474b" /><Relationship Type="http://schemas.openxmlformats.org/officeDocument/2006/relationships/notesSlide" Target="/ppt/notesSlides/notesSlide12.xml" Id="Reab5bedfd05e40a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Patients</c:v>
          </c:tx>
          <c:spPr>
            <a:solidFill xmlns:a="http://schemas.openxmlformats.org/drawingml/2006/main">
              <a:srgbClr val="76B900"/>
            </a:solidFill>
          </c:spPr>
          <c:invertIfNegative val="0"/>
          <c:dPt>
            <c:idx val="0"/>
            <c:invertIfNegative val="0"/>
            <c:spPr>
              <a:solidFill xmlns:a="http://schemas.openxmlformats.org/drawingml/2006/main">
                <a:srgbClr val="12211C"/>
              </a:solidFill>
            </c:spPr>
          </c:dPt>
          <c:dPt>
            <c:idx val="1"/>
            <c:invertIfNegative val="0"/>
            <c:spPr>
              <a:solidFill xmlns:a="http://schemas.openxmlformats.org/drawingml/2006/main">
                <a:srgbClr val="009688"/>
              </a:solidFill>
            </c:spPr>
          </c:dPt>
          <c:cat>
            <c:strRef>
              <c:f>'Chart Data'!$A$2:$A$3</c:f>
              <c:strCache>
                <c:ptCount val="2"/>
                <c:pt idx="0">
                  <c:v>Clinical data</c:v>
                </c:pt>
                <c:pt idx="1">
                  <c:v>Clinical + mIF</c:v>
                </c:pt>
              </c:strCache>
            </c:strRef>
          </c:cat>
          <c:val>
            <c:numRef>
              <c:f>'Chart Data'!$B$2:$B$3</c:f>
              <c:numCache>
                <c:formatCode>0</c:formatCode>
                <c:ptCount val="2"/>
                <c:pt idx="0">
                  <c:v>48</c:v>
                </c:pt>
                <c:pt idx="1">
                  <c:v>29</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250" b="1">
                  <a:solidFill>
                    <a:srgbClr val="12211C"/>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FD7"/>
            </a:solidFill>
          </a:ln>
        </c:spPr>
        <c:txPr>
          <a:bodyPr xmlns:a="http://schemas.openxmlformats.org/drawingml/2006/main" anchorCtr="1"/>
          <a:lstStyle xmlns:a="http://schemas.openxmlformats.org/drawingml/2006/main"/>
          <a:p xmlns:a="http://schemas.openxmlformats.org/drawingml/2006/main">
            <a:pPr>
              <a:defRPr sz="1875">
                <a:solidFill>
                  <a:srgbClr val="12211C"/>
                </a:solidFill>
                <a:latin typeface="Arial"/>
                <a:ea typeface="Arial"/>
                <a:cs typeface="Arial"/>
              </a:defRPr>
            </a:pPr>
          </a:p>
        </c:txPr>
        <c:crossAx val="48672768"/>
      </c:catAx>
      <c:valAx>
        <c:axId val="48672768"/>
        <c:scaling>
          <c:orientation val="minMax"/>
          <c:max val="55"/>
          <c:min val="0"/>
        </c:scaling>
        <c:delete val="0"/>
        <c:axPos val="l"/>
        <c:majorGridlines>
          <c:spPr>
            <a:ln xmlns:a="http://schemas.openxmlformats.org/drawingml/2006/main" w="9525">
              <a:solidFill>
                <a:srgbClr val="D5DFD7"/>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1655B"/>
                </a:solidFill>
                <a:latin typeface="Arial"/>
                <a:ea typeface="Arial"/>
                <a:cs typeface="Arial"/>
              </a:defRPr>
            </a:pPr>
          </a:p>
        </c:txPr>
        <c:crossAx val="48650112"/>
        <c:crossBetween val="between"/>
        <c:majorUnit val="1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Responder score</c:v>
          </c:tx>
          <c:spPr>
            <a:solidFill xmlns:a="http://schemas.openxmlformats.org/drawingml/2006/main">
              <a:srgbClr val="76B900"/>
            </a:solidFill>
          </c:spPr>
          <c:invertIfNegative val="0"/>
          <c:dPt>
            <c:idx val="0"/>
            <c:invertIfNegative val="0"/>
            <c:spPr>
              <a:solidFill xmlns:a="http://schemas.openxmlformats.org/drawingml/2006/main">
                <a:srgbClr val="76B900"/>
              </a:solidFill>
            </c:spPr>
          </c:dPt>
          <c:dPt>
            <c:idx val="1"/>
            <c:invertIfNegative val="0"/>
            <c:spPr>
              <a:solidFill xmlns:a="http://schemas.openxmlformats.org/drawingml/2006/main">
                <a:srgbClr val="009688"/>
              </a:solidFill>
            </c:spPr>
          </c:dPt>
          <c:dPt>
            <c:idx val="2"/>
            <c:invertIfNegative val="0"/>
            <c:spPr>
              <a:solidFill xmlns:a="http://schemas.openxmlformats.org/drawingml/2006/main">
                <a:srgbClr val="12211C"/>
              </a:solidFill>
            </c:spPr>
          </c:dPt>
          <c:cat>
            <c:strRef>
              <c:f>'Chart Data'!$A$2:$A$4</c:f>
              <c:strCache>
                <c:ptCount val="3"/>
                <c:pt idx="0">
                  <c:v>Clinical</c:v>
                </c:pt>
                <c:pt idx="1">
                  <c:v>mIF</c:v>
                </c:pt>
                <c:pt idx="2">
                  <c:v>Fused</c:v>
                </c:pt>
              </c:strCache>
            </c:strRef>
          </c:cat>
          <c:val>
            <c:numRef>
              <c:f>'Chart Data'!$B$2:$B$4</c:f>
              <c:numCache>
                <c:formatCode>0.00</c:formatCode>
                <c:ptCount val="3"/>
                <c:pt idx="0">
                  <c:v>0.21</c:v>
                </c:pt>
                <c:pt idx="1">
                  <c:v>0.78</c:v>
                </c:pt>
                <c:pt idx="2">
                  <c:v>0.57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250" b="1">
                  <a:solidFill>
                    <a:srgbClr val="12211C"/>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FD7"/>
            </a:solidFill>
          </a:ln>
        </c:spPr>
        <c:txPr>
          <a:bodyPr xmlns:a="http://schemas.openxmlformats.org/drawingml/2006/main" anchorCtr="1"/>
          <a:lstStyle xmlns:a="http://schemas.openxmlformats.org/drawingml/2006/main"/>
          <a:p xmlns:a="http://schemas.openxmlformats.org/drawingml/2006/main">
            <a:pPr>
              <a:defRPr sz="1875">
                <a:solidFill>
                  <a:srgbClr val="12211C"/>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5DFD7"/>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1655B"/>
                </a:solidFill>
                <a:latin typeface="Arial"/>
                <a:ea typeface="Arial"/>
                <a:cs typeface="Arial"/>
              </a:defRPr>
            </a:pPr>
          </a:p>
        </c:txPr>
        <c:crossAx val="48650112"/>
        <c:crossBetween val="between"/>
        <c:majorUnit val="0.2"/>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211C"/>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F8F2D307-8509-4F55-ABB9-C6A4787F62D6}"/>
              </a:ext>
            </a:extLst>
          </p:cNvPr>
          <p:cNvPicPr>
            <a:picLocks xmlns:a="http://schemas.openxmlformats.org/drawingml/2006/main" noChangeAspect="1"/>
          </p:cNvPicPr>
          <p:nvPr/>
        </p:nvPicPr>
        <p:blipFill>
          <a:blip xmlns:r="http://schemas.openxmlformats.org/officeDocument/2006/relationships" xmlns:a="http://schemas.openxmlformats.org/drawingml/2006/main" r:embed="Rb823bc757ed64e0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ver-title">
            <a:extLst xmlns:a="http://schemas.openxmlformats.org/drawingml/2006/main">
              <a:ext uri="{FF2B5EF4-FFF2-40B4-BE49-F238E27FC236}">
                <a16:creationId xmlns:a16="http://schemas.microsoft.com/office/drawing/2014/main" id="{FBA0B6EC-7D5A-42D0-81C1-70F74ABC02C6}"/>
              </a:ext>
            </a:extLst>
          </p:cNvPr>
          <p:cNvSpPr>
            <a:spLocks xmlns:a="http://schemas.openxmlformats.org/drawingml/2006/main" noGrp="1"/>
          </p:cNvSpPr>
          <p:nvPr/>
        </p:nvSpPr>
        <p:spPr>
          <a:xfrm xmlns:a="http://schemas.openxmlformats.org/drawingml/2006/main">
            <a:off x="685800" y="2028825"/>
            <a:ext cx="61912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FFFFF"/>
                </a:solidFill>
                <a:latin typeface="Arial"/>
                <a:ea typeface="Arial"/>
                <a:cs typeface="Arial"/>
              </a:defRPr>
            </a:defPPr>
          </a:lstStyle>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ICB response</a:t>
            </a:r>
          </a:p>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prediction</a:t>
            </a:r>
          </a:p>
        </p:txBody>
      </p:sp>
      <p:sp>
        <p:nvSpPr>
          <p:cNvPr id="3" name="cover-subtitle">
            <a:extLst xmlns:a="http://schemas.openxmlformats.org/drawingml/2006/main">
              <a:ext uri="{FF2B5EF4-FFF2-40B4-BE49-F238E27FC236}">
                <a16:creationId xmlns:a16="http://schemas.microsoft.com/office/drawing/2014/main" id="{B018C268-BED6-4EEE-A994-BFE3E5706D26}"/>
              </a:ext>
            </a:extLst>
          </p:cNvPr>
          <p:cNvSpPr>
            <a:spLocks xmlns:a="http://schemas.openxmlformats.org/drawingml/2006/main" noGrp="1"/>
          </p:cNvSpPr>
          <p:nvPr/>
        </p:nvSpPr>
        <p:spPr>
          <a:xfrm xmlns:a="http://schemas.openxmlformats.org/drawingml/2006/main">
            <a:off x="723900" y="4038600"/>
            <a:ext cx="6191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BDE885"/>
                </a:solidFill>
                <a:latin typeface="Arial"/>
                <a:ea typeface="Arial"/>
                <a:cs typeface="Arial"/>
              </a:defRPr>
            </a:defPPr>
          </a:lstStyle>
          <a:p xmlns:a="http://schemas.openxmlformats.org/drawingml/2006/main">
            <a:pPr algn="l">
              <a:defRPr sz="2550" b="1">
                <a:solidFill>
                  <a:srgbClr val="BDE885"/>
                </a:solidFill>
                <a:latin typeface="Arial"/>
                <a:ea typeface="Arial"/>
                <a:cs typeface="Arial"/>
              </a:defRPr>
            </a:pPr>
            <a:r>
              <a:rPr sz="2550" b="1">
                <a:solidFill>
                  <a:srgbClr val="BDE885"/>
                </a:solidFill>
                <a:latin typeface="Arial"/>
                <a:ea typeface="Arial"/>
                <a:cs typeface="Arial"/>
              </a:rPr>
              <a:t>Nemotron clinical copilot</a:t>
            </a:r>
          </a:p>
        </p:txBody>
      </p:sp>
      <p:sp>
        <p:nvSpPr>
          <p:cNvPr id="4" name="cover-scope">
            <a:extLst xmlns:a="http://schemas.openxmlformats.org/drawingml/2006/main">
              <a:ext uri="{FF2B5EF4-FFF2-40B4-BE49-F238E27FC236}">
                <a16:creationId xmlns:a16="http://schemas.microsoft.com/office/drawing/2014/main" id="{7FDAE8E9-ECF5-41AB-84D9-79CB435462E8}"/>
              </a:ext>
            </a:extLst>
          </p:cNvPr>
          <p:cNvSpPr>
            <a:spLocks xmlns:a="http://schemas.openxmlformats.org/drawingml/2006/main" noGrp="1"/>
          </p:cNvSpPr>
          <p:nvPr/>
        </p:nvSpPr>
        <p:spPr>
          <a:xfrm xmlns:a="http://schemas.openxmlformats.org/drawingml/2006/main">
            <a:off x="723900" y="4629150"/>
            <a:ext cx="628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Arial"/>
                <a:ea typeface="Arial"/>
                <a:cs typeface="Arial"/>
              </a:defRPr>
            </a:def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Architecture and model integration</a:t>
            </a:r>
          </a:p>
        </p:txBody>
      </p:sp>
      <p:sp>
        <p:nvSpPr>
          <p:cNvPr id="5" name="cover-disclosure">
            <a:extLst xmlns:a="http://schemas.openxmlformats.org/drawingml/2006/main">
              <a:ext uri="{FF2B5EF4-FFF2-40B4-BE49-F238E27FC236}">
                <a16:creationId xmlns:a16="http://schemas.microsoft.com/office/drawing/2014/main" id="{7F07B0C4-5A03-41E2-A123-69BD772592B5}"/>
              </a:ext>
            </a:extLst>
          </p:cNvPr>
          <p:cNvSpPr>
            <a:spLocks xmlns:a="http://schemas.openxmlformats.org/drawingml/2006/main" noGrp="1"/>
          </p:cNvSpPr>
          <p:nvPr/>
        </p:nvSpPr>
        <p:spPr>
          <a:xfrm xmlns:a="http://schemas.openxmlformats.org/drawingml/2006/main">
            <a:off x="723900" y="6134100"/>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C5D3C9"/>
                </a:solidFill>
                <a:latin typeface="Arial"/>
                <a:ea typeface="Arial"/>
                <a:cs typeface="Arial"/>
              </a:defRPr>
            </a:defPPr>
          </a:lstStyle>
          <a:p xmlns:a="http://schemas.openxmlformats.org/drawingml/2006/main">
            <a:pPr algn="l">
              <a:defRPr sz="1800" b="0">
                <a:solidFill>
                  <a:srgbClr val="C5D3C9"/>
                </a:solidFill>
                <a:latin typeface="Arial"/>
                <a:ea typeface="Arial"/>
                <a:cs typeface="Arial"/>
              </a:defRPr>
            </a:pPr>
            <a:r>
              <a:rPr sz="1800" b="0">
                <a:solidFill>
                  <a:srgbClr val="C5D3C9"/>
                </a:solidFill>
                <a:latin typeface="Arial"/>
                <a:ea typeface="Arial"/>
                <a:cs typeface="Arial"/>
              </a:rPr>
              <a:t>Research demonstration</a:t>
            </a:r>
          </a:p>
        </p:txBody>
      </p:sp>
    </p:spTree>
    <p:extLst>
      <p:ext uri="{BB962C8B-B14F-4D97-AF65-F5344CB8AC3E}">
        <p14:creationId xmlns:p14="http://schemas.microsoft.com/office/powerpoint/2010/main" val="1263890634"/>
      </p:ext>
    </p:extLst>
  </p:cSld>
</p:sld>
</file>

<file path=ppt/slides/slide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C7DB1003-A6C3-4A41-8911-41C04E512B3B}"/>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Research scope</a:t>
            </a:r>
          </a:p>
        </p:txBody>
      </p:sp>
      <p:sp>
        <p:nvSpPr>
          <p:cNvPr id="2" name="cohort-heading">
            <a:extLst xmlns:a="http://schemas.openxmlformats.org/drawingml/2006/main">
              <a:ext uri="{FF2B5EF4-FFF2-40B4-BE49-F238E27FC236}">
                <a16:creationId xmlns:a16="http://schemas.microsoft.com/office/drawing/2014/main" id="{65913535-B50E-452B-90D0-D3BA4FCBCFD5}"/>
              </a:ext>
            </a:extLst>
          </p:cNvPr>
          <p:cNvSpPr>
            <a:spLocks xmlns:a="http://schemas.openxmlformats.org/drawingml/2006/main" noGrp="1"/>
          </p:cNvSpPr>
          <p:nvPr/>
        </p:nvSpPr>
        <p:spPr>
          <a:xfrm xmlns:a="http://schemas.openxmlformats.org/drawingml/2006/main">
            <a:off x="609600" y="1581150"/>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11C"/>
                </a:solidFill>
                <a:latin typeface="Arial"/>
                <a:ea typeface="Arial"/>
                <a:cs typeface="Arial"/>
              </a:defRPr>
            </a:defPPr>
          </a:lstStyle>
          <a:p xmlns:a="http://schemas.openxmlformats.org/drawingml/2006/main">
            <a:pPr algn="l">
              <a:defRPr sz="2250" b="1">
                <a:solidFill>
                  <a:srgbClr val="12211C"/>
                </a:solidFill>
                <a:latin typeface="Arial"/>
                <a:ea typeface="Arial"/>
                <a:cs typeface="Arial"/>
              </a:defRPr>
            </a:pPr>
            <a:r>
              <a:rPr sz="2250" b="1">
                <a:solidFill>
                  <a:srgbClr val="12211C"/>
                </a:solidFill>
                <a:latin typeface="Arial"/>
                <a:ea typeface="Arial"/>
                <a:cs typeface="Arial"/>
              </a:rPr>
              <a:t>Available patients</a:t>
            </a:r>
          </a:p>
        </p:txBody>
      </p:sp>
      <p:graphicFrame>
        <p:nvGraphicFramePr>
          <p:cNvPr id="3" name="Chart">
            <a:extLst xmlns:a="http://schemas.openxmlformats.org/drawingml/2006/main">
              <a:ext uri="{FF2B5EF4-FFF2-40B4-BE49-F238E27FC236}">
                <a16:creationId xmlns:a16="http://schemas.microsoft.com/office/drawing/2014/main" id="{C00607B6-7A1B-4E91-B564-CB4658693D18}"/>
              </a:ext>
            </a:extLst>
          </p:cNvPr>
          <p:cNvGraphicFramePr/>
          <p:nvPr/>
        </p:nvGraphicFramePr>
        <p:xfrm>
          <a:off xmlns:a="http://schemas.openxmlformats.org/drawingml/2006/main" x="609600" y="2181225"/>
          <a:ext xmlns:a="http://schemas.openxmlformats.org/drawingml/2006/main" cx="5715000" cy="3219450"/>
        </p:xfrm>
        <a:graphic xmlns:a="http://schemas.openxmlformats.org/drawingml/2006/main">
          <a:graphicData uri="http://schemas.openxmlformats.org/drawingml/2006/chart">
            <c:chart xmlns:r="http://schemas.openxmlformats.org/officeDocument/2006/relationships" xmlns:c="http://schemas.openxmlformats.org/drawingml/2006/chart" r:id="R8110ea5ec2ec4bb6"/>
          </a:graphicData>
        </a:graphic>
      </p:graphicFrame>
      <p:sp>
        <p:nvSpPr>
          <p:cNvPr id="4" name="question-heading">
            <a:extLst xmlns:a="http://schemas.openxmlformats.org/drawingml/2006/main">
              <a:ext uri="{FF2B5EF4-FFF2-40B4-BE49-F238E27FC236}">
                <a16:creationId xmlns:a16="http://schemas.microsoft.com/office/drawing/2014/main" id="{785FB6AA-3312-45E2-8F03-4CE0892A8BDA}"/>
              </a:ext>
            </a:extLst>
          </p:cNvPr>
          <p:cNvSpPr>
            <a:spLocks xmlns:a="http://schemas.openxmlformats.org/drawingml/2006/main" noGrp="1"/>
          </p:cNvSpPr>
          <p:nvPr/>
        </p:nvSpPr>
        <p:spPr>
          <a:xfrm xmlns:a="http://schemas.openxmlformats.org/drawingml/2006/main">
            <a:off x="7048500" y="1581150"/>
            <a:ext cx="4524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11C"/>
                </a:solidFill>
                <a:latin typeface="Arial"/>
                <a:ea typeface="Arial"/>
                <a:cs typeface="Arial"/>
              </a:defRPr>
            </a:defPPr>
          </a:lstStyle>
          <a:p xmlns:a="http://schemas.openxmlformats.org/drawingml/2006/main">
            <a:pPr algn="l">
              <a:defRPr sz="2250" b="1">
                <a:solidFill>
                  <a:srgbClr val="12211C"/>
                </a:solidFill>
                <a:latin typeface="Arial"/>
                <a:ea typeface="Arial"/>
                <a:cs typeface="Arial"/>
              </a:defRPr>
            </a:pPr>
            <a:r>
              <a:rPr sz="2250" b="1">
                <a:solidFill>
                  <a:srgbClr val="12211C"/>
                </a:solidFill>
                <a:latin typeface="Arial"/>
                <a:ea typeface="Arial"/>
                <a:cs typeface="Arial"/>
              </a:rPr>
              <a:t>Research question</a:t>
            </a:r>
          </a:p>
        </p:txBody>
      </p:sp>
      <p:sp>
        <p:nvSpPr>
          <p:cNvPr id="5" name="question-body">
            <a:extLst xmlns:a="http://schemas.openxmlformats.org/drawingml/2006/main">
              <a:ext uri="{FF2B5EF4-FFF2-40B4-BE49-F238E27FC236}">
                <a16:creationId xmlns:a16="http://schemas.microsoft.com/office/drawing/2014/main" id="{2E2F9810-D06A-4731-9039-F58CCBF8FD26}"/>
              </a:ext>
            </a:extLst>
          </p:cNvPr>
          <p:cNvSpPr>
            <a:spLocks xmlns:a="http://schemas.openxmlformats.org/drawingml/2006/main" noGrp="1"/>
          </p:cNvSpPr>
          <p:nvPr/>
        </p:nvSpPr>
        <p:spPr>
          <a:xfrm xmlns:a="http://schemas.openxmlformats.org/drawingml/2006/main">
            <a:off x="7048500" y="2133600"/>
            <a:ext cx="452437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2211C"/>
                </a:solidFill>
                <a:latin typeface="Arial"/>
                <a:ea typeface="Arial"/>
                <a:cs typeface="Arial"/>
              </a:defRPr>
            </a:defPPr>
          </a:lstStyle>
          <a:p xmlns:a="http://schemas.openxmlformats.org/drawingml/2006/main">
            <a:pPr algn="l">
              <a:defRPr sz="2400" b="0">
                <a:solidFill>
                  <a:srgbClr val="12211C"/>
                </a:solidFill>
                <a:latin typeface="Arial"/>
                <a:ea typeface="Arial"/>
                <a:cs typeface="Arial"/>
              </a:defRPr>
            </a:pPr>
            <a:r>
              <a:rPr sz="2400" b="0">
                <a:solidFill>
                  <a:srgbClr val="12211C"/>
                </a:solidFill>
                <a:latin typeface="Arial"/>
                <a:ea typeface="Arial"/>
                <a:cs typeface="Arial"/>
              </a:rPr>
              <a:t>Does combining clinical and mIF information improve prediction of ICB responders?</a:t>
            </a:r>
          </a:p>
        </p:txBody>
      </p:sp>
      <p:sp>
        <p:nvSpPr>
          <p:cNvPr id="6" name="models-heading">
            <a:extLst xmlns:a="http://schemas.openxmlformats.org/drawingml/2006/main">
              <a:ext uri="{FF2B5EF4-FFF2-40B4-BE49-F238E27FC236}">
                <a16:creationId xmlns:a16="http://schemas.microsoft.com/office/drawing/2014/main" id="{D9655F23-4490-4008-863E-36BA51DEC65B}"/>
              </a:ext>
            </a:extLst>
          </p:cNvPr>
          <p:cNvSpPr>
            <a:spLocks xmlns:a="http://schemas.openxmlformats.org/drawingml/2006/main" noGrp="1"/>
          </p:cNvSpPr>
          <p:nvPr/>
        </p:nvSpPr>
        <p:spPr>
          <a:xfrm xmlns:a="http://schemas.openxmlformats.org/drawingml/2006/main">
            <a:off x="7048500" y="4067175"/>
            <a:ext cx="4524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11C"/>
                </a:solidFill>
                <a:latin typeface="Arial"/>
                <a:ea typeface="Arial"/>
                <a:cs typeface="Arial"/>
              </a:defRPr>
            </a:defPPr>
          </a:lstStyle>
          <a:p xmlns:a="http://schemas.openxmlformats.org/drawingml/2006/main">
            <a:pPr algn="l">
              <a:defRPr sz="2250" b="1">
                <a:solidFill>
                  <a:srgbClr val="12211C"/>
                </a:solidFill>
                <a:latin typeface="Arial"/>
                <a:ea typeface="Arial"/>
                <a:cs typeface="Arial"/>
              </a:defRPr>
            </a:pPr>
            <a:r>
              <a:rPr sz="2250" b="1">
                <a:solidFill>
                  <a:srgbClr val="12211C"/>
                </a:solidFill>
                <a:latin typeface="Arial"/>
                <a:ea typeface="Arial"/>
                <a:cs typeface="Arial"/>
              </a:rPr>
              <a:t>Planned comparison</a:t>
            </a:r>
          </a:p>
        </p:txBody>
      </p:sp>
      <p:sp>
        <p:nvSpPr>
          <p:cNvPr id="7" name="models-body">
            <a:extLst xmlns:a="http://schemas.openxmlformats.org/drawingml/2006/main">
              <a:ext uri="{FF2B5EF4-FFF2-40B4-BE49-F238E27FC236}">
                <a16:creationId xmlns:a16="http://schemas.microsoft.com/office/drawing/2014/main" id="{493836B7-FACC-422F-BB7E-5B1C6361F789}"/>
              </a:ext>
            </a:extLst>
          </p:cNvPr>
          <p:cNvSpPr>
            <a:spLocks xmlns:a="http://schemas.openxmlformats.org/drawingml/2006/main" noGrp="1"/>
          </p:cNvSpPr>
          <p:nvPr/>
        </p:nvSpPr>
        <p:spPr>
          <a:xfrm xmlns:a="http://schemas.openxmlformats.org/drawingml/2006/main">
            <a:off x="7048500" y="4619625"/>
            <a:ext cx="452437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211C"/>
                </a:solidFill>
                <a:latin typeface="Arial"/>
                <a:ea typeface="Arial"/>
                <a:cs typeface="Arial"/>
              </a:defRPr>
            </a:defPPr>
          </a:lstStyle>
          <a:p xmlns:a="http://schemas.openxmlformats.org/drawingml/2006/main">
            <a:pPr algn="l">
              <a:defRPr sz="2025" b="0">
                <a:solidFill>
                  <a:srgbClr val="12211C"/>
                </a:solidFill>
                <a:latin typeface="Arial"/>
                <a:ea typeface="Arial"/>
                <a:cs typeface="Arial"/>
              </a:defRPr>
            </a:pPr>
            <a:r>
              <a:rPr sz="2025" b="0">
                <a:solidFill>
                  <a:srgbClr val="12211C"/>
                </a:solidFill>
                <a:latin typeface="Arial"/>
                <a:ea typeface="Arial"/>
                <a:cs typeface="Arial"/>
              </a:rPr>
              <a:t>Clinical-only, mIF-only and late-fusion predictions on the same evaluation patients.</a:t>
            </a:r>
          </a:p>
        </p:txBody>
      </p:sp>
      <p:sp>
        <p:nvSpPr>
          <p:cNvPr id="8" name="caption">
            <a:extLst xmlns:a="http://schemas.openxmlformats.org/drawingml/2006/main">
              <a:ext uri="{FF2B5EF4-FFF2-40B4-BE49-F238E27FC236}">
                <a16:creationId xmlns:a16="http://schemas.microsoft.com/office/drawing/2014/main" id="{3828B051-3F36-4DD7-B92E-2D4BC263E062}"/>
              </a:ext>
            </a:extLst>
          </p:cNvPr>
          <p:cNvSpPr>
            <a:spLocks xmlns:a="http://schemas.openxmlformats.org/drawingml/2006/main" noGrp="1"/>
          </p:cNvSpPr>
          <p:nvPr/>
        </p:nvSpPr>
        <p:spPr>
          <a:xfrm xmlns:a="http://schemas.openxmlformats.org/drawingml/2006/main">
            <a:off x="609600" y="61722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The 29 paired patients are a subset of 48. H&amp;E and extra mIF batches remain possible extensions.</a:t>
            </a:r>
          </a:p>
        </p:txBody>
      </p:sp>
    </p:spTree>
    <p:extLst>
      <p:ext uri="{BB962C8B-B14F-4D97-AF65-F5344CB8AC3E}">
        <p14:creationId xmlns:p14="http://schemas.microsoft.com/office/powerpoint/2010/main" val="1444027821"/>
      </p:ext>
    </p:extLst>
  </p:cSld>
</p:sld>
</file>

<file path=ppt/slides/slide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17C0FB0D-F944-4C3C-9A59-4902F5FA589C}"/>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System architecture</a:t>
            </a:r>
          </a:p>
        </p:txBody>
      </p:sp>
      <p:pic>
        <p:nvPicPr>
          <p:cNvPr id="2" name="">
            <a:extLst xmlns:a="http://schemas.openxmlformats.org/drawingml/2006/main">
              <a:ext uri="{FF2B5EF4-FFF2-40B4-BE49-F238E27FC236}">
                <a16:creationId xmlns:a16="http://schemas.microsoft.com/office/drawing/2014/main" id="{19C971D5-C94E-445F-9455-D1D45ADA1EAB}"/>
              </a:ext>
            </a:extLst>
          </p:cNvPr>
          <p:cNvPicPr>
            <a:picLocks xmlns:a="http://schemas.openxmlformats.org/drawingml/2006/main" noChangeAspect="1"/>
          </p:cNvPicPr>
          <p:nvPr/>
        </p:nvPicPr>
        <p:blipFill>
          <a:blip xmlns:r="http://schemas.openxmlformats.org/officeDocument/2006/relationships" xmlns:a="http://schemas.openxmlformats.org/drawingml/2006/main" r:embed="R8a258aeb8f1443cb"/>
          <a:srcRect xmlns:a="http://schemas.openxmlformats.org/drawingml/2006/main" l="0" t="15065" r="0" b="15065"/>
          <a:stretch xmlns:a="http://schemas.openxmlformats.org/drawingml/2006/main">
            <a:fillRect l="0" t="0" r="0" b="0"/>
          </a:stretch>
        </p:blipFill>
        <p:spPr>
          <a:xfrm xmlns:a="http://schemas.openxmlformats.org/drawingml/2006/main">
            <a:off x="609600" y="1524000"/>
            <a:ext cx="10972800" cy="4314825"/>
          </a:xfrm>
          <a:prstGeom xmlns:a="http://schemas.openxmlformats.org/drawingml/2006/main" prst="rect">
            <a:avLst/>
          </a:prstGeom>
        </p:spPr>
      </p:pic>
      <p:sp>
        <p:nvSpPr>
          <p:cNvPr id="3" name="caption">
            <a:extLst xmlns:a="http://schemas.openxmlformats.org/drawingml/2006/main">
              <a:ext uri="{FF2B5EF4-FFF2-40B4-BE49-F238E27FC236}">
                <a16:creationId xmlns:a16="http://schemas.microsoft.com/office/drawing/2014/main" id="{37A83FD2-B5FB-4C5D-8E40-25C39FB12FF2}"/>
              </a:ext>
            </a:extLst>
          </p:cNvPr>
          <p:cNvSpPr>
            <a:spLocks xmlns:a="http://schemas.openxmlformats.org/drawingml/2006/main" noGrp="1"/>
          </p:cNvSpPr>
          <p:nvPr/>
        </p:nvSpPr>
        <p:spPr>
          <a:xfrm xmlns:a="http://schemas.openxmlformats.org/drawingml/2006/main">
            <a:off x="609600" y="61150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Models export scores, features and context. This repository implements the copilot and its interfaces.</a:t>
            </a:r>
          </a:p>
        </p:txBody>
      </p:sp>
    </p:spTree>
    <p:extLst>
      <p:ext uri="{BB962C8B-B14F-4D97-AF65-F5344CB8AC3E}">
        <p14:creationId xmlns:p14="http://schemas.microsoft.com/office/powerpoint/2010/main" val="2114812101"/>
      </p:ext>
    </p:extLst>
  </p:cSld>
</p:sld>
</file>

<file path=ppt/slides/slide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4FB920C3-2CE2-4851-9911-F51D1C0E66FE}"/>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Copilot workflow</a:t>
            </a:r>
          </a:p>
        </p:txBody>
      </p:sp>
      <p:graphicFrame>
        <p:nvGraphicFramePr>
          <p:cNvPr id="2" name="inference-steps">
            <a:extLst xmlns:a="http://schemas.openxmlformats.org/drawingml/2006/main">
              <a:ext uri="{FF2B5EF4-FFF2-40B4-BE49-F238E27FC236}">
                <a16:creationId xmlns:a16="http://schemas.microsoft.com/office/drawing/2014/main" id="{948F7CF9-65EE-4B58-A425-0E4FD9018399}"/>
              </a:ext>
            </a:extLst>
          </p:cNvPr>
          <p:cNvGraphicFramePr/>
          <p:nvPr/>
        </p:nvGraphicFramePr>
        <p:xfrm>
          <a:off xmlns:a="http://schemas.openxmlformats.org/drawingml/2006/main" x="609600" y="1476375"/>
          <a:ext xmlns:a="http://schemas.openxmlformats.org/drawingml/2006/main" cx="10972800" cy="4276725"/>
        </p:xfrm>
        <a:graphic xmlns:a="http://schemas.openxmlformats.org/drawingml/2006/main">
          <a:graphicData uri="http://schemas.openxmlformats.org/drawingml/2006/table">
            <a:tbl>
              <a:tblPr firstRow="0" bandRow="0"/>
              <a:tblGrid>
                <a:gridCol w="3190875"/>
                <a:gridCol w="7781925"/>
              </a:tblGrid>
              <a:tr h="447675">
                <a:tc>
                  <a:txBody>
                    <a:bodyPr wrap="square" lIns="133350" tIns="76200" rIns="133350" bIns="76200" anchor="ctr">
                      <a:noAutofit/>
                    </a:bodyPr>
                    <a:lstStyle/>
                    <a:p>
                      <a:r>
                        <a:rPr sz="1875" b="1">
                          <a:solidFill>
                            <a:srgbClr val="FFFFFF"/>
                          </a:solidFill>
                          <a:latin typeface="Arial"/>
                          <a:ea typeface="Arial"/>
                          <a:cs typeface="Arial"/>
                        </a:rPr>
                        <a:t>Step</a:t>
                      </a:r>
                    </a:p>
                  </a:txBody>
                  <a:tcPr marL="133350" marR="133350" marT="76200" marB="7620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76200" rIns="133350" bIns="76200" anchor="ctr">
                      <a:noAutofit/>
                    </a:bodyPr>
                    <a:lstStyle/>
                    <a:p>
                      <a:r>
                        <a:rPr sz="1875" b="1">
                          <a:solidFill>
                            <a:srgbClr val="FFFFFF"/>
                          </a:solidFill>
                          <a:latin typeface="Arial"/>
                          <a:ea typeface="Arial"/>
                          <a:cs typeface="Arial"/>
                        </a:rPr>
                        <a:t>What the component does</a:t>
                      </a:r>
                    </a:p>
                  </a:txBody>
                  <a:tcPr marL="133350" marR="133350" marT="76200" marB="7620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638175">
                <a:tc>
                  <a:txBody>
                    <a:bodyPr wrap="square" lIns="133350" tIns="76200" rIns="133350" bIns="76200" anchor="ctr">
                      <a:noAutofit/>
                    </a:bodyPr>
                    <a:lstStyle/>
                    <a:p>
                      <a:r>
                        <a:rPr sz="1875" b="0">
                          <a:solidFill>
                            <a:srgbClr val="12211C"/>
                          </a:solidFill>
                          <a:latin typeface="Arial"/>
                          <a:ea typeface="Arial"/>
                          <a:cs typeface="Arial"/>
                        </a:rPr>
                        <a:t>1. Assemble and validate</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75" b="0">
                          <a:solidFill>
                            <a:srgbClr val="12211C"/>
                          </a:solidFill>
                          <a:latin typeface="Arial"/>
                          <a:ea typeface="Arial"/>
                          <a:cs typeface="Arial"/>
                        </a:rPr>
                        <a:t>Join by patient ID. Check scores, metadata and duplicate records.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38175">
                <a:tc>
                  <a:txBody>
                    <a:bodyPr wrap="square" lIns="133350" tIns="76200" rIns="133350" bIns="76200" anchor="ctr">
                      <a:noAutofit/>
                    </a:bodyPr>
                    <a:lstStyle/>
                    <a:p>
                      <a:r>
                        <a:rPr sz="1875" b="0">
                          <a:solidFill>
                            <a:srgbClr val="12211C"/>
                          </a:solidFill>
                          <a:latin typeface="Arial"/>
                          <a:ea typeface="Arial"/>
                          <a:cs typeface="Arial"/>
                        </a:rPr>
                        <a:t>2. Preserve the facts</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75" b="0">
                          <a:solidFill>
                            <a:srgbClr val="12211C"/>
                          </a:solidFill>
                          <a:latin typeface="Arial"/>
                          <a:ea typeface="Arial"/>
                          <a:cs typeface="Arial"/>
                        </a:rPr>
                        <a:t>Report supplied scores and features. Keep missing modalities visible.</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38175">
                <a:tc>
                  <a:txBody>
                    <a:bodyPr wrap="square" lIns="133350" tIns="76200" rIns="133350" bIns="76200" anchor="ctr">
                      <a:noAutofit/>
                    </a:bodyPr>
                    <a:lstStyle/>
                    <a:p>
                      <a:r>
                        <a:rPr sz="1875" b="0">
                          <a:solidFill>
                            <a:srgbClr val="12211C"/>
                          </a:solidFill>
                          <a:latin typeface="Arial"/>
                          <a:ea typeface="Arial"/>
                          <a:cs typeface="Arial"/>
                        </a:rPr>
                        <a:t>3. Generate locally</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75" b="0">
                          <a:solidFill>
                            <a:srgbClr val="12211C"/>
                          </a:solidFill>
                          <a:latin typeface="Arial"/>
                          <a:ea typeface="Arial"/>
                          <a:cs typeface="Arial"/>
                        </a:rPr>
                        <a:t>Apply the chat template and request a constrained JSON interpretation.</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38175">
                <a:tc>
                  <a:txBody>
                    <a:bodyPr wrap="square" lIns="133350" tIns="76200" rIns="133350" bIns="76200" anchor="ctr">
                      <a:noAutofit/>
                    </a:bodyPr>
                    <a:lstStyle/>
                    <a:p>
                      <a:r>
                        <a:rPr sz="1875" b="0">
                          <a:solidFill>
                            <a:srgbClr val="12211C"/>
                          </a:solidFill>
                          <a:latin typeface="Arial"/>
                          <a:ea typeface="Arial"/>
                          <a:cs typeface="Arial"/>
                        </a:rPr>
                        <a:t>4. Screen the prose</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75" b="0">
                          <a:solidFill>
                            <a:srgbClr val="12211C"/>
                          </a:solidFill>
                          <a:latin typeface="Arial"/>
                          <a:ea typeface="Arial"/>
                          <a:cs typeface="Arial"/>
                        </a:rPr>
                        <a:t>Check format, numeric claims and unsupported clinical language.</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38175">
                <a:tc>
                  <a:txBody>
                    <a:bodyPr wrap="square" lIns="133350" tIns="76200" rIns="133350" bIns="76200" anchor="ctr">
                      <a:noAutofit/>
                    </a:bodyPr>
                    <a:lstStyle/>
                    <a:p>
                      <a:r>
                        <a:rPr sz="1875" b="0">
                          <a:solidFill>
                            <a:srgbClr val="12211C"/>
                          </a:solidFill>
                          <a:latin typeface="Arial"/>
                          <a:ea typeface="Arial"/>
                          <a:cs typeface="Arial"/>
                        </a:rPr>
                        <a:t>5. Use fallback when needed</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75" b="0">
                          <a:solidFill>
                            <a:srgbClr val="12211C"/>
                          </a:solidFill>
                          <a:latin typeface="Arial"/>
                          <a:ea typeface="Arial"/>
                          <a:cs typeface="Arial"/>
                        </a:rPr>
                        <a:t>Replace rejected model text with a deterministic evidence summary.</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38175">
                <a:tc>
                  <a:txBody>
                    <a:bodyPr wrap="square" lIns="133350" tIns="76200" rIns="133350" bIns="76200" anchor="ctr">
                      <a:noAutofit/>
                    </a:bodyPr>
                    <a:lstStyle/>
                    <a:p>
                      <a:r>
                        <a:rPr sz="1875" b="0">
                          <a:solidFill>
                            <a:srgbClr val="12211C"/>
                          </a:solidFill>
                          <a:latin typeface="Arial"/>
                          <a:ea typeface="Arial"/>
                          <a:cs typeface="Arial"/>
                        </a:rPr>
                        <a:t>6. Publish results</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75" b="0">
                          <a:solidFill>
                            <a:srgbClr val="12211C"/>
                          </a:solidFill>
                          <a:latin typeface="Arial"/>
                          <a:ea typeface="Arial"/>
                          <a:cs typeface="Arial"/>
                        </a:rPr>
                        <a:t>Preserve predictions, limitations, source, quality and provenance.</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3" name="caption">
            <a:extLst xmlns:a="http://schemas.openxmlformats.org/drawingml/2006/main">
              <a:ext uri="{FF2B5EF4-FFF2-40B4-BE49-F238E27FC236}">
                <a16:creationId xmlns:a16="http://schemas.microsoft.com/office/drawing/2014/main" id="{F66083D9-0D5C-4A85-88BE-265BC3DA303D}"/>
              </a:ext>
            </a:extLst>
          </p:cNvPr>
          <p:cNvSpPr>
            <a:spLocks xmlns:a="http://schemas.openxmlformats.org/drawingml/2006/main" noGrp="1"/>
          </p:cNvSpPr>
          <p:nvPr/>
        </p:nvSpPr>
        <p:spPr>
          <a:xfrm xmlns:a="http://schemas.openxmlformats.org/drawingml/2006/main">
            <a:off x="609600" y="61150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Mock experiments and interfaces are implemented. Actual A30 generation still needs verification.</a:t>
            </a:r>
          </a:p>
        </p:txBody>
      </p:sp>
    </p:spTree>
    <p:extLst>
      <p:ext uri="{BB962C8B-B14F-4D97-AF65-F5344CB8AC3E}">
        <p14:creationId xmlns:p14="http://schemas.microsoft.com/office/powerpoint/2010/main" val="1672922006"/>
      </p:ext>
    </p:extLst>
  </p:cSld>
</p:sld>
</file>

<file path=ppt/slides/slide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731260CA-3259-424F-B374-2A7DF786FAE9}"/>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Shared patient contract</a:t>
            </a:r>
          </a:p>
        </p:txBody>
      </p:sp>
      <p:sp>
        <p:nvSpPr>
          <p:cNvPr id="2" name="record-example">
            <a:extLst xmlns:a="http://schemas.openxmlformats.org/drawingml/2006/main">
              <a:ext uri="{FF2B5EF4-FFF2-40B4-BE49-F238E27FC236}">
                <a16:creationId xmlns:a16="http://schemas.microsoft.com/office/drawing/2014/main" id="{A918B7CC-A42A-4AF1-AFFD-967258413159}"/>
              </a:ext>
            </a:extLst>
          </p:cNvPr>
          <p:cNvSpPr>
            <a:spLocks xmlns:a="http://schemas.openxmlformats.org/drawingml/2006/main" noGrp="1"/>
          </p:cNvSpPr>
          <p:nvPr/>
        </p:nvSpPr>
        <p:spPr>
          <a:xfrm xmlns:a="http://schemas.openxmlformats.org/drawingml/2006/main">
            <a:off x="609600" y="1704975"/>
            <a:ext cx="6619875" cy="3600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2211C"/>
                </a:solidFill>
                <a:latin typeface="Courier New"/>
                <a:ea typeface="Courier New"/>
                <a:cs typeface="Courier New"/>
              </a:defRPr>
            </a:defPPr>
          </a:lstStyle>
          <a:p xmlns:a="http://schemas.openxmlformats.org/drawingml/2006/main">
            <a:pPr algn="l">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a:t>
            </a:r>
          </a:p>
          <a:p xmlns:a="http://schemas.openxmlformats.org/drawingml/2006/main">
            <a:pPr algn="l">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  "schema_version": "1.0",</a:t>
            </a:r>
          </a:p>
          <a:p xmlns:a="http://schemas.openxmlformats.org/drawingml/2006/main">
            <a:pPr algn="l">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  "patient_id": "P12",</a:t>
            </a:r>
          </a:p>
          <a:p xmlns:a="http://schemas.openxmlformats.org/drawingml/2006/main">
            <a:pPr algn="l">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  "predictions": {</a:t>
            </a:r>
          </a:p>
          <a:p xmlns:a="http://schemas.openxmlformats.org/drawingml/2006/main">
            <a:pPr algn="l">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    "clinical": {"probability": 0.21},</a:t>
            </a:r>
          </a:p>
          <a:p xmlns:a="http://schemas.openxmlformats.org/drawingml/2006/main">
            <a:pPr algn="l">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    "mif": {"probability": 0.78},</a:t>
            </a:r>
          </a:p>
          <a:p xmlns:a="http://schemas.openxmlformats.org/drawingml/2006/main">
            <a:pPr algn="l">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    "fused": {"probability": 0.57}</a:t>
            </a:r>
          </a:p>
          <a:p xmlns:a="http://schemas.openxmlformats.org/drawingml/2006/main">
            <a:pPr algn="l">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  },</a:t>
            </a:r>
          </a:p>
          <a:p xmlns:a="http://schemas.openxmlformats.org/drawingml/2006/main">
            <a:pPr algn="l">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  "response_definition": "Not specified"</a:t>
            </a:r>
          </a:p>
          <a:p xmlns:a="http://schemas.openxmlformats.org/drawingml/2006/main">
            <a:pPr algn="l">
              <a:defRPr sz="1800" b="0">
                <a:solidFill>
                  <a:srgbClr val="12211C"/>
                </a:solidFill>
                <a:latin typeface="Courier New"/>
                <a:ea typeface="Courier New"/>
                <a:cs typeface="Courier New"/>
              </a:defRPr>
            </a:pPr>
            <a:r>
              <a:rPr sz="1800" b="0">
                <a:solidFill>
                  <a:srgbClr val="12211C"/>
                </a:solidFill>
                <a:latin typeface="Courier New"/>
                <a:ea typeface="Courier New"/>
                <a:cs typeface="Courier New"/>
              </a:rPr>
              <a:t>}</a:t>
            </a:r>
          </a:p>
        </p:txBody>
      </p:sp>
      <p:sp>
        <p:nvSpPr>
          <p:cNvPr id="3" name="identity-heading">
            <a:extLst xmlns:a="http://schemas.openxmlformats.org/drawingml/2006/main">
              <a:ext uri="{FF2B5EF4-FFF2-40B4-BE49-F238E27FC236}">
                <a16:creationId xmlns:a16="http://schemas.microsoft.com/office/drawing/2014/main" id="{9D80820E-D0CD-4084-B312-768A5B47F496}"/>
              </a:ext>
            </a:extLst>
          </p:cNvPr>
          <p:cNvSpPr>
            <a:spLocks xmlns:a="http://schemas.openxmlformats.org/drawingml/2006/main" noGrp="1"/>
          </p:cNvSpPr>
          <p:nvPr/>
        </p:nvSpPr>
        <p:spPr>
          <a:xfrm xmlns:a="http://schemas.openxmlformats.org/drawingml/2006/main">
            <a:off x="7715250" y="1638300"/>
            <a:ext cx="3848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11C"/>
                </a:solidFill>
                <a:latin typeface="Arial"/>
                <a:ea typeface="Arial"/>
                <a:cs typeface="Arial"/>
              </a:defRPr>
            </a:defPPr>
          </a:lstStyle>
          <a:p xmlns:a="http://schemas.openxmlformats.org/drawingml/2006/main">
            <a:pPr algn="l">
              <a:defRPr sz="2250" b="1">
                <a:solidFill>
                  <a:srgbClr val="12211C"/>
                </a:solidFill>
                <a:latin typeface="Arial"/>
                <a:ea typeface="Arial"/>
                <a:cs typeface="Arial"/>
              </a:defRPr>
            </a:pPr>
            <a:r>
              <a:rPr sz="2250" b="1">
                <a:solidFill>
                  <a:srgbClr val="12211C"/>
                </a:solidFill>
                <a:latin typeface="Arial"/>
                <a:ea typeface="Arial"/>
                <a:cs typeface="Arial"/>
              </a:rPr>
              <a:t>Patient identity</a:t>
            </a:r>
          </a:p>
        </p:txBody>
      </p:sp>
      <p:sp>
        <p:nvSpPr>
          <p:cNvPr id="4" name="identity-body">
            <a:extLst xmlns:a="http://schemas.openxmlformats.org/drawingml/2006/main">
              <a:ext uri="{FF2B5EF4-FFF2-40B4-BE49-F238E27FC236}">
                <a16:creationId xmlns:a16="http://schemas.microsoft.com/office/drawing/2014/main" id="{DF81A241-14A6-49DA-B54B-CB444DA728E4}"/>
              </a:ext>
            </a:extLst>
          </p:cNvPr>
          <p:cNvSpPr>
            <a:spLocks xmlns:a="http://schemas.openxmlformats.org/drawingml/2006/main" noGrp="1"/>
          </p:cNvSpPr>
          <p:nvPr/>
        </p:nvSpPr>
        <p:spPr>
          <a:xfrm xmlns:a="http://schemas.openxmlformats.org/drawingml/2006/main">
            <a:off x="7715250" y="2190750"/>
            <a:ext cx="3848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211C"/>
                </a:solidFill>
                <a:latin typeface="Arial"/>
                <a:ea typeface="Arial"/>
                <a:cs typeface="Arial"/>
              </a:defRPr>
            </a:defPPr>
          </a:lstStyle>
          <a:p xmlns:a="http://schemas.openxmlformats.org/drawingml/2006/main">
            <a:pPr algn="l">
              <a:defRPr sz="2025" b="0">
                <a:solidFill>
                  <a:srgbClr val="12211C"/>
                </a:solidFill>
                <a:latin typeface="Arial"/>
                <a:ea typeface="Arial"/>
                <a:cs typeface="Arial"/>
              </a:defRPr>
            </a:pPr>
            <a:r>
              <a:rPr sz="2025" b="0">
                <a:solidFill>
                  <a:srgbClr val="12211C"/>
                </a:solidFill>
                <a:latin typeface="Arial"/>
                <a:ea typeface="Arial"/>
                <a:cs typeface="Arial"/>
              </a:rPr>
              <a:t>One canonical patient ID and one prediction per patient per modality.</a:t>
            </a:r>
          </a:p>
        </p:txBody>
      </p:sp>
      <p:sp>
        <p:nvSpPr>
          <p:cNvPr id="5" name="metadata-heading">
            <a:extLst xmlns:a="http://schemas.openxmlformats.org/drawingml/2006/main">
              <a:ext uri="{FF2B5EF4-FFF2-40B4-BE49-F238E27FC236}">
                <a16:creationId xmlns:a16="http://schemas.microsoft.com/office/drawing/2014/main" id="{4411DC6B-62FC-42A3-8203-093F10ADD53A}"/>
              </a:ext>
            </a:extLst>
          </p:cNvPr>
          <p:cNvSpPr>
            <a:spLocks xmlns:a="http://schemas.openxmlformats.org/drawingml/2006/main" noGrp="1"/>
          </p:cNvSpPr>
          <p:nvPr/>
        </p:nvSpPr>
        <p:spPr>
          <a:xfrm xmlns:a="http://schemas.openxmlformats.org/drawingml/2006/main">
            <a:off x="7715250" y="3333750"/>
            <a:ext cx="3848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11C"/>
                </a:solidFill>
                <a:latin typeface="Arial"/>
                <a:ea typeface="Arial"/>
                <a:cs typeface="Arial"/>
              </a:defRPr>
            </a:defPPr>
          </a:lstStyle>
          <a:p xmlns:a="http://schemas.openxmlformats.org/drawingml/2006/main">
            <a:pPr algn="l">
              <a:defRPr sz="2250" b="1">
                <a:solidFill>
                  <a:srgbClr val="12211C"/>
                </a:solidFill>
                <a:latin typeface="Arial"/>
                <a:ea typeface="Arial"/>
                <a:cs typeface="Arial"/>
              </a:defRPr>
            </a:pPr>
            <a:r>
              <a:rPr sz="2250" b="1">
                <a:solidFill>
                  <a:srgbClr val="12211C"/>
                </a:solidFill>
                <a:latin typeface="Arial"/>
                <a:ea typeface="Arial"/>
                <a:cs typeface="Arial"/>
              </a:rPr>
              <a:t>Score metadata</a:t>
            </a:r>
          </a:p>
        </p:txBody>
      </p:sp>
      <p:sp>
        <p:nvSpPr>
          <p:cNvPr id="6" name="metadata-body">
            <a:extLst xmlns:a="http://schemas.openxmlformats.org/drawingml/2006/main">
              <a:ext uri="{FF2B5EF4-FFF2-40B4-BE49-F238E27FC236}">
                <a16:creationId xmlns:a16="http://schemas.microsoft.com/office/drawing/2014/main" id="{99D8BB73-E741-4C6F-83DE-7CD6306D1F0D}"/>
              </a:ext>
            </a:extLst>
          </p:cNvPr>
          <p:cNvSpPr>
            <a:spLocks xmlns:a="http://schemas.openxmlformats.org/drawingml/2006/main" noGrp="1"/>
          </p:cNvSpPr>
          <p:nvPr/>
        </p:nvSpPr>
        <p:spPr>
          <a:xfrm xmlns:a="http://schemas.openxmlformats.org/drawingml/2006/main">
            <a:off x="7715250" y="3886200"/>
            <a:ext cx="3848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211C"/>
                </a:solidFill>
                <a:latin typeface="Arial"/>
                <a:ea typeface="Arial"/>
                <a:cs typeface="Arial"/>
              </a:defRPr>
            </a:defPPr>
          </a:lstStyle>
          <a:p xmlns:a="http://schemas.openxmlformats.org/drawingml/2006/main">
            <a:pPr algn="l">
              <a:defRPr sz="2025" b="0">
                <a:solidFill>
                  <a:srgbClr val="12211C"/>
                </a:solidFill>
                <a:latin typeface="Arial"/>
                <a:ea typeface="Arial"/>
                <a:cs typeface="Arial"/>
              </a:defRPr>
            </a:pPr>
            <a:r>
              <a:rPr sz="2025" b="0">
                <a:solidFill>
                  <a:srgbClr val="12211C"/>
                </a:solidFill>
                <a:latin typeface="Arial"/>
                <a:ea typeface="Arial"/>
                <a:cs typeface="Arial"/>
              </a:rPr>
              <a:t>Model version, calibration status and optional threshold travel with each score.</a:t>
            </a:r>
          </a:p>
        </p:txBody>
      </p:sp>
      <p:sp>
        <p:nvSpPr>
          <p:cNvPr id="7" name="features-heading">
            <a:extLst xmlns:a="http://schemas.openxmlformats.org/drawingml/2006/main">
              <a:ext uri="{FF2B5EF4-FFF2-40B4-BE49-F238E27FC236}">
                <a16:creationId xmlns:a16="http://schemas.microsoft.com/office/drawing/2014/main" id="{B3BB548E-73D0-4B2F-9F68-F46B10F80DBA}"/>
              </a:ext>
            </a:extLst>
          </p:cNvPr>
          <p:cNvSpPr>
            <a:spLocks xmlns:a="http://schemas.openxmlformats.org/drawingml/2006/main" noGrp="1"/>
          </p:cNvSpPr>
          <p:nvPr/>
        </p:nvSpPr>
        <p:spPr>
          <a:xfrm xmlns:a="http://schemas.openxmlformats.org/drawingml/2006/main">
            <a:off x="7715250" y="4810125"/>
            <a:ext cx="3848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11C"/>
                </a:solidFill>
                <a:latin typeface="Arial"/>
                <a:ea typeface="Arial"/>
                <a:cs typeface="Arial"/>
              </a:defRPr>
            </a:defPPr>
          </a:lstStyle>
          <a:p xmlns:a="http://schemas.openxmlformats.org/drawingml/2006/main">
            <a:pPr algn="l">
              <a:defRPr sz="2250" b="1">
                <a:solidFill>
                  <a:srgbClr val="12211C"/>
                </a:solidFill>
                <a:latin typeface="Arial"/>
                <a:ea typeface="Arial"/>
                <a:cs typeface="Arial"/>
              </a:defRPr>
            </a:pPr>
            <a:r>
              <a:rPr sz="2250" b="1">
                <a:solidFill>
                  <a:srgbClr val="12211C"/>
                </a:solidFill>
                <a:latin typeface="Arial"/>
                <a:ea typeface="Arial"/>
                <a:cs typeface="Arial"/>
              </a:rPr>
              <a:t>Feature evidence</a:t>
            </a:r>
          </a:p>
        </p:txBody>
      </p:sp>
      <p:sp>
        <p:nvSpPr>
          <p:cNvPr id="8" name="features-body">
            <a:extLst xmlns:a="http://schemas.openxmlformats.org/drawingml/2006/main">
              <a:ext uri="{FF2B5EF4-FFF2-40B4-BE49-F238E27FC236}">
                <a16:creationId xmlns:a16="http://schemas.microsoft.com/office/drawing/2014/main" id="{2FE8B77E-F6C4-4520-A3AF-A0C2FF453D85}"/>
              </a:ext>
            </a:extLst>
          </p:cNvPr>
          <p:cNvSpPr>
            <a:spLocks xmlns:a="http://schemas.openxmlformats.org/drawingml/2006/main" noGrp="1"/>
          </p:cNvSpPr>
          <p:nvPr/>
        </p:nvSpPr>
        <p:spPr>
          <a:xfrm xmlns:a="http://schemas.openxmlformats.org/drawingml/2006/main">
            <a:off x="7715250" y="5362575"/>
            <a:ext cx="38481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211C"/>
                </a:solidFill>
                <a:latin typeface="Arial"/>
                <a:ea typeface="Arial"/>
                <a:cs typeface="Arial"/>
              </a:defRPr>
            </a:defPPr>
          </a:lstStyle>
          <a:p xmlns:a="http://schemas.openxmlformats.org/drawingml/2006/main">
            <a:pPr algn="l">
              <a:defRPr sz="2025" b="0">
                <a:solidFill>
                  <a:srgbClr val="12211C"/>
                </a:solidFill>
                <a:latin typeface="Arial"/>
                <a:ea typeface="Arial"/>
                <a:cs typeface="Arial"/>
              </a:defRPr>
            </a:pPr>
            <a:r>
              <a:rPr sz="2025" b="0">
                <a:solidFill>
                  <a:srgbClr val="12211C"/>
                </a:solidFill>
                <a:latin typeface="Arial"/>
                <a:ea typeface="Arial"/>
                <a:cs typeface="Arial"/>
              </a:rPr>
              <a:t>Measurement direction and signed attribution are separate.</a:t>
            </a:r>
          </a:p>
        </p:txBody>
      </p:sp>
      <p:sp>
        <p:nvSpPr>
          <p:cNvPr id="9" name="caption">
            <a:extLst xmlns:a="http://schemas.openxmlformats.org/drawingml/2006/main">
              <a:ext uri="{FF2B5EF4-FFF2-40B4-BE49-F238E27FC236}">
                <a16:creationId xmlns:a16="http://schemas.microsoft.com/office/drawing/2014/main" id="{7BCCDED4-930E-405C-BDAF-17C8C1BC65FE}"/>
              </a:ext>
            </a:extLst>
          </p:cNvPr>
          <p:cNvSpPr>
            <a:spLocks xmlns:a="http://schemas.openxmlformats.org/drawingml/2006/main" noGrp="1"/>
          </p:cNvSpPr>
          <p:nvPr/>
        </p:nvSpPr>
        <p:spPr>
          <a:xfrm xmlns:a="http://schemas.openxmlformats.org/drawingml/2006/main">
            <a:off x="609600" y="62388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Positive class: ICB responder. The team has not yet agreed the responder definition.</a:t>
            </a:r>
          </a:p>
        </p:txBody>
      </p:sp>
    </p:spTree>
    <p:extLst>
      <p:ext uri="{BB962C8B-B14F-4D97-AF65-F5344CB8AC3E}">
        <p14:creationId xmlns:p14="http://schemas.microsoft.com/office/powerpoint/2010/main" val="223117601"/>
      </p:ext>
    </p:extLst>
  </p:cSld>
</p:sld>
</file>

<file path=ppt/slides/slide6.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7397E408-A4E1-4F7A-ACAB-4C4917A451B8}"/>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Synthetic case: discordant predictions</a:t>
            </a:r>
          </a:p>
        </p:txBody>
      </p:sp>
      <p:sp>
        <p:nvSpPr>
          <p:cNvPr id="2" name="synthetic-label">
            <a:extLst xmlns:a="http://schemas.openxmlformats.org/drawingml/2006/main">
              <a:ext uri="{FF2B5EF4-FFF2-40B4-BE49-F238E27FC236}">
                <a16:creationId xmlns:a16="http://schemas.microsoft.com/office/drawing/2014/main" id="{7147C863-F9DF-4B01-B069-20335455CBF8}"/>
              </a:ext>
            </a:extLst>
          </p:cNvPr>
          <p:cNvSpPr>
            <a:spLocks xmlns:a="http://schemas.openxmlformats.org/drawingml/2006/main" noGrp="1"/>
          </p:cNvSpPr>
          <p:nvPr/>
        </p:nvSpPr>
        <p:spPr>
          <a:xfrm xmlns:a="http://schemas.openxmlformats.org/drawingml/2006/main">
            <a:off x="609600" y="15335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1655B"/>
                </a:solidFill>
                <a:latin typeface="Arial"/>
                <a:ea typeface="Arial"/>
                <a:cs typeface="Arial"/>
              </a:defRPr>
            </a:defPPr>
          </a:lstStyle>
          <a:p xmlns:a="http://schemas.openxmlformats.org/drawingml/2006/main">
            <a:pPr algn="l">
              <a:defRPr sz="2250" b="1">
                <a:solidFill>
                  <a:srgbClr val="51655B"/>
                </a:solidFill>
                <a:latin typeface="Arial"/>
                <a:ea typeface="Arial"/>
                <a:cs typeface="Arial"/>
              </a:defRPr>
            </a:pPr>
            <a:r>
              <a:rPr sz="2250" b="1">
                <a:solidFill>
                  <a:srgbClr val="51655B"/>
                </a:solidFill>
                <a:latin typeface="Arial"/>
                <a:ea typeface="Arial"/>
                <a:cs typeface="Arial"/>
              </a:rPr>
              <a:t>P12 / synthetic model scores</a:t>
            </a:r>
          </a:p>
        </p:txBody>
      </p:sp>
      <p:graphicFrame>
        <p:nvGraphicFramePr>
          <p:cNvPr id="3" name="Chart">
            <a:extLst xmlns:a="http://schemas.openxmlformats.org/drawingml/2006/main">
              <a:ext uri="{FF2B5EF4-FFF2-40B4-BE49-F238E27FC236}">
                <a16:creationId xmlns:a16="http://schemas.microsoft.com/office/drawing/2014/main" id="{AB7CA8A1-1BE2-4FC4-BBEC-A3B17CC50715}"/>
              </a:ext>
            </a:extLst>
          </p:cNvPr>
          <p:cNvGraphicFramePr/>
          <p:nvPr/>
        </p:nvGraphicFramePr>
        <p:xfrm>
          <a:off xmlns:a="http://schemas.openxmlformats.org/drawingml/2006/main" x="609600" y="2162175"/>
          <a:ext xmlns:a="http://schemas.openxmlformats.org/drawingml/2006/main" cx="6124575" cy="3476625"/>
        </p:xfrm>
        <a:graphic xmlns:a="http://schemas.openxmlformats.org/drawingml/2006/main">
          <a:graphicData uri="http://schemas.openxmlformats.org/drawingml/2006/chart">
            <c:chart xmlns:r="http://schemas.openxmlformats.org/officeDocument/2006/relationships" xmlns:c="http://schemas.openxmlformats.org/drawingml/2006/chart" r:id="R2a8ed627a6ec4b35"/>
          </a:graphicData>
        </a:graphic>
      </p:graphicFrame>
      <p:sp>
        <p:nvSpPr>
          <p:cNvPr id="4" name="mock-quote">
            <a:extLst xmlns:a="http://schemas.openxmlformats.org/drawingml/2006/main">
              <a:ext uri="{FF2B5EF4-FFF2-40B4-BE49-F238E27FC236}">
                <a16:creationId xmlns:a16="http://schemas.microsoft.com/office/drawing/2014/main" id="{BE8EC85C-5996-4B25-A230-69771F63AD62}"/>
              </a:ext>
            </a:extLst>
          </p:cNvPr>
          <p:cNvSpPr>
            <a:spLocks xmlns:a="http://schemas.openxmlformats.org/drawingml/2006/main" noGrp="1"/>
          </p:cNvSpPr>
          <p:nvPr/>
        </p:nvSpPr>
        <p:spPr>
          <a:xfrm xmlns:a="http://schemas.openxmlformats.org/drawingml/2006/main">
            <a:off x="7315200" y="1952625"/>
            <a:ext cx="4248150"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2211C"/>
                </a:solidFill>
                <a:latin typeface="Arial"/>
                <a:ea typeface="Arial"/>
                <a:cs typeface="Arial"/>
              </a:defRPr>
            </a:defPPr>
          </a:lstStyle>
          <a:p xmlns:a="http://schemas.openxmlformats.org/drawingml/2006/main">
            <a:pPr algn="l">
              <a:defRPr sz="2400" b="1">
                <a:solidFill>
                  <a:srgbClr val="12211C"/>
                </a:solidFill>
                <a:latin typeface="Arial"/>
                <a:ea typeface="Arial"/>
                <a:cs typeface="Arial"/>
              </a:defRPr>
            </a:pPr>
            <a:r>
              <a:rPr sz="2400" b="1">
                <a:solidFill>
                  <a:srgbClr val="12211C"/>
                </a:solidFill>
                <a:latin typeface="Arial"/>
                <a:ea typeface="Arial"/>
                <a:cs typeface="Arial"/>
              </a:rPr>
              <a:t>“Clinical and spatial mIF predictions are discordant and warrant review of the supplied evidence.”</a:t>
            </a:r>
          </a:p>
        </p:txBody>
      </p:sp>
      <p:sp>
        <p:nvSpPr>
          <p:cNvPr id="5" name="gap-evidence">
            <a:extLst xmlns:a="http://schemas.openxmlformats.org/drawingml/2006/main">
              <a:ext uri="{FF2B5EF4-FFF2-40B4-BE49-F238E27FC236}">
                <a16:creationId xmlns:a16="http://schemas.microsoft.com/office/drawing/2014/main" id="{06630093-1BDE-44CF-83A2-D021B540AD0C}"/>
              </a:ext>
            </a:extLst>
          </p:cNvPr>
          <p:cNvSpPr>
            <a:spLocks xmlns:a="http://schemas.openxmlformats.org/drawingml/2006/main" noGrp="1"/>
          </p:cNvSpPr>
          <p:nvPr/>
        </p:nvSpPr>
        <p:spPr>
          <a:xfrm xmlns:a="http://schemas.openxmlformats.org/drawingml/2006/main">
            <a:off x="7315200" y="4333875"/>
            <a:ext cx="42481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1655B"/>
                </a:solidFill>
                <a:latin typeface="Arial"/>
                <a:ea typeface="Arial"/>
                <a:cs typeface="Arial"/>
              </a:defRPr>
            </a:defPPr>
          </a:lstStyle>
          <a:p xmlns:a="http://schemas.openxmlformats.org/drawingml/2006/main">
            <a:pPr algn="l">
              <a:defRPr sz="2100" b="0">
                <a:solidFill>
                  <a:srgbClr val="51655B"/>
                </a:solidFill>
                <a:latin typeface="Arial"/>
                <a:ea typeface="Arial"/>
                <a:cs typeface="Arial"/>
              </a:defRPr>
            </a:pPr>
            <a:r>
              <a:rPr sz="2100" b="0">
                <a:solidFill>
                  <a:srgbClr val="51655B"/>
                </a:solidFill>
                <a:latin typeface="Arial"/>
                <a:ea typeface="Arial"/>
                <a:cs typeface="Arial"/>
              </a:rPr>
              <a:t>Clinical–mIF gap: 0.57</a:t>
            </a:r>
          </a:p>
          <a:p xmlns:a="http://schemas.openxmlformats.org/drawingml/2006/main">
            <a:pPr algn="l">
              <a:defRPr sz="2100" b="0">
                <a:solidFill>
                  <a:srgbClr val="51655B"/>
                </a:solidFill>
                <a:latin typeface="Arial"/>
                <a:ea typeface="Arial"/>
                <a:cs typeface="Arial"/>
              </a:defRPr>
            </a:pPr>
            <a:r>
              <a:rPr sz="2100" b="0">
                <a:solidFill>
                  <a:srgbClr val="51655B"/>
                </a:solidFill>
                <a:latin typeface="Arial"/>
                <a:ea typeface="Arial"/>
                <a:cs typeface="Arial"/>
              </a:rPr>
              <a:t>Calibration: unknown</a:t>
            </a:r>
          </a:p>
          <a:p xmlns:a="http://schemas.openxmlformats.org/drawingml/2006/main">
            <a:pPr algn="l">
              <a:defRPr sz="2100" b="0">
                <a:solidFill>
                  <a:srgbClr val="51655B"/>
                </a:solidFill>
                <a:latin typeface="Arial"/>
                <a:ea typeface="Arial"/>
                <a:cs typeface="Arial"/>
              </a:defRPr>
            </a:pPr>
            <a:r>
              <a:rPr sz="2100" b="0">
                <a:solidFill>
                  <a:srgbClr val="51655B"/>
                </a:solidFill>
                <a:latin typeface="Arial"/>
                <a:ea typeface="Arial"/>
                <a:cs typeface="Arial"/>
              </a:rPr>
              <a:t>Human review: required</a:t>
            </a:r>
          </a:p>
        </p:txBody>
      </p:sp>
      <p:sp>
        <p:nvSpPr>
          <p:cNvPr id="6" name="caption">
            <a:extLst xmlns:a="http://schemas.openxmlformats.org/drawingml/2006/main">
              <a:ext uri="{FF2B5EF4-FFF2-40B4-BE49-F238E27FC236}">
                <a16:creationId xmlns:a16="http://schemas.microsoft.com/office/drawing/2014/main" id="{3A980751-93CD-457F-A467-76A672F65F00}"/>
              </a:ext>
            </a:extLst>
          </p:cNvPr>
          <p:cNvSpPr>
            <a:spLocks xmlns:a="http://schemas.openxmlformats.org/drawingml/2006/main" noGrp="1"/>
          </p:cNvSpPr>
          <p:nvPr/>
        </p:nvSpPr>
        <p:spPr>
          <a:xfrm xmlns:a="http://schemas.openxmlformats.org/drawingml/2006/main">
            <a:off x="609600" y="61722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This is deterministic mock output. The supplied fused score does not establish better performance.</a:t>
            </a:r>
          </a:p>
        </p:txBody>
      </p:sp>
    </p:spTree>
    <p:extLst>
      <p:ext uri="{BB962C8B-B14F-4D97-AF65-F5344CB8AC3E}">
        <p14:creationId xmlns:p14="http://schemas.microsoft.com/office/powerpoint/2010/main" val="794628482"/>
      </p:ext>
    </p:extLst>
  </p:cSld>
</p:sld>
</file>

<file path=ppt/slides/slide7.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4E6FEBA3-70F2-42AB-9FFB-78C02F8B4021}"/>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One command on the HPC</a:t>
            </a:r>
          </a:p>
        </p:txBody>
      </p:sp>
      <p:sp>
        <p:nvSpPr>
          <p:cNvPr id="2" name="hpc-command">
            <a:extLst xmlns:a="http://schemas.openxmlformats.org/drawingml/2006/main">
              <a:ext uri="{FF2B5EF4-FFF2-40B4-BE49-F238E27FC236}">
                <a16:creationId xmlns:a16="http://schemas.microsoft.com/office/drawing/2014/main" id="{E2F71680-4B3A-4E4F-B80F-DF6994E95A2E}"/>
              </a:ext>
            </a:extLst>
          </p:cNvPr>
          <p:cNvSpPr>
            <a:spLocks xmlns:a="http://schemas.openxmlformats.org/drawingml/2006/main" noGrp="1"/>
          </p:cNvSpPr>
          <p:nvPr/>
        </p:nvSpPr>
        <p:spPr>
          <a:xfrm xmlns:a="http://schemas.openxmlformats.org/drawingml/2006/main">
            <a:off x="609600" y="15049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2211C"/>
                </a:solidFill>
                <a:latin typeface="Courier New"/>
                <a:ea typeface="Courier New"/>
                <a:cs typeface="Courier New"/>
              </a:defRPr>
            </a:defPPr>
          </a:lstStyle>
          <a:p xmlns:a="http://schemas.openxmlformats.org/drawingml/2006/main">
            <a:pPr algn="l">
              <a:defRPr sz="3225" b="1">
                <a:solidFill>
                  <a:srgbClr val="12211C"/>
                </a:solidFill>
                <a:latin typeface="Courier New"/>
                <a:ea typeface="Courier New"/>
                <a:cs typeface="Courier New"/>
              </a:defRPr>
            </a:pPr>
            <a:r>
              <a:rPr sz="3225" b="1">
                <a:solidFill>
                  <a:srgbClr val="12211C"/>
                </a:solidFill>
                <a:latin typeface="Courier New"/>
                <a:ea typeface="Courier New"/>
                <a:cs typeface="Courier New"/>
              </a:rPr>
              <a:t>bash run_hpc.sh</a:t>
            </a:r>
          </a:p>
        </p:txBody>
      </p:sp>
      <p:graphicFrame>
        <p:nvGraphicFramePr>
          <p:cNvPr id="3" name="hpc-steps">
            <a:extLst xmlns:a="http://schemas.openxmlformats.org/drawingml/2006/main">
              <a:ext uri="{FF2B5EF4-FFF2-40B4-BE49-F238E27FC236}">
                <a16:creationId xmlns:a16="http://schemas.microsoft.com/office/drawing/2014/main" id="{AA3469AE-421F-4FDE-88A2-B1556C4266EC}"/>
              </a:ext>
            </a:extLst>
          </p:cNvPr>
          <p:cNvGraphicFramePr/>
          <p:nvPr/>
        </p:nvGraphicFramePr>
        <p:xfrm>
          <a:off xmlns:a="http://schemas.openxmlformats.org/drawingml/2006/main" x="609600" y="2390775"/>
          <a:ext xmlns:a="http://schemas.openxmlformats.org/drawingml/2006/main" cx="10972800" cy="3314700"/>
        </p:xfrm>
        <a:graphic xmlns:a="http://schemas.openxmlformats.org/drawingml/2006/main">
          <a:graphicData uri="http://schemas.openxmlformats.org/drawingml/2006/table">
            <a:tbl>
              <a:tblPr firstRow="0" bandRow="0"/>
              <a:tblGrid>
                <a:gridCol w="3286125"/>
                <a:gridCol w="7686675"/>
              </a:tblGrid>
              <a:tr h="447675">
                <a:tc>
                  <a:txBody>
                    <a:bodyPr wrap="square" lIns="133350" tIns="76200" rIns="133350" bIns="76200" anchor="ctr">
                      <a:noAutofit/>
                    </a:bodyPr>
                    <a:lstStyle/>
                    <a:p>
                      <a:r>
                        <a:rPr sz="1875" b="1">
                          <a:solidFill>
                            <a:srgbClr val="FFFFFF"/>
                          </a:solidFill>
                          <a:latin typeface="Arial"/>
                          <a:ea typeface="Arial"/>
                          <a:cs typeface="Arial"/>
                        </a:rPr>
                        <a:t>Stage</a:t>
                      </a:r>
                    </a:p>
                  </a:txBody>
                  <a:tcPr marL="133350" marR="133350" marT="76200" marB="7620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76200" rIns="133350" bIns="76200" anchor="ctr">
                      <a:noAutofit/>
                    </a:bodyPr>
                    <a:lstStyle/>
                    <a:p>
                      <a:r>
                        <a:rPr sz="1875" b="1">
                          <a:solidFill>
                            <a:srgbClr val="FFFFFF"/>
                          </a:solidFill>
                          <a:latin typeface="Arial"/>
                          <a:ea typeface="Arial"/>
                          <a:cs typeface="Arial"/>
                        </a:rPr>
                        <a:t>Scheduled job behavior</a:t>
                      </a:r>
                    </a:p>
                  </a:txBody>
                  <a:tcPr marL="133350" marR="133350" marT="76200" marB="7620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571500">
                <a:tc>
                  <a:txBody>
                    <a:bodyPr wrap="square" lIns="133350" tIns="76200" rIns="133350" bIns="76200" anchor="ctr">
                      <a:noAutofit/>
                    </a:bodyPr>
                    <a:lstStyle/>
                    <a:p>
                      <a:r>
                        <a:rPr sz="1875" b="0">
                          <a:solidFill>
                            <a:srgbClr val="12211C"/>
                          </a:solidFill>
                          <a:latin typeface="Arial"/>
                          <a:ea typeface="Arial"/>
                          <a:cs typeface="Arial"/>
                        </a:rPr>
                        <a:t>SLURM allocation</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75" b="0">
                          <a:solidFill>
                            <a:srgbClr val="12211C"/>
                          </a:solidFill>
                          <a:latin typeface="Arial"/>
                          <a:ea typeface="Arial"/>
                          <a:cs typeface="Arial"/>
                        </a:rPr>
                        <a:t>Submit to red with one A30 GPU. Return the job ID and log paths.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571500">
                <a:tc>
                  <a:txBody>
                    <a:bodyPr wrap="square" lIns="133350" tIns="76200" rIns="133350" bIns="76200" anchor="ctr">
                      <a:noAutofit/>
                    </a:bodyPr>
                    <a:lstStyle/>
                    <a:p>
                      <a:r>
                        <a:rPr sz="1875" b="0">
                          <a:solidFill>
                            <a:srgbClr val="12211C"/>
                          </a:solidFill>
                          <a:latin typeface="Arial"/>
                          <a:ea typeface="Arial"/>
                          <a:cs typeface="Arial"/>
                        </a:rPr>
                        <a:t>Environment and checks</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75" b="0">
                          <a:solidFill>
                            <a:srgbClr val="12211C"/>
                          </a:solidFill>
                          <a:latin typeface="Arial"/>
                          <a:ea typeface="Arial"/>
                          <a:cs typeface="Arial"/>
                        </a:rPr>
                        <a:t>Create the isolated, pinned environment. Verify runtime and GPU.</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571500">
                <a:tc>
                  <a:txBody>
                    <a:bodyPr wrap="square" lIns="133350" tIns="76200" rIns="133350" bIns="76200" anchor="ctr">
                      <a:noAutofit/>
                    </a:bodyPr>
                    <a:lstStyle/>
                    <a:p>
                      <a:r>
                        <a:rPr sz="1875" b="0">
                          <a:solidFill>
                            <a:srgbClr val="12211C"/>
                          </a:solidFill>
                          <a:latin typeface="Arial"/>
                          <a:ea typeface="Arial"/>
                          <a:cs typeface="Arial"/>
                        </a:rPr>
                        <a:t>Public model preparation</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75" b="0">
                          <a:solidFill>
                            <a:srgbClr val="12211C"/>
                          </a:solidFill>
                          <a:latin typeface="Arial"/>
                          <a:ea typeface="Arial"/>
                          <a:cs typeface="Arial"/>
                        </a:rPr>
                        <a:t>Download public weights on first setup. Reuse the local snapshot.</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571500">
                <a:tc>
                  <a:txBody>
                    <a:bodyPr wrap="square" lIns="133350" tIns="76200" rIns="133350" bIns="76200" anchor="ctr">
                      <a:noAutofit/>
                    </a:bodyPr>
                    <a:lstStyle/>
                    <a:p>
                      <a:r>
                        <a:rPr sz="1875" b="0">
                          <a:solidFill>
                            <a:srgbClr val="12211C"/>
                          </a:solidFill>
                          <a:latin typeface="Arial"/>
                          <a:ea typeface="Arial"/>
                          <a:cs typeface="Arial"/>
                        </a:rPr>
                        <a:t>Patient inference</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75" b="0">
                          <a:solidFill>
                            <a:srgbClr val="12211C"/>
                          </a:solidFill>
                          <a:latin typeface="Arial"/>
                          <a:ea typeface="Arial"/>
                          <a:cs typeface="Arial"/>
                        </a:rPr>
                        <a:t>Use local weights with offline settings and telemetry disabled.</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571500">
                <a:tc>
                  <a:txBody>
                    <a:bodyPr wrap="square" lIns="133350" tIns="76200" rIns="133350" bIns="76200" anchor="ctr">
                      <a:noAutofit/>
                    </a:bodyPr>
                    <a:lstStyle/>
                    <a:p>
                      <a:r>
                        <a:rPr sz="1875" b="0">
                          <a:solidFill>
                            <a:srgbClr val="12211C"/>
                          </a:solidFill>
                          <a:latin typeface="Arial"/>
                          <a:ea typeface="Arial"/>
                          <a:cs typeface="Arial"/>
                        </a:rPr>
                        <a:t>Experiment artifacts</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75" b="0">
                          <a:solidFill>
                            <a:srgbClr val="12211C"/>
                          </a:solidFill>
                          <a:latin typeface="Arial"/>
                          <a:ea typeface="Arial"/>
                          <a:cs typeface="Arial"/>
                        </a:rPr>
                        <a:t>Write narrative files, report, manifest and the metrics file.</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4" name="caption">
            <a:extLst xmlns:a="http://schemas.openxmlformats.org/drawingml/2006/main">
              <a:ext uri="{FF2B5EF4-FFF2-40B4-BE49-F238E27FC236}">
                <a16:creationId xmlns:a16="http://schemas.microsoft.com/office/drawing/2014/main" id="{97380FBB-9988-4D8B-8749-80D1E6AE7499}"/>
              </a:ext>
            </a:extLst>
          </p:cNvPr>
          <p:cNvSpPr>
            <a:spLocks xmlns:a="http://schemas.openxmlformats.org/drawingml/2006/main" noGrp="1"/>
          </p:cNvSpPr>
          <p:nvPr/>
        </p:nvSpPr>
        <p:spPr>
          <a:xfrm xmlns:a="http://schemas.openxmlformats.org/drawingml/2006/main">
            <a:off x="609600" y="61150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Network-limited nodes: --prepare-only first, then --offline. Submission returns before completion.</a:t>
            </a:r>
          </a:p>
        </p:txBody>
      </p:sp>
    </p:spTree>
    <p:extLst>
      <p:ext uri="{BB962C8B-B14F-4D97-AF65-F5344CB8AC3E}">
        <p14:creationId xmlns:p14="http://schemas.microsoft.com/office/powerpoint/2010/main" val="593132290"/>
      </p:ext>
    </p:extLst>
  </p:cSld>
</p:sld>
</file>

<file path=ppt/slides/slide8.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21B497AB-B0BC-4D44-800F-3D4BCCFAD1F2}"/>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Connections to future models</a:t>
            </a:r>
          </a:p>
        </p:txBody>
      </p:sp>
      <p:graphicFrame>
        <p:nvGraphicFramePr>
          <p:cNvPr id="2" name="team-handoff">
            <a:extLst xmlns:a="http://schemas.openxmlformats.org/drawingml/2006/main">
              <a:ext uri="{FF2B5EF4-FFF2-40B4-BE49-F238E27FC236}">
                <a16:creationId xmlns:a16="http://schemas.microsoft.com/office/drawing/2014/main" id="{2BD11574-DD81-4199-8C61-6F34B0226F7A}"/>
              </a:ext>
            </a:extLst>
          </p:cNvPr>
          <p:cNvGraphicFramePr/>
          <p:nvPr/>
        </p:nvGraphicFramePr>
        <p:xfrm>
          <a:off xmlns:a="http://schemas.openxmlformats.org/drawingml/2006/main" x="609600" y="1552575"/>
          <a:ext xmlns:a="http://schemas.openxmlformats.org/drawingml/2006/main" cx="10972800" cy="4076700"/>
        </p:xfrm>
        <a:graphic xmlns:a="http://schemas.openxmlformats.org/drawingml/2006/main">
          <a:graphicData uri="http://schemas.openxmlformats.org/drawingml/2006/table">
            <a:tbl>
              <a:tblPr firstRow="0" bandRow="0"/>
              <a:tblGrid>
                <a:gridCol w="3429000"/>
                <a:gridCol w="7543800"/>
              </a:tblGrid>
              <a:tr h="447675">
                <a:tc>
                  <a:txBody>
                    <a:bodyPr wrap="square" lIns="133350" tIns="76200" rIns="133350" bIns="76200" anchor="ctr">
                      <a:noAutofit/>
                    </a:bodyPr>
                    <a:lstStyle/>
                    <a:p>
                      <a:r>
                        <a:rPr sz="1875" b="1">
                          <a:solidFill>
                            <a:srgbClr val="FFFFFF"/>
                          </a:solidFill>
                          <a:latin typeface="Arial"/>
                          <a:ea typeface="Arial"/>
                          <a:cs typeface="Arial"/>
                        </a:rPr>
                        <a:t>Owner / workstream</a:t>
                      </a:r>
                    </a:p>
                  </a:txBody>
                  <a:tcPr marL="133350" marR="133350" marT="76200" marB="7620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76200" rIns="133350" bIns="76200" anchor="ctr">
                      <a:noAutofit/>
                    </a:bodyPr>
                    <a:lstStyle/>
                    <a:p>
                      <a:r>
                        <a:rPr sz="1875" b="1">
                          <a:solidFill>
                            <a:srgbClr val="FFFFFF"/>
                          </a:solidFill>
                          <a:latin typeface="Arial"/>
                          <a:ea typeface="Arial"/>
                          <a:cs typeface="Arial"/>
                        </a:rPr>
                        <a:t>Handoff to the copilot</a:t>
                      </a:r>
                    </a:p>
                  </a:txBody>
                  <a:tcPr marL="133350" marR="133350" marT="76200" marB="7620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695325">
                <a:tc>
                  <a:txBody>
                    <a:bodyPr wrap="square" lIns="133350" tIns="76200" rIns="133350" bIns="76200" anchor="ctr">
                      <a:noAutofit/>
                    </a:bodyPr>
                    <a:lstStyle/>
                    <a:p>
                      <a:r>
                        <a:rPr sz="1875" b="0">
                          <a:solidFill>
                            <a:srgbClr val="12211C"/>
                          </a:solidFill>
                          <a:latin typeface="Arial"/>
                          <a:ea typeface="Arial"/>
                          <a:cs typeface="Arial"/>
                        </a:rPr>
                        <a:t>Isis / clinical model</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75" b="0">
                          <a:solidFill>
                            <a:srgbClr val="12211C"/>
                          </a:solidFill>
                          <a:latin typeface="Arial"/>
                          <a:ea typeface="Arial"/>
                          <a:cs typeface="Arial"/>
                        </a:rPr>
                        <a:t>Clinical prediction CSV plus clinical features and context.</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95325">
                <a:tc>
                  <a:txBody>
                    <a:bodyPr wrap="square" lIns="133350" tIns="76200" rIns="133350" bIns="76200" anchor="ctr">
                      <a:noAutofit/>
                    </a:bodyPr>
                    <a:lstStyle/>
                    <a:p>
                      <a:r>
                        <a:rPr sz="1875" b="0">
                          <a:solidFill>
                            <a:srgbClr val="12211C"/>
                          </a:solidFill>
                          <a:latin typeface="Arial"/>
                          <a:ea typeface="Arial"/>
                          <a:cs typeface="Arial"/>
                        </a:rPr>
                        <a:t>Alyssa / mIF model</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75" b="0">
                          <a:solidFill>
                            <a:srgbClr val="12211C"/>
                          </a:solidFill>
                          <a:latin typeface="Arial"/>
                          <a:ea typeface="Arial"/>
                          <a:cs typeface="Arial"/>
                        </a:rPr>
                        <a:t>mIF prediction CSV plus feature metadata and canonical patient IDs.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95325">
                <a:tc>
                  <a:txBody>
                    <a:bodyPr wrap="square" lIns="133350" tIns="76200" rIns="133350" bIns="76200" anchor="ctr">
                      <a:noAutofit/>
                    </a:bodyPr>
                    <a:lstStyle/>
                    <a:p>
                      <a:r>
                        <a:rPr sz="1875" b="0">
                          <a:solidFill>
                            <a:srgbClr val="12211C"/>
                          </a:solidFill>
                          <a:latin typeface="Arial"/>
                          <a:ea typeface="Arial"/>
                          <a:cs typeface="Arial"/>
                        </a:rPr>
                        <a:t>Fusion owner / TBD</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75" b="0">
                          <a:solidFill>
                            <a:srgbClr val="12211C"/>
                          </a:solidFill>
                          <a:latin typeface="Arial"/>
                          <a:ea typeface="Arial"/>
                          <a:cs typeface="Arial"/>
                        </a:rPr>
                        <a:t>Fused prediction CSV with model provenance for paired patients.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95325">
                <a:tc>
                  <a:txBody>
                    <a:bodyPr wrap="square" lIns="133350" tIns="76200" rIns="133350" bIns="76200" anchor="ctr">
                      <a:noAutofit/>
                    </a:bodyPr>
                    <a:lstStyle/>
                    <a:p>
                      <a:r>
                        <a:rPr sz="1875" b="0">
                          <a:solidFill>
                            <a:srgbClr val="12211C"/>
                          </a:solidFill>
                          <a:latin typeface="Arial"/>
                          <a:ea typeface="Arial"/>
                          <a:cs typeface="Arial"/>
                        </a:rPr>
                        <a:t>Paulo / copilot</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75" b="0">
                          <a:solidFill>
                            <a:srgbClr val="12211C"/>
                          </a:solidFill>
                          <a:latin typeface="Arial"/>
                          <a:ea typeface="Arial"/>
                          <a:cs typeface="Arial"/>
                        </a:rPr>
                        <a:t>Assemble, validate and interpret the combined patient records.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95325">
                <a:tc>
                  <a:txBody>
                    <a:bodyPr wrap="square" lIns="133350" tIns="76200" rIns="133350" bIns="76200" anchor="ctr">
                      <a:noAutofit/>
                    </a:bodyPr>
                    <a:lstStyle/>
                    <a:p>
                      <a:r>
                        <a:rPr sz="1875" b="0">
                          <a:solidFill>
                            <a:srgbClr val="12211C"/>
                          </a:solidFill>
                          <a:latin typeface="Arial"/>
                          <a:ea typeface="Arial"/>
                          <a:cs typeface="Arial"/>
                        </a:rPr>
                        <a:t>Junhao / demo UI</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75" b="0">
                          <a:solidFill>
                            <a:srgbClr val="12211C"/>
                          </a:solidFill>
                          <a:latin typeface="Arial"/>
                          <a:ea typeface="Arial"/>
                          <a:cs typeface="Arial"/>
                        </a:rPr>
                        <a:t>Read structured narrative results or call the local interpretation API.</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3" name="caption">
            <a:extLst xmlns:a="http://schemas.openxmlformats.org/drawingml/2006/main">
              <a:ext uri="{FF2B5EF4-FFF2-40B4-BE49-F238E27FC236}">
                <a16:creationId xmlns:a16="http://schemas.microsoft.com/office/drawing/2014/main" id="{45AF1E30-8910-4395-9C50-D9B724237140}"/>
              </a:ext>
            </a:extLst>
          </p:cNvPr>
          <p:cNvSpPr>
            <a:spLocks xmlns:a="http://schemas.openxmlformats.org/drawingml/2006/main" noGrp="1"/>
          </p:cNvSpPr>
          <p:nvPr/>
        </p:nvSpPr>
        <p:spPr>
          <a:xfrm xmlns:a="http://schemas.openxmlformats.org/drawingml/2006/main">
            <a:off x="609600" y="61150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Future H&amp;E predictions require a versioned contract and adapter change. Raw images stay upstream.</a:t>
            </a:r>
          </a:p>
        </p:txBody>
      </p:sp>
    </p:spTree>
    <p:extLst>
      <p:ext uri="{BB962C8B-B14F-4D97-AF65-F5344CB8AC3E}">
        <p14:creationId xmlns:p14="http://schemas.microsoft.com/office/powerpoint/2010/main" val="1511219115"/>
      </p:ext>
    </p:extLst>
  </p:cSld>
</p:sld>
</file>

<file path=ppt/slides/slide9.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B25A5024-8C76-4775-A2E3-CA5138D67DAE}"/>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Demo interfaces</a:t>
            </a:r>
          </a:p>
        </p:txBody>
      </p:sp>
      <p:sp>
        <p:nvSpPr>
          <p:cNvPr id="2" name="file-mode-heading">
            <a:extLst xmlns:a="http://schemas.openxmlformats.org/drawingml/2006/main">
              <a:ext uri="{FF2B5EF4-FFF2-40B4-BE49-F238E27FC236}">
                <a16:creationId xmlns:a16="http://schemas.microsoft.com/office/drawing/2014/main" id="{5CEB3F28-10C8-4F1E-AA28-4BA58BEAED72}"/>
              </a:ext>
            </a:extLst>
          </p:cNvPr>
          <p:cNvSpPr>
            <a:spLocks xmlns:a="http://schemas.openxmlformats.org/drawingml/2006/main" noGrp="1"/>
          </p:cNvSpPr>
          <p:nvPr/>
        </p:nvSpPr>
        <p:spPr>
          <a:xfrm xmlns:a="http://schemas.openxmlformats.org/drawingml/2006/main">
            <a:off x="609600" y="16192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11C"/>
                </a:solidFill>
                <a:latin typeface="Arial"/>
                <a:ea typeface="Arial"/>
                <a:cs typeface="Arial"/>
              </a:defRPr>
            </a:defPPr>
          </a:lstStyle>
          <a:p xmlns:a="http://schemas.openxmlformats.org/drawingml/2006/main">
            <a:pPr algn="l">
              <a:defRPr sz="2250" b="1">
                <a:solidFill>
                  <a:srgbClr val="12211C"/>
                </a:solidFill>
                <a:latin typeface="Arial"/>
                <a:ea typeface="Arial"/>
                <a:cs typeface="Arial"/>
              </a:defRPr>
            </a:pPr>
            <a:r>
              <a:rPr sz="2250" b="1">
                <a:solidFill>
                  <a:srgbClr val="12211C"/>
                </a:solidFill>
                <a:latin typeface="Arial"/>
                <a:ea typeface="Arial"/>
                <a:cs typeface="Arial"/>
              </a:rPr>
              <a:t>Completed experiment files</a:t>
            </a:r>
          </a:p>
        </p:txBody>
      </p:sp>
      <p:sp>
        <p:nvSpPr>
          <p:cNvPr id="3" name="file-mode-body">
            <a:extLst xmlns:a="http://schemas.openxmlformats.org/drawingml/2006/main">
              <a:ext uri="{FF2B5EF4-FFF2-40B4-BE49-F238E27FC236}">
                <a16:creationId xmlns:a16="http://schemas.microsoft.com/office/drawing/2014/main" id="{9274EA83-7ED8-470B-8B77-3BE133581EE3}"/>
              </a:ext>
            </a:extLst>
          </p:cNvPr>
          <p:cNvSpPr>
            <a:spLocks xmlns:a="http://schemas.openxmlformats.org/drawingml/2006/main" noGrp="1"/>
          </p:cNvSpPr>
          <p:nvPr/>
        </p:nvSpPr>
        <p:spPr>
          <a:xfrm xmlns:a="http://schemas.openxmlformats.org/drawingml/2006/main">
            <a:off x="609600" y="2171700"/>
            <a:ext cx="51435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11C"/>
                </a:solidFill>
                <a:latin typeface="Arial"/>
                <a:ea typeface="Arial"/>
                <a:cs typeface="Arial"/>
              </a:defRPr>
            </a:defPPr>
          </a:lstStyle>
          <a:p xmlns:a="http://schemas.openxmlformats.org/drawingml/2006/main">
            <a:pPr algn="l">
              <a:defRPr sz="2175" b="0">
                <a:solidFill>
                  <a:srgbClr val="12211C"/>
                </a:solidFill>
                <a:latin typeface="Arial"/>
                <a:ea typeface="Arial"/>
                <a:cs typeface="Arial"/>
              </a:defRPr>
            </a:pPr>
            <a:r>
              <a:rPr sz="2175" b="0">
                <a:solidFill>
                  <a:srgbClr val="12211C"/>
                </a:solidFill>
                <a:latin typeface="Arial"/>
                <a:ea typeface="Arial"/>
                <a:cs typeface="Arial"/>
              </a:rPr>
              <a:t>Junhao loads narratives.jsonl into the patient selector.</a:t>
            </a:r>
          </a:p>
          <a:p xmlns:a="http://schemas.openxmlformats.org/drawingml/2006/main">
            <a:r>
              <a:t/>
            </a:r>
          </a:p>
          <a:p xmlns:a="http://schemas.openxmlformats.org/drawingml/2006/main">
            <a:pPr algn="l">
              <a:defRPr sz="2175" b="0">
                <a:solidFill>
                  <a:srgbClr val="12211C"/>
                </a:solidFill>
                <a:latin typeface="Arial"/>
                <a:ea typeface="Arial"/>
                <a:cs typeface="Arial"/>
              </a:defRPr>
            </a:pPr>
            <a:r>
              <a:rPr sz="2175" b="0">
                <a:solidFill>
                  <a:srgbClr val="12211C"/>
                </a:solidFill>
                <a:latin typeface="Arial"/>
                <a:ea typeface="Arial"/>
                <a:cs typeface="Arial"/>
              </a:rPr>
              <a:t>The UI shows scores, feature evidence, limitations and review status.</a:t>
            </a:r>
          </a:p>
        </p:txBody>
      </p:sp>
      <p:sp>
        <p:nvSpPr>
          <p:cNvPr id="4" name="proposed-mode">
            <a:extLst xmlns:a="http://schemas.openxmlformats.org/drawingml/2006/main">
              <a:ext uri="{FF2B5EF4-FFF2-40B4-BE49-F238E27FC236}">
                <a16:creationId xmlns:a16="http://schemas.microsoft.com/office/drawing/2014/main" id="{CDB04905-4920-4DF1-817B-D984ED6FCE0B}"/>
              </a:ext>
            </a:extLst>
          </p:cNvPr>
          <p:cNvSpPr>
            <a:spLocks xmlns:a="http://schemas.openxmlformats.org/drawingml/2006/main" noGrp="1"/>
          </p:cNvSpPr>
          <p:nvPr/>
        </p:nvSpPr>
        <p:spPr>
          <a:xfrm xmlns:a="http://schemas.openxmlformats.org/drawingml/2006/main">
            <a:off x="609600" y="4610100"/>
            <a:ext cx="5238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6B900"/>
                </a:solidFill>
                <a:latin typeface="Arial"/>
                <a:ea typeface="Arial"/>
                <a:cs typeface="Arial"/>
              </a:defRPr>
            </a:defPPr>
          </a:lstStyle>
          <a:p xmlns:a="http://schemas.openxmlformats.org/drawingml/2006/main">
            <a:pPr algn="l">
              <a:defRPr sz="2100" b="1">
                <a:solidFill>
                  <a:srgbClr val="76B900"/>
                </a:solidFill>
                <a:latin typeface="Arial"/>
                <a:ea typeface="Arial"/>
                <a:cs typeface="Arial"/>
              </a:defRPr>
            </a:pPr>
            <a:r>
              <a:rPr sz="2100" b="1">
                <a:solidFill>
                  <a:srgbClr val="76B900"/>
                </a:solidFill>
                <a:latin typeface="Arial"/>
                <a:ea typeface="Arial"/>
                <a:cs typeface="Arial"/>
              </a:rPr>
              <a:t>Proposed starting point for the hackathon</a:t>
            </a:r>
          </a:p>
        </p:txBody>
      </p:sp>
      <p:sp>
        <p:nvSpPr>
          <p:cNvPr id="5" name="live-mode-heading">
            <a:extLst xmlns:a="http://schemas.openxmlformats.org/drawingml/2006/main">
              <a:ext uri="{FF2B5EF4-FFF2-40B4-BE49-F238E27FC236}">
                <a16:creationId xmlns:a16="http://schemas.microsoft.com/office/drawing/2014/main" id="{29FA8B03-3549-47AC-92DE-817975AF192F}"/>
              </a:ext>
            </a:extLst>
          </p:cNvPr>
          <p:cNvSpPr>
            <a:spLocks xmlns:a="http://schemas.openxmlformats.org/drawingml/2006/main" noGrp="1"/>
          </p:cNvSpPr>
          <p:nvPr/>
        </p:nvSpPr>
        <p:spPr>
          <a:xfrm xmlns:a="http://schemas.openxmlformats.org/drawingml/2006/main">
            <a:off x="6762750" y="1619250"/>
            <a:ext cx="4810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11C"/>
                </a:solidFill>
                <a:latin typeface="Arial"/>
                <a:ea typeface="Arial"/>
                <a:cs typeface="Arial"/>
              </a:defRPr>
            </a:defPPr>
          </a:lstStyle>
          <a:p xmlns:a="http://schemas.openxmlformats.org/drawingml/2006/main">
            <a:pPr algn="l">
              <a:defRPr sz="2250" b="1">
                <a:solidFill>
                  <a:srgbClr val="12211C"/>
                </a:solidFill>
                <a:latin typeface="Arial"/>
                <a:ea typeface="Arial"/>
                <a:cs typeface="Arial"/>
              </a:defRPr>
            </a:pPr>
            <a:r>
              <a:rPr sz="2250" b="1">
                <a:solidFill>
                  <a:srgbClr val="12211C"/>
                </a:solidFill>
                <a:latin typeface="Arial"/>
                <a:ea typeface="Arial"/>
                <a:cs typeface="Arial"/>
              </a:rPr>
              <a:t>Optional local service</a:t>
            </a:r>
          </a:p>
        </p:txBody>
      </p:sp>
      <p:sp>
        <p:nvSpPr>
          <p:cNvPr id="6" name="live-mode-body">
            <a:extLst xmlns:a="http://schemas.openxmlformats.org/drawingml/2006/main">
              <a:ext uri="{FF2B5EF4-FFF2-40B4-BE49-F238E27FC236}">
                <a16:creationId xmlns:a16="http://schemas.microsoft.com/office/drawing/2014/main" id="{A48A2CF4-0926-4561-9EED-E7EA1DEADBFD}"/>
              </a:ext>
            </a:extLst>
          </p:cNvPr>
          <p:cNvSpPr>
            <a:spLocks xmlns:a="http://schemas.openxmlformats.org/drawingml/2006/main" noGrp="1"/>
          </p:cNvSpPr>
          <p:nvPr/>
        </p:nvSpPr>
        <p:spPr>
          <a:xfrm xmlns:a="http://schemas.openxmlformats.org/drawingml/2006/main">
            <a:off x="6762750" y="2171700"/>
            <a:ext cx="4810125"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2211C"/>
                </a:solidFill>
                <a:latin typeface="Arial"/>
                <a:ea typeface="Arial"/>
                <a:cs typeface="Arial"/>
              </a:defRPr>
            </a:defPPr>
          </a:lstStyle>
          <a:p xmlns:a="http://schemas.openxmlformats.org/drawingml/2006/main">
            <a:pPr algn="l">
              <a:defRPr sz="1950" b="0">
                <a:solidFill>
                  <a:srgbClr val="12211C"/>
                </a:solidFill>
                <a:latin typeface="Arial"/>
                <a:ea typeface="Arial"/>
                <a:cs typeface="Arial"/>
              </a:defRPr>
            </a:pPr>
            <a:r>
              <a:rPr sz="1950" b="0">
                <a:solidFill>
                  <a:srgbClr val="12211C"/>
                </a:solidFill>
                <a:latin typeface="Arial"/>
                <a:ea typeface="Arial"/>
                <a:cs typeface="Arial"/>
              </a:rPr>
              <a:t>GET /health</a:t>
            </a:r>
          </a:p>
          <a:p xmlns:a="http://schemas.openxmlformats.org/drawingml/2006/main">
            <a:pPr algn="l">
              <a:defRPr sz="1950" b="0">
                <a:solidFill>
                  <a:srgbClr val="12211C"/>
                </a:solidFill>
                <a:latin typeface="Arial"/>
                <a:ea typeface="Arial"/>
                <a:cs typeface="Arial"/>
              </a:defRPr>
            </a:pPr>
            <a:r>
              <a:rPr sz="1950" b="0">
                <a:solidFill>
                  <a:srgbClr val="12211C"/>
                </a:solidFill>
                <a:latin typeface="Arial"/>
                <a:ea typeface="Arial"/>
                <a:cs typeface="Arial"/>
              </a:rPr>
              <a:t>POST /v1/interpret</a:t>
            </a:r>
          </a:p>
          <a:p xmlns:a="http://schemas.openxmlformats.org/drawingml/2006/main">
            <a:pPr algn="l">
              <a:defRPr sz="1950" b="0">
                <a:solidFill>
                  <a:srgbClr val="12211C"/>
                </a:solidFill>
                <a:latin typeface="Arial"/>
                <a:ea typeface="Arial"/>
                <a:cs typeface="Arial"/>
              </a:defRPr>
            </a:pPr>
            <a:r>
              <a:rPr sz="1950" b="0">
                <a:solidFill>
                  <a:srgbClr val="12211C"/>
                </a:solidFill>
                <a:latin typeface="Arial"/>
                <a:ea typeface="Arial"/>
                <a:cs typeface="Arial"/>
              </a:rPr>
              <a:t>POST /v1/interpret-batch</a:t>
            </a:r>
          </a:p>
        </p:txBody>
      </p:sp>
      <p:sp>
        <p:nvSpPr>
          <p:cNvPr id="7" name="live-access">
            <a:extLst xmlns:a="http://schemas.openxmlformats.org/drawingml/2006/main">
              <a:ext uri="{FF2B5EF4-FFF2-40B4-BE49-F238E27FC236}">
                <a16:creationId xmlns:a16="http://schemas.microsoft.com/office/drawing/2014/main" id="{2B02A099-D8F3-4FD6-83DE-60317B985175}"/>
              </a:ext>
            </a:extLst>
          </p:cNvPr>
          <p:cNvSpPr>
            <a:spLocks xmlns:a="http://schemas.openxmlformats.org/drawingml/2006/main" noGrp="1"/>
          </p:cNvSpPr>
          <p:nvPr/>
        </p:nvSpPr>
        <p:spPr>
          <a:xfrm xmlns:a="http://schemas.openxmlformats.org/drawingml/2006/main">
            <a:off x="6762750" y="3952875"/>
            <a:ext cx="481012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2211C"/>
                </a:solidFill>
                <a:latin typeface="Arial"/>
                <a:ea typeface="Arial"/>
                <a:cs typeface="Arial"/>
              </a:defRPr>
            </a:defPPr>
          </a:lstStyle>
          <a:p xmlns:a="http://schemas.openxmlformats.org/drawingml/2006/main">
            <a:pPr algn="l">
              <a:defRPr sz="2100" b="0">
                <a:solidFill>
                  <a:srgbClr val="12211C"/>
                </a:solidFill>
                <a:latin typeface="Arial"/>
                <a:ea typeface="Arial"/>
                <a:cs typeface="Arial"/>
              </a:defRPr>
            </a:pPr>
            <a:r>
              <a:rPr sz="2100" b="0">
                <a:solidFill>
                  <a:srgbClr val="12211C"/>
                </a:solidFill>
                <a:latin typeface="Arial"/>
                <a:ea typeface="Arial"/>
                <a:cs typeface="Arial"/>
              </a:rPr>
              <a:t>A reused local model handles requests. The UI calls from the same node or through an approved tunnel.</a:t>
            </a:r>
          </a:p>
        </p:txBody>
      </p:sp>
      <p:sp>
        <p:nvSpPr>
          <p:cNvPr id="8" name="caption">
            <a:extLst xmlns:a="http://schemas.openxmlformats.org/drawingml/2006/main">
              <a:ext uri="{FF2B5EF4-FFF2-40B4-BE49-F238E27FC236}">
                <a16:creationId xmlns:a16="http://schemas.microsoft.com/office/drawing/2014/main" id="{FAC75D7C-76CF-406F-9479-662FA5B9A07B}"/>
              </a:ext>
            </a:extLst>
          </p:cNvPr>
          <p:cNvSpPr>
            <a:spLocks xmlns:a="http://schemas.openxmlformats.org/drawingml/2006/main" noGrp="1"/>
          </p:cNvSpPr>
          <p:nvPr/>
        </p:nvSpPr>
        <p:spPr>
          <a:xfrm xmlns:a="http://schemas.openxmlformats.org/drawingml/2006/main">
            <a:off x="609600" y="61722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Both modes expose the same structured result. The demo should keep source and limitations visible.</a:t>
            </a:r>
          </a:p>
        </p:txBody>
      </p:sp>
    </p:spTree>
    <p:extLst>
      <p:ext uri="{BB962C8B-B14F-4D97-AF65-F5344CB8AC3E}">
        <p14:creationId xmlns:p14="http://schemas.microsoft.com/office/powerpoint/2010/main" val="1507974464"/>
      </p:ext>
    </p:extLst>
  </p:cSld>
</p:sld>
</file>

<file path=ppt/slides/slide10.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87979C7C-A499-4A18-A2C0-4294370FC630}"/>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Evaluation and review</a:t>
            </a:r>
          </a:p>
        </p:txBody>
      </p:sp>
      <p:sp>
        <p:nvSpPr>
          <p:cNvPr id="2" name="prediction-checks-heading">
            <a:extLst xmlns:a="http://schemas.openxmlformats.org/drawingml/2006/main">
              <a:ext uri="{FF2B5EF4-FFF2-40B4-BE49-F238E27FC236}">
                <a16:creationId xmlns:a16="http://schemas.microsoft.com/office/drawing/2014/main" id="{25B21C26-5FC0-4A8F-969A-EB2817E77657}"/>
              </a:ext>
            </a:extLst>
          </p:cNvPr>
          <p:cNvSpPr>
            <a:spLocks xmlns:a="http://schemas.openxmlformats.org/drawingml/2006/main" noGrp="1"/>
          </p:cNvSpPr>
          <p:nvPr/>
        </p:nvSpPr>
        <p:spPr>
          <a:xfrm xmlns:a="http://schemas.openxmlformats.org/drawingml/2006/main">
            <a:off x="609600" y="166687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11C"/>
                </a:solidFill>
                <a:latin typeface="Arial"/>
                <a:ea typeface="Arial"/>
                <a:cs typeface="Arial"/>
              </a:defRPr>
            </a:defPPr>
          </a:lstStyle>
          <a:p xmlns:a="http://schemas.openxmlformats.org/drawingml/2006/main">
            <a:pPr algn="l">
              <a:defRPr sz="2250" b="1">
                <a:solidFill>
                  <a:srgbClr val="12211C"/>
                </a:solidFill>
                <a:latin typeface="Arial"/>
                <a:ea typeface="Arial"/>
                <a:cs typeface="Arial"/>
              </a:defRPr>
            </a:pPr>
            <a:r>
              <a:rPr sz="2250" b="1">
                <a:solidFill>
                  <a:srgbClr val="12211C"/>
                </a:solidFill>
                <a:latin typeface="Arial"/>
                <a:ea typeface="Arial"/>
                <a:cs typeface="Arial"/>
              </a:rPr>
              <a:t>Prediction quality</a:t>
            </a:r>
          </a:p>
        </p:txBody>
      </p:sp>
      <p:sp>
        <p:nvSpPr>
          <p:cNvPr id="3" name="prediction-checks-body">
            <a:extLst xmlns:a="http://schemas.openxmlformats.org/drawingml/2006/main">
              <a:ext uri="{FF2B5EF4-FFF2-40B4-BE49-F238E27FC236}">
                <a16:creationId xmlns:a16="http://schemas.microsoft.com/office/drawing/2014/main" id="{FB7C7278-4A30-46E1-926A-DBCECDA1EF02}"/>
              </a:ext>
            </a:extLst>
          </p:cNvPr>
          <p:cNvSpPr>
            <a:spLocks xmlns:a="http://schemas.openxmlformats.org/drawingml/2006/main" noGrp="1"/>
          </p:cNvSpPr>
          <p:nvPr/>
        </p:nvSpPr>
        <p:spPr>
          <a:xfrm xmlns:a="http://schemas.openxmlformats.org/drawingml/2006/main">
            <a:off x="609600" y="2219325"/>
            <a:ext cx="5181600" cy="3152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11C"/>
                </a:solidFill>
                <a:latin typeface="Arial"/>
                <a:ea typeface="Arial"/>
                <a:cs typeface="Arial"/>
              </a:defRPr>
            </a:defPPr>
          </a:lstStyle>
          <a:p xmlns:a="http://schemas.openxmlformats.org/drawingml/2006/main">
            <a:pPr algn="l">
              <a:defRPr sz="2175" b="0">
                <a:solidFill>
                  <a:srgbClr val="12211C"/>
                </a:solidFill>
                <a:latin typeface="Arial"/>
                <a:ea typeface="Arial"/>
                <a:cs typeface="Arial"/>
              </a:defRPr>
            </a:pPr>
            <a:r>
              <a:rPr sz="2175" b="0">
                <a:solidFill>
                  <a:srgbClr val="12211C"/>
                </a:solidFill>
                <a:latin typeface="Arial"/>
                <a:ea typeface="Arial"/>
                <a:cs typeface="Arial"/>
              </a:rPr>
              <a:t>Use the same eligible patients across modalities.</a:t>
            </a:r>
          </a:p>
          <a:p xmlns:a="http://schemas.openxmlformats.org/drawingml/2006/main">
            <a:r>
              <a:t/>
            </a:r>
          </a:p>
          <a:p xmlns:a="http://schemas.openxmlformats.org/drawingml/2006/main">
            <a:pPr algn="l">
              <a:defRPr sz="2175" b="0">
                <a:solidFill>
                  <a:srgbClr val="12211C"/>
                </a:solidFill>
                <a:latin typeface="Arial"/>
                <a:ea typeface="Arial"/>
                <a:cs typeface="Arial"/>
              </a:defRPr>
            </a:pPr>
            <a:r>
              <a:rPr sz="2175" b="0">
                <a:solidFill>
                  <a:srgbClr val="12211C"/>
                </a:solidFill>
                <a:latin typeface="Arial"/>
                <a:ea typeface="Arial"/>
                <a:cs typeface="Arial"/>
              </a:rPr>
              <a:t>Agree the endpoint and preserve patient-level folds.</a:t>
            </a:r>
          </a:p>
          <a:p xmlns:a="http://schemas.openxmlformats.org/drawingml/2006/main">
            <a:r>
              <a:t/>
            </a:r>
          </a:p>
          <a:p xmlns:a="http://schemas.openxmlformats.org/drawingml/2006/main">
            <a:pPr algn="l">
              <a:defRPr sz="2175" b="0">
                <a:solidFill>
                  <a:srgbClr val="12211C"/>
                </a:solidFill>
                <a:latin typeface="Arial"/>
                <a:ea typeface="Arial"/>
                <a:cs typeface="Arial"/>
              </a:defRPr>
            </a:pPr>
            <a:r>
              <a:rPr sz="2175" b="0">
                <a:solidFill>
                  <a:srgbClr val="12211C"/>
                </a:solidFill>
                <a:latin typeface="Arial"/>
                <a:ea typeface="Arial"/>
                <a:cs typeface="Arial"/>
              </a:rPr>
              <a:t>Inspect AUROC and Brier score on paired outputs.</a:t>
            </a:r>
          </a:p>
        </p:txBody>
      </p:sp>
      <p:sp>
        <p:nvSpPr>
          <p:cNvPr id="4" name="narrative-checks-heading">
            <a:extLst xmlns:a="http://schemas.openxmlformats.org/drawingml/2006/main">
              <a:ext uri="{FF2B5EF4-FFF2-40B4-BE49-F238E27FC236}">
                <a16:creationId xmlns:a16="http://schemas.microsoft.com/office/drawing/2014/main" id="{73DA30D2-0F54-4CDE-92E2-A7B04E3F81EE}"/>
              </a:ext>
            </a:extLst>
          </p:cNvPr>
          <p:cNvSpPr>
            <a:spLocks xmlns:a="http://schemas.openxmlformats.org/drawingml/2006/main" noGrp="1"/>
          </p:cNvSpPr>
          <p:nvPr/>
        </p:nvSpPr>
        <p:spPr>
          <a:xfrm xmlns:a="http://schemas.openxmlformats.org/drawingml/2006/main">
            <a:off x="6762750" y="1666875"/>
            <a:ext cx="4810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2211C"/>
                </a:solidFill>
                <a:latin typeface="Arial"/>
                <a:ea typeface="Arial"/>
                <a:cs typeface="Arial"/>
              </a:defRPr>
            </a:defPPr>
          </a:lstStyle>
          <a:p xmlns:a="http://schemas.openxmlformats.org/drawingml/2006/main">
            <a:pPr algn="l">
              <a:defRPr sz="2250" b="1">
                <a:solidFill>
                  <a:srgbClr val="12211C"/>
                </a:solidFill>
                <a:latin typeface="Arial"/>
                <a:ea typeface="Arial"/>
                <a:cs typeface="Arial"/>
              </a:defRPr>
            </a:pPr>
            <a:r>
              <a:rPr sz="2250" b="1">
                <a:solidFill>
                  <a:srgbClr val="12211C"/>
                </a:solidFill>
                <a:latin typeface="Arial"/>
                <a:ea typeface="Arial"/>
                <a:cs typeface="Arial"/>
              </a:rPr>
              <a:t>Narrative quality</a:t>
            </a:r>
          </a:p>
        </p:txBody>
      </p:sp>
      <p:sp>
        <p:nvSpPr>
          <p:cNvPr id="5" name="narrative-checks-body">
            <a:extLst xmlns:a="http://schemas.openxmlformats.org/drawingml/2006/main">
              <a:ext uri="{FF2B5EF4-FFF2-40B4-BE49-F238E27FC236}">
                <a16:creationId xmlns:a16="http://schemas.microsoft.com/office/drawing/2014/main" id="{773255BB-169B-4A7E-B844-014CC199E278}"/>
              </a:ext>
            </a:extLst>
          </p:cNvPr>
          <p:cNvSpPr>
            <a:spLocks xmlns:a="http://schemas.openxmlformats.org/drawingml/2006/main" noGrp="1"/>
          </p:cNvSpPr>
          <p:nvPr/>
        </p:nvSpPr>
        <p:spPr>
          <a:xfrm xmlns:a="http://schemas.openxmlformats.org/drawingml/2006/main">
            <a:off x="6762750" y="2219325"/>
            <a:ext cx="4810125" cy="3152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11C"/>
                </a:solidFill>
                <a:latin typeface="Arial"/>
                <a:ea typeface="Arial"/>
                <a:cs typeface="Arial"/>
              </a:defRPr>
            </a:defPPr>
          </a:lstStyle>
          <a:p xmlns:a="http://schemas.openxmlformats.org/drawingml/2006/main">
            <a:pPr algn="l">
              <a:defRPr sz="2175" b="0">
                <a:solidFill>
                  <a:srgbClr val="12211C"/>
                </a:solidFill>
                <a:latin typeface="Arial"/>
                <a:ea typeface="Arial"/>
                <a:cs typeface="Arial"/>
              </a:defRPr>
            </a:pPr>
            <a:r>
              <a:rPr sz="2175" b="0">
                <a:solidFill>
                  <a:srgbClr val="12211C"/>
                </a:solidFill>
                <a:latin typeface="Arial"/>
                <a:ea typeface="Arial"/>
                <a:cs typeface="Arial"/>
              </a:rPr>
              <a:t>Check reproduced scores and supplied features.</a:t>
            </a:r>
          </a:p>
          <a:p xmlns:a="http://schemas.openxmlformats.org/drawingml/2006/main">
            <a:r>
              <a:t/>
            </a:r>
          </a:p>
          <a:p xmlns:a="http://schemas.openxmlformats.org/drawingml/2006/main">
            <a:pPr algn="l">
              <a:defRPr sz="2175" b="0">
                <a:solidFill>
                  <a:srgbClr val="12211C"/>
                </a:solidFill>
                <a:latin typeface="Arial"/>
                <a:ea typeface="Arial"/>
                <a:cs typeface="Arial"/>
              </a:defRPr>
            </a:pPr>
            <a:r>
              <a:rPr sz="2175" b="0">
                <a:solidFill>
                  <a:srgbClr val="12211C"/>
                </a:solidFill>
                <a:latin typeface="Arial"/>
                <a:ea typeface="Arial"/>
                <a:cs typeface="Arial"/>
              </a:rPr>
              <a:t>Review disagreement and missing modalities.</a:t>
            </a:r>
          </a:p>
          <a:p xmlns:a="http://schemas.openxmlformats.org/drawingml/2006/main">
            <a:r>
              <a:t/>
            </a:r>
          </a:p>
          <a:p xmlns:a="http://schemas.openxmlformats.org/drawingml/2006/main">
            <a:pPr algn="l">
              <a:defRPr sz="2175" b="0">
                <a:solidFill>
                  <a:srgbClr val="12211C"/>
                </a:solidFill>
                <a:latin typeface="Arial"/>
                <a:ea typeface="Arial"/>
                <a:cs typeface="Arial"/>
              </a:defRPr>
            </a:pPr>
            <a:r>
              <a:rPr sz="2175" b="0">
                <a:solidFill>
                  <a:srgbClr val="12211C"/>
                </a:solidFill>
                <a:latin typeface="Arial"/>
                <a:ea typeface="Arial"/>
                <a:cs typeface="Arial"/>
              </a:rPr>
              <a:t>Inspect unsupported claims, source and limitations.</a:t>
            </a:r>
          </a:p>
        </p:txBody>
      </p:sp>
      <p:sp>
        <p:nvSpPr>
          <p:cNvPr id="6" name="evaluation-limit">
            <a:extLst xmlns:a="http://schemas.openxmlformats.org/drawingml/2006/main">
              <a:ext uri="{FF2B5EF4-FFF2-40B4-BE49-F238E27FC236}">
                <a16:creationId xmlns:a16="http://schemas.microsoft.com/office/drawing/2014/main" id="{BC42DA7E-B35D-4FAF-BB77-4394C73637C7}"/>
              </a:ext>
            </a:extLst>
          </p:cNvPr>
          <p:cNvSpPr>
            <a:spLocks xmlns:a="http://schemas.openxmlformats.org/drawingml/2006/main" noGrp="1"/>
          </p:cNvSpPr>
          <p:nvPr/>
        </p:nvSpPr>
        <p:spPr>
          <a:xfrm xmlns:a="http://schemas.openxmlformats.org/drawingml/2006/main">
            <a:off x="609600" y="5381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51655B"/>
                </a:solidFill>
                <a:latin typeface="Arial"/>
                <a:ea typeface="Arial"/>
                <a:cs typeface="Arial"/>
              </a:defRPr>
            </a:defPPr>
          </a:lstStyle>
          <a:p xmlns:a="http://schemas.openxmlformats.org/drawingml/2006/main">
            <a:pPr algn="l">
              <a:defRPr sz="2175" b="1">
                <a:solidFill>
                  <a:srgbClr val="51655B"/>
                </a:solidFill>
                <a:latin typeface="Arial"/>
                <a:ea typeface="Arial"/>
                <a:cs typeface="Arial"/>
              </a:defRPr>
            </a:pPr>
            <a:r>
              <a:rPr sz="2175" b="1">
                <a:solidFill>
                  <a:srgbClr val="51655B"/>
                </a:solidFill>
                <a:latin typeface="Arial"/>
                <a:ea typeface="Arial"/>
                <a:cs typeface="Arial"/>
              </a:rPr>
              <a:t>A successful mock run establishes interface behavior. Clinical validity and multimodal benefit require further evidence.</a:t>
            </a:r>
          </a:p>
        </p:txBody>
      </p:sp>
    </p:spTree>
    <p:extLst>
      <p:ext uri="{BB962C8B-B14F-4D97-AF65-F5344CB8AC3E}">
        <p14:creationId xmlns:p14="http://schemas.microsoft.com/office/powerpoint/2010/main" val="595553856"/>
      </p:ext>
    </p:extLst>
  </p:cSld>
</p:sld>
</file>

<file path=ppt/slides/slide11.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7B71FF41-6158-48B2-8CC1-EBD45EA17903}"/>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Decisions needed for the real-data demo</a:t>
            </a:r>
          </a:p>
        </p:txBody>
      </p:sp>
      <p:sp>
        <p:nvSpPr>
          <p:cNvPr id="2" name="decision-subtitle">
            <a:extLst xmlns:a="http://schemas.openxmlformats.org/drawingml/2006/main">
              <a:ext uri="{FF2B5EF4-FFF2-40B4-BE49-F238E27FC236}">
                <a16:creationId xmlns:a16="http://schemas.microsoft.com/office/drawing/2014/main" id="{828FBB3D-BEBF-480A-A2C3-102C17095FF9}"/>
              </a:ext>
            </a:extLst>
          </p:cNvPr>
          <p:cNvSpPr>
            <a:spLocks xmlns:a="http://schemas.openxmlformats.org/drawingml/2006/main" noGrp="1"/>
          </p:cNvSpPr>
          <p:nvPr/>
        </p:nvSpPr>
        <p:spPr>
          <a:xfrm xmlns:a="http://schemas.openxmlformats.org/drawingml/2006/main">
            <a:off x="609600" y="12287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1655B"/>
                </a:solidFill>
                <a:latin typeface="Arial"/>
                <a:ea typeface="Arial"/>
                <a:cs typeface="Arial"/>
              </a:defRPr>
            </a:defPPr>
          </a:lstStyle>
          <a:p xmlns:a="http://schemas.openxmlformats.org/drawingml/2006/main">
            <a:pPr algn="l">
              <a:defRPr sz="1950" b="0">
                <a:solidFill>
                  <a:srgbClr val="51655B"/>
                </a:solidFill>
                <a:latin typeface="Arial"/>
                <a:ea typeface="Arial"/>
                <a:cs typeface="Arial"/>
              </a:defRPr>
            </a:pPr>
            <a:r>
              <a:rPr sz="1950" b="0">
                <a:solidFill>
                  <a:srgbClr val="51655B"/>
                </a:solidFill>
                <a:latin typeface="Arial"/>
                <a:ea typeface="Arial"/>
                <a:cs typeface="Arial"/>
              </a:rPr>
              <a:t>Proposed starting choices and owners for team confirmation</a:t>
            </a:r>
          </a:p>
        </p:txBody>
      </p:sp>
      <p:graphicFrame>
        <p:nvGraphicFramePr>
          <p:cNvPr id="3" name="decisions">
            <a:extLst xmlns:a="http://schemas.openxmlformats.org/drawingml/2006/main">
              <a:ext uri="{FF2B5EF4-FFF2-40B4-BE49-F238E27FC236}">
                <a16:creationId xmlns:a16="http://schemas.microsoft.com/office/drawing/2014/main" id="{5B0BD92C-2B2A-4B77-BAE4-69643623F8BD}"/>
              </a:ext>
            </a:extLst>
          </p:cNvPr>
          <p:cNvGraphicFramePr/>
          <p:nvPr/>
        </p:nvGraphicFramePr>
        <p:xfrm>
          <a:off xmlns:a="http://schemas.openxmlformats.org/drawingml/2006/main" x="609600" y="1714500"/>
          <a:ext xmlns:a="http://schemas.openxmlformats.org/drawingml/2006/main" cx="10972800" cy="4076700"/>
        </p:xfrm>
        <a:graphic xmlns:a="http://schemas.openxmlformats.org/drawingml/2006/main">
          <a:graphicData uri="http://schemas.openxmlformats.org/drawingml/2006/table">
            <a:tbl>
              <a:tblPr firstRow="0" bandRow="0"/>
              <a:tblGrid>
                <a:gridCol w="2543175"/>
                <a:gridCol w="2714625"/>
                <a:gridCol w="5715000"/>
              </a:tblGrid>
              <a:tr h="457200">
                <a:tc>
                  <a:txBody>
                    <a:bodyPr wrap="square" lIns="133350" tIns="76200" rIns="133350" bIns="76200" anchor="ctr">
                      <a:noAutofit/>
                    </a:bodyPr>
                    <a:lstStyle/>
                    <a:p>
                      <a:r>
                        <a:rPr sz="1800" b="1">
                          <a:solidFill>
                            <a:srgbClr val="FFFFFF"/>
                          </a:solidFill>
                          <a:latin typeface="Arial"/>
                          <a:ea typeface="Arial"/>
                          <a:cs typeface="Arial"/>
                        </a:rPr>
                        <a:t>Decision</a:t>
                      </a:r>
                    </a:p>
                  </a:txBody>
                  <a:tcPr marL="133350" marR="133350" marT="76200" marB="7620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76200" rIns="133350" bIns="76200" anchor="ctr">
                      <a:noAutofit/>
                    </a:bodyPr>
                    <a:lstStyle/>
                    <a:p>
                      <a:r>
                        <a:rPr sz="1800" b="1">
                          <a:solidFill>
                            <a:srgbClr val="FFFFFF"/>
                          </a:solidFill>
                          <a:latin typeface="Arial"/>
                          <a:ea typeface="Arial"/>
                          <a:cs typeface="Arial"/>
                        </a:rPr>
                        <a:t>Suggested owner</a:t>
                      </a:r>
                    </a:p>
                  </a:txBody>
                  <a:tcPr marL="133350" marR="133350" marT="76200" marB="7620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76200" rIns="133350" bIns="76200" anchor="ctr">
                      <a:noAutofit/>
                    </a:bodyPr>
                    <a:lstStyle/>
                    <a:p>
                      <a:r>
                        <a:rPr sz="1800" b="1">
                          <a:solidFill>
                            <a:srgbClr val="FFFFFF"/>
                          </a:solidFill>
                          <a:latin typeface="Arial"/>
                          <a:ea typeface="Arial"/>
                          <a:cs typeface="Arial"/>
                        </a:rPr>
                        <a:t>Starting choice to confirm</a:t>
                      </a:r>
                    </a:p>
                  </a:txBody>
                  <a:tcPr marL="133350" marR="133350" marT="76200" marB="7620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609600">
                <a:tc>
                  <a:txBody>
                    <a:bodyPr wrap="square" lIns="133350" tIns="76200" rIns="133350" bIns="76200" anchor="ctr">
                      <a:noAutofit/>
                    </a:bodyPr>
                    <a:lstStyle/>
                    <a:p>
                      <a:r>
                        <a:rPr sz="1800" b="0">
                          <a:solidFill>
                            <a:srgbClr val="12211C"/>
                          </a:solidFill>
                          <a:latin typeface="Arial"/>
                          <a:ea typeface="Arial"/>
                          <a:cs typeface="Arial"/>
                        </a:rPr>
                        <a:t>Responder endpoint</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Clinical owner TBD + Isis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Agree the responder definition and assessment window.</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09600">
                <a:tc>
                  <a:txBody>
                    <a:bodyPr wrap="square" lIns="133350" tIns="76200" rIns="133350" bIns="76200" anchor="ctr">
                      <a:noAutofit/>
                    </a:bodyPr>
                    <a:lstStyle/>
                    <a:p>
                      <a:r>
                        <a:rPr sz="1800" b="0">
                          <a:solidFill>
                            <a:srgbClr val="12211C"/>
                          </a:solidFill>
                          <a:latin typeface="Arial"/>
                          <a:ea typeface="Arial"/>
                          <a:cs typeface="Arial"/>
                        </a:rPr>
                        <a:t>Patient identity</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Isis + Alyssa</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Use canonical IDs. Resolve slide aggregation upstream.</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09600">
                <a:tc>
                  <a:txBody>
                    <a:bodyPr wrap="square" lIns="133350" tIns="76200" rIns="133350" bIns="76200" anchor="ctr">
                      <a:noAutofit/>
                    </a:bodyPr>
                    <a:lstStyle/>
                    <a:p>
                      <a:r>
                        <a:rPr sz="1800" b="0">
                          <a:solidFill>
                            <a:srgbClr val="12211C"/>
                          </a:solidFill>
                          <a:latin typeface="Arial"/>
                          <a:ea typeface="Arial"/>
                          <a:cs typeface="Arial"/>
                        </a:rPr>
                        <a:t>Evaluation design</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Modeling team</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Share patient-level folds. Start with the paired cohort.</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09600">
                <a:tc>
                  <a:txBody>
                    <a:bodyPr wrap="square" lIns="133350" tIns="76200" rIns="133350" bIns="76200" anchor="ctr">
                      <a:noAutofit/>
                    </a:bodyPr>
                    <a:lstStyle/>
                    <a:p>
                      <a:r>
                        <a:rPr sz="1800" b="0">
                          <a:solidFill>
                            <a:srgbClr val="12211C"/>
                          </a:solidFill>
                          <a:latin typeface="Arial"/>
                          <a:ea typeface="Arial"/>
                          <a:cs typeface="Arial"/>
                        </a:rPr>
                        <a:t>Late-fusion method</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Owner TBD</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Assign an owner. Prespecify a simple fusion baseline.</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09600">
                <a:tc>
                  <a:txBody>
                    <a:bodyPr wrap="square" lIns="133350" tIns="76200" rIns="133350" bIns="76200" anchor="ctr">
                      <a:noAutofit/>
                    </a:bodyPr>
                    <a:lstStyle/>
                    <a:p>
                      <a:r>
                        <a:rPr sz="1800" b="0">
                          <a:solidFill>
                            <a:srgbClr val="12211C"/>
                          </a:solidFill>
                          <a:latin typeface="Arial"/>
                          <a:ea typeface="Arial"/>
                          <a:cs typeface="Arial"/>
                        </a:rPr>
                        <a:t>Export metadata</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All model owners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Fix class mapping, attribution scales and score metadata.</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609600">
                <a:tc>
                  <a:txBody>
                    <a:bodyPr wrap="square" lIns="133350" tIns="76200" rIns="133350" bIns="76200" anchor="ctr">
                      <a:noAutofit/>
                    </a:bodyPr>
                    <a:lstStyle/>
                    <a:p>
                      <a:r>
                        <a:rPr sz="1800" b="0">
                          <a:solidFill>
                            <a:srgbClr val="12211C"/>
                          </a:solidFill>
                          <a:latin typeface="Arial"/>
                          <a:ea typeface="Arial"/>
                          <a:cs typeface="Arial"/>
                        </a:rPr>
                        <a:t>Demo and acceptance</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Paulo + Junhao</a:t>
                      </a:r>
                    </a:p>
                    <a:p>
                      <a:r>
                        <a:rPr sz="1800" b="0">
                          <a:solidFill>
                            <a:srgbClr val="12211C"/>
                          </a:solidFill>
                          <a:latin typeface="Arial"/>
                          <a:ea typeface="Arial"/>
                          <a:cs typeface="Arial"/>
                        </a:rPr>
                        <a:t>Reviewer TBD</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800" b="0">
                          <a:solidFill>
                            <a:srgbClr val="12211C"/>
                          </a:solidFill>
                          <a:latin typeface="Arial"/>
                          <a:ea typeface="Arial"/>
                          <a:cs typeface="Arial"/>
                        </a:rPr>
                        <a:t>Choose demo mode. Verify A30 output and review cases.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4" name="caption">
            <a:extLst xmlns:a="http://schemas.openxmlformats.org/drawingml/2006/main">
              <a:ext uri="{FF2B5EF4-FFF2-40B4-BE49-F238E27FC236}">
                <a16:creationId xmlns:a16="http://schemas.microsoft.com/office/drawing/2014/main" id="{C10805D1-EF77-497D-AEE0-3D6950BD6888}"/>
              </a:ext>
            </a:extLst>
          </p:cNvPr>
          <p:cNvSpPr>
            <a:spLocks xmlns:a="http://schemas.openxmlformats.org/drawingml/2006/main" noGrp="1"/>
          </p:cNvSpPr>
          <p:nvPr/>
        </p:nvSpPr>
        <p:spPr>
          <a:xfrm xmlns:a="http://schemas.openxmlformats.org/drawingml/2006/main">
            <a:off x="609600" y="63627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H&amp;E and extra mIF batches also need a scope decision before inclusion.</a:t>
            </a:r>
          </a:p>
        </p:txBody>
      </p:sp>
    </p:spTree>
    <p:extLst>
      <p:ext uri="{BB962C8B-B14F-4D97-AF65-F5344CB8AC3E}">
        <p14:creationId xmlns:p14="http://schemas.microsoft.com/office/powerpoint/2010/main" val="1215167077"/>
      </p:ext>
    </p:extLst>
  </p:cSld>
</p:sld>
</file>

<file path=ppt/slides/slide1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E3969B5C-7E2D-4D64-9EB5-18A57D99A610}"/>
              </a:ext>
            </a:extLst>
          </p:cNvPr>
          <p:cNvSpPr>
            <a:spLocks xmlns:a="http://schemas.openxmlformats.org/drawingml/2006/main" noGrp="1"/>
          </p:cNvSpPr>
          <p:nvPr/>
        </p:nvSpPr>
        <p:spPr>
          <a:xfrm xmlns:a="http://schemas.openxmlformats.org/drawingml/2006/main">
            <a:off x="609600" y="4572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211C"/>
                </a:solidFill>
                <a:latin typeface="Arial"/>
                <a:ea typeface="Arial"/>
                <a:cs typeface="Arial"/>
              </a:defRPr>
            </a:defPPr>
          </a:lstStyle>
          <a:p xmlns:a="http://schemas.openxmlformats.org/drawingml/2006/main">
            <a:pPr algn="l">
              <a:defRPr sz="3300" b="1">
                <a:solidFill>
                  <a:srgbClr val="12211C"/>
                </a:solidFill>
                <a:latin typeface="Arial"/>
                <a:ea typeface="Arial"/>
                <a:cs typeface="Arial"/>
              </a:defRPr>
            </a:pPr>
            <a:r>
              <a:rPr sz="3300" b="1">
                <a:solidFill>
                  <a:srgbClr val="12211C"/>
                </a:solidFill>
                <a:latin typeface="Arial"/>
                <a:ea typeface="Arial"/>
                <a:cs typeface="Arial"/>
              </a:rPr>
              <a:t>Completion checkpoints</a:t>
            </a:r>
          </a:p>
        </p:txBody>
      </p:sp>
      <p:graphicFrame>
        <p:nvGraphicFramePr>
          <p:cNvPr id="2" name="completion">
            <a:extLst xmlns:a="http://schemas.openxmlformats.org/drawingml/2006/main">
              <a:ext uri="{FF2B5EF4-FFF2-40B4-BE49-F238E27FC236}">
                <a16:creationId xmlns:a16="http://schemas.microsoft.com/office/drawing/2014/main" id="{A0105482-EF89-4D49-B9F0-BF60E7FE14B5}"/>
              </a:ext>
            </a:extLst>
          </p:cNvPr>
          <p:cNvGraphicFramePr/>
          <p:nvPr/>
        </p:nvGraphicFramePr>
        <p:xfrm>
          <a:off xmlns:a="http://schemas.openxmlformats.org/drawingml/2006/main" x="609600" y="1600200"/>
          <a:ext xmlns:a="http://schemas.openxmlformats.org/drawingml/2006/main" cx="10972800" cy="4162425"/>
        </p:xfrm>
        <a:graphic xmlns:a="http://schemas.openxmlformats.org/drawingml/2006/main">
          <a:graphicData uri="http://schemas.openxmlformats.org/drawingml/2006/table">
            <a:tbl>
              <a:tblPr firstRow="0" bandRow="0"/>
              <a:tblGrid>
                <a:gridCol w="3381375"/>
                <a:gridCol w="7591425"/>
              </a:tblGrid>
              <a:tr h="466725">
                <a:tc>
                  <a:txBody>
                    <a:bodyPr wrap="square" lIns="133350" tIns="76200" rIns="133350" bIns="76200" anchor="ctr">
                      <a:noAutofit/>
                    </a:bodyPr>
                    <a:lstStyle/>
                    <a:p>
                      <a:r>
                        <a:rPr sz="1950" b="1">
                          <a:solidFill>
                            <a:srgbClr val="FFFFFF"/>
                          </a:solidFill>
                          <a:latin typeface="Arial"/>
                          <a:ea typeface="Arial"/>
                          <a:cs typeface="Arial"/>
                        </a:rPr>
                        <a:t>Checkpoint</a:t>
                      </a:r>
                    </a:p>
                  </a:txBody>
                  <a:tcPr marL="133350" marR="133350" marT="76200" marB="76200" anchor="ctr">
                    <a:lnL w="6668">
                      <a:solidFill>
                        <a:srgbClr val="D5DFD7"/>
                      </a:solidFill>
                      <a:prstDash val="solid"/>
                    </a:lnL>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c>
                  <a:txBody>
                    <a:bodyPr wrap="square" lIns="133350" tIns="76200" rIns="133350" bIns="76200" anchor="ctr">
                      <a:noAutofit/>
                    </a:bodyPr>
                    <a:lstStyle/>
                    <a:p>
                      <a:r>
                        <a:rPr sz="1950" b="1">
                          <a:solidFill>
                            <a:srgbClr val="FFFFFF"/>
                          </a:solidFill>
                          <a:latin typeface="Arial"/>
                          <a:ea typeface="Arial"/>
                          <a:cs typeface="Arial"/>
                        </a:rPr>
                        <a:t>Evidence of completion</a:t>
                      </a:r>
                    </a:p>
                  </a:txBody>
                  <a:tcPr marL="133350" marR="133350" marT="76200" marB="76200" anchor="ctr">
                    <a:lnR w="6668">
                      <a:solidFill>
                        <a:srgbClr val="D5DFD7"/>
                      </a:solidFill>
                      <a:prstDash val="solid"/>
                    </a:lnR>
                    <a:lnT w="6668">
                      <a:solidFill>
                        <a:srgbClr val="D5DFD7"/>
                      </a:solidFill>
                      <a:prstDash val="solid"/>
                    </a:lnT>
                    <a:lnB w="6668">
                      <a:solidFill>
                        <a:srgbClr val="D5DFD7"/>
                      </a:solidFill>
                      <a:prstDash val="solid"/>
                    </a:lnB>
                    <a:solidFill>
                      <a:srgbClr val="12211C"/>
                    </a:solidFill>
                  </a:tcPr>
                </a:tc>
              </a:tr>
              <a:tr h="723900">
                <a:tc>
                  <a:txBody>
                    <a:bodyPr wrap="square" lIns="133350" tIns="76200" rIns="133350" bIns="76200" anchor="ctr">
                      <a:noAutofit/>
                    </a:bodyPr>
                    <a:lstStyle/>
                    <a:p>
                      <a:r>
                        <a:rPr sz="1950" b="0">
                          <a:solidFill>
                            <a:srgbClr val="12211C"/>
                          </a:solidFill>
                          <a:latin typeface="Arial"/>
                          <a:ea typeface="Arial"/>
                          <a:cs typeface="Arial"/>
                        </a:rPr>
                        <a:t>Contract agreement</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950" b="0">
                          <a:solidFill>
                            <a:srgbClr val="12211C"/>
                          </a:solidFill>
                          <a:latin typeface="Arial"/>
                          <a:ea typeface="Arial"/>
                          <a:cs typeface="Arial"/>
                        </a:rPr>
                        <a:t>The team records the endpoint, IDs, splits and model exports.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723900">
                <a:tc>
                  <a:txBody>
                    <a:bodyPr wrap="square" lIns="133350" tIns="76200" rIns="133350" bIns="76200" anchor="ctr">
                      <a:noAutofit/>
                    </a:bodyPr>
                    <a:lstStyle/>
                    <a:p>
                      <a:r>
                        <a:rPr sz="1950" b="0">
                          <a:solidFill>
                            <a:srgbClr val="12211C"/>
                          </a:solidFill>
                          <a:latin typeface="Arial"/>
                          <a:ea typeface="Arial"/>
                          <a:cs typeface="Arial"/>
                        </a:rPr>
                        <a:t>A30 smoke experiment</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950" b="0">
                          <a:solidFill>
                            <a:srgbClr val="12211C"/>
                          </a:solidFill>
                          <a:latin typeface="Arial"/>
                          <a:ea typeface="Arial"/>
                          <a:cs typeface="Arial"/>
                        </a:rPr>
                        <a:t>Paulo generates local Nemotron output from the synthetic cases.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723900">
                <a:tc>
                  <a:txBody>
                    <a:bodyPr wrap="square" lIns="133350" tIns="76200" rIns="133350" bIns="76200" anchor="ctr">
                      <a:noAutofit/>
                    </a:bodyPr>
                    <a:lstStyle/>
                    <a:p>
                      <a:r>
                        <a:rPr sz="1950" b="0">
                          <a:solidFill>
                            <a:srgbClr val="12211C"/>
                          </a:solidFill>
                          <a:latin typeface="Arial"/>
                          <a:ea typeface="Arial"/>
                          <a:cs typeface="Arial"/>
                        </a:rPr>
                        <a:t>Real prediction handoff</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950" b="0">
                          <a:solidFill>
                            <a:srgbClr val="12211C"/>
                          </a:solidFill>
                          <a:latin typeface="Arial"/>
                          <a:ea typeface="Arial"/>
                          <a:cs typeface="Arial"/>
                        </a:rPr>
                        <a:t>Model owners supply held-out clinical, mIF and fused scores.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723900">
                <a:tc>
                  <a:txBody>
                    <a:bodyPr wrap="square" lIns="133350" tIns="76200" rIns="133350" bIns="76200" anchor="ctr">
                      <a:noAutofit/>
                    </a:bodyPr>
                    <a:lstStyle/>
                    <a:p>
                      <a:r>
                        <a:rPr sz="1950" b="0">
                          <a:solidFill>
                            <a:srgbClr val="12211C"/>
                          </a:solidFill>
                          <a:latin typeface="Arial"/>
                          <a:ea typeface="Arial"/>
                          <a:cs typeface="Arial"/>
                        </a:rPr>
                        <a:t>Review and comparison</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950" b="0">
                          <a:solidFill>
                            <a:srgbClr val="12211C"/>
                          </a:solidFill>
                          <a:latin typeface="Arial"/>
                          <a:ea typeface="Arial"/>
                          <a:cs typeface="Arial"/>
                        </a:rPr>
                        <a:t>The team inspects paired metrics and representative narratives.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r h="723900">
                <a:tc>
                  <a:txBody>
                    <a:bodyPr wrap="square" lIns="133350" tIns="76200" rIns="133350" bIns="76200" anchor="ctr">
                      <a:noAutofit/>
                    </a:bodyPr>
                    <a:lstStyle/>
                    <a:p>
                      <a:r>
                        <a:rPr sz="1950" b="0">
                          <a:solidFill>
                            <a:srgbClr val="12211C"/>
                          </a:solidFill>
                          <a:latin typeface="Arial"/>
                          <a:ea typeface="Arial"/>
                          <a:cs typeface="Arial"/>
                        </a:rPr>
                        <a:t>Demo integration</a:t>
                      </a:r>
                    </a:p>
                  </a:txBody>
                  <a:tcPr marL="133350" marR="133350" marT="76200" marB="76200" anchor="ctr">
                    <a:lnL w="6668">
                      <a:solidFill>
                        <a:srgbClr val="D5DFD7"/>
                      </a:solidFill>
                      <a:prstDash val="solid"/>
                    </a:lnL>
                    <a:lnR w="6668">
                      <a:solidFill>
                        <a:srgbClr val="D5DFD7"/>
                      </a:solidFill>
                      <a:prstDash val="solid"/>
                    </a:lnR>
                    <a:lnB w="6668">
                      <a:solidFill>
                        <a:srgbClr val="D5DFD7"/>
                      </a:solidFill>
                      <a:prstDash val="solid"/>
                    </a:lnB>
                    <a:solidFill>
                      <a:srgbClr val="F5F7F4"/>
                    </a:solidFill>
                  </a:tcPr>
                </a:tc>
                <a:tc>
                  <a:txBody>
                    <a:bodyPr wrap="square" lIns="133350" tIns="76200" rIns="133350" bIns="76200" anchor="ctr">
                      <a:noAutofit/>
                    </a:bodyPr>
                    <a:lstStyle/>
                    <a:p>
                      <a:r>
                        <a:rPr sz="1950" b="0">
                          <a:solidFill>
                            <a:srgbClr val="12211C"/>
                          </a:solidFill>
                          <a:latin typeface="Arial"/>
                          <a:ea typeface="Arial"/>
                          <a:cs typeface="Arial"/>
                        </a:rPr>
                        <a:t>Junhao displays each patient’s scores, evidence and review status.</a:t>
                      </a:r>
                    </a:p>
                  </a:txBody>
                  <a:tcPr marL="133350" marR="133350" marT="76200" marB="76200" anchor="ctr">
                    <a:lnR w="6668">
                      <a:solidFill>
                        <a:srgbClr val="D5DFD7"/>
                      </a:solidFill>
                      <a:prstDash val="solid"/>
                    </a:lnR>
                    <a:lnB w="6668">
                      <a:solidFill>
                        <a:srgbClr val="D5DFD7"/>
                      </a:solidFill>
                      <a:prstDash val="solid"/>
                    </a:lnB>
                    <a:solidFill>
                      <a:srgbClr val="F5F7F4"/>
                    </a:solidFill>
                  </a:tcPr>
                </a:tc>
              </a:tr>
            </a:tbl>
          </a:graphicData>
        </a:graphic>
      </p:graphicFrame>
      <p:sp>
        <p:nvSpPr>
          <p:cNvPr id="3" name="caption">
            <a:extLst xmlns:a="http://schemas.openxmlformats.org/drawingml/2006/main">
              <a:ext uri="{FF2B5EF4-FFF2-40B4-BE49-F238E27FC236}">
                <a16:creationId xmlns:a16="http://schemas.microsoft.com/office/drawing/2014/main" id="{A3D19B06-C36E-4DC5-88E1-3EC96AEF8968}"/>
              </a:ext>
            </a:extLst>
          </p:cNvPr>
          <p:cNvSpPr>
            <a:spLocks xmlns:a="http://schemas.openxmlformats.org/drawingml/2006/main" noGrp="1"/>
          </p:cNvSpPr>
          <p:nvPr/>
        </p:nvSpPr>
        <p:spPr>
          <a:xfrm xmlns:a="http://schemas.openxmlformats.org/drawingml/2006/main">
            <a:off x="609600" y="61722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5B"/>
                </a:solidFill>
                <a:latin typeface="Arial"/>
                <a:ea typeface="Arial"/>
                <a:cs typeface="Arial"/>
              </a:defRPr>
            </a:defPPr>
          </a:lstStyle>
          <a:p xmlns:a="http://schemas.openxmlformats.org/drawingml/2006/main">
            <a:pPr algn="l">
              <a:defRPr sz="1800" b="0">
                <a:solidFill>
                  <a:srgbClr val="51655B"/>
                </a:solidFill>
                <a:latin typeface="Arial"/>
                <a:ea typeface="Arial"/>
                <a:cs typeface="Arial"/>
              </a:defRPr>
            </a:pPr>
            <a:r>
              <a:rPr sz="1800" b="0">
                <a:solidFill>
                  <a:srgbClr val="51655B"/>
                </a:solidFill>
                <a:latin typeface="Arial"/>
                <a:ea typeface="Arial"/>
                <a:cs typeface="Arial"/>
              </a:rPr>
              <a:t>Ready now: mock experiment, HPC runner and integration interfaces. Pending: real GPU and model handoffs.</a:t>
            </a:r>
          </a:p>
        </p:txBody>
      </p:sp>
    </p:spTree>
    <p:extLst>
      <p:ext uri="{BB962C8B-B14F-4D97-AF65-F5344CB8AC3E}">
        <p14:creationId xmlns:p14="http://schemas.microsoft.com/office/powerpoint/2010/main" val="14251562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2026-10-13T02:29:40.6160000Z</dcterms:created>
  <dcterms:modified xsi:type="dcterms:W3CDTF">2026-10-13T02:29:40.6160000Z</dcterms:modified>
</coreProperties>
</file>